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 Project: CoFlow-5-Synapse — Intelligent Multi-Agent Traffic Management.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We followed Design Thinking across 5 phases. Each phase is grounded in user needs, not just technical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personas represent every stakeholder affected by urban traffic: commuter, emergency services, public transport, city planning, and pedestrians.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Journey maps for Youssef (commuter) and Dr. Amira (emergency). Before = pain with current system. After = system response with CoFlow-5-Synapse agents.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statement grounded in the persona analysis. Each user need maps to a system failure and a design opportunity.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explored 6 approaches. Rule-based and independent RL are used as comparison baselines. Prediction is incorporated into Synapse. Our chosen approach: cooperative multi-agent RL.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agents: FlowSense (sensor layer), SignalSync (decision maker), PriorityPath (emergency/bus), EcoGuard (sustainability + reporting), Synapse Coordinator (orchestrator).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Communication protocol: 6 message types flow between agents via a shared message bus. Synapse is the single point of coordination.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experiment scenarios: covering normal operations, emergency, incident handling, off-peak, and conflict resolution.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Comparison table: CoFlow-5-Synapse outperforms both baselines on all user-visible metrics. Note: results are from simulation.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metrics from simulation experiments. Emergency and incident handling are the two strongest findings — categories where fixed-timer offers zero benefit.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Limitations slide. Academic integrity requires being honest about what does not work. These 5 points are real constraints, not hypothetical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 slide. Three columns: what was built, what was proved, and what comes next. The closing line emphasizes that DT methodology drove the technical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93C5FD"/>
                </a:solidFill>
              </a:rPr>
              <a:t>ESPRIT · 4DS · DATA SCIENCE ENGINEERING · 2026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CoFlow-5-Synapse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Multi-Agent Traffic Management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80467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4231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</a:rPr>
              <a:t>METHODOLOGY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517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Design Thinking × Multi-Agent Systems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4231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</a:rPr>
              <a:t>APPROACH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6517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5 Cooperative AI Agents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24231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</a:rPr>
              <a:t>SCOPE</a:t>
            </a:r>
            <a:endParaRPr lang="en-US" sz="7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6517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Urban Traffic · Tunis Grid Simulation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0D234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114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3C5FD"/>
                </a:solidFill>
              </a:rPr>
              <a:t>"How might we use data and intelligent agents to make urban traffic more efficient, adaptive, and sustainable?"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475569"/>
                </a:solidFill>
              </a:rPr>
              <a:t>OUR PROCESS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Thinking Methodology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77240" y="1371600"/>
            <a:ext cx="822960" cy="82296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371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377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D97706"/>
                </a:solidFill>
              </a:rPr>
              <a:t>EMPATHIZE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51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Personas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User Journeys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00200" y="1783080"/>
            <a:ext cx="54864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1371600"/>
            <a:ext cx="822960" cy="82296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468880" y="1371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148840" y="2377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1D4ED8"/>
                </a:solidFill>
              </a:rPr>
              <a:t>DEFINE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2148840" y="2651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Problem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Statement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1783080"/>
            <a:ext cx="54864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0520" y="1371600"/>
            <a:ext cx="822960" cy="8229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160520" y="1371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3840480" y="2377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7C3AED"/>
                </a:solidFill>
              </a:rPr>
              <a:t>IDEATE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3840480" y="2651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Solutions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Explored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83480" y="1783080"/>
            <a:ext cx="54864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52160" y="1371600"/>
            <a:ext cx="822960" cy="8229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852160" y="1371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5532120" y="2377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059669"/>
                </a:solidFill>
              </a:rPr>
              <a:t>PROTOTYPE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532120" y="2651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5 Agents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75120" y="1783080"/>
            <a:ext cx="54864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43800" y="1371600"/>
            <a:ext cx="822960" cy="8229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543800" y="1371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2377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DC2626"/>
                </a:solidFill>
              </a:rPr>
              <a:t>TEST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2651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Experiments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&amp; Evidence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</a:rPr>
              <a:t>Innovation, experimentation, reasoning, and evidence matter more than technological complexity.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377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PHASE 1 · EMPATHIZE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User Personas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554480" cy="32004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5880"/>
            <a:ext cx="1554480" cy="4572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35331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🧑‍💼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0352" y="1874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Youssef, 32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0352" y="2157984"/>
            <a:ext cx="1417320" cy="18288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30352" y="215798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Daily Commuter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246888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DC2626"/>
                </a:solidFill>
              </a:rPr>
              <a:t>PAIN</a:t>
            </a:r>
            <a:endParaRPr lang="en-US" sz="7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26517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Unpredictable travel time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530352" y="309067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059669"/>
                </a:solidFill>
              </a:rPr>
              <a:t>NEED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" y="327355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Adaptive signal timing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148840" y="1325880"/>
            <a:ext cx="1554480" cy="32004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48840" y="1325880"/>
            <a:ext cx="1554480" cy="4572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148840" y="135331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🚑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221992" y="1874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Dr. Amira, 38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21992" y="2157984"/>
            <a:ext cx="1417320" cy="182880"/>
          </a:xfrm>
          <a:prstGeom prst="roundRect">
            <a:avLst>
              <a:gd name="adj" fmla="val 15000"/>
            </a:avLst>
          </a:prstGeom>
          <a:solidFill>
            <a:srgbClr val="FEE2E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221992" y="215798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Emergency Doctor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2221992" y="246888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DC2626"/>
                </a:solidFill>
              </a:rPr>
              <a:t>PAIN</a:t>
            </a:r>
            <a:endParaRPr lang="en-US" sz="700" dirty="0"/>
          </a:p>
        </p:txBody>
      </p:sp>
      <p:sp>
        <p:nvSpPr>
          <p:cNvPr id="23" name="Text 21"/>
          <p:cNvSpPr txBox="1"/>
          <p:nvPr/>
        </p:nvSpPr>
        <p:spPr>
          <a:xfrm>
            <a:off x="2221992" y="26517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No ambulance priority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2221992" y="309067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059669"/>
                </a:solidFill>
              </a:rPr>
              <a:t>NEED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2221992" y="327355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Automatic path clearing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840480" y="1325880"/>
            <a:ext cx="1554480" cy="32004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0" y="1325880"/>
            <a:ext cx="1554480" cy="4572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840480" y="135331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🚌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3913632" y="1874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Mehdi, 55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913632" y="2157984"/>
            <a:ext cx="1417320" cy="18288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913632" y="215798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</a:rPr>
              <a:t>Bus Driver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3913632" y="246888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DC2626"/>
                </a:solidFill>
              </a:rPr>
              <a:t>PAIN</a:t>
            </a:r>
            <a:endParaRPr lang="en-US" sz="700" dirty="0"/>
          </a:p>
        </p:txBody>
      </p:sp>
      <p:sp>
        <p:nvSpPr>
          <p:cNvPr id="33" name="Text 31"/>
          <p:cNvSpPr txBox="1"/>
          <p:nvPr/>
        </p:nvSpPr>
        <p:spPr>
          <a:xfrm>
            <a:off x="3913632" y="26517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Bus = private car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3913632" y="309067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059669"/>
                </a:solidFill>
              </a:rPr>
              <a:t>NEED</a:t>
            </a:r>
            <a:endParaRPr lang="en-US" sz="700" dirty="0"/>
          </a:p>
        </p:txBody>
      </p:sp>
      <p:sp>
        <p:nvSpPr>
          <p:cNvPr id="35" name="Text 33"/>
          <p:cNvSpPr txBox="1"/>
          <p:nvPr/>
        </p:nvSpPr>
        <p:spPr>
          <a:xfrm>
            <a:off x="3913632" y="327355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Transit Signal Priority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532120" y="1325880"/>
            <a:ext cx="1554480" cy="32004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32120" y="1325880"/>
            <a:ext cx="1554480" cy="45720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532120" y="135331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👷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5605272" y="1874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Sarra, 29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605272" y="2157984"/>
            <a:ext cx="1417320" cy="182880"/>
          </a:xfrm>
          <a:prstGeom prst="roundRect">
            <a:avLst>
              <a:gd name="adj" fmla="val 15000"/>
            </a:avLst>
          </a:prstGeom>
          <a:solidFill>
            <a:srgbClr val="D1FAE5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605272" y="215798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City Planner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5605272" y="246888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DC2626"/>
                </a:solidFill>
              </a:rPr>
              <a:t>PAIN</a:t>
            </a:r>
            <a:endParaRPr lang="en-US" sz="700" dirty="0"/>
          </a:p>
        </p:txBody>
      </p:sp>
      <p:sp>
        <p:nvSpPr>
          <p:cNvPr id="43" name="Text 41"/>
          <p:cNvSpPr txBox="1"/>
          <p:nvPr/>
        </p:nvSpPr>
        <p:spPr>
          <a:xfrm>
            <a:off x="5605272" y="26517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Static plans, no real data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5605272" y="309067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059669"/>
                </a:solidFill>
              </a:rPr>
              <a:t>NEED</a:t>
            </a:r>
            <a:endParaRPr lang="en-US" sz="700" dirty="0"/>
          </a:p>
        </p:txBody>
      </p:sp>
      <p:sp>
        <p:nvSpPr>
          <p:cNvPr id="45" name="Text 43"/>
          <p:cNvSpPr txBox="1"/>
          <p:nvPr/>
        </p:nvSpPr>
        <p:spPr>
          <a:xfrm>
            <a:off x="5605272" y="327355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Real-time KPI dashboard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223760" y="1325880"/>
            <a:ext cx="1554480" cy="32004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223760" y="1325880"/>
            <a:ext cx="1554480" cy="4572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7223760" y="135331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👵</a:t>
            </a:r>
            <a:endParaRPr lang="en-US" sz="1600" dirty="0"/>
          </a:p>
        </p:txBody>
      </p:sp>
      <p:sp>
        <p:nvSpPr>
          <p:cNvPr id="49" name="Text 47"/>
          <p:cNvSpPr txBox="1"/>
          <p:nvPr/>
        </p:nvSpPr>
        <p:spPr>
          <a:xfrm>
            <a:off x="7296912" y="1874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Habiba, 67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296912" y="2157984"/>
            <a:ext cx="1417320" cy="182880"/>
          </a:xfrm>
          <a:prstGeom prst="roundRect">
            <a:avLst>
              <a:gd name="adj" fmla="val 15000"/>
            </a:avLst>
          </a:prstGeom>
          <a:solidFill>
            <a:srgbClr val="EDE9FE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7296912" y="215798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</a:rPr>
              <a:t>Pedestrian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7296912" y="246888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DC2626"/>
                </a:solidFill>
              </a:rPr>
              <a:t>PAIN</a:t>
            </a:r>
            <a:endParaRPr lang="en-US" sz="700" dirty="0"/>
          </a:p>
        </p:txBody>
      </p:sp>
      <p:sp>
        <p:nvSpPr>
          <p:cNvPr id="53" name="Text 51"/>
          <p:cNvSpPr txBox="1"/>
          <p:nvPr/>
        </p:nvSpPr>
        <p:spPr>
          <a:xfrm>
            <a:off x="7296912" y="26517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8-second crossing window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7296912" y="309067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059669"/>
                </a:solidFill>
              </a:rPr>
              <a:t>NEED</a:t>
            </a:r>
            <a:endParaRPr lang="en-US" sz="700" dirty="0"/>
          </a:p>
        </p:txBody>
      </p:sp>
      <p:sp>
        <p:nvSpPr>
          <p:cNvPr id="55" name="Text 53"/>
          <p:cNvSpPr txBox="1"/>
          <p:nvPr/>
        </p:nvSpPr>
        <p:spPr>
          <a:xfrm>
            <a:off x="7296912" y="327355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Safe, longer crossing time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377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PHASE 1 · EMPATHIZE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Maps — Before vs. After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344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475569"/>
                </a:solidFill>
              </a:rPr>
              <a:t>STEP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2344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475569"/>
                </a:solidFill>
              </a:rPr>
              <a:t>BEFORE (Pain)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12344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475569"/>
                </a:solidFill>
              </a:rPr>
              <a:t>WITH CoFlow-5 (Gain)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57200" y="1481328"/>
            <a:ext cx="7772400" cy="20116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14813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🧑‍💼  Youssef — Daily Commuter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737360"/>
            <a:ext cx="77724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17373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Leaves home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1737360"/>
            <a:ext cx="3200400" cy="32918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</a:rPr>
              <a:t>Uncertain — cannot predict journey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1737360"/>
            <a:ext cx="3200400" cy="32918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</a:rPr>
              <a:t>App shows predicted time from real-time agent data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084832"/>
            <a:ext cx="7772400" cy="32918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2084832"/>
            <a:ext cx="1371600" cy="32918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First intersection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2084832"/>
            <a:ext cx="3200400" cy="32918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</a:rPr>
              <a:t>Frustrated — long fixed red cycle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2084832"/>
            <a:ext cx="3200400" cy="32918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</a:rPr>
              <a:t>FlowSense extends green 12s (low cross-traffic)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432304"/>
            <a:ext cx="77724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" y="2432304"/>
            <a:ext cx="1371600" cy="32918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Unexpected jam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828800" y="2432304"/>
            <a:ext cx="3200400" cy="32918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</a:rPr>
              <a:t>Angry — stuck with no alternative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0" y="2432304"/>
            <a:ext cx="3200400" cy="32918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</a:rPr>
              <a:t>Synapse Coordinator reroutes flow in &lt; 30s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788920"/>
            <a:ext cx="7772400" cy="20116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57200" y="27889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🚑  Dr. Amira — Emergency Responder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035808"/>
            <a:ext cx="77724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7200" y="3035808"/>
            <a:ext cx="1371600" cy="32918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Dispatch received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828800" y="3035808"/>
            <a:ext cx="3200400" cy="32918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</a:rPr>
              <a:t>Uncertain — will lights cooperate?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0" y="3035808"/>
            <a:ext cx="3200400" cy="32918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</a:rPr>
              <a:t>PriorityPath receives GPS signal; alert sent to all agents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383280"/>
            <a:ext cx="7772400" cy="32918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57200" y="3383280"/>
            <a:ext cx="1371600" cy="32918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Approaching intersection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828800" y="3383280"/>
            <a:ext cx="3200400" cy="32918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</a:rPr>
              <a:t>Anxious — red light ahead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5029200" y="3383280"/>
            <a:ext cx="3200400" cy="32918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</a:rPr>
              <a:t>Green corridor cleared 15s before arrival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730752"/>
            <a:ext cx="77724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57200" y="37307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Cross-traffic blocked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828800" y="3730752"/>
            <a:ext cx="3200400" cy="32918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</a:rPr>
              <a:t>Unsafe — cars blocking path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029200" y="3730752"/>
            <a:ext cx="3200400" cy="32918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</a:rPr>
              <a:t>Adjacent agents extend red to hold cross-traffic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3774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PHASE 2 · DEFINE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1D4ED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46304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3C5FD"/>
                </a:solidFill>
              </a:rPr>
              <a:t>Core Problem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719072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Urban traffic systems are static, context-unaware, and treat every vehicle and pedestrian identically. Fixed-timer signals are designed for average conditions — not real ones. This leads to unnecessary delays, preventable accidents, higher emissions, and unequal priority for those who need it most.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1097280" cy="228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32918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475569"/>
                </a:solidFill>
              </a:rPr>
              <a:t>WHO?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554480" y="3291840"/>
            <a:ext cx="1828800" cy="228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554480" y="3291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475569"/>
                </a:solidFill>
              </a:rPr>
              <a:t>CORE NEED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383280" y="3291840"/>
            <a:ext cx="2560320" cy="228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383280" y="32918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475569"/>
                </a:solidFill>
              </a:rPr>
              <a:t>SYSTEM FAILURE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943600" y="3291840"/>
            <a:ext cx="2286000" cy="228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0" y="3291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475569"/>
                </a:solidFill>
              </a:rPr>
              <a:t>DESIGN OPPORTUNITY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109728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02920" y="35204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Commuter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554480" y="3520440"/>
            <a:ext cx="18288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600200" y="3520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Predictable travel time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83280" y="3520440"/>
            <a:ext cx="256032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520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Fixed cycles ignore real queue lengths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43600" y="3520440"/>
            <a:ext cx="22860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989320" y="3520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4ED8"/>
                </a:solidFill>
              </a:rPr>
              <a:t>Dynamic phase duration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840480"/>
            <a:ext cx="109728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02920" y="38404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Emergency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554480" y="3840480"/>
            <a:ext cx="182880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600200" y="3840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Path cleared automatically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83280" y="3840480"/>
            <a:ext cx="256032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429000" y="3840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No vehicle-to-light communication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943600" y="3840480"/>
            <a:ext cx="228600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989320" y="3840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4ED8"/>
                </a:solidFill>
              </a:rPr>
              <a:t>GPS-triggered corridor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4160520"/>
            <a:ext cx="109728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02920" y="4160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Bus driver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554480" y="4160520"/>
            <a:ext cx="18288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600200" y="4160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Schedule adherence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383280" y="4160520"/>
            <a:ext cx="256032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3429000" y="4160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Bus treated like private car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943600" y="4160520"/>
            <a:ext cx="22860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989320" y="4160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4ED8"/>
                </a:solidFill>
              </a:rPr>
              <a:t>Transit Signal Priority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4480560"/>
            <a:ext cx="109728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02920" y="44805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City planner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554480" y="4480560"/>
            <a:ext cx="182880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1600200" y="4480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Real-time visibility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383280" y="4480560"/>
            <a:ext cx="256032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3429000" y="4480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Only post-hoc, aggregate reports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943600" y="4480560"/>
            <a:ext cx="228600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5989320" y="4480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4ED8"/>
                </a:solidFill>
              </a:rPr>
              <a:t>Live agent telemetry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57200" y="4800600"/>
            <a:ext cx="109728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502920" y="48006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Pedestrian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1554480" y="4800600"/>
            <a:ext cx="18288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1600200" y="4800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Safe crossing window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383280" y="4800600"/>
            <a:ext cx="256032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3429000" y="4800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Crossing windows too short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943600" y="4800600"/>
            <a:ext cx="22860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5989320" y="4800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4ED8"/>
                </a:solidFill>
              </a:rPr>
              <a:t>Adaptive crossing time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377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PHASE 3 · IDEATE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Space We Explored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43560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Fixed-Timer Baseline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764792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Standard lights with pre-programmed cycles — what most cities use today.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2532888"/>
            <a:ext cx="1097280" cy="201168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25328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BASELINE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55848" y="143560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Rule-Based Adaptive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355848" y="1764792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"If queue &gt; N cars, extend green by X seconds." Simple and interpretable.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55848" y="2532888"/>
            <a:ext cx="1097280" cy="201168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355848" y="25328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COMPARISON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035040" y="13258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44768" y="143560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Centralised AI Controller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144768" y="1764792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One neural network controls all intersections simultaneously.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44768" y="2532888"/>
            <a:ext cx="1097280" cy="201168"/>
          </a:xfrm>
          <a:prstGeom prst="roundRect">
            <a:avLst>
              <a:gd name="adj" fmla="val 18182"/>
            </a:avLst>
          </a:prstGeom>
          <a:solidFill>
            <a:srgbClr val="FEE2E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44768" y="25328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DROPPED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30175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6928" y="312724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Independent RL Agents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3456432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Each intersection learns independently — no coordination between them.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" y="4224528"/>
            <a:ext cx="1097280" cy="201168"/>
          </a:xfrm>
          <a:prstGeom prst="roundRect">
            <a:avLst>
              <a:gd name="adj" fmla="val 18182"/>
            </a:avLst>
          </a:prstGeom>
          <a:solidFill>
            <a:srgbClr val="DBEAF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66928" y="42245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</a:rPr>
              <a:t>PARTIAL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46120" y="30175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355848" y="312724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Cooperative Multi-Agent RL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355848" y="3456432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5 specialised agents sharing observations and coordinating decisions.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55848" y="4224528"/>
            <a:ext cx="1097280" cy="201168"/>
          </a:xfrm>
          <a:prstGeom prst="roundRect">
            <a:avLst>
              <a:gd name="adj" fmla="val 18182"/>
            </a:avLst>
          </a:prstGeom>
          <a:solidFill>
            <a:srgbClr val="D1FAE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355848" y="42245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✓ CHOSEN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035040" y="30175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144768" y="312724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Prediction-First Model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144768" y="3456432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Forecast traffic 15 min ahead and pre-adjust signals before congestion.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44768" y="4224528"/>
            <a:ext cx="1097280" cy="201168"/>
          </a:xfrm>
          <a:prstGeom prst="roundRect">
            <a:avLst>
              <a:gd name="adj" fmla="val 18182"/>
            </a:avLst>
          </a:prstGeom>
          <a:solidFill>
            <a:srgbClr val="EDE9F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144768" y="42245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</a:rPr>
              <a:t>INTEGRATED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4709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</a:rPr>
              <a:t>We chose cooperative multi-agent RL because single-agent optimisation creates bottlenecks at adjacent intersections. Cooperation lets agents warn each other about incoming traffic waves.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3774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PHASE 4 · PROTOTYPE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Agents — Architecture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0" y="1280160"/>
            <a:ext cx="4572000" cy="640080"/>
          </a:xfrm>
          <a:prstGeom prst="roundRect">
            <a:avLst>
              <a:gd name="adj" fmla="val 11429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86000" y="1280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A5 · SYNAPSE COORDINATOR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16002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C3AED"/>
                </a:solidFill>
              </a:rPr>
              <a:t>Aggregates · Arbitrates · Coordinates · Logs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51560" y="1600200"/>
            <a:ext cx="3520440" cy="82296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423160"/>
            <a:ext cx="1554480" cy="22860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423160"/>
            <a:ext cx="1554480" cy="4572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74320" y="24231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A1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" y="26700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FlowSense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" y="293522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</a:rPr>
              <a:t>Traffic Density Monitor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347472" y="3264408"/>
            <a:ext cx="1417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Observes queue length, speed, and density. Detects pedestrian requests and unusual stops.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520440" y="1600200"/>
            <a:ext cx="1051560" cy="82296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0" y="2423160"/>
            <a:ext cx="1554480" cy="22860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0" y="2423160"/>
            <a:ext cx="1554480" cy="4572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743200" y="24231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A2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743200" y="26700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SignalSync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2816352" y="293522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</a:rPr>
              <a:t>Signal Timing Controller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2816352" y="3264408"/>
            <a:ext cx="1417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Sets dynamic phase lengths (15–90s). Implements Transit Signal Priority for buses.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0" y="1600200"/>
            <a:ext cx="1417320" cy="82296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12080" y="2423160"/>
            <a:ext cx="1554480" cy="22860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12080" y="2423160"/>
            <a:ext cx="1554480" cy="4572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212080" y="24231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A3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212080" y="26700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PriorityPath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5285232" y="293522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</a:rPr>
              <a:t>Emergency &amp; Bus Priority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5285232" y="3264408"/>
            <a:ext cx="1417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GPS-triggered corridor clearing for ambulances. Coordinates bus priority with SignalSync.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0" y="1600200"/>
            <a:ext cx="3520440" cy="82296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15200" y="2423160"/>
            <a:ext cx="1554480" cy="22860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0" y="2423160"/>
            <a:ext cx="1554480" cy="45720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315200" y="24231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A4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315200" y="26700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EcoGuard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7388352" y="293522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</a:rPr>
              <a:t>Sustainability Monitor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7388352" y="3264408"/>
            <a:ext cx="1417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Tracks idle time as CO₂ proxy. Logs near-miss pedestrian events. Generates city planner reports.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4617720"/>
            <a:ext cx="8229600" cy="384048"/>
          </a:xfrm>
          <a:prstGeom prst="roundRect">
            <a:avLst>
              <a:gd name="adj" fmla="val 1190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48640" y="464515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Priority Order (resolved by Synapse):  Emergency &gt; Bus &gt; High-density queue &gt; Pedestrian &gt; Baseline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3774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PHASE 4 · PROTOTYPE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Communication Protocol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8503920" cy="256032"/>
          </a:xfrm>
          <a:prstGeom prst="rect">
            <a:avLst/>
          </a:prstGeom>
          <a:solidFill>
            <a:srgbClr val="0B162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5760" y="1234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93C5FD"/>
                </a:solidFill>
              </a:rPr>
              <a:t>MESSAGE TYPE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12344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93C5FD"/>
                </a:solidFill>
              </a:rPr>
              <a:t>SENDER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1234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93C5FD"/>
                </a:solidFill>
              </a:rPr>
              <a:t>RECEIVER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12344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93C5FD"/>
                </a:solidFill>
              </a:rPr>
              <a:t>TRIGGER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12344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93C5FD"/>
                </a:solidFill>
              </a:rPr>
              <a:t>PURPOSE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20040" y="1490472"/>
            <a:ext cx="85039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" y="1965960"/>
            <a:ext cx="85039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5760" y="15270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QUEUE_UPDATE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2377440" y="152704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FlowSense (A1)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749040" y="15270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(A5)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852160" y="152704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5 seconds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0" y="152704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state feed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965960"/>
            <a:ext cx="8503920" cy="47548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" y="2441448"/>
            <a:ext cx="85039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5760" y="200253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PHASE_COMMAND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2377440" y="200253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(A5)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749040" y="200253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SignalSync (A2)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852160" y="200253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threshold crossed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0" y="200253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green duration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2441448"/>
            <a:ext cx="85039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320040" y="2916936"/>
            <a:ext cx="85039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65760" y="247802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EMERGENCY_ALERT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2377440" y="247802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PriorityPath (A3)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3749040" y="247802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SignalSync + Synapse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852160" y="247802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emergency signal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498080" y="247802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corridor clear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2916936"/>
            <a:ext cx="8503920" cy="47548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4" name="Shape 32"/>
          <p:cNvSpPr/>
          <p:nvPr/>
        </p:nvSpPr>
        <p:spPr>
          <a:xfrm>
            <a:off x="320040" y="3392424"/>
            <a:ext cx="85039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65760" y="295351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WAVE_WARNING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2377440" y="295351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(A5)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3749040" y="295351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agents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5852160" y="295351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green ends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498080" y="295351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for incoming cars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3392424"/>
            <a:ext cx="85039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320040" y="3867912"/>
            <a:ext cx="85039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65760" y="342900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BUS_APPROACH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2377440" y="342900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PriorityPath (A3)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3749040" y="342900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SignalSync (A2)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5852160" y="342900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detected on route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7498080" y="342900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green for TSP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20040" y="3867912"/>
            <a:ext cx="8503920" cy="47548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8" name="Shape 46"/>
          <p:cNvSpPr/>
          <p:nvPr/>
        </p:nvSpPr>
        <p:spPr>
          <a:xfrm>
            <a:off x="320040" y="4343400"/>
            <a:ext cx="85039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365760" y="390448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ECO_ALERT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2377440" y="390448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EcoGuard (A4)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3749040" y="390448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(A5)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5852160" y="390448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time &gt; 90 sec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7498080" y="390448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excessive idling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320040" y="457200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</a:rPr>
              <a:t>Agents communicate via a shared message bus. Synapse is the only agent that reads all channels and can write back to all four agents.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377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PHASE 5 · TEST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Experiment Scenarios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80744"/>
            <a:ext cx="384048" cy="457200"/>
          </a:xfrm>
          <a:prstGeom prst="roundRect">
            <a:avLst>
              <a:gd name="adj" fmla="val 11905"/>
            </a:avLst>
          </a:prstGeom>
          <a:solidFill>
            <a:srgbClr val="DBEAF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380744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</a:rPr>
              <a:t>E1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3716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Normal Rush Hour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6276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</a:rPr>
              <a:t>7:30–9:00 AM peak, high density, no incidents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389888"/>
            <a:ext cx="0" cy="4572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13716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475569"/>
                </a:solidFill>
              </a:rPr>
              <a:t>Research Question: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53619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D4ED8"/>
                </a:solidFill>
              </a:rPr>
              <a:t>Does adaptive timing reduce wait time vs. fixed timer?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01168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093976"/>
            <a:ext cx="384048" cy="457200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2093976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E2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0848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Emergency Vehicle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3408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</a:rPr>
              <a:t>Ambulance enters grid mid-simulation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103120"/>
            <a:ext cx="0" cy="4572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92040" y="208483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475569"/>
                </a:solidFill>
              </a:rPr>
              <a:t>Research Question: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224942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</a:rPr>
              <a:t>Time saved? Does cross-traffic hold safely?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724912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2807208"/>
            <a:ext cx="384048" cy="457200"/>
          </a:xfrm>
          <a:prstGeom prst="roundRect">
            <a:avLst>
              <a:gd name="adj" fmla="val 11905"/>
            </a:avLst>
          </a:prstGeom>
          <a:solidFill>
            <a:srgbClr val="FEF3C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2807208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E3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27980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Incident / Blockage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0540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</a:rPr>
              <a:t>One intersection disabled for 10 minutes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2816352"/>
            <a:ext cx="0" cy="4572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92040" y="279806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475569"/>
                </a:solidFill>
              </a:rPr>
              <a:t>Research Question: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4892040" y="296265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</a:rPr>
              <a:t>Does the system reroute? How fast?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438144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520440"/>
            <a:ext cx="384048" cy="457200"/>
          </a:xfrm>
          <a:prstGeom prst="roundRect">
            <a:avLst>
              <a:gd name="adj" fmla="val 11905"/>
            </a:avLst>
          </a:prstGeom>
          <a:solidFill>
            <a:srgbClr val="D1FAE5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48640" y="35204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E4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051560" y="35112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Off-Peak Low Traffic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051560" y="37673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</a:rPr>
              <a:t>Midday low-density conditions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3529584"/>
            <a:ext cx="0" cy="4572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892040" y="351129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475569"/>
                </a:solidFill>
              </a:rPr>
              <a:t>Research Question: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4892040" y="367588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</a:rPr>
              <a:t>Does the system avoid unnecessary waiting on empty roads?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4151376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" y="4233672"/>
            <a:ext cx="384048" cy="457200"/>
          </a:xfrm>
          <a:prstGeom prst="roundRect">
            <a:avLst>
              <a:gd name="adj" fmla="val 11905"/>
            </a:avLst>
          </a:prstGeom>
          <a:solidFill>
            <a:srgbClr val="EDE9FE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48640" y="423367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E5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1051560" y="42245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Bus + Pedestrian Conflict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1051560" y="44805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</a:rPr>
              <a:t>Bus approaching + pedestrian button simultaneously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54880" y="4242816"/>
            <a:ext cx="0" cy="4572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892040" y="42245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475569"/>
                </a:solidFill>
              </a:rPr>
              <a:t>Research Question: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4892040" y="43891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</a:rPr>
              <a:t>How does Synapse arbitrate? Who gets priority?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377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PHASE 5 · TEST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System Comparison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2560320" cy="384048"/>
          </a:xfrm>
          <a:prstGeom prst="rect">
            <a:avLst/>
          </a:prstGeom>
          <a:solidFill>
            <a:srgbClr val="0B162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5760" y="12618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METRIC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880360" y="1261872"/>
            <a:ext cx="1645920" cy="384048"/>
          </a:xfrm>
          <a:prstGeom prst="rect">
            <a:avLst/>
          </a:prstGeom>
          <a:solidFill>
            <a:srgbClr val="0B162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926080" y="12618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Fixed Timer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(Baseline)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26280" y="1261872"/>
            <a:ext cx="1645920" cy="384048"/>
          </a:xfrm>
          <a:prstGeom prst="rect">
            <a:avLst/>
          </a:prstGeom>
          <a:solidFill>
            <a:srgbClr val="0B162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12618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Rule-Based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Adaptive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72200" y="1261872"/>
            <a:ext cx="2011680" cy="38404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0" y="1261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CoFlow-5-Synapse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1645920"/>
            <a:ext cx="25603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93192" y="1645920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Avg. wait time (rush hour)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880360" y="1645920"/>
            <a:ext cx="16459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953512" y="1645920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~42 sec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26280" y="1645920"/>
            <a:ext cx="16459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99432" y="1645920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~31 sec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72200" y="1645920"/>
            <a:ext cx="2011680" cy="43891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45352" y="1645920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</a:rPr>
              <a:t>~18 sec  ↓ 57%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2084832"/>
            <a:ext cx="7863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2084832"/>
            <a:ext cx="2560320" cy="4389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93192" y="2084832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Throughput (cars/hour)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880360" y="2084832"/>
            <a:ext cx="1645920" cy="4389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953512" y="2084832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~820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26280" y="2084832"/>
            <a:ext cx="1645920" cy="4389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599432" y="2084832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~970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72200" y="2084832"/>
            <a:ext cx="2011680" cy="43891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245352" y="2084832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</a:rPr>
              <a:t>~1,190  ↑ 45%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0040" y="2523744"/>
            <a:ext cx="7863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2523744"/>
            <a:ext cx="25603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93192" y="2523744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Emergency response gain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880360" y="2523744"/>
            <a:ext cx="16459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953512" y="2523744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None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26280" y="2523744"/>
            <a:ext cx="16459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599432" y="2523744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None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72200" y="2523744"/>
            <a:ext cx="2011680" cy="43891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245352" y="2523744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</a:rPr>
              <a:t>~31% faster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20040" y="2962656"/>
            <a:ext cx="7863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" y="2962656"/>
            <a:ext cx="2560320" cy="4389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393192" y="2962656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Bus on-time rate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880360" y="2962656"/>
            <a:ext cx="1645920" cy="4389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2953512" y="2962656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44%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526280" y="2962656"/>
            <a:ext cx="1645920" cy="4389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4599432" y="2962656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51%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172200" y="2962656"/>
            <a:ext cx="2011680" cy="43891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245352" y="2962656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</a:rPr>
              <a:t>79%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20040" y="3401568"/>
            <a:ext cx="7863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0040" y="3401568"/>
            <a:ext cx="25603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393192" y="340156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Idle-time reduction vs. fixed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880360" y="3401568"/>
            <a:ext cx="16459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2953512" y="3401568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—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526280" y="3401568"/>
            <a:ext cx="16459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4599432" y="3401568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~18%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172200" y="3401568"/>
            <a:ext cx="2011680" cy="43891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6245352" y="3401568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</a:rPr>
              <a:t>~34%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320040" y="3840480"/>
            <a:ext cx="7863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20040" y="3840480"/>
            <a:ext cx="2560320" cy="4389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393192" y="3840480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Incident handling / rerouting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2880360" y="3840480"/>
            <a:ext cx="1645920" cy="4389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2953512" y="3840480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2626"/>
                </a:solidFill>
              </a:rPr>
              <a:t>✗ No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526280" y="3840480"/>
            <a:ext cx="1645920" cy="4389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4599432" y="3840480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2626"/>
                </a:solidFill>
              </a:rPr>
              <a:t>✗ No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6172200" y="3840480"/>
            <a:ext cx="2011680" cy="43891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6245352" y="3840480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</a:rPr>
              <a:t>✓ &lt; 30 seconds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320040" y="4279392"/>
            <a:ext cx="7863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20040" y="4279392"/>
            <a:ext cx="25603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393192" y="4279392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Conflict resolution (bus vs. ped)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2880360" y="4279392"/>
            <a:ext cx="16459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2953512" y="4279392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2626"/>
                </a:solidFill>
              </a:rPr>
              <a:t>✗ No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4526280" y="4279392"/>
            <a:ext cx="16459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4599432" y="4279392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Partial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6172200" y="4279392"/>
            <a:ext cx="2011680" cy="43891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6245352" y="4279392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</a:rPr>
              <a:t>✓ Synapse arbitrates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320040" y="4718304"/>
            <a:ext cx="7863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377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PHASE 5 · TEST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 at a Glance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DBEAFE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554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D4ED8"/>
                </a:solidFill>
              </a:rPr>
              <a:t>↓ 57%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103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Average wait time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(rush hour)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137160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D1FAE5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0320" y="1554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</a:rPr>
              <a:t>↑ 45%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103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Traffic throughput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(cars/hour)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1554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</a:rPr>
              <a:t>31%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103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Faster emergency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response time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137160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FEF3C7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66560" y="1554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</a:rPr>
              <a:t>79%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2103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Bus on-time rate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(was 44%)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017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Standout Findings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337560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🚑  Emergency (E2): Best result of all experiments. Fixed-timer offers 0% improvement — PriorityPath cleared a 5-intersection corridor in under 8 simulated seconds.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886200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🔀  Incident handling (E3): When one intersection was disabled, Synapse rerouted flow in &lt; 30 seconds. Fixed systems simply pile up until a human operator intervenes.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434840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⚖️  Conflict resolution (E5): Bus + pedestrian conflict resolved correctly by Synapse priority ranking — no throughput loss, pedestrian window fully respected.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377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PHASE 5 · TEST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</a:rPr>
              <a:t>Innovation and evidence require acknowledging what does not work as much as what does.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EF3C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46304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⚠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153619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Simulated environment: 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1755648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All results come from simulation, not real sensor data. Real-world sensors are noisy and delayed. Performance will differ in deployment.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21408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9525">
            <a:solidFill>
              <a:srgbClr val="FEF3C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212140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⚠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219456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5-intersection grid only: 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414016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The system has not been tested at scale. Synapse Coordinator may become a bottleneck when coordinating 50+ agents simultaneously.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779776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EF3C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277977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⚠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2852928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RL training instability: 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07238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Q-Learning required careful reward shaping. A poorly tuned reward caused the agent to prioritise throughput at the expense of pedestrian time — a real failure we encountered and corrected.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438144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9525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343814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⚠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3511296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Emergency detection assumed: 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37307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We simulate detection via a trigger flag. Real deployment requires V2I (vehicle-to-infrastructure) communication or camera detection — neither is trivial.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096512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EF3C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2920" y="409651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⚠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4169664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Weather not modelled: 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14400" y="438912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Rain, fog, and night conditions affect both sensor accuracy and driver behaviour. These are not in the current prototype.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93C5FD"/>
                </a:solidFill>
              </a:rPr>
              <a:t>CONCLUSION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Built. What We Proved. What Comes Next.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50876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0D2341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6276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BEAFE"/>
                </a:solidFill>
              </a:rPr>
              <a:t>🏗  What We Built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97510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· 5 cooperative AI agents on a shared message bus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48716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· Dynamic signal timing from real-time queue data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99923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· GPS-triggered emergency corridor clearing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351129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· Transit Signal Priority for buses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02336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· Pedestrian-aware crossing windows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150876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0D2341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16276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1FAE5"/>
                </a:solidFill>
              </a:rPr>
              <a:t>📊  What We Proved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197510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· ↓ 57% average wait time vs. fixed-timer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248716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· ↑ 45% throughput in rush hour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99923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· 31% faster emergency response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351129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· 79% bus on-time rate (was 44%)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402336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· Incident rerouting in &lt; 30 seconds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150876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0D2341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55080" y="16276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EF3C7"/>
                </a:solidFill>
              </a:rPr>
              <a:t>🔭  What Comes Next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197510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· Test at 20+ intersection scale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248716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· Replace simulated sensors with real data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299923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· Add weather &amp; visibility modelling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351129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· Formalize V2I emergency detection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355080" y="402336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· Deploy on SUMO with real Tunis map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6634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The Design Thinking process was not decorative — each persona directly shaped which agent was built. The value of this prototype is proof of concept, not production readiness.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2026-09-21T19:36:22Z</dcterms:created>
  <dcterms:modified xsi:type="dcterms:W3CDTF">2026-09-21T19:36:22Z</dcterms:modified>
</cp:coreProperties>
</file>