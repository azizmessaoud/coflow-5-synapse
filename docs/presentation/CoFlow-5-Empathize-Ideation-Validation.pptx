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Fedi Baccar asked for a visible link: user research, evidence, personas, needs, problem statement, ideas, selected solution. Interviews and questionnaires were not collected.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matters: published Tunisian crash counts, and no public adaptive-signal network was found. This is not a claim that the project prevents deaths.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people affected. Ages and jobs on the cards are design readings, not interviews.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Interviews, questionnaires, and ride-alongs are not in the repository. Existing data and literature are. Inventing a sample would break the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findings come from the sources on the previous slide. They are not interview themes.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interviewed people. The next six slides are the cards. The research column is why that card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I need enough time to finish crossing, even when traffic is busy. Need: Acknowledgement, shorter waiting and enough clearance to finish. Fear: Cars receive green while she is still crossing. Evidence: Perceived wait ≈2× in one NZ study [C03]. MUTCD clearance guidance ≈1.07 m/s and slower where needed [C04].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I can plan around a longer trip if I know how long it will actually take. Need: Predictable journeys, fewer stops and visible incidents. Fear: A better mean hides unfinished or extreme trips. Evidence: DfT TAG uses 0.4 as an appraisal reliability ratio for journey-time variability [C05].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Buses should arrive regularly—not three at once after a long wait. Need: Priority only for a late bus or a large headway gap. Fear: Three buses arrive together after one long gap. Evidence: DfT TAG applies a 2× value-of-time multiplier to public-transport waiting [C05].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Show me why priority was granted or denied, and let me respond safely. Need: Positions, headways, confidence, reason codes and a joined audit trail. Fear: A black box refuses priority and leaves no history. Evidence: SCATS documentation describes monitoring, manual intervention and audit trails [C08].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Get us through safely, and make sure traffic recovers after we pass. Need: Trusted route/ETA request, downstream check and controlled recovery. Fear: A green into a full link simply moves the queue. Evidence: One Taipei cohort associated each extra ALS minute with 7% lower adjusted odds [C06]. Preemption can impose network delay [C07].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Tell me what is wrong, why you think so, and whether I can still trust the data. Need: Severity, observations, uncertainty, freshness and data-health warnings. Fear: False alarms or a frozen screen hide the real condition. Evidence: FHWA estimates incidents account for about 25–30% of congestion in many US metropolitan contexts—not Tunis [C10].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Taken from the cards. Not from an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Refined from the findings. The problem is not “reduce deaths in Tunisia.” That result is not something this evidence can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questions were written from the needs table. They were not collected in a workshop with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refuse column is part of the evidence. A refused idea does not become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Method: one idea per persona need, written beside the source, then kept or refused. Not SCAMPER, and not a user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 we intend to develop. It addresses each need on the card. It does not prevent accidents in Tunisia.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step above is on a slide. The empty methods stay empty so the link is checkable.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Empathize and Ideation ·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Research, then evidence, then the person, then the idea.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600200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002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Research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11480" y="2258568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2585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Evidence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11480" y="2916936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91693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Personas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1480" y="3575304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5753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Needs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11480" y="4233672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23367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Problem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11480" y="4892040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8920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Ideas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11480" y="5550408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55504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Selected solution</a:t>
            </a:r>
            <a:endParaRPr lang="en-US" sz="1800" dirty="0"/>
          </a:p>
        </p:txBody>
      </p:sp>
    </p:spTree>
  </p:cSld>
  <p:transition spd="slow" advClick="1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Empathize · Problem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signal decision hits several people at once.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206240"/>
        </p:xfrm>
        <a:graphic>
          <a:graphicData uri="http://schemas.openxmlformats.org/drawingml/2006/table">
            <a:tbl>
              <a:tblPr/>
              <a:tblGrid>
                <a:gridCol w="4023360"/>
                <a:gridCol w="7406640"/>
              </a:tblGrid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is happening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it matters here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light changes while someone is still crossing.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Pedestrians were 28% of 2023 deaths in the WHO investment case that quotes ONSR. The 2024 strategy names older people and people with disabilities.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better average can hide a trip that never finishes.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Vehicle occupants carry most of the health cost in that same case.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Buses bunch, then an early bus is treated as urgent.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TRANSTU reported 187.4 million paying passengers in 2018. That is not this year’s headway.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refusal, a full exit, or a stale sensor can look like nothing.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reader, the crew, and the duty officer each need a record they can check.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598932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deaths are published as both 2,273 and 1,216, with the same 5,796 crashes. Show both. Do not average them.</a:t>
            </a:r>
            <a:endParaRPr lang="en-US" sz="1300" dirty="0"/>
          </a:p>
        </p:txBody>
      </p:sp>
    </p:spTree>
  </p:cSld>
  <p:transition spd="slow" advClick="1">
    <p:fade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Empathize · Target users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groups named by published sources.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846320"/>
        </p:xfrm>
        <a:graphic>
          <a:graphicData uri="http://schemas.openxmlformats.org/drawingml/2006/table">
            <a:tbl>
              <a:tblPr/>
              <a:tblGrid>
                <a:gridCol w="3931920"/>
                <a:gridCol w="5120640"/>
                <a:gridCol w="2377440"/>
              </a:tblGrid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is affected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the source names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Persona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Pedestrians, and older people and people with disabilities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28% of 2023 deaths in the investment case. Named in the 2024 strategy.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Occupants of motor vehicles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Most of the health cost in that case.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TRANSTU passengers in Greater Tunis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187.4 million paying passengers in 2018.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reader of the crash record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ONSR compiles the national record. One reader, not a second controller.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Road emergency crews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Civil Protection answers those calls. We did not ride with them.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person who must trust the alert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residual is not a cause.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Empathize · User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was collected, and what was not.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84632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7132320"/>
              </a:tblGrid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supports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Interviews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collected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Nothing. No quote.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Questionnaires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collected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Nothing. No percentage from us.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Observation / ride-along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done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Nothing about a Tunis crew or a specific crossing.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Existing data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profile, WHO/UNIATF investment case quoting ONSR, La Presse briefing 17 Jan 2025, INS republished counts, TRANSTU 2018 report.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Literature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Clearance guidance, appraisal guidance on wait and reliability, an audit-trail product analogy, a Taipei minute figure labelled as not Tunis.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Our simulation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matched seed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71, 84, and 70 of 84 trips. Mixed. No winner. Not a Tunis result.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Empathize · 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insights. Each one limits what we may say.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554480"/>
            <a:ext cx="11338560" cy="841248"/>
          </a:xfrm>
          <a:prstGeom prst="roundRect">
            <a:avLst>
              <a:gd name="adj" fmla="val 8696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55448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 The people harmed are named in official counts: pedestrians, occupants, and public-transport passengers. The 2024 strategy also names older people and people with disabilities.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2514600"/>
            <a:ext cx="11338560" cy="841248"/>
          </a:xfrm>
          <a:prstGeom prst="roundRect">
            <a:avLst>
              <a:gd name="adj" fmla="val 8696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51460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 Two death totals exist for 2023, 2,273 and 1,216, beside the same 5,796 crashes. A single death number would hide that.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3474720"/>
            <a:ext cx="11338560" cy="841248"/>
          </a:xfrm>
          <a:prstGeom prst="roundRect">
            <a:avLst>
              <a:gd name="adj" fmla="val 8696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347472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 A mean can improve while trips stay unfinished. On seed 37, actuated finished more trips. Max-Pressure did not win.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1480" y="4434840"/>
            <a:ext cx="11338560" cy="841248"/>
          </a:xfrm>
          <a:prstGeom prst="roundRect">
            <a:avLst>
              <a:gd name="adj" fmla="val 8696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43484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 No public adaptive-signal network in Tunis was found. A 2018 passenger total is not today’s bus gap.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1480" y="5394960"/>
            <a:ext cx="11338560" cy="841248"/>
          </a:xfrm>
          <a:prstGeom prst="roundRect">
            <a:avLst>
              <a:gd name="adj" fmla="val 8696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5394960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 An alert that names a cause, or a stale sensor shown as healthy, would go beyond the evidence.</a:t>
            </a:r>
            <a:endParaRPr lang="en-US" sz="1400" dirty="0"/>
          </a:p>
        </p:txBody>
      </p:sp>
    </p:spTree>
  </p:cSld>
  <p:transition spd="slow" advClick="1">
    <p:fade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Empathize · Personas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card is a reading of one group in the evidence.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84632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6858000"/>
              </a:tblGrid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Persona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 type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Justified by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Amara, 74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Slower pedestrian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Pedestrian share of deaths, plus the 2024 strategy, plus slower-clearance guidance.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David, 41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Driver who needs the tail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Occupant health cost, plus one seed where unfinished trips stayed visible.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Chidi, 27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 passenger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TRANSTU 2018 total, plus guidance that values waiting time.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Rosa, 52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Reader of the record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ONSR compiles crashes. An audit trail is a product analogy, not a room we visited.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Marcus, 34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Ambulance crew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Civil Protection exists. A foreign survival figure is cited as foreign. Not lives saved.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Omar, 55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Duty officer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class is not a cause. Stale data must not look healthy.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1-ama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· AGE 74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Amara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 pedestrian; uses a cane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1 — Amara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Crosses a busy central street for shops and transit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A892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89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need enough time to finish crossing, even when traffic is busy.”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Acknowledgement, shorter waiting and enough clearance to finish.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 receive green while she is still crossing.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Push-button, audible/visual feedback; no phone required.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Shortened clearance, inaccessible apps, invented success claims.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Perceived wait ≈2× in one NZ study [C03]. MUTCD clearance guidance ≈1.07 m/s and slower where needed [C04].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/ P95 / max wait + zero clearance truncations.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slower walkers excluded by average-speed timing.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Careful and independent;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2-dav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 · AGE 41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David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Delivery-van driver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2 — David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than 60 time-sensitive stops per workday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can plan around a longer trip if I know how long it will actually take.”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journeys, fewer stops and visible incidents.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better mean hides unfinished or extreme trips.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phone, GPS/navigation and delivery-round tools.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Best-case headlines and deleted unfinished trips.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DfT TAG uses 0.4 as an appraisal reliability ratio for journey-time variability [C05].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Completed/unfinished trips, P95/max duration, stops and standstill.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reliability and the severe tail—not only the average.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Organised and schedule-focused;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3-chid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 · AGE 27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Chidi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bus passenger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3 — Chidi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high-frequency corridor where regularity is the service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“Buses should arrive regularly—not three at once after a long wait.”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only for a late bus or a large headway gap.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buses arrive together after one long gap.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Passenger-information app when available; otherwise the stop.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Every-bus priority and pedestrian clearance sacrificed for transit.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DfT TAG applies a 2× value-of-time multiplier to public-transport waiting [C05].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Lateness, headway variation, passenger-wait proxy and car externality.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passengers harmed by bunching and unpredictable gaps.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Routine-oriented and uncertainty-sensitive;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4-ros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P4 · AGE 52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Rosa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Incident-report reader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4 — Rosa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disruption and the crash record. She does not change the light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“Show me why priority was granted or denied, and let me respond safely.”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Positions, headways, confidence, reason codes and a joined audit trail.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black box refuses priority and leaves no history.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Depot tools, vehicle-location screen, radio and dashboard.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predictions or override outside the safety mask.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SCATS documentation describes monitoring, manual intervention and audit trails [C08].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Reason-code coverage and operator explanation of one yes and one no.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She reads the record and the reason code. She does not write the signal.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Calm, responsible and evidence-seeking;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5-marc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 · AGE 34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Marcus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 ambulance crew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5 — Marcus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Responds through congested streets during peak periods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“Get us through safely, and make sure traffic recovers after we pass.”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route/ETA request, downstream check and controlled recovery.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green into a full link simply moves the queue.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tablet, GPS, radio, lights and siren.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Cutting an occupied crossing or translating simulation into casualties.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Taipei cohort associated each extra ALS minute with 7% lower adjusted odds [C06]. Preemption can impose network delay [C07].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time, civilian delay, downstream rejection and recovery. Not lives saved.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passage plus recovery and the civilian cost of priority.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Urgent, precise and aware of other road users;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8-om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P6 · AGE 55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Omar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duty officer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6 — Omar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Monitors incidents and coordinates operational response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102C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02C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“Tell me what is wrong, why you think so, and whether I can still trust the data.”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Severity, observations, uncertainty, freshness and data-health warnings.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alarms or a frozen screen hide the real condition.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Radio, camera wall, incident tools and dashboard.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without evidence or anomaly presented as proven cause.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FHWA estimates incidents account for about 25–30% of congestion in many US metropolitan contexts—not Tunis [C10].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delay, false alarms, misses, stale data and recovery.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the difference between “nothing detected” and “cannot see.”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Sceptical, methodical and operational;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Empathize · Needs and pain points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Need, frustration, and what they expect to see.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84632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  <a:gridCol w="3657600"/>
                <a:gridCol w="3291840"/>
              </a:tblGrid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Expectation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Enough time to finish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Cars go green while she is still crossing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conflicting green stays held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real duration, including the bad trip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better mean hides the unfinished trip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Unfinished trips stay on the page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regular gap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Three buses after one long wait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 early bus gets nothing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reason she can read later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refusal with no history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citation, or an abstention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path through, then recovery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 into a full exit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exit is checked. Delay to others is logged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class he can trust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frozen screen, or a guessed cause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Freshness is shown. Stale stays stale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Ideation ·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light. Six needs. A record that does not invent the result.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might a simulated signal serve the person still crossing, the unfinished trip, the bus gap, the reader of the refusal, the crew at a full exit, and the officer who must not be told a residual is a cause — while only one component writes the light, and every decision keeps a source?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 of scope for the claim: lives saved, measured air, a Tunis deployment, and a winner from one seed.</a:t>
            </a:r>
            <a:endParaRPr lang="en-US" sz="1600" dirty="0"/>
          </a:p>
        </p:txBody>
      </p:sp>
    </p:spTree>
  </p:cSld>
  <p:transition spd="slow" advClick="1">
    <p:fade/>
  </p:transition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Ideation · How might we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question per person, taken from their pain.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754880"/>
        </p:xfrm>
        <a:graphic>
          <a:graphicData uri="http://schemas.openxmlformats.org/drawingml/2006/table">
            <a:tbl>
              <a:tblPr/>
              <a:tblGrid>
                <a:gridCol w="1828800"/>
                <a:gridCol w="9601200"/>
              </a:tblGrid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might we…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…hold the conflicting green until the crossing finishes, and count every time it is cut?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…show unfinished trips beside the mean, so a better average cannot hide the tail?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…give green only after an unusual gap, and give an early bus nothing?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…explain one grant or one denial with a reason code, or abstain?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…check the exit before green, then recover, without cutting the crossing?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…publish the class, the confidence, and the freshness, and refuse to name the cause?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Ideation · Ideas generated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kept, and what we refused.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754880"/>
        </p:xfrm>
        <a:graphic>
          <a:graphicData uri="http://schemas.openxmlformats.org/drawingml/2006/table">
            <a:tbl>
              <a:tblPr/>
              <a:tblGrid>
                <a:gridCol w="1554480"/>
                <a:gridCol w="4754880"/>
                <a:gridCol w="5120640"/>
              </a:tblGrid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Idea we kept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Idea we refused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Hold the green. Count truncations.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camera that guesses her ability.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Keep unfinished trips in the count.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scraped live map treated as his trip.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 only after a real gap.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 for every bus.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cited explanation, or abstain.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chatbot that negotiates the phase.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Request, exit check, then recovery.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 always-green corridor, or “lives saved.”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Class, confidence, freshness.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news scrape that declares a crash.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Ideation · How we chose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method, then the criteria.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8686800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Criterion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kept idea must…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Names the person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Say who is affected. A solution with no person is dropped.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Has a source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Point at published data, literature, or a labelled simulation row.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Does not invent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interview quote, no survey percentage, no Tunis digit we do not have.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Does not write the light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Specialists may request. Only A1, through the safety mask, sets the phase.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Leaves a record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 can read a grant, a denial, or an abstention.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Ideation · Selected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Advisers request. One writer decides. The record stays.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297680"/>
        </p:xfrm>
        <a:graphic>
          <a:graphicData uri="http://schemas.openxmlformats.org/drawingml/2006/table">
            <a:tbl>
              <a:tblPr/>
              <a:tblGrid>
                <a:gridCol w="3840480"/>
                <a:gridCol w="7589520"/>
              </a:tblGrid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the selected concept does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 finishes the crossing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A3 asks. A1 holds the conflicting green. Truncations are counted.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 sees the bad trip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Unfinished trips stay beside the mean.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 gets a gap, not a bunch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A3 asks only for a late bus or a large gap.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 can check the no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cited reason, or an abstention. She does not write the signal.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 is not sent into a full exit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A2 asks. A1 checks the exit, then recovers. Civilian delay is logged.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 is not told a guessed cause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A4 publishes class, confidence, and freshness. Stale stays stale.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603504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packs change the street inside SUMO. The language model explains the log, or abstains. It never writes the light.</a:t>
            </a:r>
            <a:endParaRPr lang="en-US" sz="1400" dirty="0"/>
          </a:p>
        </p:txBody>
      </p:sp>
    </p:spTree>
  </p:cSld>
  <p:transition spd="slow" advClick="1">
    <p:fade/>
  </p:transition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link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research, then evidence, then personas, then needs, then the problem, then the ideas, then the selected solution.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lives saved. No measured air. No Tunis deployment. No winner.</a:t>
            </a:r>
            <a:endParaRPr lang="en-US" sz="2000" dirty="0"/>
          </a:p>
        </p:txBody>
      </p:sp>
    </p:spTree>
  </p:cSld>
  <p:transition spd="slow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CoFlow-5 — Empathize and Ideation validation</dc:title>
  <dc:subject>User research, evidence, personas, needs, problem statement, ideas, and the selected solution</dc:subject>
  <dc:creator>CoFlow-5 Synapse · ESPRIT 4DS</dc:creator>
  <cp:lastModifiedBy>CoFlow-5 Synapse · ESPRIT 4DS</cp:lastModifiedBy>
  <cp:revision>1</cp:revision>
  <dcterms:created xsi:type="dcterms:W3CDTF">2026-09-27T19:37:31Z</dcterms:created>
  <dcterms:modified xsi:type="dcterms:W3CDTF">2026-09-27T19:37:31Z</dcterms:modified>
</cp:coreProperties>
</file>