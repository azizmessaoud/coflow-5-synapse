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course question. Say that we began with people and evidence before choosing an algorithm. The presentation covers Design Thinking and the proposed solution, with current project status shown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challenge once. Explain that the course allows us to choose the data, agents, cooperation and evaluation method, but requires a prototype, scenarios, baseline comparison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required outcomes. Stress that a smaller reproducible prototype is stronger than a complex demo with no baseline 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Empathize, Define and Ideate explain why the architecture exists. Prototype and Test are governed by the harness and current evidence status, not by old slide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we used three methods: consult evidence, map journeys and use SUMO as a stand-in environment. A team or professor walkthrough is proxy validation, not a stakeholder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eight personas quickly. Do not read every card. Tell the professor that the next eight slides show the complete persona canvases.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Amara as a research-informed design persona, not an interviewed person. Read the design statement, then one need, one fear, and one reject. Evidence: One NZ study found perceived mean wait about 2x observed mean wait. MUTCD uses about 1.07 m/s and asks for slower values where needed. [C03][C04] Evaluation target, not a result: Mean, P95 and maximum pedestrian wait; waits above the declared threshold; zero clearance truncations. Personality (assumption): Careful, independent, neighbourhood-aware. These traits are design assumptions, not interview findings. Technology: Pedestrian push-button, audible/visual feedback and reliable presence detection. A smartphone is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David as a research-informed design persona, not an interviewed person. Read the design statement, then one need, one fear, and one reject. Evidence: DfT TAG uses 0.4 as an appraisal reliability ratio for car/non-freight LGV journey-time variability. [C05] Evaluation target, not a result: Completed and unfinished trips, P95/max duration, stops per vehicle, standstill time and teleports. Personality (assumption): Organised, practical and schedule-focused. These traits are a design synthesis. Technology: Work phone, GPS/navigation and delivery-round tools; no special traffic-control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Chidi as a research-informed design persona, not an interviewed person. Read the design statement, then one need, one fear, and one reject. Evidence: DfT TAG applies a 2x value-of-time multiplier to public-transport waiting. Bunching evidence motivates headway measures. [C05] Evaluation target, not a result: Lateness, headway variation, passenger waiting proxy and externality to other traffic. Personality (assumption): Routine-oriented and sensitive to uncertainty. This is a research-informed design assumption. Technology: Passenger information or timetable application when available; otherwise direct observation at the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Rosa as a research-informed design persona, not an interviewed person. Read the design statement, then one need, one fear, and one reject. Evidence: SCATS documentation includes monitoring, manual intervention and audit trails, motivating explainable operations. [C08] Evaluation target, not a result: Reason-code coverage, joined decision history and a simple operator task: explain one accepted and one rejected request. Personality (assumption): Responsible, calm under pressure and evidence-seeking. These are design assumptions. Technology: Depot tools, vehicle-location screen, radio, spreadsheet and an operations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Marcus as a research-informed design persona, not an interviewed person. Read the design statement, then one need, one fear, and one reject. Evidence: One Taipei cohort associated each additional ALS-response minute with 7% lower adjusted odds of survival to discharge. Closely spaced preemptions can impose delay in a studied network. [C06][C07] Evaluation target, not a result: Emergency travel effect, civilian delay externality, blocked-downstream rejection, safety violations and recovery completion. Personality (assumption): Urgent, precise and aware of other road users. This is a design synthesis. Technology: Dispatch tablet, GPS, radio, lights and siren; no public consumer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Yuki as a research-informed design persona, not an interviewed person. Read the design statement, then one need, one fear, and one reject. Evidence: Operational systems document intervention and fallback concepts; they motivate—not validate—CoFlow-5's exact ladder. [C08] Evaluation target, not a result: Legal actions, transition reasons, health evidence, fallback order, log completeness and recovery time. Personality (assumption): Careful, process-driven and accountable. These are design assumptions. Technology: Signal supervisor, logs, sensor-health tools and GIS/analysis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Maria as a research-informed design persona, not an interviewed person. Read the design statement, then one need, one fear, and one reject. Evidence: For 2005–2006, 6.4 million students (12.5% of the studied US population) attended schools within 250 m of a major road. [C09] Evaluation target, not a result: Per-link stops and emission proxies near selected receptors; displacement map; no ambient-exposure claim. Personality (assumption): Protective, local and sceptical of averages. These traits are design assumptions. Technology: No specialist technology is assumed; she sees understandable maps and labels, not TraCI.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Omar as a research-informed design persona, not an interviewed person. Read the design statement, then one need, one fear, and one reject. Evidence: FHWA estimates incidents account for about 25–30% of congestion in many US metropolitan contexts; this is not a Tunis measurement. [C10] Evaluation target, not a result: Detection delay, false-alarm rate, missed incidents, stale-data handling and recovery by severity. Personality (assumption): Sceptical, methodical and operational. These are design assumptions. Technology: Radio, camera/video wall, incident tools and an operator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The point is not to make one persona win every time. The point is to preserve safety, record who pays, and recover after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correction from older deck language. We use a 32-row mixed-source evidence register, not a claim that every row is primary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wrong technical framing with the human-centred framing. The system exists to make distinct needs first-class and trade-offs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each persona need becomes a design question. Read only the integrated question and one example, such as Amara or Marcus.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ideation was not reverse-engineered from the chosen architecture. We considered central, independent, hierarchical, rule-based, learned and language-model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first two examples to explain the technique: describe a deliberately bad idea, identify why it fails, then turn that failure into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SCAMPER is an ideation checklist. Give two examples: substitute assumed demand with observed queues; reverse the authority so specialists ask and one controller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evidence informed the criteria, but the numerical scores are our decision aid. The chosen option wins mainly because safety and auditability are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from specialist evidence to A1, then safety mask, executor and SUMO. Point out that Synapse only receives immutable evidence and has no arrow to the executor.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an emergency request: A2 publishes a finite expiring message, the board validates it, A1 reads matching run/scenario evidence, checks safety and capacity, then records one decision and one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what is designed, what is already a deterministic fixture and what remains a future showcase. Do not imply the Tunis network or demand has been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layers. Inputs are observations. Records preserve what happened. Metrics summarise outcomes. Claims must cite the run and keep unavailable values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green statements, then the amber gaps. Rows 07 and 08 prove cooperation and failure behavior in deterministic evidence slices. They do not prove city-scale traffic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presentation is traceable. The course brief defines the assignment; research motivates needs; ADRs define architecture; gates define current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helps answer “what changed?” Explain that the evidence audit narrowed claims and the accepted ADR replaced historical architecture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distinction: this is not an LLM traffic controller. It is a reliable decision architecture whose value must be established through matched evidence. Invite questions and use the resources slide to answer where each claim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6A3A5"/>
          </a:solidFill>
          <a:ln w="12700">
            <a:solidFill>
              <a:srgbClr val="16A3A5"/>
            </a:solidFill>
            <a:prstDash val="solid"/>
          </a:ln>
        </p:spPr>
      </p:sp>
      <p:sp>
        <p:nvSpPr>
          <p:cNvPr id="3" name="Shape 1"/>
          <p:cNvSpPr/>
          <p:nvPr/>
        </p:nvSpPr>
        <p:spPr>
          <a:xfrm>
            <a:off x="411480" y="6473952"/>
            <a:ext cx="11365992" cy="0"/>
          </a:xfrm>
          <a:prstGeom prst="line">
            <a:avLst/>
          </a:prstGeom>
          <a:noFill/>
          <a:ln w="7620">
            <a:solidFill>
              <a:srgbClr val="C8D7E3"/>
            </a:solidFill>
            <a:prstDash val="solid"/>
          </a:ln>
        </p:spPr>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9"/>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239"/>
          </a:solidFill>
          <a:ln w="12700">
            <a:solidFill>
              <a:srgbClr val="0B2239"/>
            </a:solidFill>
            <a:prstDash val="solid"/>
          </a:ln>
        </p:spPr>
      </p:sp>
      <p:sp>
        <p:nvSpPr>
          <p:cNvPr id="3" name="Shape 1"/>
          <p:cNvSpPr/>
          <p:nvPr/>
        </p:nvSpPr>
        <p:spPr>
          <a:xfrm>
            <a:off x="0" y="0"/>
            <a:ext cx="146304" cy="6858000"/>
          </a:xfrm>
          <a:prstGeom prst="rect">
            <a:avLst/>
          </a:prstGeom>
          <a:solidFill>
            <a:srgbClr val="168F8B"/>
          </a:solidFill>
          <a:ln w="12700">
            <a:solidFill>
              <a:srgbClr val="168F8B"/>
            </a:solidFill>
            <a:prstDash val="solid"/>
          </a:ln>
        </p:spPr>
      </p:sp>
      <p:sp>
        <p:nvSpPr>
          <p:cNvPr id="4" name="Shape 2"/>
          <p:cNvSpPr/>
          <p:nvPr/>
        </p:nvSpPr>
        <p:spPr>
          <a:xfrm>
            <a:off x="640080" y="502920"/>
            <a:ext cx="2514600" cy="274320"/>
          </a:xfrm>
          <a:prstGeom prst="roundRect">
            <a:avLst>
              <a:gd name="adj" fmla="val 26667"/>
            </a:avLst>
          </a:prstGeom>
          <a:solidFill>
            <a:srgbClr val="168F8B"/>
          </a:solidFill>
          <a:ln w="12700">
            <a:solidFill>
              <a:srgbClr val="168F8B"/>
            </a:solidFill>
            <a:prstDash val="solid"/>
          </a:ln>
        </p:spPr>
      </p:sp>
      <p:sp>
        <p:nvSpPr>
          <p:cNvPr id="5" name="Text 3"/>
          <p:cNvSpPr/>
          <p:nvPr/>
        </p:nvSpPr>
        <p:spPr>
          <a:xfrm>
            <a:off x="676656" y="516636"/>
            <a:ext cx="244144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ESPRIT · 4DS · DATA SCIENCE</a:t>
            </a:r>
            <a:endParaRPr lang="en-US" sz="900" dirty="0"/>
          </a:p>
        </p:txBody>
      </p:sp>
      <p:sp>
        <p:nvSpPr>
          <p:cNvPr id="6" name="Text 4"/>
          <p:cNvSpPr/>
          <p:nvPr/>
        </p:nvSpPr>
        <p:spPr>
          <a:xfrm>
            <a:off x="640080" y="1234440"/>
            <a:ext cx="10789920" cy="731520"/>
          </a:xfrm>
          <a:prstGeom prst="rect">
            <a:avLst/>
          </a:prstGeom>
          <a:noFill/>
          <a:ln/>
        </p:spPr>
        <p:txBody>
          <a:bodyPr wrap="square" lIns="762" tIns="762" rIns="762" bIns="762"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CoFlow-5 Synapse</a:t>
            </a:r>
            <a:endParaRPr lang="en-US" sz="4200" dirty="0"/>
          </a:p>
        </p:txBody>
      </p:sp>
      <p:sp>
        <p:nvSpPr>
          <p:cNvPr id="7" name="Text 5"/>
          <p:cNvSpPr/>
          <p:nvPr/>
        </p:nvSpPr>
        <p:spPr>
          <a:xfrm>
            <a:off x="658368" y="1993392"/>
            <a:ext cx="10332720" cy="502920"/>
          </a:xfrm>
          <a:prstGeom prst="rect">
            <a:avLst/>
          </a:prstGeom>
          <a:noFill/>
          <a:ln/>
        </p:spPr>
        <p:txBody>
          <a:bodyPr wrap="square" lIns="762" tIns="762" rIns="762" bIns="762" rtlCol="0" anchor="ctr">
            <a:normAutofit/>
          </a:bodyPr>
          <a:lstStyle/>
          <a:p>
            <a:pPr indent="0" marL="0">
              <a:buNone/>
            </a:pPr>
            <a:r>
              <a:rPr lang="en-US" sz="2400" dirty="0">
                <a:solidFill>
                  <a:srgbClr val="B9DCE7"/>
                </a:solidFill>
                <a:latin typeface="Aptos" pitchFamily="34" charset="0"/>
                <a:ea typeface="Aptos" pitchFamily="34" charset="-122"/>
                <a:cs typeface="Aptos" pitchFamily="34" charset="-120"/>
              </a:rPr>
              <a:t>Design Thinking → a reliable five-agent traffic solution</a:t>
            </a:r>
            <a:endParaRPr lang="en-US" sz="2400" dirty="0"/>
          </a:p>
        </p:txBody>
      </p:sp>
      <p:sp>
        <p:nvSpPr>
          <p:cNvPr id="8" name="Text 6"/>
          <p:cNvSpPr/>
          <p:nvPr/>
        </p:nvSpPr>
        <p:spPr>
          <a:xfrm>
            <a:off x="658368" y="2606040"/>
            <a:ext cx="10241280" cy="502920"/>
          </a:xfrm>
          <a:prstGeom prst="rect">
            <a:avLst/>
          </a:prstGeom>
          <a:noFill/>
          <a:ln/>
        </p:spPr>
        <p:txBody>
          <a:bodyPr wrap="square" lIns="762" tIns="762" rIns="762" bIns="762" rtlCol="0" anchor="ctr">
            <a:normAutofit/>
          </a:bodyPr>
          <a:lstStyle/>
          <a:p>
            <a:pPr indent="0" marL="0">
              <a:buNone/>
            </a:pPr>
            <a:r>
              <a:rPr lang="en-US" sz="1600" dirty="0">
                <a:solidFill>
                  <a:srgbClr val="D8E8EF"/>
                </a:solidFill>
                <a:latin typeface="Aptos" pitchFamily="34" charset="0"/>
                <a:ea typeface="Aptos" pitchFamily="34" charset="-122"/>
                <a:cs typeface="Aptos" pitchFamily="34" charset="-120"/>
              </a:rPr>
              <a:t>Eight research-informed personas · controlled SUMO scenarios · one signal writer · evidence before claims</a:t>
            </a:r>
            <a:endParaRPr lang="en-US" sz="1600" dirty="0"/>
          </a:p>
        </p:txBody>
      </p:sp>
      <p:sp>
        <p:nvSpPr>
          <p:cNvPr id="9" name="Shape 7"/>
          <p:cNvSpPr/>
          <p:nvPr/>
        </p:nvSpPr>
        <p:spPr>
          <a:xfrm>
            <a:off x="658368" y="3749040"/>
            <a:ext cx="2514600" cy="1097280"/>
          </a:xfrm>
          <a:prstGeom prst="roundRect">
            <a:avLst>
              <a:gd name="adj" fmla="val 6667"/>
            </a:avLst>
          </a:prstGeom>
          <a:solidFill>
            <a:srgbClr val="123552"/>
          </a:solidFill>
          <a:ln w="10160">
            <a:solidFill>
              <a:srgbClr val="335D76"/>
            </a:solidFill>
            <a:prstDash val="solid"/>
          </a:ln>
        </p:spPr>
      </p:sp>
      <p:sp>
        <p:nvSpPr>
          <p:cNvPr id="10" name="Text 8"/>
          <p:cNvSpPr/>
          <p:nvPr/>
        </p:nvSpPr>
        <p:spPr>
          <a:xfrm>
            <a:off x="786384" y="3931920"/>
            <a:ext cx="2258568" cy="237744"/>
          </a:xfrm>
          <a:prstGeom prst="rect">
            <a:avLst/>
          </a:prstGeom>
          <a:noFill/>
          <a:ln/>
        </p:spPr>
        <p:txBody>
          <a:bodyPr wrap="square" lIns="762" tIns="762" rIns="762" bIns="762" rtlCol="0" anchor="ctr">
            <a:normAutofit/>
          </a:bodyPr>
          <a:lstStyle/>
          <a:p>
            <a:pPr indent="0" marL="0">
              <a:buNone/>
            </a:pPr>
            <a:r>
              <a:rPr lang="en-US" sz="1200" b="1" dirty="0">
                <a:solidFill>
                  <a:srgbClr val="79C2D4"/>
                </a:solidFill>
                <a:latin typeface="Aptos" pitchFamily="34" charset="0"/>
                <a:ea typeface="Aptos" pitchFamily="34" charset="-122"/>
                <a:cs typeface="Aptos" pitchFamily="34" charset="-120"/>
              </a:rPr>
              <a:t>EMPATHIZE</a:t>
            </a:r>
            <a:endParaRPr lang="en-US" sz="1200" dirty="0"/>
          </a:p>
        </p:txBody>
      </p:sp>
      <p:sp>
        <p:nvSpPr>
          <p:cNvPr id="11" name="Text 9"/>
          <p:cNvSpPr/>
          <p:nvPr/>
        </p:nvSpPr>
        <p:spPr>
          <a:xfrm>
            <a:off x="786384" y="4224528"/>
            <a:ext cx="2258568" cy="329184"/>
          </a:xfrm>
          <a:prstGeom prst="rect">
            <a:avLst/>
          </a:prstGeom>
          <a:noFill/>
          <a:ln/>
        </p:spPr>
        <p:txBody>
          <a:bodyPr wrap="square" lIns="762" tIns="762" rIns="762" bIns="762" rtlCol="0" anchor="ctr">
            <a:normAutofit/>
          </a:bodyPr>
          <a:lstStyle/>
          <a:p>
            <a:pPr indent="0" marL="0">
              <a:buNone/>
            </a:pPr>
            <a:r>
              <a:rPr lang="en-US" sz="1300" dirty="0">
                <a:solidFill>
                  <a:srgbClr val="FFFFFF"/>
                </a:solidFill>
                <a:latin typeface="Aptos" pitchFamily="34" charset="0"/>
                <a:ea typeface="Aptos" pitchFamily="34" charset="-122"/>
                <a:cs typeface="Aptos" pitchFamily="34" charset="-120"/>
              </a:rPr>
              <a:t>people and journeys</a:t>
            </a:r>
            <a:endParaRPr lang="en-US" sz="1300" dirty="0"/>
          </a:p>
        </p:txBody>
      </p:sp>
      <p:sp>
        <p:nvSpPr>
          <p:cNvPr id="12" name="Shape 10"/>
          <p:cNvSpPr/>
          <p:nvPr/>
        </p:nvSpPr>
        <p:spPr>
          <a:xfrm>
            <a:off x="3419856" y="3749040"/>
            <a:ext cx="2514600" cy="1097280"/>
          </a:xfrm>
          <a:prstGeom prst="roundRect">
            <a:avLst>
              <a:gd name="adj" fmla="val 6667"/>
            </a:avLst>
          </a:prstGeom>
          <a:solidFill>
            <a:srgbClr val="123552"/>
          </a:solidFill>
          <a:ln w="10160">
            <a:solidFill>
              <a:srgbClr val="335D76"/>
            </a:solidFill>
            <a:prstDash val="solid"/>
          </a:ln>
        </p:spPr>
      </p:sp>
      <p:sp>
        <p:nvSpPr>
          <p:cNvPr id="13" name="Text 11"/>
          <p:cNvSpPr/>
          <p:nvPr/>
        </p:nvSpPr>
        <p:spPr>
          <a:xfrm>
            <a:off x="3547872" y="3931920"/>
            <a:ext cx="2258568" cy="237744"/>
          </a:xfrm>
          <a:prstGeom prst="rect">
            <a:avLst/>
          </a:prstGeom>
          <a:noFill/>
          <a:ln/>
        </p:spPr>
        <p:txBody>
          <a:bodyPr wrap="square" lIns="762" tIns="762" rIns="762" bIns="762" rtlCol="0" anchor="ctr">
            <a:normAutofit/>
          </a:bodyPr>
          <a:lstStyle/>
          <a:p>
            <a:pPr indent="0" marL="0">
              <a:buNone/>
            </a:pPr>
            <a:r>
              <a:rPr lang="en-US" sz="1200" b="1" dirty="0">
                <a:solidFill>
                  <a:srgbClr val="79C2D4"/>
                </a:solidFill>
                <a:latin typeface="Aptos" pitchFamily="34" charset="0"/>
                <a:ea typeface="Aptos" pitchFamily="34" charset="-122"/>
                <a:cs typeface="Aptos" pitchFamily="34" charset="-120"/>
              </a:rPr>
              <a:t>DEFINE</a:t>
            </a:r>
            <a:endParaRPr lang="en-US" sz="1200" dirty="0"/>
          </a:p>
        </p:txBody>
      </p:sp>
      <p:sp>
        <p:nvSpPr>
          <p:cNvPr id="14" name="Text 12"/>
          <p:cNvSpPr/>
          <p:nvPr/>
        </p:nvSpPr>
        <p:spPr>
          <a:xfrm>
            <a:off x="3547872" y="4224528"/>
            <a:ext cx="2258568" cy="329184"/>
          </a:xfrm>
          <a:prstGeom prst="rect">
            <a:avLst/>
          </a:prstGeom>
          <a:noFill/>
          <a:ln/>
        </p:spPr>
        <p:txBody>
          <a:bodyPr wrap="square" lIns="762" tIns="762" rIns="762" bIns="762" rtlCol="0" anchor="ctr">
            <a:normAutofit/>
          </a:bodyPr>
          <a:lstStyle/>
          <a:p>
            <a:pPr indent="0" marL="0">
              <a:buNone/>
            </a:pPr>
            <a:r>
              <a:rPr lang="en-US" sz="1300" dirty="0">
                <a:solidFill>
                  <a:srgbClr val="FFFFFF"/>
                </a:solidFill>
                <a:latin typeface="Aptos" pitchFamily="34" charset="0"/>
                <a:ea typeface="Aptos" pitchFamily="34" charset="-122"/>
                <a:cs typeface="Aptos" pitchFamily="34" charset="-120"/>
              </a:rPr>
              <a:t>human-centred problem</a:t>
            </a:r>
            <a:endParaRPr lang="en-US" sz="1300" dirty="0"/>
          </a:p>
        </p:txBody>
      </p:sp>
      <p:sp>
        <p:nvSpPr>
          <p:cNvPr id="15" name="Shape 13"/>
          <p:cNvSpPr/>
          <p:nvPr/>
        </p:nvSpPr>
        <p:spPr>
          <a:xfrm>
            <a:off x="6181344" y="3749040"/>
            <a:ext cx="2514600" cy="1097280"/>
          </a:xfrm>
          <a:prstGeom prst="roundRect">
            <a:avLst>
              <a:gd name="adj" fmla="val 6667"/>
            </a:avLst>
          </a:prstGeom>
          <a:solidFill>
            <a:srgbClr val="123552"/>
          </a:solidFill>
          <a:ln w="10160">
            <a:solidFill>
              <a:srgbClr val="335D76"/>
            </a:solidFill>
            <a:prstDash val="solid"/>
          </a:ln>
        </p:spPr>
      </p:sp>
      <p:sp>
        <p:nvSpPr>
          <p:cNvPr id="16" name="Text 14"/>
          <p:cNvSpPr/>
          <p:nvPr/>
        </p:nvSpPr>
        <p:spPr>
          <a:xfrm>
            <a:off x="6309360" y="3931920"/>
            <a:ext cx="2258568" cy="237744"/>
          </a:xfrm>
          <a:prstGeom prst="rect">
            <a:avLst/>
          </a:prstGeom>
          <a:noFill/>
          <a:ln/>
        </p:spPr>
        <p:txBody>
          <a:bodyPr wrap="square" lIns="762" tIns="762" rIns="762" bIns="762" rtlCol="0" anchor="ctr">
            <a:normAutofit/>
          </a:bodyPr>
          <a:lstStyle/>
          <a:p>
            <a:pPr indent="0" marL="0">
              <a:buNone/>
            </a:pPr>
            <a:r>
              <a:rPr lang="en-US" sz="1200" b="1" dirty="0">
                <a:solidFill>
                  <a:srgbClr val="79C2D4"/>
                </a:solidFill>
                <a:latin typeface="Aptos" pitchFamily="34" charset="0"/>
                <a:ea typeface="Aptos" pitchFamily="34" charset="-122"/>
                <a:cs typeface="Aptos" pitchFamily="34" charset="-120"/>
              </a:rPr>
              <a:t>IDEATE</a:t>
            </a:r>
            <a:endParaRPr lang="en-US" sz="1200" dirty="0"/>
          </a:p>
        </p:txBody>
      </p:sp>
      <p:sp>
        <p:nvSpPr>
          <p:cNvPr id="17" name="Text 15"/>
          <p:cNvSpPr/>
          <p:nvPr/>
        </p:nvSpPr>
        <p:spPr>
          <a:xfrm>
            <a:off x="6309360" y="4224528"/>
            <a:ext cx="2258568" cy="329184"/>
          </a:xfrm>
          <a:prstGeom prst="rect">
            <a:avLst/>
          </a:prstGeom>
          <a:noFill/>
          <a:ln/>
        </p:spPr>
        <p:txBody>
          <a:bodyPr wrap="square" lIns="762" tIns="762" rIns="762" bIns="762" rtlCol="0" anchor="ctr">
            <a:normAutofit/>
          </a:bodyPr>
          <a:lstStyle/>
          <a:p>
            <a:pPr indent="0" marL="0">
              <a:buNone/>
            </a:pPr>
            <a:r>
              <a:rPr lang="en-US" sz="1300" dirty="0">
                <a:solidFill>
                  <a:srgbClr val="FFFFFF"/>
                </a:solidFill>
                <a:latin typeface="Aptos" pitchFamily="34" charset="0"/>
                <a:ea typeface="Aptos" pitchFamily="34" charset="-122"/>
                <a:cs typeface="Aptos" pitchFamily="34" charset="-120"/>
              </a:rPr>
              <a:t>compare and cut ideas</a:t>
            </a:r>
            <a:endParaRPr lang="en-US" sz="1300" dirty="0"/>
          </a:p>
        </p:txBody>
      </p:sp>
      <p:sp>
        <p:nvSpPr>
          <p:cNvPr id="18" name="Shape 16"/>
          <p:cNvSpPr/>
          <p:nvPr/>
        </p:nvSpPr>
        <p:spPr>
          <a:xfrm>
            <a:off x="8942832" y="3749040"/>
            <a:ext cx="2514600" cy="1097280"/>
          </a:xfrm>
          <a:prstGeom prst="roundRect">
            <a:avLst>
              <a:gd name="adj" fmla="val 6667"/>
            </a:avLst>
          </a:prstGeom>
          <a:solidFill>
            <a:srgbClr val="184D59"/>
          </a:solidFill>
          <a:ln w="10160">
            <a:solidFill>
              <a:srgbClr val="168F8B"/>
            </a:solidFill>
            <a:prstDash val="solid"/>
          </a:ln>
        </p:spPr>
      </p:sp>
      <p:sp>
        <p:nvSpPr>
          <p:cNvPr id="19" name="Text 17"/>
          <p:cNvSpPr/>
          <p:nvPr/>
        </p:nvSpPr>
        <p:spPr>
          <a:xfrm>
            <a:off x="9070848" y="3931920"/>
            <a:ext cx="2258568" cy="237744"/>
          </a:xfrm>
          <a:prstGeom prst="rect">
            <a:avLst/>
          </a:prstGeom>
          <a:noFill/>
          <a:ln/>
        </p:spPr>
        <p:txBody>
          <a:bodyPr wrap="square" lIns="762" tIns="762" rIns="762" bIns="762" rtlCol="0" anchor="ctr">
            <a:normAutofit/>
          </a:bodyPr>
          <a:lstStyle/>
          <a:p>
            <a:pPr indent="0" marL="0">
              <a:buNone/>
            </a:pPr>
            <a:r>
              <a:rPr lang="en-US" sz="1200" b="1" dirty="0">
                <a:solidFill>
                  <a:srgbClr val="7FE0D7"/>
                </a:solidFill>
                <a:latin typeface="Aptos" pitchFamily="34" charset="0"/>
                <a:ea typeface="Aptos" pitchFamily="34" charset="-122"/>
                <a:cs typeface="Aptos" pitchFamily="34" charset="-120"/>
              </a:rPr>
              <a:t>PROPOSE</a:t>
            </a:r>
            <a:endParaRPr lang="en-US" sz="1200" dirty="0"/>
          </a:p>
        </p:txBody>
      </p:sp>
      <p:sp>
        <p:nvSpPr>
          <p:cNvPr id="20" name="Text 18"/>
          <p:cNvSpPr/>
          <p:nvPr/>
        </p:nvSpPr>
        <p:spPr>
          <a:xfrm>
            <a:off x="9070848" y="4224528"/>
            <a:ext cx="2258568" cy="329184"/>
          </a:xfrm>
          <a:prstGeom prst="rect">
            <a:avLst/>
          </a:prstGeom>
          <a:noFill/>
          <a:ln/>
        </p:spPr>
        <p:txBody>
          <a:bodyPr wrap="square" lIns="762" tIns="762" rIns="762" bIns="762" rtlCol="0" anchor="ctr">
            <a:normAutofit/>
          </a:bodyPr>
          <a:lstStyle/>
          <a:p>
            <a:pPr indent="0" marL="0">
              <a:buNone/>
            </a:pPr>
            <a:r>
              <a:rPr lang="en-US" sz="1300" dirty="0">
                <a:solidFill>
                  <a:srgbClr val="FFFFFF"/>
                </a:solidFill>
                <a:latin typeface="Aptos" pitchFamily="34" charset="0"/>
                <a:ea typeface="Aptos" pitchFamily="34" charset="-122"/>
                <a:cs typeface="Aptos" pitchFamily="34" charset="-120"/>
              </a:rPr>
              <a:t>five agents, one writer</a:t>
            </a:r>
            <a:endParaRPr lang="en-US" sz="1300" dirty="0"/>
          </a:p>
        </p:txBody>
      </p:sp>
      <p:sp>
        <p:nvSpPr>
          <p:cNvPr id="21" name="Text 19"/>
          <p:cNvSpPr/>
          <p:nvPr/>
        </p:nvSpPr>
        <p:spPr>
          <a:xfrm>
            <a:off x="658368" y="5257800"/>
            <a:ext cx="10835640" cy="777240"/>
          </a:xfrm>
          <a:prstGeom prst="rect">
            <a:avLst/>
          </a:prstGeom>
          <a:noFill/>
          <a:ln/>
        </p:spPr>
        <p:txBody>
          <a:bodyPr wrap="square" lIns="762" tIns="762" rIns="762" bIns="762" rtlCol="0" anchor="ctr">
            <a:normAutofit/>
          </a:bodyPr>
          <a:lstStyle/>
          <a:p>
            <a:pPr algn="ctr" indent="0" marL="0">
              <a:buNone/>
            </a:pPr>
            <a:r>
              <a:rPr lang="en-US" sz="1700" i="1" dirty="0">
                <a:solidFill>
                  <a:srgbClr val="9ADCE2"/>
                </a:solidFill>
                <a:latin typeface="Aptos" pitchFamily="34" charset="0"/>
                <a:ea typeface="Aptos" pitchFamily="34" charset="-122"/>
                <a:cs typeface="Aptos" pitchFamily="34" charset="-120"/>
              </a:rPr>
              <a:t>Course HMW: How might we use data and intelligent agents to make urban traffic more efficient, adaptive and sustainable?</a:t>
            </a:r>
            <a:endParaRPr lang="en-US" sz="1700" dirty="0"/>
          </a:p>
        </p:txBody>
      </p:sp>
      <p:sp>
        <p:nvSpPr>
          <p:cNvPr id="22" name="Text 20"/>
          <p:cNvSpPr/>
          <p:nvPr/>
        </p:nvSpPr>
        <p:spPr>
          <a:xfrm>
            <a:off x="658368" y="6327648"/>
            <a:ext cx="10835640" cy="201168"/>
          </a:xfrm>
          <a:prstGeom prst="rect">
            <a:avLst/>
          </a:prstGeom>
          <a:noFill/>
          <a:ln/>
        </p:spPr>
        <p:txBody>
          <a:bodyPr wrap="square" lIns="762" tIns="762" rIns="762" bIns="762" rtlCol="0" anchor="ctr">
            <a:normAutofit/>
          </a:bodyPr>
          <a:lstStyle/>
          <a:p>
            <a:pPr algn="ctr" indent="0" marL="0">
              <a:buNone/>
            </a:pPr>
            <a:r>
              <a:rPr lang="en-US" sz="1000" dirty="0">
                <a:solidFill>
                  <a:srgbClr val="7896A8"/>
                </a:solidFill>
                <a:latin typeface="Aptos" pitchFamily="34" charset="0"/>
                <a:ea typeface="Aptos" pitchFamily="34" charset="-122"/>
                <a:cs typeface="Aptos" pitchFamily="34" charset="-120"/>
              </a:rPr>
              <a:t>Professor presentation · 22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COURSE BRIEF</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The course challenge</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 brief gives the problem and outcomes—not a predefined technical answer.</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48640" y="1600200"/>
            <a:ext cx="11064240" cy="1234440"/>
          </a:xfrm>
          <a:prstGeom prst="roundRect">
            <a:avLst>
              <a:gd name="adj" fmla="val 5926"/>
            </a:avLst>
          </a:prstGeom>
          <a:solidFill>
            <a:srgbClr val="0B2239"/>
          </a:solidFill>
          <a:ln w="10160">
            <a:solidFill>
              <a:srgbClr val="0B2239"/>
            </a:solidFill>
            <a:prstDash val="solid"/>
          </a:ln>
        </p:spPr>
      </p:sp>
      <p:sp>
        <p:nvSpPr>
          <p:cNvPr id="9" name="Text 6"/>
          <p:cNvSpPr/>
          <p:nvPr/>
        </p:nvSpPr>
        <p:spPr>
          <a:xfrm>
            <a:off x="868680" y="1810512"/>
            <a:ext cx="10424160" cy="777240"/>
          </a:xfrm>
          <a:prstGeom prst="rect">
            <a:avLst/>
          </a:prstGeom>
          <a:noFill/>
          <a:ln/>
        </p:spPr>
        <p:txBody>
          <a:bodyPr wrap="square" lIns="762" tIns="762" rIns="762" bIns="762" rtlCol="0" anchor="ctr">
            <a:normAutofit/>
          </a:bodyPr>
          <a:lstStyle/>
          <a:p>
            <a:pPr algn="ctr" indent="0" marL="0">
              <a:buNone/>
            </a:pPr>
            <a:r>
              <a:rPr lang="en-US" sz="2400" b="1" i="1" dirty="0">
                <a:solidFill>
                  <a:srgbClr val="FFFFFF"/>
                </a:solidFill>
                <a:latin typeface="Aptos" pitchFamily="34" charset="0"/>
                <a:ea typeface="Aptos" pitchFamily="34" charset="-122"/>
                <a:cs typeface="Aptos" pitchFamily="34" charset="-120"/>
              </a:rPr>
              <a:t>“How might we use data and intelligent agents to make urban traffic more efficient, adaptive, and sustainable?”</a:t>
            </a:r>
            <a:endParaRPr lang="en-US" sz="2400" dirty="0"/>
          </a:p>
        </p:txBody>
      </p:sp>
      <p:sp>
        <p:nvSpPr>
          <p:cNvPr id="10" name="Shape 7"/>
          <p:cNvSpPr/>
          <p:nvPr/>
        </p:nvSpPr>
        <p:spPr>
          <a:xfrm>
            <a:off x="548640" y="3154680"/>
            <a:ext cx="2606040" cy="1078992"/>
          </a:xfrm>
          <a:prstGeom prst="roundRect">
            <a:avLst>
              <a:gd name="adj" fmla="val 6780"/>
            </a:avLst>
          </a:prstGeom>
          <a:solidFill>
            <a:srgbClr val="DDEFF5"/>
          </a:solidFill>
          <a:ln w="10160">
            <a:solidFill>
              <a:srgbClr val="176B87"/>
            </a:solidFill>
            <a:prstDash val="solid"/>
          </a:ln>
        </p:spPr>
      </p:sp>
      <p:sp>
        <p:nvSpPr>
          <p:cNvPr id="11" name="Shape 8"/>
          <p:cNvSpPr/>
          <p:nvPr/>
        </p:nvSpPr>
        <p:spPr>
          <a:xfrm>
            <a:off x="548640" y="3154680"/>
            <a:ext cx="73152" cy="1078992"/>
          </a:xfrm>
          <a:prstGeom prst="rect">
            <a:avLst/>
          </a:prstGeom>
          <a:solidFill>
            <a:srgbClr val="176B87"/>
          </a:solidFill>
          <a:ln w="12700">
            <a:solidFill>
              <a:srgbClr val="176B87"/>
            </a:solidFill>
            <a:prstDash val="solid"/>
          </a:ln>
        </p:spPr>
      </p:sp>
      <p:sp>
        <p:nvSpPr>
          <p:cNvPr id="12" name="Text 9"/>
          <p:cNvSpPr/>
          <p:nvPr/>
        </p:nvSpPr>
        <p:spPr>
          <a:xfrm>
            <a:off x="713232" y="3227832"/>
            <a:ext cx="231343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INFORMATION</a:t>
            </a:r>
            <a:endParaRPr lang="en-US" sz="1300" dirty="0"/>
          </a:p>
        </p:txBody>
      </p:sp>
      <p:sp>
        <p:nvSpPr>
          <p:cNvPr id="13" name="Text 10"/>
          <p:cNvSpPr/>
          <p:nvPr/>
        </p:nvSpPr>
        <p:spPr>
          <a:xfrm>
            <a:off x="713232" y="3520440"/>
            <a:ext cx="2313432" cy="64008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What should an agent observe?</a:t>
            </a:r>
            <a:endParaRPr lang="en-US" sz="1400" dirty="0"/>
          </a:p>
        </p:txBody>
      </p:sp>
      <p:sp>
        <p:nvSpPr>
          <p:cNvPr id="14" name="Shape 11"/>
          <p:cNvSpPr/>
          <p:nvPr/>
        </p:nvSpPr>
        <p:spPr>
          <a:xfrm>
            <a:off x="3355848" y="3154680"/>
            <a:ext cx="2606040" cy="1078992"/>
          </a:xfrm>
          <a:prstGeom prst="roundRect">
            <a:avLst>
              <a:gd name="adj" fmla="val 6780"/>
            </a:avLst>
          </a:prstGeom>
          <a:solidFill>
            <a:srgbClr val="DDF3EC"/>
          </a:solidFill>
          <a:ln w="10160">
            <a:solidFill>
              <a:srgbClr val="2D936C"/>
            </a:solidFill>
            <a:prstDash val="solid"/>
          </a:ln>
        </p:spPr>
      </p:sp>
      <p:sp>
        <p:nvSpPr>
          <p:cNvPr id="15" name="Shape 12"/>
          <p:cNvSpPr/>
          <p:nvPr/>
        </p:nvSpPr>
        <p:spPr>
          <a:xfrm>
            <a:off x="3355848" y="3154680"/>
            <a:ext cx="73152" cy="1078992"/>
          </a:xfrm>
          <a:prstGeom prst="rect">
            <a:avLst/>
          </a:prstGeom>
          <a:solidFill>
            <a:srgbClr val="2D936C"/>
          </a:solidFill>
          <a:ln w="12700">
            <a:solidFill>
              <a:srgbClr val="2D936C"/>
            </a:solidFill>
            <a:prstDash val="solid"/>
          </a:ln>
        </p:spPr>
      </p:sp>
      <p:sp>
        <p:nvSpPr>
          <p:cNvPr id="16" name="Text 13"/>
          <p:cNvSpPr/>
          <p:nvPr/>
        </p:nvSpPr>
        <p:spPr>
          <a:xfrm>
            <a:off x="3520440" y="3227832"/>
            <a:ext cx="231343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DECISIONS</a:t>
            </a:r>
            <a:endParaRPr lang="en-US" sz="1300" dirty="0"/>
          </a:p>
        </p:txBody>
      </p:sp>
      <p:sp>
        <p:nvSpPr>
          <p:cNvPr id="17" name="Text 14"/>
          <p:cNvSpPr/>
          <p:nvPr/>
        </p:nvSpPr>
        <p:spPr>
          <a:xfrm>
            <a:off x="3520440" y="3520440"/>
            <a:ext cx="2313432" cy="64008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What may it decide?</a:t>
            </a:r>
            <a:endParaRPr lang="en-US" sz="1400" dirty="0"/>
          </a:p>
        </p:txBody>
      </p:sp>
      <p:sp>
        <p:nvSpPr>
          <p:cNvPr id="18" name="Shape 15"/>
          <p:cNvSpPr/>
          <p:nvPr/>
        </p:nvSpPr>
        <p:spPr>
          <a:xfrm>
            <a:off x="6163056" y="3154680"/>
            <a:ext cx="2606040" cy="1078992"/>
          </a:xfrm>
          <a:prstGeom prst="roundRect">
            <a:avLst>
              <a:gd name="adj" fmla="val 6780"/>
            </a:avLst>
          </a:prstGeom>
          <a:solidFill>
            <a:srgbClr val="DDEFF5"/>
          </a:solidFill>
          <a:ln w="10160">
            <a:solidFill>
              <a:srgbClr val="176B87"/>
            </a:solidFill>
            <a:prstDash val="solid"/>
          </a:ln>
        </p:spPr>
      </p:sp>
      <p:sp>
        <p:nvSpPr>
          <p:cNvPr id="19" name="Shape 16"/>
          <p:cNvSpPr/>
          <p:nvPr/>
        </p:nvSpPr>
        <p:spPr>
          <a:xfrm>
            <a:off x="6163056" y="3154680"/>
            <a:ext cx="73152" cy="1078992"/>
          </a:xfrm>
          <a:prstGeom prst="rect">
            <a:avLst/>
          </a:prstGeom>
          <a:solidFill>
            <a:srgbClr val="176B87"/>
          </a:solidFill>
          <a:ln w="12700">
            <a:solidFill>
              <a:srgbClr val="176B87"/>
            </a:solidFill>
            <a:prstDash val="solid"/>
          </a:ln>
        </p:spPr>
      </p:sp>
      <p:sp>
        <p:nvSpPr>
          <p:cNvPr id="20" name="Text 17"/>
          <p:cNvSpPr/>
          <p:nvPr/>
        </p:nvSpPr>
        <p:spPr>
          <a:xfrm>
            <a:off x="6327648" y="3227832"/>
            <a:ext cx="231343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COOPERATION</a:t>
            </a:r>
            <a:endParaRPr lang="en-US" sz="1300" dirty="0"/>
          </a:p>
        </p:txBody>
      </p:sp>
      <p:sp>
        <p:nvSpPr>
          <p:cNvPr id="21" name="Text 18"/>
          <p:cNvSpPr/>
          <p:nvPr/>
        </p:nvSpPr>
        <p:spPr>
          <a:xfrm>
            <a:off x="6327648" y="3520440"/>
            <a:ext cx="2313432" cy="64008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Independent or cooperative?</a:t>
            </a:r>
            <a:endParaRPr lang="en-US" sz="1400" dirty="0"/>
          </a:p>
        </p:txBody>
      </p:sp>
      <p:sp>
        <p:nvSpPr>
          <p:cNvPr id="22" name="Shape 19"/>
          <p:cNvSpPr/>
          <p:nvPr/>
        </p:nvSpPr>
        <p:spPr>
          <a:xfrm>
            <a:off x="8970264" y="3154680"/>
            <a:ext cx="2606040" cy="1078992"/>
          </a:xfrm>
          <a:prstGeom prst="roundRect">
            <a:avLst>
              <a:gd name="adj" fmla="val 6780"/>
            </a:avLst>
          </a:prstGeom>
          <a:solidFill>
            <a:srgbClr val="DDF3EC"/>
          </a:solidFill>
          <a:ln w="10160">
            <a:solidFill>
              <a:srgbClr val="2D936C"/>
            </a:solidFill>
            <a:prstDash val="solid"/>
          </a:ln>
        </p:spPr>
      </p:sp>
      <p:sp>
        <p:nvSpPr>
          <p:cNvPr id="23" name="Shape 20"/>
          <p:cNvSpPr/>
          <p:nvPr/>
        </p:nvSpPr>
        <p:spPr>
          <a:xfrm>
            <a:off x="8970264" y="3154680"/>
            <a:ext cx="73152" cy="1078992"/>
          </a:xfrm>
          <a:prstGeom prst="rect">
            <a:avLst/>
          </a:prstGeom>
          <a:solidFill>
            <a:srgbClr val="2D936C"/>
          </a:solidFill>
          <a:ln w="12700">
            <a:solidFill>
              <a:srgbClr val="2D936C"/>
            </a:solidFill>
            <a:prstDash val="solid"/>
          </a:ln>
        </p:spPr>
      </p:sp>
      <p:sp>
        <p:nvSpPr>
          <p:cNvPr id="24" name="Text 21"/>
          <p:cNvSpPr/>
          <p:nvPr/>
        </p:nvSpPr>
        <p:spPr>
          <a:xfrm>
            <a:off x="9134856" y="3227832"/>
            <a:ext cx="231343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EVALUATION</a:t>
            </a:r>
            <a:endParaRPr lang="en-US" sz="1300" dirty="0"/>
          </a:p>
        </p:txBody>
      </p:sp>
      <p:sp>
        <p:nvSpPr>
          <p:cNvPr id="25" name="Text 22"/>
          <p:cNvSpPr/>
          <p:nvPr/>
        </p:nvSpPr>
        <p:spPr>
          <a:xfrm>
            <a:off x="9134856" y="3520440"/>
            <a:ext cx="2313432" cy="64008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How do we know it helps?</a:t>
            </a:r>
            <a:endParaRPr lang="en-US" sz="1400" dirty="0"/>
          </a:p>
        </p:txBody>
      </p:sp>
      <p:sp>
        <p:nvSpPr>
          <p:cNvPr id="26" name="Shape 23"/>
          <p:cNvSpPr/>
          <p:nvPr/>
        </p:nvSpPr>
        <p:spPr>
          <a:xfrm>
            <a:off x="548640" y="4526280"/>
            <a:ext cx="11064240" cy="1024128"/>
          </a:xfrm>
          <a:prstGeom prst="roundRect">
            <a:avLst>
              <a:gd name="adj" fmla="val 7143"/>
            </a:avLst>
          </a:prstGeom>
          <a:solidFill>
            <a:srgbClr val="FFFFFF"/>
          </a:solidFill>
          <a:ln w="10160">
            <a:solidFill>
              <a:srgbClr val="168F8B"/>
            </a:solidFill>
            <a:prstDash val="solid"/>
          </a:ln>
        </p:spPr>
      </p:sp>
      <p:sp>
        <p:nvSpPr>
          <p:cNvPr id="27" name="Shape 24"/>
          <p:cNvSpPr/>
          <p:nvPr/>
        </p:nvSpPr>
        <p:spPr>
          <a:xfrm>
            <a:off x="548640" y="4526280"/>
            <a:ext cx="73152" cy="1024128"/>
          </a:xfrm>
          <a:prstGeom prst="rect">
            <a:avLst/>
          </a:prstGeom>
          <a:solidFill>
            <a:srgbClr val="168F8B"/>
          </a:solidFill>
          <a:ln w="12700">
            <a:solidFill>
              <a:srgbClr val="168F8B"/>
            </a:solidFill>
            <a:prstDash val="solid"/>
          </a:ln>
        </p:spPr>
      </p:sp>
      <p:sp>
        <p:nvSpPr>
          <p:cNvPr id="28" name="Text 25"/>
          <p:cNvSpPr/>
          <p:nvPr/>
        </p:nvSpPr>
        <p:spPr>
          <a:xfrm>
            <a:off x="713232" y="4599432"/>
            <a:ext cx="1077163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Our answer</a:t>
            </a:r>
            <a:endParaRPr lang="en-US" sz="1300" dirty="0"/>
          </a:p>
        </p:txBody>
      </p:sp>
      <p:sp>
        <p:nvSpPr>
          <p:cNvPr id="29" name="Text 26"/>
          <p:cNvSpPr/>
          <p:nvPr/>
        </p:nvSpPr>
        <p:spPr>
          <a:xfrm>
            <a:off x="713232" y="4892040"/>
            <a:ext cx="10771632" cy="585216"/>
          </a:xfrm>
          <a:prstGeom prst="rect">
            <a:avLst/>
          </a:prstGeom>
          <a:noFill/>
          <a:ln/>
        </p:spPr>
        <p:txBody>
          <a:bodyPr wrap="square" lIns="762" tIns="762" rIns="762" bIns="762" rtlCol="0" anchor="t">
            <a:normAutofit/>
          </a:bodyPr>
          <a:lstStyle/>
          <a:p>
            <a:pPr indent="0" marL="0">
              <a:buNone/>
            </a:pPr>
            <a:r>
              <a:rPr lang="en-US" sz="1600" dirty="0">
                <a:solidFill>
                  <a:srgbClr val="162B3A"/>
                </a:solidFill>
                <a:latin typeface="Aptos" pitchFamily="34" charset="0"/>
                <a:ea typeface="Aptos" pitchFamily="34" charset="-122"/>
                <a:cs typeface="Aptos" pitchFamily="34" charset="-120"/>
              </a:rPr>
              <a:t>Cooperate through typed evidence. Only A1 acts. Compare against fixed-time and actuated control. Keep failures and limitations visible. [C01]</a:t>
            </a:r>
            <a:endParaRPr lang="en-US" sz="16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COURSE OUTCOMES</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What the professor should be able to verify</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Innovation matters, but evidence matters more than technological complexity.</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600200"/>
            <a:ext cx="2633472" cy="3520440"/>
          </a:xfrm>
          <a:prstGeom prst="roundRect">
            <a:avLst>
              <a:gd name="adj" fmla="val 2778"/>
            </a:avLst>
          </a:prstGeom>
          <a:solidFill>
            <a:srgbClr val="FFFFFF"/>
          </a:solidFill>
          <a:ln w="10160">
            <a:solidFill>
              <a:srgbClr val="176B87"/>
            </a:solidFill>
            <a:prstDash val="solid"/>
          </a:ln>
        </p:spPr>
      </p:sp>
      <p:sp>
        <p:nvSpPr>
          <p:cNvPr id="9" name="Shape 6"/>
          <p:cNvSpPr/>
          <p:nvPr/>
        </p:nvSpPr>
        <p:spPr>
          <a:xfrm>
            <a:off x="1444752" y="1828800"/>
            <a:ext cx="914400" cy="914400"/>
          </a:xfrm>
          <a:prstGeom prst="ellipse">
            <a:avLst/>
          </a:prstGeom>
          <a:solidFill>
            <a:srgbClr val="176B87"/>
          </a:solidFill>
          <a:ln w="12700">
            <a:solidFill>
              <a:srgbClr val="176B87"/>
            </a:solidFill>
            <a:prstDash val="solid"/>
          </a:ln>
        </p:spPr>
      </p:sp>
      <p:sp>
        <p:nvSpPr>
          <p:cNvPr id="10" name="Text 7"/>
          <p:cNvSpPr/>
          <p:nvPr/>
        </p:nvSpPr>
        <p:spPr>
          <a:xfrm>
            <a:off x="1444752" y="1828800"/>
            <a:ext cx="914400" cy="914400"/>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1</a:t>
            </a:r>
            <a:endParaRPr lang="en-US" sz="2600" dirty="0"/>
          </a:p>
        </p:txBody>
      </p:sp>
      <p:sp>
        <p:nvSpPr>
          <p:cNvPr id="11" name="Text 8"/>
          <p:cNvSpPr/>
          <p:nvPr/>
        </p:nvSpPr>
        <p:spPr>
          <a:xfrm>
            <a:off x="777240" y="2926080"/>
            <a:ext cx="2267712" cy="420624"/>
          </a:xfrm>
          <a:prstGeom prst="rect">
            <a:avLst/>
          </a:prstGeom>
          <a:noFill/>
          <a:ln/>
        </p:spPr>
        <p:txBody>
          <a:bodyPr wrap="square" lIns="762" tIns="762" rIns="762" bIns="762" rtlCol="0" anchor="ctr">
            <a:normAutofit/>
          </a:bodyPr>
          <a:lstStyle/>
          <a:p>
            <a:pPr algn="ctr" indent="0" marL="0">
              <a:buNone/>
            </a:pPr>
            <a:r>
              <a:rPr lang="en-US" sz="1800" b="1" dirty="0">
                <a:solidFill>
                  <a:srgbClr val="0B2239"/>
                </a:solidFill>
                <a:latin typeface="Aptos" pitchFamily="34" charset="0"/>
                <a:ea typeface="Aptos" pitchFamily="34" charset="-122"/>
                <a:cs typeface="Aptos" pitchFamily="34" charset="-120"/>
              </a:rPr>
              <a:t>Working prototype</a:t>
            </a:r>
            <a:endParaRPr lang="en-US" sz="1800" dirty="0"/>
          </a:p>
        </p:txBody>
      </p:sp>
      <p:sp>
        <p:nvSpPr>
          <p:cNvPr id="12" name="Text 9"/>
          <p:cNvSpPr/>
          <p:nvPr/>
        </p:nvSpPr>
        <p:spPr>
          <a:xfrm>
            <a:off x="795528" y="3456432"/>
            <a:ext cx="223113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A reproducible SUMO run with one legal signal writer.</a:t>
            </a:r>
            <a:endParaRPr lang="en-US" sz="1400" dirty="0"/>
          </a:p>
        </p:txBody>
      </p:sp>
      <p:sp>
        <p:nvSpPr>
          <p:cNvPr id="13" name="Shape 10"/>
          <p:cNvSpPr/>
          <p:nvPr/>
        </p:nvSpPr>
        <p:spPr>
          <a:xfrm>
            <a:off x="3456432" y="1600200"/>
            <a:ext cx="2633472" cy="3520440"/>
          </a:xfrm>
          <a:prstGeom prst="roundRect">
            <a:avLst>
              <a:gd name="adj" fmla="val 2778"/>
            </a:avLst>
          </a:prstGeom>
          <a:solidFill>
            <a:srgbClr val="FFFFFF"/>
          </a:solidFill>
          <a:ln w="10160">
            <a:solidFill>
              <a:srgbClr val="2D936C"/>
            </a:solidFill>
            <a:prstDash val="solid"/>
          </a:ln>
        </p:spPr>
      </p:sp>
      <p:sp>
        <p:nvSpPr>
          <p:cNvPr id="14" name="Shape 11"/>
          <p:cNvSpPr/>
          <p:nvPr/>
        </p:nvSpPr>
        <p:spPr>
          <a:xfrm>
            <a:off x="4306824" y="1828800"/>
            <a:ext cx="914400" cy="914400"/>
          </a:xfrm>
          <a:prstGeom prst="ellipse">
            <a:avLst/>
          </a:prstGeom>
          <a:solidFill>
            <a:srgbClr val="2D936C"/>
          </a:solidFill>
          <a:ln w="12700">
            <a:solidFill>
              <a:srgbClr val="2D936C"/>
            </a:solidFill>
            <a:prstDash val="solid"/>
          </a:ln>
        </p:spPr>
      </p:sp>
      <p:sp>
        <p:nvSpPr>
          <p:cNvPr id="15" name="Text 12"/>
          <p:cNvSpPr/>
          <p:nvPr/>
        </p:nvSpPr>
        <p:spPr>
          <a:xfrm>
            <a:off x="4306824" y="1828800"/>
            <a:ext cx="914400" cy="914400"/>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2</a:t>
            </a:r>
            <a:endParaRPr lang="en-US" sz="2600" dirty="0"/>
          </a:p>
        </p:txBody>
      </p:sp>
      <p:sp>
        <p:nvSpPr>
          <p:cNvPr id="16" name="Text 13"/>
          <p:cNvSpPr/>
          <p:nvPr/>
        </p:nvSpPr>
        <p:spPr>
          <a:xfrm>
            <a:off x="3639312" y="2926080"/>
            <a:ext cx="2267712" cy="420624"/>
          </a:xfrm>
          <a:prstGeom prst="rect">
            <a:avLst/>
          </a:prstGeom>
          <a:noFill/>
          <a:ln/>
        </p:spPr>
        <p:txBody>
          <a:bodyPr wrap="square" lIns="762" tIns="762" rIns="762" bIns="762" rtlCol="0" anchor="ctr">
            <a:normAutofit/>
          </a:bodyPr>
          <a:lstStyle/>
          <a:p>
            <a:pPr algn="ctr" indent="0" marL="0">
              <a:buNone/>
            </a:pPr>
            <a:r>
              <a:rPr lang="en-US" sz="1800" b="1" dirty="0">
                <a:solidFill>
                  <a:srgbClr val="0B2239"/>
                </a:solidFill>
                <a:latin typeface="Aptos" pitchFamily="34" charset="0"/>
                <a:ea typeface="Aptos" pitchFamily="34" charset="-122"/>
                <a:cs typeface="Aptos" pitchFamily="34" charset="-120"/>
              </a:rPr>
              <a:t>Different conditions</a:t>
            </a:r>
            <a:endParaRPr lang="en-US" sz="1800" dirty="0"/>
          </a:p>
        </p:txBody>
      </p:sp>
      <p:sp>
        <p:nvSpPr>
          <p:cNvPr id="17" name="Text 14"/>
          <p:cNvSpPr/>
          <p:nvPr/>
        </p:nvSpPr>
        <p:spPr>
          <a:xfrm>
            <a:off x="3657600" y="3456432"/>
            <a:ext cx="223113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Demand, emergency, pedestrian, transit and failure scenarios.</a:t>
            </a:r>
            <a:endParaRPr lang="en-US" sz="1400" dirty="0"/>
          </a:p>
        </p:txBody>
      </p:sp>
      <p:sp>
        <p:nvSpPr>
          <p:cNvPr id="18" name="Shape 15"/>
          <p:cNvSpPr/>
          <p:nvPr/>
        </p:nvSpPr>
        <p:spPr>
          <a:xfrm>
            <a:off x="6318504" y="1600200"/>
            <a:ext cx="2633472" cy="3520440"/>
          </a:xfrm>
          <a:prstGeom prst="roundRect">
            <a:avLst>
              <a:gd name="adj" fmla="val 2778"/>
            </a:avLst>
          </a:prstGeom>
          <a:solidFill>
            <a:srgbClr val="FFFFFF"/>
          </a:solidFill>
          <a:ln w="10160">
            <a:solidFill>
              <a:srgbClr val="176B87"/>
            </a:solidFill>
            <a:prstDash val="solid"/>
          </a:ln>
        </p:spPr>
      </p:sp>
      <p:sp>
        <p:nvSpPr>
          <p:cNvPr id="19" name="Shape 16"/>
          <p:cNvSpPr/>
          <p:nvPr/>
        </p:nvSpPr>
        <p:spPr>
          <a:xfrm>
            <a:off x="7168896" y="1828800"/>
            <a:ext cx="914400" cy="914400"/>
          </a:xfrm>
          <a:prstGeom prst="ellipse">
            <a:avLst/>
          </a:prstGeom>
          <a:solidFill>
            <a:srgbClr val="176B87"/>
          </a:solidFill>
          <a:ln w="12700">
            <a:solidFill>
              <a:srgbClr val="176B87"/>
            </a:solidFill>
            <a:prstDash val="solid"/>
          </a:ln>
        </p:spPr>
      </p:sp>
      <p:sp>
        <p:nvSpPr>
          <p:cNvPr id="20" name="Text 17"/>
          <p:cNvSpPr/>
          <p:nvPr/>
        </p:nvSpPr>
        <p:spPr>
          <a:xfrm>
            <a:off x="7168896" y="1828800"/>
            <a:ext cx="914400" cy="914400"/>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3</a:t>
            </a:r>
            <a:endParaRPr lang="en-US" sz="2600" dirty="0"/>
          </a:p>
        </p:txBody>
      </p:sp>
      <p:sp>
        <p:nvSpPr>
          <p:cNvPr id="21" name="Text 18"/>
          <p:cNvSpPr/>
          <p:nvPr/>
        </p:nvSpPr>
        <p:spPr>
          <a:xfrm>
            <a:off x="6501384" y="2926080"/>
            <a:ext cx="2267712" cy="420624"/>
          </a:xfrm>
          <a:prstGeom prst="rect">
            <a:avLst/>
          </a:prstGeom>
          <a:noFill/>
          <a:ln/>
        </p:spPr>
        <p:txBody>
          <a:bodyPr wrap="square" lIns="762" tIns="762" rIns="762" bIns="762" rtlCol="0" anchor="ctr">
            <a:normAutofit/>
          </a:bodyPr>
          <a:lstStyle/>
          <a:p>
            <a:pPr algn="ctr" indent="0" marL="0">
              <a:buNone/>
            </a:pPr>
            <a:r>
              <a:rPr lang="en-US" sz="1800" b="1" dirty="0">
                <a:solidFill>
                  <a:srgbClr val="0B2239"/>
                </a:solidFill>
                <a:latin typeface="Aptos" pitchFamily="34" charset="0"/>
                <a:ea typeface="Aptos" pitchFamily="34" charset="-122"/>
                <a:cs typeface="Aptos" pitchFamily="34" charset="-120"/>
              </a:rPr>
              <a:t>Baseline comparison</a:t>
            </a:r>
            <a:endParaRPr lang="en-US" sz="1800" dirty="0"/>
          </a:p>
        </p:txBody>
      </p:sp>
      <p:sp>
        <p:nvSpPr>
          <p:cNvPr id="22" name="Text 19"/>
          <p:cNvSpPr/>
          <p:nvPr/>
        </p:nvSpPr>
        <p:spPr>
          <a:xfrm>
            <a:off x="6519672" y="3456432"/>
            <a:ext cx="223113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Fixed-time and actuated on matched scenario seeds.</a:t>
            </a:r>
            <a:endParaRPr lang="en-US" sz="1400" dirty="0"/>
          </a:p>
        </p:txBody>
      </p:sp>
      <p:sp>
        <p:nvSpPr>
          <p:cNvPr id="23" name="Shape 20"/>
          <p:cNvSpPr/>
          <p:nvPr/>
        </p:nvSpPr>
        <p:spPr>
          <a:xfrm>
            <a:off x="9180576" y="1600200"/>
            <a:ext cx="2633472" cy="3520440"/>
          </a:xfrm>
          <a:prstGeom prst="roundRect">
            <a:avLst>
              <a:gd name="adj" fmla="val 2778"/>
            </a:avLst>
          </a:prstGeom>
          <a:solidFill>
            <a:srgbClr val="FFFFFF"/>
          </a:solidFill>
          <a:ln w="10160">
            <a:solidFill>
              <a:srgbClr val="2D936C"/>
            </a:solidFill>
            <a:prstDash val="solid"/>
          </a:ln>
        </p:spPr>
      </p:sp>
      <p:sp>
        <p:nvSpPr>
          <p:cNvPr id="24" name="Shape 21"/>
          <p:cNvSpPr/>
          <p:nvPr/>
        </p:nvSpPr>
        <p:spPr>
          <a:xfrm>
            <a:off x="10030968" y="1828800"/>
            <a:ext cx="914400" cy="914400"/>
          </a:xfrm>
          <a:prstGeom prst="ellipse">
            <a:avLst/>
          </a:prstGeom>
          <a:solidFill>
            <a:srgbClr val="2D936C"/>
          </a:solidFill>
          <a:ln w="12700">
            <a:solidFill>
              <a:srgbClr val="2D936C"/>
            </a:solidFill>
            <a:prstDash val="solid"/>
          </a:ln>
        </p:spPr>
      </p:sp>
      <p:sp>
        <p:nvSpPr>
          <p:cNvPr id="25" name="Text 22"/>
          <p:cNvSpPr/>
          <p:nvPr/>
        </p:nvSpPr>
        <p:spPr>
          <a:xfrm>
            <a:off x="10030968" y="1828800"/>
            <a:ext cx="914400" cy="914400"/>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4</a:t>
            </a:r>
            <a:endParaRPr lang="en-US" sz="2600" dirty="0"/>
          </a:p>
        </p:txBody>
      </p:sp>
      <p:sp>
        <p:nvSpPr>
          <p:cNvPr id="26" name="Text 23"/>
          <p:cNvSpPr/>
          <p:nvPr/>
        </p:nvSpPr>
        <p:spPr>
          <a:xfrm>
            <a:off x="9363456" y="2926080"/>
            <a:ext cx="2267712" cy="420624"/>
          </a:xfrm>
          <a:prstGeom prst="rect">
            <a:avLst/>
          </a:prstGeom>
          <a:noFill/>
          <a:ln/>
        </p:spPr>
        <p:txBody>
          <a:bodyPr wrap="square" lIns="762" tIns="762" rIns="762" bIns="762" rtlCol="0" anchor="ctr">
            <a:normAutofit/>
          </a:bodyPr>
          <a:lstStyle/>
          <a:p>
            <a:pPr algn="ctr" indent="0" marL="0">
              <a:buNone/>
            </a:pPr>
            <a:r>
              <a:rPr lang="en-US" sz="1800" b="1" dirty="0">
                <a:solidFill>
                  <a:srgbClr val="0B2239"/>
                </a:solidFill>
                <a:latin typeface="Aptos" pitchFamily="34" charset="0"/>
                <a:ea typeface="Aptos" pitchFamily="34" charset="-122"/>
                <a:cs typeface="Aptos" pitchFamily="34" charset="-120"/>
              </a:rPr>
              <a:t>Strengths + limitations</a:t>
            </a:r>
            <a:endParaRPr lang="en-US" sz="1800" dirty="0"/>
          </a:p>
        </p:txBody>
      </p:sp>
      <p:sp>
        <p:nvSpPr>
          <p:cNvPr id="27" name="Text 24"/>
          <p:cNvSpPr/>
          <p:nvPr/>
        </p:nvSpPr>
        <p:spPr>
          <a:xfrm>
            <a:off x="9381744" y="3456432"/>
            <a:ext cx="223113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Data, null results, externalities and missing evidence.</a:t>
            </a:r>
            <a:endParaRPr lang="en-US" sz="1400" dirty="0"/>
          </a:p>
        </p:txBody>
      </p:sp>
      <p:sp>
        <p:nvSpPr>
          <p:cNvPr id="28" name="Shape 25"/>
          <p:cNvSpPr/>
          <p:nvPr/>
        </p:nvSpPr>
        <p:spPr>
          <a:xfrm>
            <a:off x="1097280" y="5440680"/>
            <a:ext cx="9994392" cy="585216"/>
          </a:xfrm>
          <a:prstGeom prst="roundRect">
            <a:avLst>
              <a:gd name="adj" fmla="val 12500"/>
            </a:avLst>
          </a:prstGeom>
          <a:solidFill>
            <a:srgbClr val="FFF0D8"/>
          </a:solidFill>
          <a:ln w="10160">
            <a:solidFill>
              <a:srgbClr val="CF7B1B"/>
            </a:solidFill>
            <a:prstDash val="solid"/>
          </a:ln>
        </p:spPr>
      </p:sp>
      <p:sp>
        <p:nvSpPr>
          <p:cNvPr id="29" name="Text 26"/>
          <p:cNvSpPr/>
          <p:nvPr/>
        </p:nvSpPr>
        <p:spPr>
          <a:xfrm>
            <a:off x="1280160" y="5559552"/>
            <a:ext cx="9628632" cy="310896"/>
          </a:xfrm>
          <a:prstGeom prst="rect">
            <a:avLst/>
          </a:prstGeom>
          <a:noFill/>
          <a:ln/>
        </p:spPr>
        <p:txBody>
          <a:bodyPr wrap="square" lIns="762" tIns="762" rIns="762" bIns="762" rtlCol="0" anchor="ctr">
            <a:normAutofit/>
          </a:bodyPr>
          <a:lstStyle/>
          <a:p>
            <a:pPr algn="ctr" indent="0" marL="0">
              <a:buNone/>
            </a:pPr>
            <a:r>
              <a:rPr lang="en-US" sz="1600" b="1" dirty="0">
                <a:solidFill>
                  <a:srgbClr val="CF7B1B"/>
                </a:solidFill>
                <a:latin typeface="Aptos" pitchFamily="34" charset="0"/>
                <a:ea typeface="Aptos" pitchFamily="34" charset="-122"/>
                <a:cs typeface="Aptos" pitchFamily="34" charset="-120"/>
              </a:rPr>
              <a:t>Evidence discipline: measured result ≠ proposed target ≠ literature finding ≠ design assumption.</a:t>
            </a:r>
            <a:endParaRPr lang="en-US" sz="16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METHOD</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Design Thinking: the path from people to prototype</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Stages 1–3 are complete as research-informed design work; current prototype evidence is tracked separately.</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1161288" y="1600200"/>
            <a:ext cx="822960" cy="822960"/>
          </a:xfrm>
          <a:prstGeom prst="ellipse">
            <a:avLst/>
          </a:prstGeom>
          <a:solidFill>
            <a:srgbClr val="CF7B1B"/>
          </a:solidFill>
          <a:ln w="12700">
            <a:solidFill>
              <a:srgbClr val="CF7B1B"/>
            </a:solidFill>
            <a:prstDash val="solid"/>
          </a:ln>
        </p:spPr>
      </p:sp>
      <p:sp>
        <p:nvSpPr>
          <p:cNvPr id="9" name="Text 6"/>
          <p:cNvSpPr/>
          <p:nvPr/>
        </p:nvSpPr>
        <p:spPr>
          <a:xfrm>
            <a:off x="116128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1</a:t>
            </a:r>
            <a:endParaRPr lang="en-US" sz="2300" dirty="0"/>
          </a:p>
        </p:txBody>
      </p:sp>
      <p:sp>
        <p:nvSpPr>
          <p:cNvPr id="10" name="Text 7"/>
          <p:cNvSpPr/>
          <p:nvPr/>
        </p:nvSpPr>
        <p:spPr>
          <a:xfrm>
            <a:off x="50292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CF7B1B"/>
                </a:solidFill>
                <a:latin typeface="Aptos" pitchFamily="34" charset="0"/>
                <a:ea typeface="Aptos" pitchFamily="34" charset="-122"/>
                <a:cs typeface="Aptos" pitchFamily="34" charset="-120"/>
              </a:rPr>
              <a:t>EMPATHIZE</a:t>
            </a:r>
            <a:endParaRPr lang="en-US" sz="1300" dirty="0"/>
          </a:p>
        </p:txBody>
      </p:sp>
      <p:sp>
        <p:nvSpPr>
          <p:cNvPr id="11" name="Text 8"/>
          <p:cNvSpPr/>
          <p:nvPr/>
        </p:nvSpPr>
        <p:spPr>
          <a:xfrm>
            <a:off x="50292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Personas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Journeys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Evidence</a:t>
            </a:r>
            <a:endParaRPr lang="en-US" sz="1400" dirty="0"/>
          </a:p>
        </p:txBody>
      </p:sp>
      <p:sp>
        <p:nvSpPr>
          <p:cNvPr id="12" name="Shape 9"/>
          <p:cNvSpPr/>
          <p:nvPr/>
        </p:nvSpPr>
        <p:spPr>
          <a:xfrm>
            <a:off x="2496312" y="1847088"/>
            <a:ext cx="420624" cy="310896"/>
          </a:xfrm>
          <a:prstGeom prst="chevron">
            <a:avLst/>
          </a:prstGeom>
          <a:solidFill>
            <a:srgbClr val="C8D7E3"/>
          </a:solidFill>
          <a:ln w="12700">
            <a:solidFill>
              <a:srgbClr val="C8D7E3"/>
            </a:solidFill>
            <a:prstDash val="solid"/>
          </a:ln>
        </p:spPr>
      </p:sp>
      <p:sp>
        <p:nvSpPr>
          <p:cNvPr id="13" name="Shape 10"/>
          <p:cNvSpPr/>
          <p:nvPr/>
        </p:nvSpPr>
        <p:spPr>
          <a:xfrm>
            <a:off x="3493008" y="1600200"/>
            <a:ext cx="822960" cy="822960"/>
          </a:xfrm>
          <a:prstGeom prst="ellipse">
            <a:avLst/>
          </a:prstGeom>
          <a:solidFill>
            <a:srgbClr val="176B87"/>
          </a:solidFill>
          <a:ln w="12700">
            <a:solidFill>
              <a:srgbClr val="176B87"/>
            </a:solidFill>
            <a:prstDash val="solid"/>
          </a:ln>
        </p:spPr>
      </p:sp>
      <p:sp>
        <p:nvSpPr>
          <p:cNvPr id="14" name="Text 11"/>
          <p:cNvSpPr/>
          <p:nvPr/>
        </p:nvSpPr>
        <p:spPr>
          <a:xfrm>
            <a:off x="349300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2</a:t>
            </a:r>
            <a:endParaRPr lang="en-US" sz="2300" dirty="0"/>
          </a:p>
        </p:txBody>
      </p:sp>
      <p:sp>
        <p:nvSpPr>
          <p:cNvPr id="15" name="Text 12"/>
          <p:cNvSpPr/>
          <p:nvPr/>
        </p:nvSpPr>
        <p:spPr>
          <a:xfrm>
            <a:off x="283464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176B87"/>
                </a:solidFill>
                <a:latin typeface="Aptos" pitchFamily="34" charset="0"/>
                <a:ea typeface="Aptos" pitchFamily="34" charset="-122"/>
                <a:cs typeface="Aptos" pitchFamily="34" charset="-120"/>
              </a:rPr>
              <a:t>DEFINE</a:t>
            </a:r>
            <a:endParaRPr lang="en-US" sz="1300" dirty="0"/>
          </a:p>
        </p:txBody>
      </p:sp>
      <p:sp>
        <p:nvSpPr>
          <p:cNvPr id="16" name="Text 13"/>
          <p:cNvSpPr/>
          <p:nvPr/>
        </p:nvSpPr>
        <p:spPr>
          <a:xfrm>
            <a:off x="283464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POV</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Problem</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HMW</a:t>
            </a:r>
            <a:endParaRPr lang="en-US" sz="1400" dirty="0"/>
          </a:p>
        </p:txBody>
      </p:sp>
      <p:sp>
        <p:nvSpPr>
          <p:cNvPr id="17" name="Shape 14"/>
          <p:cNvSpPr/>
          <p:nvPr/>
        </p:nvSpPr>
        <p:spPr>
          <a:xfrm>
            <a:off x="4828032" y="1847088"/>
            <a:ext cx="420624" cy="310896"/>
          </a:xfrm>
          <a:prstGeom prst="chevron">
            <a:avLst/>
          </a:prstGeom>
          <a:solidFill>
            <a:srgbClr val="C8D7E3"/>
          </a:solidFill>
          <a:ln w="12700">
            <a:solidFill>
              <a:srgbClr val="C8D7E3"/>
            </a:solidFill>
            <a:prstDash val="solid"/>
          </a:ln>
        </p:spPr>
      </p:sp>
      <p:sp>
        <p:nvSpPr>
          <p:cNvPr id="18" name="Shape 15"/>
          <p:cNvSpPr/>
          <p:nvPr/>
        </p:nvSpPr>
        <p:spPr>
          <a:xfrm>
            <a:off x="5824728" y="1600200"/>
            <a:ext cx="822960" cy="822960"/>
          </a:xfrm>
          <a:prstGeom prst="ellipse">
            <a:avLst/>
          </a:prstGeom>
          <a:solidFill>
            <a:srgbClr val="6C5AA7"/>
          </a:solidFill>
          <a:ln w="12700">
            <a:solidFill>
              <a:srgbClr val="6C5AA7"/>
            </a:solidFill>
            <a:prstDash val="solid"/>
          </a:ln>
        </p:spPr>
      </p:sp>
      <p:sp>
        <p:nvSpPr>
          <p:cNvPr id="19" name="Text 16"/>
          <p:cNvSpPr/>
          <p:nvPr/>
        </p:nvSpPr>
        <p:spPr>
          <a:xfrm>
            <a:off x="582472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3</a:t>
            </a:r>
            <a:endParaRPr lang="en-US" sz="2300" dirty="0"/>
          </a:p>
        </p:txBody>
      </p:sp>
      <p:sp>
        <p:nvSpPr>
          <p:cNvPr id="20" name="Text 17"/>
          <p:cNvSpPr/>
          <p:nvPr/>
        </p:nvSpPr>
        <p:spPr>
          <a:xfrm>
            <a:off x="516636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6C5AA7"/>
                </a:solidFill>
                <a:latin typeface="Aptos" pitchFamily="34" charset="0"/>
                <a:ea typeface="Aptos" pitchFamily="34" charset="-122"/>
                <a:cs typeface="Aptos" pitchFamily="34" charset="-120"/>
              </a:rPr>
              <a:t>IDEATE</a:t>
            </a:r>
            <a:endParaRPr lang="en-US" sz="1300" dirty="0"/>
          </a:p>
        </p:txBody>
      </p:sp>
      <p:sp>
        <p:nvSpPr>
          <p:cNvPr id="21" name="Text 18"/>
          <p:cNvSpPr/>
          <p:nvPr/>
        </p:nvSpPr>
        <p:spPr>
          <a:xfrm>
            <a:off x="516636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Diverge</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Compare</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Choose</a:t>
            </a:r>
            <a:endParaRPr lang="en-US" sz="1400" dirty="0"/>
          </a:p>
        </p:txBody>
      </p:sp>
      <p:sp>
        <p:nvSpPr>
          <p:cNvPr id="22" name="Shape 19"/>
          <p:cNvSpPr/>
          <p:nvPr/>
        </p:nvSpPr>
        <p:spPr>
          <a:xfrm>
            <a:off x="7159752" y="1847088"/>
            <a:ext cx="420624" cy="310896"/>
          </a:xfrm>
          <a:prstGeom prst="chevron">
            <a:avLst/>
          </a:prstGeom>
          <a:solidFill>
            <a:srgbClr val="C8D7E3"/>
          </a:solidFill>
          <a:ln w="12700">
            <a:solidFill>
              <a:srgbClr val="C8D7E3"/>
            </a:solidFill>
            <a:prstDash val="solid"/>
          </a:ln>
        </p:spPr>
      </p:sp>
      <p:sp>
        <p:nvSpPr>
          <p:cNvPr id="23" name="Shape 20"/>
          <p:cNvSpPr/>
          <p:nvPr/>
        </p:nvSpPr>
        <p:spPr>
          <a:xfrm>
            <a:off x="8156448" y="1600200"/>
            <a:ext cx="822960" cy="822960"/>
          </a:xfrm>
          <a:prstGeom prst="ellipse">
            <a:avLst/>
          </a:prstGeom>
          <a:solidFill>
            <a:srgbClr val="2D936C"/>
          </a:solidFill>
          <a:ln w="12700">
            <a:solidFill>
              <a:srgbClr val="2D936C"/>
            </a:solidFill>
            <a:prstDash val="solid"/>
          </a:ln>
        </p:spPr>
      </p:sp>
      <p:sp>
        <p:nvSpPr>
          <p:cNvPr id="24" name="Text 21"/>
          <p:cNvSpPr/>
          <p:nvPr/>
        </p:nvSpPr>
        <p:spPr>
          <a:xfrm>
            <a:off x="815644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4</a:t>
            </a:r>
            <a:endParaRPr lang="en-US" sz="2300" dirty="0"/>
          </a:p>
        </p:txBody>
      </p:sp>
      <p:sp>
        <p:nvSpPr>
          <p:cNvPr id="25" name="Text 22"/>
          <p:cNvSpPr/>
          <p:nvPr/>
        </p:nvSpPr>
        <p:spPr>
          <a:xfrm>
            <a:off x="749808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2D936C"/>
                </a:solidFill>
                <a:latin typeface="Aptos" pitchFamily="34" charset="0"/>
                <a:ea typeface="Aptos" pitchFamily="34" charset="-122"/>
                <a:cs typeface="Aptos" pitchFamily="34" charset="-120"/>
              </a:rPr>
              <a:t>PROTOTYPE</a:t>
            </a:r>
            <a:endParaRPr lang="en-US" sz="1300" dirty="0"/>
          </a:p>
        </p:txBody>
      </p:sp>
      <p:sp>
        <p:nvSpPr>
          <p:cNvPr id="26" name="Text 23"/>
          <p:cNvSpPr/>
          <p:nvPr/>
        </p:nvSpPr>
        <p:spPr>
          <a:xfrm>
            <a:off x="749808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SUMO</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Agents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Artifacts</a:t>
            </a:r>
            <a:endParaRPr lang="en-US" sz="1400" dirty="0"/>
          </a:p>
        </p:txBody>
      </p:sp>
      <p:sp>
        <p:nvSpPr>
          <p:cNvPr id="27" name="Shape 24"/>
          <p:cNvSpPr/>
          <p:nvPr/>
        </p:nvSpPr>
        <p:spPr>
          <a:xfrm>
            <a:off x="9491472" y="1847088"/>
            <a:ext cx="420624" cy="310896"/>
          </a:xfrm>
          <a:prstGeom prst="chevron">
            <a:avLst/>
          </a:prstGeom>
          <a:solidFill>
            <a:srgbClr val="C8D7E3"/>
          </a:solidFill>
          <a:ln w="12700">
            <a:solidFill>
              <a:srgbClr val="C8D7E3"/>
            </a:solidFill>
            <a:prstDash val="solid"/>
          </a:ln>
        </p:spPr>
      </p:sp>
      <p:sp>
        <p:nvSpPr>
          <p:cNvPr id="28" name="Shape 25"/>
          <p:cNvSpPr/>
          <p:nvPr/>
        </p:nvSpPr>
        <p:spPr>
          <a:xfrm>
            <a:off x="10488168" y="1600200"/>
            <a:ext cx="822960" cy="822960"/>
          </a:xfrm>
          <a:prstGeom prst="ellipse">
            <a:avLst/>
          </a:prstGeom>
          <a:solidFill>
            <a:srgbClr val="B74444"/>
          </a:solidFill>
          <a:ln w="12700">
            <a:solidFill>
              <a:srgbClr val="B74444"/>
            </a:solidFill>
            <a:prstDash val="solid"/>
          </a:ln>
        </p:spPr>
      </p:sp>
      <p:sp>
        <p:nvSpPr>
          <p:cNvPr id="29" name="Text 26"/>
          <p:cNvSpPr/>
          <p:nvPr/>
        </p:nvSpPr>
        <p:spPr>
          <a:xfrm>
            <a:off x="1048816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5</a:t>
            </a:r>
            <a:endParaRPr lang="en-US" sz="2300" dirty="0"/>
          </a:p>
        </p:txBody>
      </p:sp>
      <p:sp>
        <p:nvSpPr>
          <p:cNvPr id="30" name="Text 27"/>
          <p:cNvSpPr/>
          <p:nvPr/>
        </p:nvSpPr>
        <p:spPr>
          <a:xfrm>
            <a:off x="982980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B74444"/>
                </a:solidFill>
                <a:latin typeface="Aptos" pitchFamily="34" charset="0"/>
                <a:ea typeface="Aptos" pitchFamily="34" charset="-122"/>
                <a:cs typeface="Aptos" pitchFamily="34" charset="-120"/>
              </a:rPr>
              <a:t>TEST</a:t>
            </a:r>
            <a:endParaRPr lang="en-US" sz="1300" dirty="0"/>
          </a:p>
        </p:txBody>
      </p:sp>
      <p:sp>
        <p:nvSpPr>
          <p:cNvPr id="31" name="Text 28"/>
          <p:cNvSpPr/>
          <p:nvPr/>
        </p:nvSpPr>
        <p:spPr>
          <a:xfrm>
            <a:off x="982980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Baselines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Faults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Limits</a:t>
            </a:r>
            <a:endParaRPr lang="en-US" sz="1400" dirty="0"/>
          </a:p>
        </p:txBody>
      </p:sp>
      <p:sp>
        <p:nvSpPr>
          <p:cNvPr id="32" name="Shape 29"/>
          <p:cNvSpPr/>
          <p:nvPr/>
        </p:nvSpPr>
        <p:spPr>
          <a:xfrm>
            <a:off x="640080" y="4343400"/>
            <a:ext cx="10881360" cy="960120"/>
          </a:xfrm>
          <a:prstGeom prst="roundRect">
            <a:avLst>
              <a:gd name="adj" fmla="val 7619"/>
            </a:avLst>
          </a:prstGeom>
          <a:solidFill>
            <a:srgbClr val="DDEFF5"/>
          </a:solidFill>
          <a:ln w="10160">
            <a:solidFill>
              <a:srgbClr val="176B87"/>
            </a:solidFill>
            <a:prstDash val="solid"/>
          </a:ln>
        </p:spPr>
      </p:sp>
      <p:sp>
        <p:nvSpPr>
          <p:cNvPr id="33" name="Shape 30"/>
          <p:cNvSpPr/>
          <p:nvPr/>
        </p:nvSpPr>
        <p:spPr>
          <a:xfrm>
            <a:off x="640080" y="4343400"/>
            <a:ext cx="73152" cy="960120"/>
          </a:xfrm>
          <a:prstGeom prst="rect">
            <a:avLst/>
          </a:prstGeom>
          <a:solidFill>
            <a:srgbClr val="176B87"/>
          </a:solidFill>
          <a:ln w="12700">
            <a:solidFill>
              <a:srgbClr val="176B87"/>
            </a:solidFill>
            <a:prstDash val="solid"/>
          </a:ln>
        </p:spPr>
      </p:sp>
      <p:sp>
        <p:nvSpPr>
          <p:cNvPr id="34" name="Text 31"/>
          <p:cNvSpPr/>
          <p:nvPr/>
        </p:nvSpPr>
        <p:spPr>
          <a:xfrm>
            <a:off x="804672" y="4416552"/>
            <a:ext cx="105887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Why this matters</a:t>
            </a:r>
            <a:endParaRPr lang="en-US" sz="1300" dirty="0"/>
          </a:p>
        </p:txBody>
      </p:sp>
      <p:sp>
        <p:nvSpPr>
          <p:cNvPr id="35" name="Text 32"/>
          <p:cNvSpPr/>
          <p:nvPr/>
        </p:nvSpPr>
        <p:spPr>
          <a:xfrm>
            <a:off x="804672" y="4709160"/>
            <a:ext cx="10588752" cy="521208"/>
          </a:xfrm>
          <a:prstGeom prst="rect">
            <a:avLst/>
          </a:prstGeom>
          <a:noFill/>
          <a:ln/>
        </p:spPr>
        <p:txBody>
          <a:bodyPr wrap="square" lIns="762" tIns="762" rIns="762" bIns="762" rtlCol="0" anchor="t">
            <a:normAutofit/>
          </a:bodyPr>
          <a:lstStyle/>
          <a:p>
            <a:pPr indent="0" marL="0">
              <a:buNone/>
            </a:pPr>
            <a:r>
              <a:rPr lang="en-US" sz="1600" dirty="0">
                <a:solidFill>
                  <a:srgbClr val="162B3A"/>
                </a:solidFill>
                <a:latin typeface="Aptos" pitchFamily="34" charset="0"/>
                <a:ea typeface="Aptos" pitchFamily="34" charset="-122"/>
                <a:cs typeface="Aptos" pitchFamily="34" charset="-120"/>
              </a:rPr>
              <a:t>We did not begin with “build five AI agents.” We began with who experiences the problem, what evidence supports the need, and what a safe system must never do. [C02]</a:t>
            </a:r>
            <a:endParaRPr lang="en-US" sz="1600" dirty="0"/>
          </a:p>
        </p:txBody>
      </p:sp>
      <p:sp>
        <p:nvSpPr>
          <p:cNvPr id="36" name="Shape 33"/>
          <p:cNvSpPr/>
          <p:nvPr/>
        </p:nvSpPr>
        <p:spPr>
          <a:xfrm>
            <a:off x="640080" y="5468112"/>
            <a:ext cx="10881360" cy="658368"/>
          </a:xfrm>
          <a:prstGeom prst="roundRect">
            <a:avLst>
              <a:gd name="adj" fmla="val 11111"/>
            </a:avLst>
          </a:prstGeom>
          <a:solidFill>
            <a:srgbClr val="FFFFFF"/>
          </a:solidFill>
          <a:ln w="10160">
            <a:solidFill>
              <a:srgbClr val="168F8B"/>
            </a:solidFill>
            <a:prstDash val="solid"/>
          </a:ln>
        </p:spPr>
      </p:sp>
      <p:sp>
        <p:nvSpPr>
          <p:cNvPr id="37" name="Shape 34"/>
          <p:cNvSpPr/>
          <p:nvPr/>
        </p:nvSpPr>
        <p:spPr>
          <a:xfrm>
            <a:off x="640080" y="5468112"/>
            <a:ext cx="73152" cy="658368"/>
          </a:xfrm>
          <a:prstGeom prst="rect">
            <a:avLst/>
          </a:prstGeom>
          <a:solidFill>
            <a:srgbClr val="168F8B"/>
          </a:solidFill>
          <a:ln w="12700">
            <a:solidFill>
              <a:srgbClr val="168F8B"/>
            </a:solidFill>
            <a:prstDash val="solid"/>
          </a:ln>
        </p:spPr>
      </p:sp>
      <p:sp>
        <p:nvSpPr>
          <p:cNvPr id="38" name="Text 35"/>
          <p:cNvSpPr/>
          <p:nvPr/>
        </p:nvSpPr>
        <p:spPr>
          <a:xfrm>
            <a:off x="804672" y="5541264"/>
            <a:ext cx="1058875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Current status rule</a:t>
            </a:r>
            <a:endParaRPr lang="en-US" sz="1300" dirty="0"/>
          </a:p>
        </p:txBody>
      </p:sp>
      <p:sp>
        <p:nvSpPr>
          <p:cNvPr id="39" name="Text 36"/>
          <p:cNvSpPr/>
          <p:nvPr/>
        </p:nvSpPr>
        <p:spPr>
          <a:xfrm>
            <a:off x="804672" y="5833872"/>
            <a:ext cx="10588752" cy="21945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Old narrative status labels are not evidence. Contracts, artifacts and tests decide what is gated or verified.</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How we Empathized without inventing interviews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Literature and system documentation informed needs; journey maps exposed pain and trade-offs.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508760"/>
            <a:ext cx="5394960" cy="1691640"/>
          </a:xfrm>
          <a:prstGeom prst="roundRect">
            <a:avLst>
              <a:gd name="adj" fmla="val 4324"/>
            </a:avLst>
          </a:prstGeom>
          <a:solidFill>
            <a:srgbClr val="DDEFF5"/>
          </a:solidFill>
          <a:ln w="10160">
            <a:solidFill>
              <a:srgbClr val="176B87"/>
            </a:solidFill>
            <a:prstDash val="solid"/>
          </a:ln>
        </p:spPr>
      </p:sp>
      <p:sp>
        <p:nvSpPr>
          <p:cNvPr id="9" name="Text 6"/>
          <p:cNvSpPr/>
          <p:nvPr/>
        </p:nvSpPr>
        <p:spPr>
          <a:xfrm>
            <a:off x="777240" y="1645920"/>
            <a:ext cx="1097280" cy="256032"/>
          </a:xfrm>
          <a:prstGeom prst="rect">
            <a:avLst/>
          </a:prstGeom>
          <a:noFill/>
          <a:ln/>
        </p:spPr>
        <p:txBody>
          <a:bodyPr wrap="square" lIns="762" tIns="762" rIns="762" bIns="762" rtlCol="0" anchor="ctr">
            <a:normAutofit/>
          </a:bodyPr>
          <a:lstStyle/>
          <a:p>
            <a:pPr indent="0" marL="0">
              <a:buNone/>
            </a:pPr>
            <a:r>
              <a:rPr lang="en-US" sz="1100" b="1" dirty="0">
                <a:solidFill>
                  <a:srgbClr val="176B87"/>
                </a:solidFill>
                <a:latin typeface="Aptos" pitchFamily="34" charset="0"/>
                <a:ea typeface="Aptos" pitchFamily="34" charset="-122"/>
                <a:cs typeface="Aptos" pitchFamily="34" charset="-120"/>
              </a:rPr>
              <a:t>CONSULT</a:t>
            </a:r>
            <a:endParaRPr lang="en-US" sz="1100" dirty="0"/>
          </a:p>
        </p:txBody>
      </p:sp>
      <p:sp>
        <p:nvSpPr>
          <p:cNvPr id="10" name="Text 7"/>
          <p:cNvSpPr/>
          <p:nvPr/>
        </p:nvSpPr>
        <p:spPr>
          <a:xfrm>
            <a:off x="777240" y="1984248"/>
            <a:ext cx="5029200" cy="493776"/>
          </a:xfrm>
          <a:prstGeom prst="rect">
            <a:avLst/>
          </a:prstGeom>
          <a:noFill/>
          <a:ln/>
        </p:spPr>
        <p:txBody>
          <a:bodyPr wrap="square" lIns="762" tIns="762" rIns="762" bIns="762" rtlCol="0" anchor="ctr">
            <a:normAutofit/>
          </a:bodyPr>
          <a:lstStyle/>
          <a:p>
            <a:pPr indent="0" marL="0">
              <a:buNone/>
            </a:pPr>
            <a:r>
              <a:rPr lang="en-US" sz="1700" b="1" dirty="0">
                <a:solidFill>
                  <a:srgbClr val="0B2239"/>
                </a:solidFill>
                <a:latin typeface="Aptos" pitchFamily="34" charset="0"/>
                <a:ea typeface="Aptos" pitchFamily="34" charset="-122"/>
                <a:cs typeface="Aptos" pitchFamily="34" charset="-120"/>
              </a:rPr>
              <a:t>Primary papers, official guidance and product documentation</a:t>
            </a:r>
            <a:endParaRPr lang="en-US" sz="1700" dirty="0"/>
          </a:p>
        </p:txBody>
      </p:sp>
      <p:sp>
        <p:nvSpPr>
          <p:cNvPr id="11" name="Text 8"/>
          <p:cNvSpPr/>
          <p:nvPr/>
        </p:nvSpPr>
        <p:spPr>
          <a:xfrm>
            <a:off x="777240" y="2587752"/>
            <a:ext cx="5029200" cy="384048"/>
          </a:xfrm>
          <a:prstGeom prst="rect">
            <a:avLst/>
          </a:prstGeom>
          <a:noFill/>
          <a:ln/>
        </p:spPr>
        <p:txBody>
          <a:bodyPr wrap="square" lIns="762" tIns="762" rIns="762" bIns="762" rtlCol="0" anchor="ctr">
            <a:normAutofit/>
          </a:bodyPr>
          <a:lstStyle/>
          <a:p>
            <a:pPr indent="0" marL="0">
              <a:buNone/>
            </a:pPr>
            <a:r>
              <a:rPr lang="en-US" sz="1250" dirty="0">
                <a:solidFill>
                  <a:srgbClr val="4E6878"/>
                </a:solidFill>
                <a:latin typeface="Aptos" pitchFamily="34" charset="0"/>
                <a:ea typeface="Aptos" pitchFamily="34" charset="-122"/>
                <a:cs typeface="Aptos" pitchFamily="34" charset="-120"/>
              </a:rPr>
              <a:t>DfT · FHWA · MUTCD · SCATS · SUMO</a:t>
            </a:r>
            <a:endParaRPr lang="en-US" sz="1250" dirty="0"/>
          </a:p>
        </p:txBody>
      </p:sp>
      <p:sp>
        <p:nvSpPr>
          <p:cNvPr id="12" name="Shape 9"/>
          <p:cNvSpPr/>
          <p:nvPr/>
        </p:nvSpPr>
        <p:spPr>
          <a:xfrm>
            <a:off x="6217920" y="1508760"/>
            <a:ext cx="5394960" cy="1691640"/>
          </a:xfrm>
          <a:prstGeom prst="roundRect">
            <a:avLst>
              <a:gd name="adj" fmla="val 4324"/>
            </a:avLst>
          </a:prstGeom>
          <a:solidFill>
            <a:srgbClr val="DDF3EC"/>
          </a:solidFill>
          <a:ln w="10160">
            <a:solidFill>
              <a:srgbClr val="2D936C"/>
            </a:solidFill>
            <a:prstDash val="solid"/>
          </a:ln>
        </p:spPr>
      </p:sp>
      <p:sp>
        <p:nvSpPr>
          <p:cNvPr id="13" name="Text 10"/>
          <p:cNvSpPr/>
          <p:nvPr/>
        </p:nvSpPr>
        <p:spPr>
          <a:xfrm>
            <a:off x="6400800" y="1645920"/>
            <a:ext cx="1097280" cy="256032"/>
          </a:xfrm>
          <a:prstGeom prst="rect">
            <a:avLst/>
          </a:prstGeom>
          <a:noFill/>
          <a:ln/>
        </p:spPr>
        <p:txBody>
          <a:bodyPr wrap="square" lIns="762" tIns="762" rIns="762" bIns="762" rtlCol="0" anchor="ctr">
            <a:normAutofit/>
          </a:bodyPr>
          <a:lstStyle/>
          <a:p>
            <a:pPr indent="0" marL="0">
              <a:buNone/>
            </a:pPr>
            <a:r>
              <a:rPr lang="en-US" sz="1100" b="1" dirty="0">
                <a:solidFill>
                  <a:srgbClr val="2D936C"/>
                </a:solidFill>
                <a:latin typeface="Aptos" pitchFamily="34" charset="0"/>
                <a:ea typeface="Aptos" pitchFamily="34" charset="-122"/>
                <a:cs typeface="Aptos" pitchFamily="34" charset="-120"/>
              </a:rPr>
              <a:t>OBSERVE</a:t>
            </a:r>
            <a:endParaRPr lang="en-US" sz="1100" dirty="0"/>
          </a:p>
        </p:txBody>
      </p:sp>
      <p:sp>
        <p:nvSpPr>
          <p:cNvPr id="14" name="Text 11"/>
          <p:cNvSpPr/>
          <p:nvPr/>
        </p:nvSpPr>
        <p:spPr>
          <a:xfrm>
            <a:off x="6400800" y="1984248"/>
            <a:ext cx="5029200" cy="493776"/>
          </a:xfrm>
          <a:prstGeom prst="rect">
            <a:avLst/>
          </a:prstGeom>
          <a:noFill/>
          <a:ln/>
        </p:spPr>
        <p:txBody>
          <a:bodyPr wrap="square" lIns="762" tIns="762" rIns="762" bIns="762" rtlCol="0" anchor="ctr">
            <a:normAutofit/>
          </a:bodyPr>
          <a:lstStyle/>
          <a:p>
            <a:pPr indent="0" marL="0">
              <a:buNone/>
            </a:pPr>
            <a:r>
              <a:rPr lang="en-US" sz="1700" b="1" dirty="0">
                <a:solidFill>
                  <a:srgbClr val="0B2239"/>
                </a:solidFill>
                <a:latin typeface="Aptos" pitchFamily="34" charset="0"/>
                <a:ea typeface="Aptos" pitchFamily="34" charset="-122"/>
                <a:cs typeface="Aptos" pitchFamily="34" charset="-120"/>
              </a:rPr>
              <a:t>Eight staged User Journeys from approach to recovery</a:t>
            </a:r>
            <a:endParaRPr lang="en-US" sz="1700" dirty="0"/>
          </a:p>
        </p:txBody>
      </p:sp>
      <p:sp>
        <p:nvSpPr>
          <p:cNvPr id="15" name="Text 12"/>
          <p:cNvSpPr/>
          <p:nvPr/>
        </p:nvSpPr>
        <p:spPr>
          <a:xfrm>
            <a:off x="6400800" y="2587752"/>
            <a:ext cx="5029200" cy="384048"/>
          </a:xfrm>
          <a:prstGeom prst="rect">
            <a:avLst/>
          </a:prstGeom>
          <a:noFill/>
          <a:ln/>
        </p:spPr>
        <p:txBody>
          <a:bodyPr wrap="square" lIns="762" tIns="762" rIns="762" bIns="762" rtlCol="0" anchor="ctr">
            <a:normAutofit/>
          </a:bodyPr>
          <a:lstStyle/>
          <a:p>
            <a:pPr indent="0" marL="0">
              <a:buNone/>
            </a:pPr>
            <a:r>
              <a:rPr lang="en-US" sz="1250" dirty="0">
                <a:solidFill>
                  <a:srgbClr val="4E6878"/>
                </a:solidFill>
                <a:latin typeface="Aptos" pitchFamily="34" charset="0"/>
                <a:ea typeface="Aptos" pitchFamily="34" charset="-122"/>
                <a:cs typeface="Aptos" pitchFamily="34" charset="-120"/>
              </a:rPr>
              <a:t>Pain, uncertainty, trade-offs and failure</a:t>
            </a:r>
            <a:endParaRPr lang="en-US" sz="1250" dirty="0"/>
          </a:p>
        </p:txBody>
      </p:sp>
      <p:sp>
        <p:nvSpPr>
          <p:cNvPr id="16" name="Shape 13"/>
          <p:cNvSpPr/>
          <p:nvPr/>
        </p:nvSpPr>
        <p:spPr>
          <a:xfrm>
            <a:off x="594360" y="3502152"/>
            <a:ext cx="5394960" cy="1691640"/>
          </a:xfrm>
          <a:prstGeom prst="roundRect">
            <a:avLst>
              <a:gd name="adj" fmla="val 4324"/>
            </a:avLst>
          </a:prstGeom>
          <a:solidFill>
            <a:srgbClr val="DDEFF5"/>
          </a:solidFill>
          <a:ln w="10160">
            <a:solidFill>
              <a:srgbClr val="176B87"/>
            </a:solidFill>
            <a:prstDash val="solid"/>
          </a:ln>
        </p:spPr>
      </p:sp>
      <p:sp>
        <p:nvSpPr>
          <p:cNvPr id="17" name="Text 14"/>
          <p:cNvSpPr/>
          <p:nvPr/>
        </p:nvSpPr>
        <p:spPr>
          <a:xfrm>
            <a:off x="777240" y="3639312"/>
            <a:ext cx="1097280" cy="256032"/>
          </a:xfrm>
          <a:prstGeom prst="rect">
            <a:avLst/>
          </a:prstGeom>
          <a:noFill/>
          <a:ln/>
        </p:spPr>
        <p:txBody>
          <a:bodyPr wrap="square" lIns="762" tIns="762" rIns="762" bIns="762" rtlCol="0" anchor="ctr">
            <a:normAutofit/>
          </a:bodyPr>
          <a:lstStyle/>
          <a:p>
            <a:pPr indent="0" marL="0">
              <a:buNone/>
            </a:pPr>
            <a:r>
              <a:rPr lang="en-US" sz="1100" b="1" dirty="0">
                <a:solidFill>
                  <a:srgbClr val="176B87"/>
                </a:solidFill>
                <a:latin typeface="Aptos" pitchFamily="34" charset="0"/>
                <a:ea typeface="Aptos" pitchFamily="34" charset="-122"/>
                <a:cs typeface="Aptos" pitchFamily="34" charset="-120"/>
              </a:rPr>
              <a:t>IMMERSE</a:t>
            </a:r>
            <a:endParaRPr lang="en-US" sz="1100" dirty="0"/>
          </a:p>
        </p:txBody>
      </p:sp>
      <p:sp>
        <p:nvSpPr>
          <p:cNvPr id="18" name="Text 15"/>
          <p:cNvSpPr/>
          <p:nvPr/>
        </p:nvSpPr>
        <p:spPr>
          <a:xfrm>
            <a:off x="777240" y="3977640"/>
            <a:ext cx="5029200" cy="493776"/>
          </a:xfrm>
          <a:prstGeom prst="rect">
            <a:avLst/>
          </a:prstGeom>
          <a:noFill/>
          <a:ln/>
        </p:spPr>
        <p:txBody>
          <a:bodyPr wrap="square" lIns="762" tIns="762" rIns="762" bIns="762" rtlCol="0" anchor="ctr">
            <a:normAutofit/>
          </a:bodyPr>
          <a:lstStyle/>
          <a:p>
            <a:pPr indent="0" marL="0">
              <a:buNone/>
            </a:pPr>
            <a:r>
              <a:rPr lang="en-US" sz="1700" b="1" dirty="0">
                <a:solidFill>
                  <a:srgbClr val="0B2239"/>
                </a:solidFill>
                <a:latin typeface="Aptos" pitchFamily="34" charset="0"/>
                <a:ea typeface="Aptos" pitchFamily="34" charset="-122"/>
                <a:cs typeface="Aptos" pitchFamily="34" charset="-120"/>
              </a:rPr>
              <a:t>SUMO as a controlled street environment</a:t>
            </a:r>
            <a:endParaRPr lang="en-US" sz="1700" dirty="0"/>
          </a:p>
        </p:txBody>
      </p:sp>
      <p:sp>
        <p:nvSpPr>
          <p:cNvPr id="19" name="Text 16"/>
          <p:cNvSpPr/>
          <p:nvPr/>
        </p:nvSpPr>
        <p:spPr>
          <a:xfrm>
            <a:off x="777240" y="4581144"/>
            <a:ext cx="5029200" cy="384048"/>
          </a:xfrm>
          <a:prstGeom prst="rect">
            <a:avLst/>
          </a:prstGeom>
          <a:noFill/>
          <a:ln/>
        </p:spPr>
        <p:txBody>
          <a:bodyPr wrap="square" lIns="762" tIns="762" rIns="762" bIns="762" rtlCol="0" anchor="ctr">
            <a:normAutofit/>
          </a:bodyPr>
          <a:lstStyle/>
          <a:p>
            <a:pPr indent="0" marL="0">
              <a:buNone/>
            </a:pPr>
            <a:r>
              <a:rPr lang="en-US" sz="1250" dirty="0">
                <a:solidFill>
                  <a:srgbClr val="4E6878"/>
                </a:solidFill>
                <a:latin typeface="Aptos" pitchFamily="34" charset="0"/>
                <a:ea typeface="Aptos" pitchFamily="34" charset="-122"/>
                <a:cs typeface="Aptos" pitchFamily="34" charset="-120"/>
              </a:rPr>
              <a:t>Useful for tests; not a substitute for field interviews</a:t>
            </a:r>
            <a:endParaRPr lang="en-US" sz="1250" dirty="0"/>
          </a:p>
        </p:txBody>
      </p:sp>
      <p:sp>
        <p:nvSpPr>
          <p:cNvPr id="20" name="Shape 17"/>
          <p:cNvSpPr/>
          <p:nvPr/>
        </p:nvSpPr>
        <p:spPr>
          <a:xfrm>
            <a:off x="6217920" y="3502152"/>
            <a:ext cx="5394960" cy="1691640"/>
          </a:xfrm>
          <a:prstGeom prst="roundRect">
            <a:avLst>
              <a:gd name="adj" fmla="val 4324"/>
            </a:avLst>
          </a:prstGeom>
          <a:solidFill>
            <a:srgbClr val="FFF0D8"/>
          </a:solidFill>
          <a:ln w="10160">
            <a:solidFill>
              <a:srgbClr val="CF7B1B"/>
            </a:solidFill>
            <a:prstDash val="solid"/>
          </a:ln>
        </p:spPr>
      </p:sp>
      <p:sp>
        <p:nvSpPr>
          <p:cNvPr id="21" name="Text 18"/>
          <p:cNvSpPr/>
          <p:nvPr/>
        </p:nvSpPr>
        <p:spPr>
          <a:xfrm>
            <a:off x="6400800" y="3639312"/>
            <a:ext cx="1097280" cy="256032"/>
          </a:xfrm>
          <a:prstGeom prst="rect">
            <a:avLst/>
          </a:prstGeom>
          <a:noFill/>
          <a:ln/>
        </p:spPr>
        <p:txBody>
          <a:bodyPr wrap="square" lIns="762" tIns="762" rIns="762" bIns="762" rtlCol="0" anchor="ctr">
            <a:normAutofit/>
          </a:bodyPr>
          <a:lstStyle/>
          <a:p>
            <a:pPr indent="0" marL="0">
              <a:buNone/>
            </a:pPr>
            <a:r>
              <a:rPr lang="en-US" sz="1100" b="1" dirty="0">
                <a:solidFill>
                  <a:srgbClr val="CF7B1B"/>
                </a:solidFill>
                <a:latin typeface="Aptos" pitchFamily="34" charset="0"/>
                <a:ea typeface="Aptos" pitchFamily="34" charset="-122"/>
                <a:cs typeface="Aptos" pitchFamily="34" charset="-120"/>
              </a:rPr>
              <a:t>CHALLENGE</a:t>
            </a:r>
            <a:endParaRPr lang="en-US" sz="1100" dirty="0"/>
          </a:p>
        </p:txBody>
      </p:sp>
      <p:sp>
        <p:nvSpPr>
          <p:cNvPr id="22" name="Text 19"/>
          <p:cNvSpPr/>
          <p:nvPr/>
        </p:nvSpPr>
        <p:spPr>
          <a:xfrm>
            <a:off x="6400800" y="3977640"/>
            <a:ext cx="5029200" cy="493776"/>
          </a:xfrm>
          <a:prstGeom prst="rect">
            <a:avLst/>
          </a:prstGeom>
          <a:noFill/>
          <a:ln/>
        </p:spPr>
        <p:txBody>
          <a:bodyPr wrap="square" lIns="762" tIns="762" rIns="762" bIns="762" rtlCol="0" anchor="ctr">
            <a:normAutofit/>
          </a:bodyPr>
          <a:lstStyle/>
          <a:p>
            <a:pPr indent="0" marL="0">
              <a:buNone/>
            </a:pPr>
            <a:r>
              <a:rPr lang="en-US" sz="1700" b="1" dirty="0">
                <a:solidFill>
                  <a:srgbClr val="0B2239"/>
                </a:solidFill>
                <a:latin typeface="Aptos" pitchFamily="34" charset="0"/>
                <a:ea typeface="Aptos" pitchFamily="34" charset="-122"/>
                <a:cs typeface="Aptos" pitchFamily="34" charset="-120"/>
              </a:rPr>
              <a:t>Claim flags and a source-type audit</a:t>
            </a:r>
            <a:endParaRPr lang="en-US" sz="1700" dirty="0"/>
          </a:p>
        </p:txBody>
      </p:sp>
      <p:sp>
        <p:nvSpPr>
          <p:cNvPr id="23" name="Text 20"/>
          <p:cNvSpPr/>
          <p:nvPr/>
        </p:nvSpPr>
        <p:spPr>
          <a:xfrm>
            <a:off x="6400800" y="4581144"/>
            <a:ext cx="5029200" cy="384048"/>
          </a:xfrm>
          <a:prstGeom prst="rect">
            <a:avLst/>
          </a:prstGeom>
          <a:noFill/>
          <a:ln/>
        </p:spPr>
        <p:txBody>
          <a:bodyPr wrap="square" lIns="762" tIns="762" rIns="762" bIns="762" rtlCol="0" anchor="ctr">
            <a:normAutofit/>
          </a:bodyPr>
          <a:lstStyle/>
          <a:p>
            <a:pPr indent="0" marL="0">
              <a:buNone/>
            </a:pPr>
            <a:r>
              <a:rPr lang="en-US" sz="1250" dirty="0">
                <a:solidFill>
                  <a:srgbClr val="4E6878"/>
                </a:solidFill>
                <a:latin typeface="Aptos" pitchFamily="34" charset="0"/>
                <a:ea typeface="Aptos" pitchFamily="34" charset="-122"/>
                <a:cs typeface="Aptos" pitchFamily="34" charset="-120"/>
              </a:rPr>
              <a:t>Prevent folklore numbers and exaggerated conclusions</a:t>
            </a:r>
            <a:endParaRPr lang="en-US" sz="1250" dirty="0"/>
          </a:p>
        </p:txBody>
      </p:sp>
      <p:sp>
        <p:nvSpPr>
          <p:cNvPr id="24" name="Shape 21"/>
          <p:cNvSpPr/>
          <p:nvPr/>
        </p:nvSpPr>
        <p:spPr>
          <a:xfrm>
            <a:off x="777240" y="5650992"/>
            <a:ext cx="10625328" cy="457200"/>
          </a:xfrm>
          <a:prstGeom prst="roundRect">
            <a:avLst>
              <a:gd name="adj" fmla="val 16000"/>
            </a:avLst>
          </a:prstGeom>
          <a:solidFill>
            <a:srgbClr val="0B2239"/>
          </a:solidFill>
          <a:ln w="10160">
            <a:solidFill>
              <a:srgbClr val="0B2239"/>
            </a:solidFill>
            <a:prstDash val="solid"/>
          </a:ln>
        </p:spPr>
      </p:sp>
      <p:sp>
        <p:nvSpPr>
          <p:cNvPr id="25" name="Text 22"/>
          <p:cNvSpPr/>
          <p:nvPr/>
        </p:nvSpPr>
        <p:spPr>
          <a:xfrm>
            <a:off x="960120" y="5733288"/>
            <a:ext cx="10259568" cy="256032"/>
          </a:xfrm>
          <a:prstGeom prst="rect">
            <a:avLst/>
          </a:prstGeom>
          <a:noFill/>
          <a:ln/>
        </p:spPr>
        <p:txBody>
          <a:bodyPr wrap="square" lIns="762" tIns="762" rIns="762" bIns="762"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Proxy validation = team/professor walkthrough of assumptions · not an interview with the persona</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Eight personas: traffic is more than the average car</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Each persona contributes one need, one accountable component and one main evaluation question.</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457200" y="1444752"/>
            <a:ext cx="2697480" cy="1874520"/>
          </a:xfrm>
          <a:prstGeom prst="roundRect">
            <a:avLst>
              <a:gd name="adj" fmla="val 3902"/>
            </a:avLst>
          </a:prstGeom>
          <a:solidFill>
            <a:srgbClr val="FFFFFF"/>
          </a:solidFill>
          <a:ln w="10160">
            <a:solidFill>
              <a:srgbClr val="6C5AA7"/>
            </a:solidFill>
            <a:prstDash val="solid"/>
          </a:ln>
        </p:spPr>
      </p:sp>
      <p:pic>
        <p:nvPicPr>
          <p:cNvPr id="9" name="Image 0" descr="C:\Users\dell\Downloads\sumo\docs\presentation\personas\p1-amara.png">    </p:cNvPr>
          <p:cNvPicPr>
            <a:picLocks noChangeAspect="1"/>
          </p:cNvPicPr>
          <p:nvPr/>
        </p:nvPicPr>
        <p:blipFill>
          <a:blip r:embed="rId1"/>
          <a:srcRect l="0" r="0" t="0" b="0"/>
          <a:stretch/>
        </p:blipFill>
        <p:spPr>
          <a:xfrm>
            <a:off x="566928" y="1554480"/>
            <a:ext cx="640080" cy="640080"/>
          </a:xfrm>
          <a:prstGeom prst="ellipse">
            <a:avLst/>
          </a:prstGeom>
        </p:spPr>
      </p:pic>
      <p:sp>
        <p:nvSpPr>
          <p:cNvPr id="10" name="Text 6"/>
          <p:cNvSpPr/>
          <p:nvPr/>
        </p:nvSpPr>
        <p:spPr>
          <a:xfrm>
            <a:off x="1298448" y="1572768"/>
            <a:ext cx="1691640" cy="274320"/>
          </a:xfrm>
          <a:prstGeom prst="rect">
            <a:avLst/>
          </a:prstGeom>
          <a:noFill/>
          <a:ln/>
        </p:spPr>
        <p:txBody>
          <a:bodyPr wrap="square" lIns="762" tIns="762" rIns="762" bIns="762" rtlCol="0" anchor="ctr">
            <a:normAutofit/>
          </a:bodyPr>
          <a:lstStyle/>
          <a:p>
            <a:pPr indent="0" marL="0">
              <a:buNone/>
            </a:pPr>
            <a:r>
              <a:rPr lang="en-US" sz="1500" b="1" dirty="0">
                <a:solidFill>
                  <a:srgbClr val="6C5AA7"/>
                </a:solidFill>
                <a:latin typeface="Aptos" pitchFamily="34" charset="0"/>
                <a:ea typeface="Aptos" pitchFamily="34" charset="-122"/>
                <a:cs typeface="Aptos" pitchFamily="34" charset="-120"/>
              </a:rPr>
              <a:t>P1 · Amara</a:t>
            </a:r>
            <a:endParaRPr lang="en-US" sz="1500" dirty="0"/>
          </a:p>
        </p:txBody>
      </p:sp>
      <p:sp>
        <p:nvSpPr>
          <p:cNvPr id="11" name="Text 7"/>
          <p:cNvSpPr/>
          <p:nvPr/>
        </p:nvSpPr>
        <p:spPr>
          <a:xfrm>
            <a:off x="1298448" y="1865376"/>
            <a:ext cx="169164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Retired pedestrian; uses a cane</a:t>
            </a:r>
            <a:endParaRPr lang="en-US" sz="1050" dirty="0"/>
          </a:p>
        </p:txBody>
      </p:sp>
      <p:sp>
        <p:nvSpPr>
          <p:cNvPr id="12" name="Text 8"/>
          <p:cNvSpPr/>
          <p:nvPr/>
        </p:nvSpPr>
        <p:spPr>
          <a:xfrm>
            <a:off x="621792" y="231343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I need enough time to finish crossing, even when traffic is busy.</a:t>
            </a:r>
            <a:endParaRPr lang="en-US" sz="1250" dirty="0"/>
          </a:p>
        </p:txBody>
      </p:sp>
      <p:sp>
        <p:nvSpPr>
          <p:cNvPr id="13" name="Shape 9"/>
          <p:cNvSpPr/>
          <p:nvPr/>
        </p:nvSpPr>
        <p:spPr>
          <a:xfrm>
            <a:off x="1188720" y="2999232"/>
            <a:ext cx="1325880" cy="274320"/>
          </a:xfrm>
          <a:prstGeom prst="roundRect">
            <a:avLst>
              <a:gd name="adj" fmla="val 26667"/>
            </a:avLst>
          </a:prstGeom>
          <a:solidFill>
            <a:srgbClr val="6C5AA7"/>
          </a:solidFill>
          <a:ln w="12700">
            <a:solidFill>
              <a:srgbClr val="6C5AA7"/>
            </a:solidFill>
            <a:prstDash val="solid"/>
          </a:ln>
        </p:spPr>
      </p:sp>
      <p:sp>
        <p:nvSpPr>
          <p:cNvPr id="14" name="Text 10"/>
          <p:cNvSpPr/>
          <p:nvPr/>
        </p:nvSpPr>
        <p:spPr>
          <a:xfrm>
            <a:off x="1225296" y="30129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PHOTO CARD NEXT</a:t>
            </a:r>
            <a:endParaRPr lang="en-US" sz="900" dirty="0"/>
          </a:p>
        </p:txBody>
      </p:sp>
      <p:sp>
        <p:nvSpPr>
          <p:cNvPr id="15" name="Shape 11"/>
          <p:cNvSpPr/>
          <p:nvPr/>
        </p:nvSpPr>
        <p:spPr>
          <a:xfrm>
            <a:off x="3364992" y="1444752"/>
            <a:ext cx="2697480" cy="1874520"/>
          </a:xfrm>
          <a:prstGeom prst="roundRect">
            <a:avLst>
              <a:gd name="adj" fmla="val 3902"/>
            </a:avLst>
          </a:prstGeom>
          <a:solidFill>
            <a:srgbClr val="FFFFFF"/>
          </a:solidFill>
          <a:ln w="10160">
            <a:solidFill>
              <a:srgbClr val="176B87"/>
            </a:solidFill>
            <a:prstDash val="solid"/>
          </a:ln>
        </p:spPr>
      </p:sp>
      <p:pic>
        <p:nvPicPr>
          <p:cNvPr id="16" name="Image 1" descr="C:\Users\dell\Downloads\sumo\docs\presentation\personas\p2-david.png">    </p:cNvPr>
          <p:cNvPicPr>
            <a:picLocks noChangeAspect="1"/>
          </p:cNvPicPr>
          <p:nvPr/>
        </p:nvPicPr>
        <p:blipFill>
          <a:blip r:embed="rId2"/>
          <a:srcRect l="0" r="0" t="0" b="0"/>
          <a:stretch/>
        </p:blipFill>
        <p:spPr>
          <a:xfrm>
            <a:off x="3474720" y="1554480"/>
            <a:ext cx="640080" cy="640080"/>
          </a:xfrm>
          <a:prstGeom prst="ellipse">
            <a:avLst/>
          </a:prstGeom>
        </p:spPr>
      </p:pic>
      <p:sp>
        <p:nvSpPr>
          <p:cNvPr id="17" name="Text 12"/>
          <p:cNvSpPr/>
          <p:nvPr/>
        </p:nvSpPr>
        <p:spPr>
          <a:xfrm>
            <a:off x="4206240" y="1572768"/>
            <a:ext cx="1691640" cy="274320"/>
          </a:xfrm>
          <a:prstGeom prst="rect">
            <a:avLst/>
          </a:prstGeom>
          <a:noFill/>
          <a:ln/>
        </p:spPr>
        <p:txBody>
          <a:bodyPr wrap="square" lIns="762" tIns="762" rIns="762" bIns="762" rtlCol="0" anchor="ctr">
            <a:normAutofit/>
          </a:bodyPr>
          <a:lstStyle/>
          <a:p>
            <a:pPr indent="0" marL="0">
              <a:buNone/>
            </a:pPr>
            <a:r>
              <a:rPr lang="en-US" sz="1500" b="1" dirty="0">
                <a:solidFill>
                  <a:srgbClr val="176B87"/>
                </a:solidFill>
                <a:latin typeface="Aptos" pitchFamily="34" charset="0"/>
                <a:ea typeface="Aptos" pitchFamily="34" charset="-122"/>
                <a:cs typeface="Aptos" pitchFamily="34" charset="-120"/>
              </a:rPr>
              <a:t>P2 · David</a:t>
            </a:r>
            <a:endParaRPr lang="en-US" sz="1500" dirty="0"/>
          </a:p>
        </p:txBody>
      </p:sp>
      <p:sp>
        <p:nvSpPr>
          <p:cNvPr id="18" name="Text 13"/>
          <p:cNvSpPr/>
          <p:nvPr/>
        </p:nvSpPr>
        <p:spPr>
          <a:xfrm>
            <a:off x="4206240" y="1865376"/>
            <a:ext cx="169164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Delivery-van driver</a:t>
            </a:r>
            <a:endParaRPr lang="en-US" sz="1050" dirty="0"/>
          </a:p>
        </p:txBody>
      </p:sp>
      <p:sp>
        <p:nvSpPr>
          <p:cNvPr id="19" name="Text 14"/>
          <p:cNvSpPr/>
          <p:nvPr/>
        </p:nvSpPr>
        <p:spPr>
          <a:xfrm>
            <a:off x="3529584" y="231343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I can plan around a longer trip if I know how long it will actually take.</a:t>
            </a:r>
            <a:endParaRPr lang="en-US" sz="1250" dirty="0"/>
          </a:p>
        </p:txBody>
      </p:sp>
      <p:sp>
        <p:nvSpPr>
          <p:cNvPr id="20" name="Shape 15"/>
          <p:cNvSpPr/>
          <p:nvPr/>
        </p:nvSpPr>
        <p:spPr>
          <a:xfrm>
            <a:off x="4096512" y="2999232"/>
            <a:ext cx="1325880" cy="274320"/>
          </a:xfrm>
          <a:prstGeom prst="roundRect">
            <a:avLst>
              <a:gd name="adj" fmla="val 26667"/>
            </a:avLst>
          </a:prstGeom>
          <a:solidFill>
            <a:srgbClr val="176B87"/>
          </a:solidFill>
          <a:ln w="12700">
            <a:solidFill>
              <a:srgbClr val="176B87"/>
            </a:solidFill>
            <a:prstDash val="solid"/>
          </a:ln>
        </p:spPr>
      </p:sp>
      <p:sp>
        <p:nvSpPr>
          <p:cNvPr id="21" name="Text 16"/>
          <p:cNvSpPr/>
          <p:nvPr/>
        </p:nvSpPr>
        <p:spPr>
          <a:xfrm>
            <a:off x="4133088" y="30129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PHOTO CARD NEXT</a:t>
            </a:r>
            <a:endParaRPr lang="en-US" sz="900" dirty="0"/>
          </a:p>
        </p:txBody>
      </p:sp>
      <p:sp>
        <p:nvSpPr>
          <p:cNvPr id="22" name="Shape 17"/>
          <p:cNvSpPr/>
          <p:nvPr/>
        </p:nvSpPr>
        <p:spPr>
          <a:xfrm>
            <a:off x="6272784" y="1444752"/>
            <a:ext cx="2697480" cy="1874520"/>
          </a:xfrm>
          <a:prstGeom prst="roundRect">
            <a:avLst>
              <a:gd name="adj" fmla="val 3902"/>
            </a:avLst>
          </a:prstGeom>
          <a:solidFill>
            <a:srgbClr val="FFFFFF"/>
          </a:solidFill>
          <a:ln w="10160">
            <a:solidFill>
              <a:srgbClr val="2E9BB5"/>
            </a:solidFill>
            <a:prstDash val="solid"/>
          </a:ln>
        </p:spPr>
      </p:sp>
      <p:pic>
        <p:nvPicPr>
          <p:cNvPr id="23" name="Image 2" descr="C:\Users\dell\Downloads\sumo\docs\presentation\personas\p3-chidi.png">    </p:cNvPr>
          <p:cNvPicPr>
            <a:picLocks noChangeAspect="1"/>
          </p:cNvPicPr>
          <p:nvPr/>
        </p:nvPicPr>
        <p:blipFill>
          <a:blip r:embed="rId3"/>
          <a:srcRect l="0" r="0" t="0" b="0"/>
          <a:stretch/>
        </p:blipFill>
        <p:spPr>
          <a:xfrm>
            <a:off x="6382512" y="1554480"/>
            <a:ext cx="640080" cy="640080"/>
          </a:xfrm>
          <a:prstGeom prst="ellipse">
            <a:avLst/>
          </a:prstGeom>
        </p:spPr>
      </p:pic>
      <p:sp>
        <p:nvSpPr>
          <p:cNvPr id="24" name="Text 18"/>
          <p:cNvSpPr/>
          <p:nvPr/>
        </p:nvSpPr>
        <p:spPr>
          <a:xfrm>
            <a:off x="7114032" y="1572768"/>
            <a:ext cx="1691640" cy="274320"/>
          </a:xfrm>
          <a:prstGeom prst="rect">
            <a:avLst/>
          </a:prstGeom>
          <a:noFill/>
          <a:ln/>
        </p:spPr>
        <p:txBody>
          <a:bodyPr wrap="square" lIns="762" tIns="762" rIns="762" bIns="762" rtlCol="0" anchor="ctr">
            <a:normAutofit/>
          </a:bodyPr>
          <a:lstStyle/>
          <a:p>
            <a:pPr indent="0" marL="0">
              <a:buNone/>
            </a:pPr>
            <a:r>
              <a:rPr lang="en-US" sz="1500" b="1" dirty="0">
                <a:solidFill>
                  <a:srgbClr val="2E9BB5"/>
                </a:solidFill>
                <a:latin typeface="Aptos" pitchFamily="34" charset="0"/>
                <a:ea typeface="Aptos" pitchFamily="34" charset="-122"/>
                <a:cs typeface="Aptos" pitchFamily="34" charset="-120"/>
              </a:rPr>
              <a:t>P3 · Chidi</a:t>
            </a:r>
            <a:endParaRPr lang="en-US" sz="1500" dirty="0"/>
          </a:p>
        </p:txBody>
      </p:sp>
      <p:sp>
        <p:nvSpPr>
          <p:cNvPr id="25" name="Text 19"/>
          <p:cNvSpPr/>
          <p:nvPr/>
        </p:nvSpPr>
        <p:spPr>
          <a:xfrm>
            <a:off x="7114032" y="1865376"/>
            <a:ext cx="169164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Frequent bus passenger</a:t>
            </a:r>
            <a:endParaRPr lang="en-US" sz="1050" dirty="0"/>
          </a:p>
        </p:txBody>
      </p:sp>
      <p:sp>
        <p:nvSpPr>
          <p:cNvPr id="26" name="Text 20"/>
          <p:cNvSpPr/>
          <p:nvPr/>
        </p:nvSpPr>
        <p:spPr>
          <a:xfrm>
            <a:off x="6437376" y="231343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Buses should arrive regularly—not three at once after a long wait.</a:t>
            </a:r>
            <a:endParaRPr lang="en-US" sz="1250" dirty="0"/>
          </a:p>
        </p:txBody>
      </p:sp>
      <p:sp>
        <p:nvSpPr>
          <p:cNvPr id="27" name="Shape 21"/>
          <p:cNvSpPr/>
          <p:nvPr/>
        </p:nvSpPr>
        <p:spPr>
          <a:xfrm>
            <a:off x="7004304" y="2999232"/>
            <a:ext cx="1325880" cy="274320"/>
          </a:xfrm>
          <a:prstGeom prst="roundRect">
            <a:avLst>
              <a:gd name="adj" fmla="val 26667"/>
            </a:avLst>
          </a:prstGeom>
          <a:solidFill>
            <a:srgbClr val="2E9BB5"/>
          </a:solidFill>
          <a:ln w="12700">
            <a:solidFill>
              <a:srgbClr val="2E9BB5"/>
            </a:solidFill>
            <a:prstDash val="solid"/>
          </a:ln>
        </p:spPr>
      </p:sp>
      <p:sp>
        <p:nvSpPr>
          <p:cNvPr id="28" name="Text 22"/>
          <p:cNvSpPr/>
          <p:nvPr/>
        </p:nvSpPr>
        <p:spPr>
          <a:xfrm>
            <a:off x="7040880" y="30129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PHOTO CARD NEXT</a:t>
            </a:r>
            <a:endParaRPr lang="en-US" sz="900" dirty="0"/>
          </a:p>
        </p:txBody>
      </p:sp>
      <p:sp>
        <p:nvSpPr>
          <p:cNvPr id="29" name="Shape 23"/>
          <p:cNvSpPr/>
          <p:nvPr/>
        </p:nvSpPr>
        <p:spPr>
          <a:xfrm>
            <a:off x="9180576" y="1444752"/>
            <a:ext cx="2697480" cy="1874520"/>
          </a:xfrm>
          <a:prstGeom prst="roundRect">
            <a:avLst>
              <a:gd name="adj" fmla="val 3902"/>
            </a:avLst>
          </a:prstGeom>
          <a:solidFill>
            <a:srgbClr val="FFFFFF"/>
          </a:solidFill>
          <a:ln w="10160">
            <a:solidFill>
              <a:srgbClr val="CF7B1B"/>
            </a:solidFill>
            <a:prstDash val="solid"/>
          </a:ln>
        </p:spPr>
      </p:sp>
      <p:pic>
        <p:nvPicPr>
          <p:cNvPr id="30" name="Image 3" descr="C:\Users\dell\Downloads\sumo\docs\presentation\personas\p4-rosa.png">    </p:cNvPr>
          <p:cNvPicPr>
            <a:picLocks noChangeAspect="1"/>
          </p:cNvPicPr>
          <p:nvPr/>
        </p:nvPicPr>
        <p:blipFill>
          <a:blip r:embed="rId4"/>
          <a:srcRect l="0" r="0" t="0" b="0"/>
          <a:stretch/>
        </p:blipFill>
        <p:spPr>
          <a:xfrm>
            <a:off x="9290304" y="1554480"/>
            <a:ext cx="640080" cy="640080"/>
          </a:xfrm>
          <a:prstGeom prst="ellipse">
            <a:avLst/>
          </a:prstGeom>
        </p:spPr>
      </p:pic>
      <p:sp>
        <p:nvSpPr>
          <p:cNvPr id="31" name="Text 24"/>
          <p:cNvSpPr/>
          <p:nvPr/>
        </p:nvSpPr>
        <p:spPr>
          <a:xfrm>
            <a:off x="10021824" y="1572768"/>
            <a:ext cx="1691640" cy="274320"/>
          </a:xfrm>
          <a:prstGeom prst="rect">
            <a:avLst/>
          </a:prstGeom>
          <a:noFill/>
          <a:ln/>
        </p:spPr>
        <p:txBody>
          <a:bodyPr wrap="square" lIns="762" tIns="762" rIns="762" bIns="762" rtlCol="0" anchor="ctr">
            <a:normAutofit/>
          </a:bodyPr>
          <a:lstStyle/>
          <a:p>
            <a:pPr indent="0" marL="0">
              <a:buNone/>
            </a:pPr>
            <a:r>
              <a:rPr lang="en-US" sz="1500" b="1" dirty="0">
                <a:solidFill>
                  <a:srgbClr val="CF7B1B"/>
                </a:solidFill>
                <a:latin typeface="Aptos" pitchFamily="34" charset="0"/>
                <a:ea typeface="Aptos" pitchFamily="34" charset="-122"/>
                <a:cs typeface="Aptos" pitchFamily="34" charset="-120"/>
              </a:rPr>
              <a:t>P4 · Rosa</a:t>
            </a:r>
            <a:endParaRPr lang="en-US" sz="1500" dirty="0"/>
          </a:p>
        </p:txBody>
      </p:sp>
      <p:sp>
        <p:nvSpPr>
          <p:cNvPr id="32" name="Text 25"/>
          <p:cNvSpPr/>
          <p:nvPr/>
        </p:nvSpPr>
        <p:spPr>
          <a:xfrm>
            <a:off x="10021824" y="1865376"/>
            <a:ext cx="169164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Bus depot controller</a:t>
            </a:r>
            <a:endParaRPr lang="en-US" sz="1050" dirty="0"/>
          </a:p>
        </p:txBody>
      </p:sp>
      <p:sp>
        <p:nvSpPr>
          <p:cNvPr id="33" name="Text 26"/>
          <p:cNvSpPr/>
          <p:nvPr/>
        </p:nvSpPr>
        <p:spPr>
          <a:xfrm>
            <a:off x="9345168" y="231343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Show me why priority was granted or denied, and let me respond safely.</a:t>
            </a:r>
            <a:endParaRPr lang="en-US" sz="1250" dirty="0"/>
          </a:p>
        </p:txBody>
      </p:sp>
      <p:sp>
        <p:nvSpPr>
          <p:cNvPr id="34" name="Shape 27"/>
          <p:cNvSpPr/>
          <p:nvPr/>
        </p:nvSpPr>
        <p:spPr>
          <a:xfrm>
            <a:off x="9912096" y="2999232"/>
            <a:ext cx="1325880" cy="274320"/>
          </a:xfrm>
          <a:prstGeom prst="roundRect">
            <a:avLst>
              <a:gd name="adj" fmla="val 26667"/>
            </a:avLst>
          </a:prstGeom>
          <a:solidFill>
            <a:srgbClr val="CF7B1B"/>
          </a:solidFill>
          <a:ln w="12700">
            <a:solidFill>
              <a:srgbClr val="CF7B1B"/>
            </a:solidFill>
            <a:prstDash val="solid"/>
          </a:ln>
        </p:spPr>
      </p:sp>
      <p:sp>
        <p:nvSpPr>
          <p:cNvPr id="35" name="Text 28"/>
          <p:cNvSpPr/>
          <p:nvPr/>
        </p:nvSpPr>
        <p:spPr>
          <a:xfrm>
            <a:off x="9948672" y="30129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PHOTO CARD NEXT</a:t>
            </a:r>
            <a:endParaRPr lang="en-US" sz="900" dirty="0"/>
          </a:p>
        </p:txBody>
      </p:sp>
      <p:sp>
        <p:nvSpPr>
          <p:cNvPr id="36" name="Shape 29"/>
          <p:cNvSpPr/>
          <p:nvPr/>
        </p:nvSpPr>
        <p:spPr>
          <a:xfrm>
            <a:off x="457200" y="3593592"/>
            <a:ext cx="2697480" cy="1874520"/>
          </a:xfrm>
          <a:prstGeom prst="roundRect">
            <a:avLst>
              <a:gd name="adj" fmla="val 3902"/>
            </a:avLst>
          </a:prstGeom>
          <a:solidFill>
            <a:srgbClr val="FFFFFF"/>
          </a:solidFill>
          <a:ln w="10160">
            <a:solidFill>
              <a:srgbClr val="B74444"/>
            </a:solidFill>
            <a:prstDash val="solid"/>
          </a:ln>
        </p:spPr>
      </p:sp>
      <p:pic>
        <p:nvPicPr>
          <p:cNvPr id="37" name="Image 4" descr="C:\Users\dell\Downloads\sumo\docs\presentation\personas\p5-marcus.png">    </p:cNvPr>
          <p:cNvPicPr>
            <a:picLocks noChangeAspect="1"/>
          </p:cNvPicPr>
          <p:nvPr/>
        </p:nvPicPr>
        <p:blipFill>
          <a:blip r:embed="rId5"/>
          <a:srcRect l="0" r="0" t="0" b="0"/>
          <a:stretch/>
        </p:blipFill>
        <p:spPr>
          <a:xfrm>
            <a:off x="566928" y="3703320"/>
            <a:ext cx="640080" cy="640080"/>
          </a:xfrm>
          <a:prstGeom prst="ellipse">
            <a:avLst/>
          </a:prstGeom>
        </p:spPr>
      </p:pic>
      <p:sp>
        <p:nvSpPr>
          <p:cNvPr id="38" name="Text 30"/>
          <p:cNvSpPr/>
          <p:nvPr/>
        </p:nvSpPr>
        <p:spPr>
          <a:xfrm>
            <a:off x="1298448" y="3721608"/>
            <a:ext cx="1691640" cy="274320"/>
          </a:xfrm>
          <a:prstGeom prst="rect">
            <a:avLst/>
          </a:prstGeom>
          <a:noFill/>
          <a:ln/>
        </p:spPr>
        <p:txBody>
          <a:bodyPr wrap="square" lIns="762" tIns="762" rIns="762" bIns="762" rtlCol="0" anchor="ctr">
            <a:normAutofit/>
          </a:bodyPr>
          <a:lstStyle/>
          <a:p>
            <a:pPr indent="0" marL="0">
              <a:buNone/>
            </a:pPr>
            <a:r>
              <a:rPr lang="en-US" sz="1500" b="1" dirty="0">
                <a:solidFill>
                  <a:srgbClr val="B74444"/>
                </a:solidFill>
                <a:latin typeface="Aptos" pitchFamily="34" charset="0"/>
                <a:ea typeface="Aptos" pitchFamily="34" charset="-122"/>
                <a:cs typeface="Aptos" pitchFamily="34" charset="-120"/>
              </a:rPr>
              <a:t>P5 · Marcus</a:t>
            </a:r>
            <a:endParaRPr lang="en-US" sz="1500" dirty="0"/>
          </a:p>
        </p:txBody>
      </p:sp>
      <p:sp>
        <p:nvSpPr>
          <p:cNvPr id="39" name="Text 31"/>
          <p:cNvSpPr/>
          <p:nvPr/>
        </p:nvSpPr>
        <p:spPr>
          <a:xfrm>
            <a:off x="1298448" y="4014216"/>
            <a:ext cx="169164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Urban ambulance crew</a:t>
            </a:r>
            <a:endParaRPr lang="en-US" sz="1050" dirty="0"/>
          </a:p>
        </p:txBody>
      </p:sp>
      <p:sp>
        <p:nvSpPr>
          <p:cNvPr id="40" name="Text 32"/>
          <p:cNvSpPr/>
          <p:nvPr/>
        </p:nvSpPr>
        <p:spPr>
          <a:xfrm>
            <a:off x="621792" y="446227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Get us through safely, and make sure traffic recovers after we pass.</a:t>
            </a:r>
            <a:endParaRPr lang="en-US" sz="1250" dirty="0"/>
          </a:p>
        </p:txBody>
      </p:sp>
      <p:sp>
        <p:nvSpPr>
          <p:cNvPr id="41" name="Shape 33"/>
          <p:cNvSpPr/>
          <p:nvPr/>
        </p:nvSpPr>
        <p:spPr>
          <a:xfrm>
            <a:off x="1188720" y="5148072"/>
            <a:ext cx="1325880" cy="274320"/>
          </a:xfrm>
          <a:prstGeom prst="roundRect">
            <a:avLst>
              <a:gd name="adj" fmla="val 26667"/>
            </a:avLst>
          </a:prstGeom>
          <a:solidFill>
            <a:srgbClr val="B74444"/>
          </a:solidFill>
          <a:ln w="12700">
            <a:solidFill>
              <a:srgbClr val="B74444"/>
            </a:solidFill>
            <a:prstDash val="solid"/>
          </a:ln>
        </p:spPr>
      </p:sp>
      <p:sp>
        <p:nvSpPr>
          <p:cNvPr id="42" name="Text 34"/>
          <p:cNvSpPr/>
          <p:nvPr/>
        </p:nvSpPr>
        <p:spPr>
          <a:xfrm>
            <a:off x="1225296" y="516178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PHOTO CARD NEXT</a:t>
            </a:r>
            <a:endParaRPr lang="en-US" sz="900" dirty="0"/>
          </a:p>
        </p:txBody>
      </p:sp>
      <p:sp>
        <p:nvSpPr>
          <p:cNvPr id="43" name="Shape 35"/>
          <p:cNvSpPr/>
          <p:nvPr/>
        </p:nvSpPr>
        <p:spPr>
          <a:xfrm>
            <a:off x="3364992" y="3593592"/>
            <a:ext cx="2697480" cy="1874520"/>
          </a:xfrm>
          <a:prstGeom prst="roundRect">
            <a:avLst>
              <a:gd name="adj" fmla="val 3902"/>
            </a:avLst>
          </a:prstGeom>
          <a:solidFill>
            <a:srgbClr val="FFFFFF"/>
          </a:solidFill>
          <a:ln w="10160">
            <a:solidFill>
              <a:srgbClr val="168F8B"/>
            </a:solidFill>
            <a:prstDash val="solid"/>
          </a:ln>
        </p:spPr>
      </p:sp>
      <p:pic>
        <p:nvPicPr>
          <p:cNvPr id="44" name="Image 5" descr="C:\Users\dell\Downloads\sumo\docs\presentation\personas\p6-yuki.png">    </p:cNvPr>
          <p:cNvPicPr>
            <a:picLocks noChangeAspect="1"/>
          </p:cNvPicPr>
          <p:nvPr/>
        </p:nvPicPr>
        <p:blipFill>
          <a:blip r:embed="rId6"/>
          <a:srcRect l="0" r="0" t="0" b="0"/>
          <a:stretch/>
        </p:blipFill>
        <p:spPr>
          <a:xfrm>
            <a:off x="3474720" y="3703320"/>
            <a:ext cx="640080" cy="640080"/>
          </a:xfrm>
          <a:prstGeom prst="ellipse">
            <a:avLst/>
          </a:prstGeom>
        </p:spPr>
      </p:pic>
      <p:sp>
        <p:nvSpPr>
          <p:cNvPr id="45" name="Text 36"/>
          <p:cNvSpPr/>
          <p:nvPr/>
        </p:nvSpPr>
        <p:spPr>
          <a:xfrm>
            <a:off x="4206240" y="3721608"/>
            <a:ext cx="1691640" cy="274320"/>
          </a:xfrm>
          <a:prstGeom prst="rect">
            <a:avLst/>
          </a:prstGeom>
          <a:noFill/>
          <a:ln/>
        </p:spPr>
        <p:txBody>
          <a:bodyPr wrap="square" lIns="762" tIns="762" rIns="762" bIns="762" rtlCol="0" anchor="ctr">
            <a:normAutofit/>
          </a:bodyPr>
          <a:lstStyle/>
          <a:p>
            <a:pPr indent="0" marL="0">
              <a:buNone/>
            </a:pPr>
            <a:r>
              <a:rPr lang="en-US" sz="1500" b="1" dirty="0">
                <a:solidFill>
                  <a:srgbClr val="168F8B"/>
                </a:solidFill>
                <a:latin typeface="Aptos" pitchFamily="34" charset="0"/>
                <a:ea typeface="Aptos" pitchFamily="34" charset="-122"/>
                <a:cs typeface="Aptos" pitchFamily="34" charset="-120"/>
              </a:rPr>
              <a:t>P6 · Yuki</a:t>
            </a:r>
            <a:endParaRPr lang="en-US" sz="1500" dirty="0"/>
          </a:p>
        </p:txBody>
      </p:sp>
      <p:sp>
        <p:nvSpPr>
          <p:cNvPr id="46" name="Text 37"/>
          <p:cNvSpPr/>
          <p:nvPr/>
        </p:nvSpPr>
        <p:spPr>
          <a:xfrm>
            <a:off x="4206240" y="4014216"/>
            <a:ext cx="169164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Traffic engineer / network operations</a:t>
            </a:r>
            <a:endParaRPr lang="en-US" sz="1050" dirty="0"/>
          </a:p>
        </p:txBody>
      </p:sp>
      <p:sp>
        <p:nvSpPr>
          <p:cNvPr id="47" name="Text 38"/>
          <p:cNvSpPr/>
          <p:nvPr/>
        </p:nvSpPr>
        <p:spPr>
          <a:xfrm>
            <a:off x="3529584" y="446227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Automation should support my decisions—not leave me responsible for a system I cannot control.</a:t>
            </a:r>
            <a:endParaRPr lang="en-US" sz="1250" dirty="0"/>
          </a:p>
        </p:txBody>
      </p:sp>
      <p:sp>
        <p:nvSpPr>
          <p:cNvPr id="48" name="Shape 39"/>
          <p:cNvSpPr/>
          <p:nvPr/>
        </p:nvSpPr>
        <p:spPr>
          <a:xfrm>
            <a:off x="4096512" y="5148072"/>
            <a:ext cx="1325880" cy="274320"/>
          </a:xfrm>
          <a:prstGeom prst="roundRect">
            <a:avLst>
              <a:gd name="adj" fmla="val 26667"/>
            </a:avLst>
          </a:prstGeom>
          <a:solidFill>
            <a:srgbClr val="168F8B"/>
          </a:solidFill>
          <a:ln w="12700">
            <a:solidFill>
              <a:srgbClr val="168F8B"/>
            </a:solidFill>
            <a:prstDash val="solid"/>
          </a:ln>
        </p:spPr>
      </p:sp>
      <p:sp>
        <p:nvSpPr>
          <p:cNvPr id="49" name="Text 40"/>
          <p:cNvSpPr/>
          <p:nvPr/>
        </p:nvSpPr>
        <p:spPr>
          <a:xfrm>
            <a:off x="4133088" y="516178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PHOTO CARD NEXT</a:t>
            </a:r>
            <a:endParaRPr lang="en-US" sz="900" dirty="0"/>
          </a:p>
        </p:txBody>
      </p:sp>
      <p:sp>
        <p:nvSpPr>
          <p:cNvPr id="50" name="Shape 41"/>
          <p:cNvSpPr/>
          <p:nvPr/>
        </p:nvSpPr>
        <p:spPr>
          <a:xfrm>
            <a:off x="6272784" y="3593592"/>
            <a:ext cx="2697480" cy="1874520"/>
          </a:xfrm>
          <a:prstGeom prst="roundRect">
            <a:avLst>
              <a:gd name="adj" fmla="val 3902"/>
            </a:avLst>
          </a:prstGeom>
          <a:solidFill>
            <a:srgbClr val="FFFFFF"/>
          </a:solidFill>
          <a:ln w="10160">
            <a:solidFill>
              <a:srgbClr val="2D936C"/>
            </a:solidFill>
            <a:prstDash val="solid"/>
          </a:ln>
        </p:spPr>
      </p:sp>
      <p:pic>
        <p:nvPicPr>
          <p:cNvPr id="51" name="Image 6" descr="C:\Users\dell\Downloads\sumo\docs\presentation\personas\p7-maria.png">    </p:cNvPr>
          <p:cNvPicPr>
            <a:picLocks noChangeAspect="1"/>
          </p:cNvPicPr>
          <p:nvPr/>
        </p:nvPicPr>
        <p:blipFill>
          <a:blip r:embed="rId7"/>
          <a:srcRect l="0" r="0" t="0" b="0"/>
          <a:stretch/>
        </p:blipFill>
        <p:spPr>
          <a:xfrm>
            <a:off x="6382512" y="3703320"/>
            <a:ext cx="640080" cy="640080"/>
          </a:xfrm>
          <a:prstGeom prst="ellipse">
            <a:avLst/>
          </a:prstGeom>
        </p:spPr>
      </p:pic>
      <p:sp>
        <p:nvSpPr>
          <p:cNvPr id="52" name="Text 42"/>
          <p:cNvSpPr/>
          <p:nvPr/>
        </p:nvSpPr>
        <p:spPr>
          <a:xfrm>
            <a:off x="7114032" y="3721608"/>
            <a:ext cx="1691640" cy="274320"/>
          </a:xfrm>
          <a:prstGeom prst="rect">
            <a:avLst/>
          </a:prstGeom>
          <a:noFill/>
          <a:ln/>
        </p:spPr>
        <p:txBody>
          <a:bodyPr wrap="square" lIns="762" tIns="762" rIns="762" bIns="762" rtlCol="0" anchor="ctr">
            <a:normAutofit/>
          </a:bodyPr>
          <a:lstStyle/>
          <a:p>
            <a:pPr indent="0" marL="0">
              <a:buNone/>
            </a:pPr>
            <a:r>
              <a:rPr lang="en-US" sz="1500" b="1" dirty="0">
                <a:solidFill>
                  <a:srgbClr val="2D936C"/>
                </a:solidFill>
                <a:latin typeface="Aptos" pitchFamily="34" charset="0"/>
                <a:ea typeface="Aptos" pitchFamily="34" charset="-122"/>
                <a:cs typeface="Aptos" pitchFamily="34" charset="-120"/>
              </a:rPr>
              <a:t>P7 · Maria</a:t>
            </a:r>
            <a:endParaRPr lang="en-US" sz="1500" dirty="0"/>
          </a:p>
        </p:txBody>
      </p:sp>
      <p:sp>
        <p:nvSpPr>
          <p:cNvPr id="53" name="Text 43"/>
          <p:cNvSpPr/>
          <p:nvPr/>
        </p:nvSpPr>
        <p:spPr>
          <a:xfrm>
            <a:off x="7114032" y="4014216"/>
            <a:ext cx="169164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Parent living near an arterial</a:t>
            </a:r>
            <a:endParaRPr lang="en-US" sz="1050" dirty="0"/>
          </a:p>
        </p:txBody>
      </p:sp>
      <p:sp>
        <p:nvSpPr>
          <p:cNvPr id="54" name="Text 44"/>
          <p:cNvSpPr/>
          <p:nvPr/>
        </p:nvSpPr>
        <p:spPr>
          <a:xfrm>
            <a:off x="6437376" y="446227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Cleaner traffic on the main road must not mean more exhaust outside our homes.</a:t>
            </a:r>
            <a:endParaRPr lang="en-US" sz="1250" dirty="0"/>
          </a:p>
        </p:txBody>
      </p:sp>
      <p:sp>
        <p:nvSpPr>
          <p:cNvPr id="55" name="Shape 45"/>
          <p:cNvSpPr/>
          <p:nvPr/>
        </p:nvSpPr>
        <p:spPr>
          <a:xfrm>
            <a:off x="7004304" y="5148072"/>
            <a:ext cx="1325880" cy="274320"/>
          </a:xfrm>
          <a:prstGeom prst="roundRect">
            <a:avLst>
              <a:gd name="adj" fmla="val 26667"/>
            </a:avLst>
          </a:prstGeom>
          <a:solidFill>
            <a:srgbClr val="2D936C"/>
          </a:solidFill>
          <a:ln w="12700">
            <a:solidFill>
              <a:srgbClr val="2D936C"/>
            </a:solidFill>
            <a:prstDash val="solid"/>
          </a:ln>
        </p:spPr>
      </p:sp>
      <p:sp>
        <p:nvSpPr>
          <p:cNvPr id="56" name="Text 46"/>
          <p:cNvSpPr/>
          <p:nvPr/>
        </p:nvSpPr>
        <p:spPr>
          <a:xfrm>
            <a:off x="7040880" y="516178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PHOTO CARD NEXT</a:t>
            </a:r>
            <a:endParaRPr lang="en-US" sz="900" dirty="0"/>
          </a:p>
        </p:txBody>
      </p:sp>
      <p:sp>
        <p:nvSpPr>
          <p:cNvPr id="57" name="Shape 47"/>
          <p:cNvSpPr/>
          <p:nvPr/>
        </p:nvSpPr>
        <p:spPr>
          <a:xfrm>
            <a:off x="9180576" y="3593592"/>
            <a:ext cx="2697480" cy="1874520"/>
          </a:xfrm>
          <a:prstGeom prst="roundRect">
            <a:avLst>
              <a:gd name="adj" fmla="val 3902"/>
            </a:avLst>
          </a:prstGeom>
          <a:solidFill>
            <a:srgbClr val="FFFFFF"/>
          </a:solidFill>
          <a:ln w="10160">
            <a:solidFill>
              <a:srgbClr val="123552"/>
            </a:solidFill>
            <a:prstDash val="solid"/>
          </a:ln>
        </p:spPr>
      </p:sp>
      <p:pic>
        <p:nvPicPr>
          <p:cNvPr id="58" name="Image 7" descr="C:\Users\dell\Downloads\sumo\docs\presentation\personas\p8-omar.png">    </p:cNvPr>
          <p:cNvPicPr>
            <a:picLocks noChangeAspect="1"/>
          </p:cNvPicPr>
          <p:nvPr/>
        </p:nvPicPr>
        <p:blipFill>
          <a:blip r:embed="rId8"/>
          <a:srcRect l="0" r="0" t="0" b="0"/>
          <a:stretch/>
        </p:blipFill>
        <p:spPr>
          <a:xfrm>
            <a:off x="9290304" y="3703320"/>
            <a:ext cx="640080" cy="640080"/>
          </a:xfrm>
          <a:prstGeom prst="ellipse">
            <a:avLst/>
          </a:prstGeom>
        </p:spPr>
      </p:pic>
      <p:sp>
        <p:nvSpPr>
          <p:cNvPr id="59" name="Text 48"/>
          <p:cNvSpPr/>
          <p:nvPr/>
        </p:nvSpPr>
        <p:spPr>
          <a:xfrm>
            <a:off x="10021824" y="3721608"/>
            <a:ext cx="1691640" cy="274320"/>
          </a:xfrm>
          <a:prstGeom prst="rect">
            <a:avLst/>
          </a:prstGeom>
          <a:noFill/>
          <a:ln/>
        </p:spPr>
        <p:txBody>
          <a:bodyPr wrap="square" lIns="762" tIns="762" rIns="762" bIns="762" rtlCol="0" anchor="ctr">
            <a:normAutofit/>
          </a:bodyPr>
          <a:lstStyle/>
          <a:p>
            <a:pPr indent="0" marL="0">
              <a:buNone/>
            </a:pPr>
            <a:r>
              <a:rPr lang="en-US" sz="1500" b="1" dirty="0">
                <a:solidFill>
                  <a:srgbClr val="123552"/>
                </a:solidFill>
                <a:latin typeface="Aptos" pitchFamily="34" charset="0"/>
                <a:ea typeface="Aptos" pitchFamily="34" charset="-122"/>
                <a:cs typeface="Aptos" pitchFamily="34" charset="-120"/>
              </a:rPr>
              <a:t>P8 · Omar</a:t>
            </a:r>
            <a:endParaRPr lang="en-US" sz="1500" dirty="0"/>
          </a:p>
        </p:txBody>
      </p:sp>
      <p:sp>
        <p:nvSpPr>
          <p:cNvPr id="60" name="Text 49"/>
          <p:cNvSpPr/>
          <p:nvPr/>
        </p:nvSpPr>
        <p:spPr>
          <a:xfrm>
            <a:off x="10021824" y="4014216"/>
            <a:ext cx="169164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Network duty officer</a:t>
            </a:r>
            <a:endParaRPr lang="en-US" sz="1050" dirty="0"/>
          </a:p>
        </p:txBody>
      </p:sp>
      <p:sp>
        <p:nvSpPr>
          <p:cNvPr id="61" name="Text 50"/>
          <p:cNvSpPr/>
          <p:nvPr/>
        </p:nvSpPr>
        <p:spPr>
          <a:xfrm>
            <a:off x="9345168" y="446227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Tell me what is wrong, why you think so, and whether I can still trust the data.</a:t>
            </a:r>
            <a:endParaRPr lang="en-US" sz="1250" dirty="0"/>
          </a:p>
        </p:txBody>
      </p:sp>
      <p:sp>
        <p:nvSpPr>
          <p:cNvPr id="62" name="Shape 51"/>
          <p:cNvSpPr/>
          <p:nvPr/>
        </p:nvSpPr>
        <p:spPr>
          <a:xfrm>
            <a:off x="9912096" y="5148072"/>
            <a:ext cx="1325880" cy="274320"/>
          </a:xfrm>
          <a:prstGeom prst="roundRect">
            <a:avLst>
              <a:gd name="adj" fmla="val 26667"/>
            </a:avLst>
          </a:prstGeom>
          <a:solidFill>
            <a:srgbClr val="123552"/>
          </a:solidFill>
          <a:ln w="12700">
            <a:solidFill>
              <a:srgbClr val="123552"/>
            </a:solidFill>
            <a:prstDash val="solid"/>
          </a:ln>
        </p:spPr>
      </p:sp>
      <p:sp>
        <p:nvSpPr>
          <p:cNvPr id="63" name="Text 52"/>
          <p:cNvSpPr/>
          <p:nvPr/>
        </p:nvSpPr>
        <p:spPr>
          <a:xfrm>
            <a:off x="9948672" y="516178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PHOTO CARD NEXT</a:t>
            </a:r>
            <a:endParaRPr lang="en-US" sz="900" dirty="0"/>
          </a:p>
        </p:txBody>
      </p:sp>
      <p:sp>
        <p:nvSpPr>
          <p:cNvPr id="64" name="Text 53"/>
          <p:cNvSpPr/>
          <p:nvPr/>
        </p:nvSpPr>
        <p:spPr>
          <a:xfrm>
            <a:off x="548640" y="5806440"/>
            <a:ext cx="11064240" cy="310896"/>
          </a:xfrm>
          <a:prstGeom prst="rect">
            <a:avLst/>
          </a:prstGeom>
          <a:noFill/>
          <a:ln/>
        </p:spPr>
        <p:txBody>
          <a:bodyPr wrap="square" lIns="762" tIns="762" rIns="762" bIns="762" rtlCol="0" anchor="ctr">
            <a:normAutofit/>
          </a:bodyPr>
          <a:lstStyle/>
          <a:p>
            <a:pPr algn="ctr" indent="0" marL="0">
              <a:buNone/>
            </a:pPr>
            <a:r>
              <a:rPr lang="en-US" sz="1200" b="1" dirty="0">
                <a:solidFill>
                  <a:srgbClr val="B74444"/>
                </a:solidFill>
                <a:latin typeface="Aptos" pitchFamily="34" charset="0"/>
                <a:ea typeface="Aptos" pitchFamily="34" charset="-122"/>
                <a:cs typeface="Aptos" pitchFamily="34" charset="-120"/>
              </a:rPr>
              <a:t>Canonical roster: do not append the alternate six-name IMATM roster as extra people.</a:t>
            </a:r>
            <a:endParaRPr lang="en-US" sz="12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pic>
        <p:nvPicPr>
          <p:cNvPr id="2" name="Image 0" descr="C:\Users\dell\Downloads\sumo\docs\presentation\personas\p1-amara.png">    </p:cNvPr>
          <p:cNvPicPr>
            <a:picLocks noChangeAspect="1"/>
          </p:cNvPicPr>
          <p:nvPr/>
        </p:nvPicPr>
        <p:blipFill>
          <a:blip r:embed="rId1"/>
          <a:srcRect l="0" r="0" t="0" b="0"/>
          <a:stretch/>
        </p:blipFill>
        <p:spPr>
          <a:xfrm>
            <a:off x="0" y="0"/>
            <a:ext cx="4434840" cy="6858000"/>
          </a:xfrm>
          <a:prstGeom prst="rect">
            <a:avLst/>
          </a:prstGeom>
        </p:spPr>
      </p:pic>
      <p:sp>
        <p:nvSpPr>
          <p:cNvPr id="3" name="Shape 0"/>
          <p:cNvSpPr/>
          <p:nvPr/>
        </p:nvSpPr>
        <p:spPr>
          <a:xfrm>
            <a:off x="0" y="5074920"/>
            <a:ext cx="4434840" cy="1783080"/>
          </a:xfrm>
          <a:prstGeom prst="rect">
            <a:avLst/>
          </a:prstGeom>
          <a:solidFill>
            <a:srgbClr val="0B2239"/>
          </a:solidFill>
          <a:ln w="12700">
            <a:solidFill>
              <a:srgbClr val="0B2239"/>
            </a:solidFill>
            <a:prstDash val="solid"/>
          </a:ln>
        </p:spPr>
      </p:sp>
      <p:sp>
        <p:nvSpPr>
          <p:cNvPr id="4" name="Text 1"/>
          <p:cNvSpPr/>
          <p:nvPr/>
        </p:nvSpPr>
        <p:spPr>
          <a:xfrm>
            <a:off x="256032" y="5193792"/>
            <a:ext cx="3931920" cy="256032"/>
          </a:xfrm>
          <a:prstGeom prst="rect">
            <a:avLst/>
          </a:prstGeom>
          <a:noFill/>
          <a:ln/>
        </p:spPr>
        <p:txBody>
          <a:bodyPr wrap="square" lIns="762" tIns="762" rIns="762" bIns="762" rtlCol="0" anchor="ctr">
            <a:normAutofit/>
          </a:bodyPr>
          <a:lstStyle/>
          <a:p>
            <a:pPr indent="0" marL="0">
              <a:buNone/>
            </a:pPr>
            <a:r>
              <a:rPr lang="en-US" sz="1300" b="1" spc="80" kern="0" dirty="0">
                <a:solidFill>
                  <a:srgbClr val="7FE0D7"/>
                </a:solidFill>
                <a:latin typeface="Aptos" pitchFamily="34" charset="0"/>
                <a:ea typeface="Aptos" pitchFamily="34" charset="-122"/>
                <a:cs typeface="Aptos" pitchFamily="34" charset="-120"/>
              </a:rPr>
              <a:t>P1  ·  74</a:t>
            </a:r>
            <a:endParaRPr lang="en-US" sz="1300" dirty="0"/>
          </a:p>
        </p:txBody>
      </p:sp>
      <p:sp>
        <p:nvSpPr>
          <p:cNvPr id="5" name="Text 2"/>
          <p:cNvSpPr/>
          <p:nvPr/>
        </p:nvSpPr>
        <p:spPr>
          <a:xfrm>
            <a:off x="256032" y="5449824"/>
            <a:ext cx="3931920" cy="438912"/>
          </a:xfrm>
          <a:prstGeom prst="rect">
            <a:avLst/>
          </a:prstGeom>
          <a:noFill/>
          <a:ln/>
        </p:spPr>
        <p:txBody>
          <a:bodyPr wrap="square" lIns="762" tIns="762" rIns="762" bIns="762"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Amara</a:t>
            </a:r>
            <a:endParaRPr lang="en-US" sz="3200" dirty="0"/>
          </a:p>
        </p:txBody>
      </p:sp>
      <p:sp>
        <p:nvSpPr>
          <p:cNvPr id="6" name="Text 3"/>
          <p:cNvSpPr/>
          <p:nvPr/>
        </p:nvSpPr>
        <p:spPr>
          <a:xfrm>
            <a:off x="256032" y="5907024"/>
            <a:ext cx="3931920" cy="292608"/>
          </a:xfrm>
          <a:prstGeom prst="rect">
            <a:avLst/>
          </a:prstGeom>
          <a:noFill/>
          <a:ln/>
        </p:spPr>
        <p:txBody>
          <a:bodyPr wrap="square" lIns="762" tIns="762" rIns="762" bIns="762" rtlCol="0" anchor="ctr">
            <a:normAutofit/>
          </a:bodyPr>
          <a:lstStyle/>
          <a:p>
            <a:pPr indent="0" marL="0">
              <a:buNone/>
            </a:pPr>
            <a:r>
              <a:rPr lang="en-US" sz="1400" dirty="0">
                <a:solidFill>
                  <a:srgbClr val="B9DCE7"/>
                </a:solidFill>
                <a:latin typeface="Aptos" pitchFamily="34" charset="0"/>
                <a:ea typeface="Aptos" pitchFamily="34" charset="-122"/>
                <a:cs typeface="Aptos" pitchFamily="34" charset="-120"/>
              </a:rPr>
              <a:t>Retired pedestrian; uses a cane</a:t>
            </a:r>
            <a:endParaRPr lang="en-US" sz="1400" dirty="0"/>
          </a:p>
        </p:txBody>
      </p:sp>
      <p:sp>
        <p:nvSpPr>
          <p:cNvPr id="7" name="Text 4"/>
          <p:cNvSpPr/>
          <p:nvPr/>
        </p:nvSpPr>
        <p:spPr>
          <a:xfrm>
            <a:off x="256032" y="6291072"/>
            <a:ext cx="3931920" cy="256032"/>
          </a:xfrm>
          <a:prstGeom prst="rect">
            <a:avLst/>
          </a:prstGeom>
          <a:noFill/>
          <a:ln/>
        </p:spPr>
        <p:txBody>
          <a:bodyPr wrap="square" lIns="762" tIns="762" rIns="762" bIns="762" rtlCol="0" anchor="ctr">
            <a:normAutofit/>
          </a:bodyPr>
          <a:lstStyle/>
          <a:p>
            <a:pPr indent="0" marL="0">
              <a:buNone/>
            </a:pPr>
            <a:r>
              <a:rPr lang="en-US" sz="1100" i="1" dirty="0">
                <a:solidFill>
                  <a:srgbClr val="7896A8"/>
                </a:solidFill>
                <a:latin typeface="Aptos" pitchFamily="34" charset="0"/>
                <a:ea typeface="Aptos" pitchFamily="34" charset="-122"/>
                <a:cs typeface="Aptos" pitchFamily="34" charset="-120"/>
              </a:rPr>
              <a:t>Illustration · not a real stakeholder</a:t>
            </a:r>
            <a:endParaRPr lang="en-US" sz="1100" dirty="0"/>
          </a:p>
        </p:txBody>
      </p:sp>
      <p:sp>
        <p:nvSpPr>
          <p:cNvPr id="8" name="Shape 5"/>
          <p:cNvSpPr/>
          <p:nvPr/>
        </p:nvSpPr>
        <p:spPr>
          <a:xfrm>
            <a:off x="4709160" y="256032"/>
            <a:ext cx="141732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4745736" y="269748"/>
            <a:ext cx="134416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10" name="Text 7"/>
          <p:cNvSpPr/>
          <p:nvPr/>
        </p:nvSpPr>
        <p:spPr>
          <a:xfrm>
            <a:off x="4709160" y="621792"/>
            <a:ext cx="7132320" cy="384048"/>
          </a:xfrm>
          <a:prstGeom prst="rect">
            <a:avLst/>
          </a:prstGeom>
          <a:noFill/>
          <a:ln/>
        </p:spPr>
        <p:txBody>
          <a:bodyPr wrap="square" lIns="762" tIns="762" rIns="762" bIns="762" rtlCol="0" anchor="ctr">
            <a:normAutofit/>
          </a:bodyPr>
          <a:lstStyle/>
          <a:p>
            <a:pPr indent="0" marL="0">
              <a:buNone/>
            </a:pPr>
            <a:r>
              <a:rPr lang="en-US" sz="2400" b="1" dirty="0">
                <a:solidFill>
                  <a:srgbClr val="0B2239"/>
                </a:solidFill>
                <a:latin typeface="Aptos Display" pitchFamily="34" charset="0"/>
                <a:ea typeface="Aptos Display" pitchFamily="34" charset="-122"/>
                <a:cs typeface="Aptos Display" pitchFamily="34" charset="-120"/>
              </a:rPr>
              <a:t>Persona 1 — Amara</a:t>
            </a:r>
            <a:endParaRPr lang="en-US" sz="2400" dirty="0"/>
          </a:p>
        </p:txBody>
      </p:sp>
      <p:sp>
        <p:nvSpPr>
          <p:cNvPr id="11" name="Text 8"/>
          <p:cNvSpPr/>
          <p:nvPr/>
        </p:nvSpPr>
        <p:spPr>
          <a:xfrm>
            <a:off x="4709160" y="1024128"/>
            <a:ext cx="7132320" cy="329184"/>
          </a:xfrm>
          <a:prstGeom prst="rect">
            <a:avLst/>
          </a:prstGeom>
          <a:noFill/>
          <a:ln/>
        </p:spPr>
        <p:txBody>
          <a:bodyPr wrap="square" lIns="762" tIns="762" rIns="762" bIns="762" rtlCol="0" anchor="ctr">
            <a:normAutofit/>
          </a:bodyPr>
          <a:lstStyle/>
          <a:p>
            <a:pPr indent="0" marL="0">
              <a:buNone/>
            </a:pPr>
            <a:r>
              <a:rPr lang="en-US" sz="1300" dirty="0">
                <a:solidFill>
                  <a:srgbClr val="4E6878"/>
                </a:solidFill>
                <a:latin typeface="Aptos" pitchFamily="34" charset="0"/>
                <a:ea typeface="Aptos" pitchFamily="34" charset="-122"/>
                <a:cs typeface="Aptos" pitchFamily="34" charset="-120"/>
              </a:rPr>
              <a:t>Crosses a busy central street for shops and transit. Tunis design context (assumption).</a:t>
            </a:r>
            <a:endParaRPr lang="en-US" sz="1300" dirty="0"/>
          </a:p>
        </p:txBody>
      </p:sp>
      <p:sp>
        <p:nvSpPr>
          <p:cNvPr id="12" name="Shape 9"/>
          <p:cNvSpPr/>
          <p:nvPr/>
        </p:nvSpPr>
        <p:spPr>
          <a:xfrm>
            <a:off x="4709160" y="1444752"/>
            <a:ext cx="7132320" cy="1078992"/>
          </a:xfrm>
          <a:prstGeom prst="roundRect">
            <a:avLst>
              <a:gd name="adj" fmla="val 6780"/>
            </a:avLst>
          </a:prstGeom>
          <a:solidFill>
            <a:srgbClr val="DDEFF5"/>
          </a:solidFill>
          <a:ln w="10160">
            <a:solidFill>
              <a:srgbClr val="6C5AA7"/>
            </a:solidFill>
            <a:prstDash val="solid"/>
          </a:ln>
        </p:spPr>
      </p:sp>
      <p:sp>
        <p:nvSpPr>
          <p:cNvPr id="13" name="Text 10"/>
          <p:cNvSpPr/>
          <p:nvPr/>
        </p:nvSpPr>
        <p:spPr>
          <a:xfrm>
            <a:off x="4910328" y="1536192"/>
            <a:ext cx="6729984" cy="201168"/>
          </a:xfrm>
          <a:prstGeom prst="rect">
            <a:avLst/>
          </a:prstGeom>
          <a:noFill/>
          <a:ln/>
        </p:spPr>
        <p:txBody>
          <a:bodyPr wrap="square" lIns="762" tIns="762" rIns="762" bIns="762" rtlCol="0" anchor="ctr">
            <a:normAutofit/>
          </a:bodyPr>
          <a:lstStyle/>
          <a:p>
            <a:pPr indent="0" marL="0">
              <a:buNone/>
            </a:pPr>
            <a:r>
              <a:rPr lang="en-US" sz="1000" b="1" spc="60" kern="0" dirty="0">
                <a:solidFill>
                  <a:srgbClr val="6C5AA7"/>
                </a:solidFill>
                <a:latin typeface="Aptos" pitchFamily="34" charset="0"/>
                <a:ea typeface="Aptos" pitchFamily="34" charset="-122"/>
                <a:cs typeface="Aptos" pitchFamily="34" charset="-120"/>
              </a:rPr>
              <a:t>DESIGN STATEMENT · NOT AN INTERVIEW QUOTE</a:t>
            </a:r>
            <a:endParaRPr lang="en-US" sz="1000" dirty="0"/>
          </a:p>
        </p:txBody>
      </p:sp>
      <p:sp>
        <p:nvSpPr>
          <p:cNvPr id="14" name="Text 11"/>
          <p:cNvSpPr/>
          <p:nvPr/>
        </p:nvSpPr>
        <p:spPr>
          <a:xfrm>
            <a:off x="4910328" y="1755648"/>
            <a:ext cx="6729984" cy="621792"/>
          </a:xfrm>
          <a:prstGeom prst="rect">
            <a:avLst/>
          </a:prstGeom>
          <a:noFill/>
          <a:ln/>
        </p:spPr>
        <p:txBody>
          <a:bodyPr wrap="square" lIns="762" tIns="762" rIns="762" bIns="762" rtlCol="0" anchor="t">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“I need enough time to finish crossing, even when traffic is busy.”</a:t>
            </a:r>
            <a:endParaRPr lang="en-US" sz="1800" dirty="0"/>
          </a:p>
        </p:txBody>
      </p:sp>
      <p:sp>
        <p:nvSpPr>
          <p:cNvPr id="15" name="Shape 12"/>
          <p:cNvSpPr/>
          <p:nvPr/>
        </p:nvSpPr>
        <p:spPr>
          <a:xfrm>
            <a:off x="4709160" y="2670048"/>
            <a:ext cx="7132320" cy="932688"/>
          </a:xfrm>
          <a:prstGeom prst="roundRect">
            <a:avLst>
              <a:gd name="adj" fmla="val 7843"/>
            </a:avLst>
          </a:prstGeom>
          <a:solidFill>
            <a:srgbClr val="DDF3EC"/>
          </a:solidFill>
          <a:ln w="10160">
            <a:solidFill>
              <a:srgbClr val="2D936C"/>
            </a:solidFill>
            <a:prstDash val="solid"/>
          </a:ln>
        </p:spPr>
      </p:sp>
      <p:sp>
        <p:nvSpPr>
          <p:cNvPr id="16" name="Shape 13"/>
          <p:cNvSpPr/>
          <p:nvPr/>
        </p:nvSpPr>
        <p:spPr>
          <a:xfrm>
            <a:off x="4709160" y="2670048"/>
            <a:ext cx="73152" cy="932688"/>
          </a:xfrm>
          <a:prstGeom prst="rect">
            <a:avLst/>
          </a:prstGeom>
          <a:solidFill>
            <a:srgbClr val="2D936C"/>
          </a:solidFill>
          <a:ln w="12700">
            <a:solidFill>
              <a:srgbClr val="2D936C"/>
            </a:solidFill>
            <a:prstDash val="solid"/>
          </a:ln>
        </p:spPr>
      </p:sp>
      <p:sp>
        <p:nvSpPr>
          <p:cNvPr id="17" name="Text 14"/>
          <p:cNvSpPr/>
          <p:nvPr/>
        </p:nvSpPr>
        <p:spPr>
          <a:xfrm>
            <a:off x="4873752" y="2743200"/>
            <a:ext cx="68397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a:t>
            </a:r>
            <a:endParaRPr lang="en-US" sz="1300" dirty="0"/>
          </a:p>
        </p:txBody>
      </p:sp>
      <p:sp>
        <p:nvSpPr>
          <p:cNvPr id="18" name="Text 15"/>
          <p:cNvSpPr/>
          <p:nvPr/>
        </p:nvSpPr>
        <p:spPr>
          <a:xfrm>
            <a:off x="4873752" y="3035808"/>
            <a:ext cx="6839712" cy="49377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Clear acknowledgement; wait-aware service; conservative clearance; no repeated deferral; no app requirement.</a:t>
            </a:r>
            <a:endParaRPr lang="en-US" sz="1400" dirty="0"/>
          </a:p>
        </p:txBody>
      </p:sp>
      <p:sp>
        <p:nvSpPr>
          <p:cNvPr id="19" name="Shape 16"/>
          <p:cNvSpPr/>
          <p:nvPr/>
        </p:nvSpPr>
        <p:spPr>
          <a:xfrm>
            <a:off x="4709160" y="3694176"/>
            <a:ext cx="3456432" cy="987552"/>
          </a:xfrm>
          <a:prstGeom prst="roundRect">
            <a:avLst>
              <a:gd name="adj" fmla="val 7407"/>
            </a:avLst>
          </a:prstGeom>
          <a:solidFill>
            <a:srgbClr val="FFFFFF"/>
          </a:solidFill>
          <a:ln w="10160">
            <a:solidFill>
              <a:srgbClr val="B74444"/>
            </a:solidFill>
            <a:prstDash val="solid"/>
          </a:ln>
        </p:spPr>
      </p:sp>
      <p:sp>
        <p:nvSpPr>
          <p:cNvPr id="20" name="Shape 17"/>
          <p:cNvSpPr/>
          <p:nvPr/>
        </p:nvSpPr>
        <p:spPr>
          <a:xfrm>
            <a:off x="4709160" y="3694176"/>
            <a:ext cx="73152" cy="987552"/>
          </a:xfrm>
          <a:prstGeom prst="rect">
            <a:avLst/>
          </a:prstGeom>
          <a:solidFill>
            <a:srgbClr val="B74444"/>
          </a:solidFill>
          <a:ln w="12700">
            <a:solidFill>
              <a:srgbClr val="B74444"/>
            </a:solidFill>
            <a:prstDash val="solid"/>
          </a:ln>
        </p:spPr>
      </p:sp>
      <p:sp>
        <p:nvSpPr>
          <p:cNvPr id="21" name="Text 18"/>
          <p:cNvSpPr/>
          <p:nvPr/>
        </p:nvSpPr>
        <p:spPr>
          <a:xfrm>
            <a:off x="4873752"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Fear</a:t>
            </a:r>
            <a:endParaRPr lang="en-US" sz="1300" dirty="0"/>
          </a:p>
        </p:txBody>
      </p:sp>
      <p:sp>
        <p:nvSpPr>
          <p:cNvPr id="22" name="Text 19"/>
          <p:cNvSpPr/>
          <p:nvPr/>
        </p:nvSpPr>
        <p:spPr>
          <a:xfrm>
            <a:off x="4873752" y="4059936"/>
            <a:ext cx="3163824" cy="548640"/>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Long waits cause fatigue. A short clearance can leave her exposed when conflicting traffic is released.</a:t>
            </a:r>
            <a:endParaRPr lang="en-US" sz="1300" dirty="0"/>
          </a:p>
        </p:txBody>
      </p:sp>
      <p:sp>
        <p:nvSpPr>
          <p:cNvPr id="23" name="Shape 20"/>
          <p:cNvSpPr/>
          <p:nvPr/>
        </p:nvSpPr>
        <p:spPr>
          <a:xfrm>
            <a:off x="8385048" y="3694176"/>
            <a:ext cx="3456432" cy="987552"/>
          </a:xfrm>
          <a:prstGeom prst="roundRect">
            <a:avLst>
              <a:gd name="adj" fmla="val 7407"/>
            </a:avLst>
          </a:prstGeom>
          <a:solidFill>
            <a:srgbClr val="FBE4E4"/>
          </a:solidFill>
          <a:ln w="10160">
            <a:solidFill>
              <a:srgbClr val="B74444"/>
            </a:solidFill>
            <a:prstDash val="solid"/>
          </a:ln>
        </p:spPr>
      </p:sp>
      <p:sp>
        <p:nvSpPr>
          <p:cNvPr id="24" name="Shape 21"/>
          <p:cNvSpPr/>
          <p:nvPr/>
        </p:nvSpPr>
        <p:spPr>
          <a:xfrm>
            <a:off x="8385048" y="3694176"/>
            <a:ext cx="73152" cy="987552"/>
          </a:xfrm>
          <a:prstGeom prst="rect">
            <a:avLst/>
          </a:prstGeom>
          <a:solidFill>
            <a:srgbClr val="B74444"/>
          </a:solidFill>
          <a:ln w="12700">
            <a:solidFill>
              <a:srgbClr val="B74444"/>
            </a:solidFill>
            <a:prstDash val="solid"/>
          </a:ln>
        </p:spPr>
      </p:sp>
      <p:sp>
        <p:nvSpPr>
          <p:cNvPr id="25" name="Text 22"/>
          <p:cNvSpPr/>
          <p:nvPr/>
        </p:nvSpPr>
        <p:spPr>
          <a:xfrm>
            <a:off x="8549640"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Rejects</a:t>
            </a:r>
            <a:endParaRPr lang="en-US" sz="1300" dirty="0"/>
          </a:p>
        </p:txBody>
      </p:sp>
      <p:sp>
        <p:nvSpPr>
          <p:cNvPr id="26" name="Text 23"/>
          <p:cNvSpPr/>
          <p:nvPr/>
        </p:nvSpPr>
        <p:spPr>
          <a:xfrm>
            <a:off x="8549640" y="4059936"/>
            <a:ext cx="3163824" cy="54864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 shortened crossing for an ambulance already in conflict; inaccessible apps; targets presented as achieved results.</a:t>
            </a:r>
            <a:endParaRPr lang="en-US" sz="1250" dirty="0"/>
          </a:p>
        </p:txBody>
      </p:sp>
      <p:sp>
        <p:nvSpPr>
          <p:cNvPr id="27" name="Shape 24"/>
          <p:cNvSpPr/>
          <p:nvPr/>
        </p:nvSpPr>
        <p:spPr>
          <a:xfrm>
            <a:off x="4709160" y="4773168"/>
            <a:ext cx="7132320" cy="1664208"/>
          </a:xfrm>
          <a:prstGeom prst="roundRect">
            <a:avLst>
              <a:gd name="adj" fmla="val 4396"/>
            </a:avLst>
          </a:prstGeom>
          <a:solidFill>
            <a:srgbClr val="FFFFFF"/>
          </a:solidFill>
          <a:ln w="10160">
            <a:solidFill>
              <a:srgbClr val="176B87"/>
            </a:solidFill>
            <a:prstDash val="solid"/>
          </a:ln>
        </p:spPr>
      </p:sp>
      <p:sp>
        <p:nvSpPr>
          <p:cNvPr id="28" name="Text 25"/>
          <p:cNvSpPr/>
          <p:nvPr/>
        </p:nvSpPr>
        <p:spPr>
          <a:xfrm>
            <a:off x="4910328" y="4846320"/>
            <a:ext cx="6729984" cy="182880"/>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WHY · EVIDENCE · PROPOSED MEASURE</a:t>
            </a:r>
            <a:endParaRPr lang="en-US" sz="1000" dirty="0"/>
          </a:p>
        </p:txBody>
      </p:sp>
      <p:sp>
        <p:nvSpPr>
          <p:cNvPr id="29" name="Text 26"/>
          <p:cNvSpPr/>
          <p:nvPr/>
        </p:nvSpPr>
        <p:spPr>
          <a:xfrm>
            <a:off x="4910328" y="5047488"/>
            <a:ext cx="6729984"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Amara represents slower walkers who can be excluded when signal timing assumes an average walking speed.</a:t>
            </a:r>
            <a:endParaRPr lang="en-US" sz="1300" dirty="0"/>
          </a:p>
        </p:txBody>
      </p:sp>
      <p:sp>
        <p:nvSpPr>
          <p:cNvPr id="30" name="Text 27"/>
          <p:cNvSpPr/>
          <p:nvPr/>
        </p:nvSpPr>
        <p:spPr>
          <a:xfrm>
            <a:off x="4910328" y="5449824"/>
            <a:ext cx="6729984" cy="475488"/>
          </a:xfrm>
          <a:prstGeom prst="rect">
            <a:avLst/>
          </a:prstGeom>
          <a:noFill/>
          <a:ln/>
        </p:spPr>
        <p:txBody>
          <a:bodyPr wrap="square" lIns="762" tIns="762" rIns="762" bIns="762" rtlCol="0" anchor="t">
            <a:normAutofit/>
          </a:bodyPr>
          <a:lstStyle/>
          <a:p>
            <a:pPr indent="0" marL="0">
              <a:buNone/>
            </a:pPr>
            <a:r>
              <a:rPr lang="en-US" sz="1200" dirty="0">
                <a:solidFill>
                  <a:srgbClr val="4E6878"/>
                </a:solidFill>
                <a:latin typeface="Aptos" pitchFamily="34" charset="0"/>
                <a:ea typeface="Aptos" pitchFamily="34" charset="-122"/>
                <a:cs typeface="Aptos" pitchFamily="34" charset="-120"/>
              </a:rPr>
              <a:t>One NZ study found perceived mean wait about 2x observed mean wait. MUTCD uses about 1.07 m/s and asks for slower values where needed. [C03][C04]</a:t>
            </a:r>
            <a:endParaRPr lang="en-US" sz="1200" dirty="0"/>
          </a:p>
        </p:txBody>
      </p:sp>
      <p:sp>
        <p:nvSpPr>
          <p:cNvPr id="31" name="Text 28"/>
          <p:cNvSpPr/>
          <p:nvPr/>
        </p:nvSpPr>
        <p:spPr>
          <a:xfrm>
            <a:off x="4910328" y="5943600"/>
            <a:ext cx="6729984" cy="384048"/>
          </a:xfrm>
          <a:prstGeom prst="rect">
            <a:avLst/>
          </a:prstGeom>
          <a:noFill/>
          <a:ln/>
        </p:spPr>
        <p:txBody>
          <a:bodyPr wrap="square" lIns="762" tIns="762" rIns="762" bIns="762" rtlCol="0" anchor="t">
            <a:normAutofit/>
          </a:bodyPr>
          <a:lstStyle/>
          <a:p>
            <a:pPr indent="0" marL="0">
              <a:buNone/>
            </a:pPr>
            <a:r>
              <a:rPr lang="en-US" sz="1200" i="1" dirty="0">
                <a:solidFill>
                  <a:srgbClr val="CF7B1B"/>
                </a:solidFill>
                <a:latin typeface="Aptos" pitchFamily="34" charset="0"/>
                <a:ea typeface="Aptos" pitchFamily="34" charset="-122"/>
                <a:cs typeface="Aptos" pitchFamily="34" charset="-120"/>
              </a:rPr>
              <a:t>Target, not a result: Mean, P95 and maximum pedestrian wait; waits above the declared threshold; zero clearance truncations.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p:bgPr>
    </p:bg>
    <p:spTree>
      <p:nvGrpSpPr>
        <p:cNvPr id="1" name=""/>
        <p:cNvGrpSpPr/>
        <p:nvPr/>
      </p:nvGrpSpPr>
      <p:grpSpPr>
        <a:xfrm>
          <a:off x="0" y="0"/>
          <a:ext cx="0" cy="0"/>
          <a:chOff x="0" y="0"/>
          <a:chExt cx="0" cy="0"/>
        </a:xfrm>
      </p:grpSpPr>
      <p:pic>
        <p:nvPicPr>
          <p:cNvPr id="2" name="Image 0" descr="C:\Users\dell\Downloads\sumo\docs\presentation\personas\p2-david.png">    </p:cNvPr>
          <p:cNvPicPr>
            <a:picLocks noChangeAspect="1"/>
          </p:cNvPicPr>
          <p:nvPr/>
        </p:nvPicPr>
        <p:blipFill>
          <a:blip r:embed="rId1"/>
          <a:srcRect l="0" r="0" t="0" b="0"/>
          <a:stretch/>
        </p:blipFill>
        <p:spPr>
          <a:xfrm>
            <a:off x="0" y="0"/>
            <a:ext cx="4434840" cy="6858000"/>
          </a:xfrm>
          <a:prstGeom prst="rect">
            <a:avLst/>
          </a:prstGeom>
        </p:spPr>
      </p:pic>
      <p:sp>
        <p:nvSpPr>
          <p:cNvPr id="3" name="Shape 0"/>
          <p:cNvSpPr/>
          <p:nvPr/>
        </p:nvSpPr>
        <p:spPr>
          <a:xfrm>
            <a:off x="0" y="5074920"/>
            <a:ext cx="4434840" cy="1783080"/>
          </a:xfrm>
          <a:prstGeom prst="rect">
            <a:avLst/>
          </a:prstGeom>
          <a:solidFill>
            <a:srgbClr val="0B2239"/>
          </a:solidFill>
          <a:ln w="12700">
            <a:solidFill>
              <a:srgbClr val="0B2239"/>
            </a:solidFill>
            <a:prstDash val="solid"/>
          </a:ln>
        </p:spPr>
      </p:sp>
      <p:sp>
        <p:nvSpPr>
          <p:cNvPr id="4" name="Text 1"/>
          <p:cNvSpPr/>
          <p:nvPr/>
        </p:nvSpPr>
        <p:spPr>
          <a:xfrm>
            <a:off x="256032" y="5193792"/>
            <a:ext cx="3931920" cy="256032"/>
          </a:xfrm>
          <a:prstGeom prst="rect">
            <a:avLst/>
          </a:prstGeom>
          <a:noFill/>
          <a:ln/>
        </p:spPr>
        <p:txBody>
          <a:bodyPr wrap="square" lIns="762" tIns="762" rIns="762" bIns="762" rtlCol="0" anchor="ctr">
            <a:normAutofit/>
          </a:bodyPr>
          <a:lstStyle/>
          <a:p>
            <a:pPr indent="0" marL="0">
              <a:buNone/>
            </a:pPr>
            <a:r>
              <a:rPr lang="en-US" sz="1300" b="1" spc="80" kern="0" dirty="0">
                <a:solidFill>
                  <a:srgbClr val="7FE0D7"/>
                </a:solidFill>
                <a:latin typeface="Aptos" pitchFamily="34" charset="0"/>
                <a:ea typeface="Aptos" pitchFamily="34" charset="-122"/>
                <a:cs typeface="Aptos" pitchFamily="34" charset="-120"/>
              </a:rPr>
              <a:t>P2  ·  41</a:t>
            </a:r>
            <a:endParaRPr lang="en-US" sz="1300" dirty="0"/>
          </a:p>
        </p:txBody>
      </p:sp>
      <p:sp>
        <p:nvSpPr>
          <p:cNvPr id="5" name="Text 2"/>
          <p:cNvSpPr/>
          <p:nvPr/>
        </p:nvSpPr>
        <p:spPr>
          <a:xfrm>
            <a:off x="256032" y="5449824"/>
            <a:ext cx="3931920" cy="438912"/>
          </a:xfrm>
          <a:prstGeom prst="rect">
            <a:avLst/>
          </a:prstGeom>
          <a:noFill/>
          <a:ln/>
        </p:spPr>
        <p:txBody>
          <a:bodyPr wrap="square" lIns="762" tIns="762" rIns="762" bIns="762"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David</a:t>
            </a:r>
            <a:endParaRPr lang="en-US" sz="3200" dirty="0"/>
          </a:p>
        </p:txBody>
      </p:sp>
      <p:sp>
        <p:nvSpPr>
          <p:cNvPr id="6" name="Text 3"/>
          <p:cNvSpPr/>
          <p:nvPr/>
        </p:nvSpPr>
        <p:spPr>
          <a:xfrm>
            <a:off x="256032" y="5907024"/>
            <a:ext cx="3931920" cy="292608"/>
          </a:xfrm>
          <a:prstGeom prst="rect">
            <a:avLst/>
          </a:prstGeom>
          <a:noFill/>
          <a:ln/>
        </p:spPr>
        <p:txBody>
          <a:bodyPr wrap="square" lIns="762" tIns="762" rIns="762" bIns="762" rtlCol="0" anchor="ctr">
            <a:normAutofit/>
          </a:bodyPr>
          <a:lstStyle/>
          <a:p>
            <a:pPr indent="0" marL="0">
              <a:buNone/>
            </a:pPr>
            <a:r>
              <a:rPr lang="en-US" sz="1400" dirty="0">
                <a:solidFill>
                  <a:srgbClr val="B9DCE7"/>
                </a:solidFill>
                <a:latin typeface="Aptos" pitchFamily="34" charset="0"/>
                <a:ea typeface="Aptos" pitchFamily="34" charset="-122"/>
                <a:cs typeface="Aptos" pitchFamily="34" charset="-120"/>
              </a:rPr>
              <a:t>Delivery-van driver</a:t>
            </a:r>
            <a:endParaRPr lang="en-US" sz="1400" dirty="0"/>
          </a:p>
        </p:txBody>
      </p:sp>
      <p:sp>
        <p:nvSpPr>
          <p:cNvPr id="7" name="Text 4"/>
          <p:cNvSpPr/>
          <p:nvPr/>
        </p:nvSpPr>
        <p:spPr>
          <a:xfrm>
            <a:off x="256032" y="6291072"/>
            <a:ext cx="3931920" cy="256032"/>
          </a:xfrm>
          <a:prstGeom prst="rect">
            <a:avLst/>
          </a:prstGeom>
          <a:noFill/>
          <a:ln/>
        </p:spPr>
        <p:txBody>
          <a:bodyPr wrap="square" lIns="762" tIns="762" rIns="762" bIns="762" rtlCol="0" anchor="ctr">
            <a:normAutofit/>
          </a:bodyPr>
          <a:lstStyle/>
          <a:p>
            <a:pPr indent="0" marL="0">
              <a:buNone/>
            </a:pPr>
            <a:r>
              <a:rPr lang="en-US" sz="1100" i="1" dirty="0">
                <a:solidFill>
                  <a:srgbClr val="7896A8"/>
                </a:solidFill>
                <a:latin typeface="Aptos" pitchFamily="34" charset="0"/>
                <a:ea typeface="Aptos" pitchFamily="34" charset="-122"/>
                <a:cs typeface="Aptos" pitchFamily="34" charset="-120"/>
              </a:rPr>
              <a:t>Illustration · not a real stakeholder</a:t>
            </a:r>
            <a:endParaRPr lang="en-US" sz="1100" dirty="0"/>
          </a:p>
        </p:txBody>
      </p:sp>
      <p:sp>
        <p:nvSpPr>
          <p:cNvPr id="8" name="Shape 5"/>
          <p:cNvSpPr/>
          <p:nvPr/>
        </p:nvSpPr>
        <p:spPr>
          <a:xfrm>
            <a:off x="4709160" y="256032"/>
            <a:ext cx="141732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4745736" y="269748"/>
            <a:ext cx="134416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10" name="Text 7"/>
          <p:cNvSpPr/>
          <p:nvPr/>
        </p:nvSpPr>
        <p:spPr>
          <a:xfrm>
            <a:off x="4709160" y="621792"/>
            <a:ext cx="7132320" cy="384048"/>
          </a:xfrm>
          <a:prstGeom prst="rect">
            <a:avLst/>
          </a:prstGeom>
          <a:noFill/>
          <a:ln/>
        </p:spPr>
        <p:txBody>
          <a:bodyPr wrap="square" lIns="762" tIns="762" rIns="762" bIns="762" rtlCol="0" anchor="ctr">
            <a:normAutofit/>
          </a:bodyPr>
          <a:lstStyle/>
          <a:p>
            <a:pPr indent="0" marL="0">
              <a:buNone/>
            </a:pPr>
            <a:r>
              <a:rPr lang="en-US" sz="2400" b="1" dirty="0">
                <a:solidFill>
                  <a:srgbClr val="0B2239"/>
                </a:solidFill>
                <a:latin typeface="Aptos Display" pitchFamily="34" charset="0"/>
                <a:ea typeface="Aptos Display" pitchFamily="34" charset="-122"/>
                <a:cs typeface="Aptos Display" pitchFamily="34" charset="-120"/>
              </a:rPr>
              <a:t>Persona 2 — David</a:t>
            </a:r>
            <a:endParaRPr lang="en-US" sz="2400" dirty="0"/>
          </a:p>
        </p:txBody>
      </p:sp>
      <p:sp>
        <p:nvSpPr>
          <p:cNvPr id="11" name="Text 8"/>
          <p:cNvSpPr/>
          <p:nvPr/>
        </p:nvSpPr>
        <p:spPr>
          <a:xfrm>
            <a:off x="4709160" y="1024128"/>
            <a:ext cx="7132320" cy="329184"/>
          </a:xfrm>
          <a:prstGeom prst="rect">
            <a:avLst/>
          </a:prstGeom>
          <a:noFill/>
          <a:ln/>
        </p:spPr>
        <p:txBody>
          <a:bodyPr wrap="square" lIns="762" tIns="762" rIns="762" bIns="762" rtlCol="0" anchor="ctr">
            <a:normAutofit/>
          </a:bodyPr>
          <a:lstStyle/>
          <a:p>
            <a:pPr indent="0" marL="0">
              <a:buNone/>
            </a:pPr>
            <a:r>
              <a:rPr lang="en-US" sz="1300" dirty="0">
                <a:solidFill>
                  <a:srgbClr val="4E6878"/>
                </a:solidFill>
                <a:latin typeface="Aptos" pitchFamily="34" charset="0"/>
                <a:ea typeface="Aptos" pitchFamily="34" charset="-122"/>
                <a:cs typeface="Aptos" pitchFamily="34" charset="-120"/>
              </a:rPr>
              <a:t>More than 60 time-sensitive stops in a workday. Tunis design context (assumption).</a:t>
            </a:r>
            <a:endParaRPr lang="en-US" sz="1300" dirty="0"/>
          </a:p>
        </p:txBody>
      </p:sp>
      <p:sp>
        <p:nvSpPr>
          <p:cNvPr id="12" name="Shape 9"/>
          <p:cNvSpPr/>
          <p:nvPr/>
        </p:nvSpPr>
        <p:spPr>
          <a:xfrm>
            <a:off x="4709160" y="1444752"/>
            <a:ext cx="7132320" cy="1078992"/>
          </a:xfrm>
          <a:prstGeom prst="roundRect">
            <a:avLst>
              <a:gd name="adj" fmla="val 6780"/>
            </a:avLst>
          </a:prstGeom>
          <a:solidFill>
            <a:srgbClr val="DDEFF5"/>
          </a:solidFill>
          <a:ln w="10160">
            <a:solidFill>
              <a:srgbClr val="176B87"/>
            </a:solidFill>
            <a:prstDash val="solid"/>
          </a:ln>
        </p:spPr>
      </p:sp>
      <p:sp>
        <p:nvSpPr>
          <p:cNvPr id="13" name="Text 10"/>
          <p:cNvSpPr/>
          <p:nvPr/>
        </p:nvSpPr>
        <p:spPr>
          <a:xfrm>
            <a:off x="4910328" y="1536192"/>
            <a:ext cx="6729984" cy="201168"/>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DESIGN STATEMENT · NOT AN INTERVIEW QUOTE</a:t>
            </a:r>
            <a:endParaRPr lang="en-US" sz="1000" dirty="0"/>
          </a:p>
        </p:txBody>
      </p:sp>
      <p:sp>
        <p:nvSpPr>
          <p:cNvPr id="14" name="Text 11"/>
          <p:cNvSpPr/>
          <p:nvPr/>
        </p:nvSpPr>
        <p:spPr>
          <a:xfrm>
            <a:off x="4910328" y="1755648"/>
            <a:ext cx="6729984" cy="621792"/>
          </a:xfrm>
          <a:prstGeom prst="rect">
            <a:avLst/>
          </a:prstGeom>
          <a:noFill/>
          <a:ln/>
        </p:spPr>
        <p:txBody>
          <a:bodyPr wrap="square" lIns="762" tIns="762" rIns="762" bIns="762" rtlCol="0" anchor="t">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“I can plan around a longer trip if I know how long it will actually take.”</a:t>
            </a:r>
            <a:endParaRPr lang="en-US" sz="1800" dirty="0"/>
          </a:p>
        </p:txBody>
      </p:sp>
      <p:sp>
        <p:nvSpPr>
          <p:cNvPr id="15" name="Shape 12"/>
          <p:cNvSpPr/>
          <p:nvPr/>
        </p:nvSpPr>
        <p:spPr>
          <a:xfrm>
            <a:off x="4709160" y="2670048"/>
            <a:ext cx="7132320" cy="932688"/>
          </a:xfrm>
          <a:prstGeom prst="roundRect">
            <a:avLst>
              <a:gd name="adj" fmla="val 7843"/>
            </a:avLst>
          </a:prstGeom>
          <a:solidFill>
            <a:srgbClr val="DDF3EC"/>
          </a:solidFill>
          <a:ln w="10160">
            <a:solidFill>
              <a:srgbClr val="2D936C"/>
            </a:solidFill>
            <a:prstDash val="solid"/>
          </a:ln>
        </p:spPr>
      </p:sp>
      <p:sp>
        <p:nvSpPr>
          <p:cNvPr id="16" name="Shape 13"/>
          <p:cNvSpPr/>
          <p:nvPr/>
        </p:nvSpPr>
        <p:spPr>
          <a:xfrm>
            <a:off x="4709160" y="2670048"/>
            <a:ext cx="73152" cy="932688"/>
          </a:xfrm>
          <a:prstGeom prst="rect">
            <a:avLst/>
          </a:prstGeom>
          <a:solidFill>
            <a:srgbClr val="2D936C"/>
          </a:solidFill>
          <a:ln w="12700">
            <a:solidFill>
              <a:srgbClr val="2D936C"/>
            </a:solidFill>
            <a:prstDash val="solid"/>
          </a:ln>
        </p:spPr>
      </p:sp>
      <p:sp>
        <p:nvSpPr>
          <p:cNvPr id="17" name="Text 14"/>
          <p:cNvSpPr/>
          <p:nvPr/>
        </p:nvSpPr>
        <p:spPr>
          <a:xfrm>
            <a:off x="4873752" y="2743200"/>
            <a:ext cx="68397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a:t>
            </a:r>
            <a:endParaRPr lang="en-US" sz="1300" dirty="0"/>
          </a:p>
        </p:txBody>
      </p:sp>
      <p:sp>
        <p:nvSpPr>
          <p:cNvPr id="18" name="Text 15"/>
          <p:cNvSpPr/>
          <p:nvPr/>
        </p:nvSpPr>
        <p:spPr>
          <a:xfrm>
            <a:off x="4873752" y="3035808"/>
            <a:ext cx="6839712" cy="49377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Reliable journey tails, fewer unnecessary stops, visible incidents and network coordination beyond one junction.</a:t>
            </a:r>
            <a:endParaRPr lang="en-US" sz="1400" dirty="0"/>
          </a:p>
        </p:txBody>
      </p:sp>
      <p:sp>
        <p:nvSpPr>
          <p:cNvPr id="19" name="Shape 16"/>
          <p:cNvSpPr/>
          <p:nvPr/>
        </p:nvSpPr>
        <p:spPr>
          <a:xfrm>
            <a:off x="4709160" y="3694176"/>
            <a:ext cx="3456432" cy="987552"/>
          </a:xfrm>
          <a:prstGeom prst="roundRect">
            <a:avLst>
              <a:gd name="adj" fmla="val 7407"/>
            </a:avLst>
          </a:prstGeom>
          <a:solidFill>
            <a:srgbClr val="FFFFFF"/>
          </a:solidFill>
          <a:ln w="10160">
            <a:solidFill>
              <a:srgbClr val="B74444"/>
            </a:solidFill>
            <a:prstDash val="solid"/>
          </a:ln>
        </p:spPr>
      </p:sp>
      <p:sp>
        <p:nvSpPr>
          <p:cNvPr id="20" name="Shape 17"/>
          <p:cNvSpPr/>
          <p:nvPr/>
        </p:nvSpPr>
        <p:spPr>
          <a:xfrm>
            <a:off x="4709160" y="3694176"/>
            <a:ext cx="73152" cy="987552"/>
          </a:xfrm>
          <a:prstGeom prst="rect">
            <a:avLst/>
          </a:prstGeom>
          <a:solidFill>
            <a:srgbClr val="B74444"/>
          </a:solidFill>
          <a:ln w="12700">
            <a:solidFill>
              <a:srgbClr val="B74444"/>
            </a:solidFill>
            <a:prstDash val="solid"/>
          </a:ln>
        </p:spPr>
      </p:sp>
      <p:sp>
        <p:nvSpPr>
          <p:cNvPr id="21" name="Text 18"/>
          <p:cNvSpPr/>
          <p:nvPr/>
        </p:nvSpPr>
        <p:spPr>
          <a:xfrm>
            <a:off x="4873752"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Fear</a:t>
            </a:r>
            <a:endParaRPr lang="en-US" sz="1300" dirty="0"/>
          </a:p>
        </p:txBody>
      </p:sp>
      <p:sp>
        <p:nvSpPr>
          <p:cNvPr id="22" name="Text 19"/>
          <p:cNvSpPr/>
          <p:nvPr/>
        </p:nvSpPr>
        <p:spPr>
          <a:xfrm>
            <a:off x="4873752" y="4059936"/>
            <a:ext cx="3163824" cy="548640"/>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Unpredictable surges break delivery windows. A good average can hide severe late trips and unfinished routes.</a:t>
            </a:r>
            <a:endParaRPr lang="en-US" sz="1300" dirty="0"/>
          </a:p>
        </p:txBody>
      </p:sp>
      <p:sp>
        <p:nvSpPr>
          <p:cNvPr id="23" name="Shape 20"/>
          <p:cNvSpPr/>
          <p:nvPr/>
        </p:nvSpPr>
        <p:spPr>
          <a:xfrm>
            <a:off x="8385048" y="3694176"/>
            <a:ext cx="3456432" cy="987552"/>
          </a:xfrm>
          <a:prstGeom prst="roundRect">
            <a:avLst>
              <a:gd name="adj" fmla="val 7407"/>
            </a:avLst>
          </a:prstGeom>
          <a:solidFill>
            <a:srgbClr val="FBE4E4"/>
          </a:solidFill>
          <a:ln w="10160">
            <a:solidFill>
              <a:srgbClr val="B74444"/>
            </a:solidFill>
            <a:prstDash val="solid"/>
          </a:ln>
        </p:spPr>
      </p:sp>
      <p:sp>
        <p:nvSpPr>
          <p:cNvPr id="24" name="Shape 21"/>
          <p:cNvSpPr/>
          <p:nvPr/>
        </p:nvSpPr>
        <p:spPr>
          <a:xfrm>
            <a:off x="8385048" y="3694176"/>
            <a:ext cx="73152" cy="987552"/>
          </a:xfrm>
          <a:prstGeom prst="rect">
            <a:avLst/>
          </a:prstGeom>
          <a:solidFill>
            <a:srgbClr val="B74444"/>
          </a:solidFill>
          <a:ln w="12700">
            <a:solidFill>
              <a:srgbClr val="B74444"/>
            </a:solidFill>
            <a:prstDash val="solid"/>
          </a:ln>
        </p:spPr>
      </p:sp>
      <p:sp>
        <p:nvSpPr>
          <p:cNvPr id="25" name="Text 22"/>
          <p:cNvSpPr/>
          <p:nvPr/>
        </p:nvSpPr>
        <p:spPr>
          <a:xfrm>
            <a:off x="8549640"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Rejects</a:t>
            </a:r>
            <a:endParaRPr lang="en-US" sz="1300" dirty="0"/>
          </a:p>
        </p:txBody>
      </p:sp>
      <p:sp>
        <p:nvSpPr>
          <p:cNvPr id="26" name="Text 23"/>
          <p:cNvSpPr/>
          <p:nvPr/>
        </p:nvSpPr>
        <p:spPr>
          <a:xfrm>
            <a:off x="8549640" y="4059936"/>
            <a:ext cx="3163824" cy="54864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 faster average with worse P95 trips; deleting unfinished or teleported trips from evaluation.</a:t>
            </a:r>
            <a:endParaRPr lang="en-US" sz="1250" dirty="0"/>
          </a:p>
        </p:txBody>
      </p:sp>
      <p:sp>
        <p:nvSpPr>
          <p:cNvPr id="27" name="Shape 24"/>
          <p:cNvSpPr/>
          <p:nvPr/>
        </p:nvSpPr>
        <p:spPr>
          <a:xfrm>
            <a:off x="4709160" y="4773168"/>
            <a:ext cx="7132320" cy="1664208"/>
          </a:xfrm>
          <a:prstGeom prst="roundRect">
            <a:avLst>
              <a:gd name="adj" fmla="val 4396"/>
            </a:avLst>
          </a:prstGeom>
          <a:solidFill>
            <a:srgbClr val="FFFFFF"/>
          </a:solidFill>
          <a:ln w="10160">
            <a:solidFill>
              <a:srgbClr val="176B87"/>
            </a:solidFill>
            <a:prstDash val="solid"/>
          </a:ln>
        </p:spPr>
      </p:sp>
      <p:sp>
        <p:nvSpPr>
          <p:cNvPr id="28" name="Text 25"/>
          <p:cNvSpPr/>
          <p:nvPr/>
        </p:nvSpPr>
        <p:spPr>
          <a:xfrm>
            <a:off x="4910328" y="4846320"/>
            <a:ext cx="6729984" cy="182880"/>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WHY · EVIDENCE · PROPOSED MEASURE</a:t>
            </a:r>
            <a:endParaRPr lang="en-US" sz="1000" dirty="0"/>
          </a:p>
        </p:txBody>
      </p:sp>
      <p:sp>
        <p:nvSpPr>
          <p:cNvPr id="29" name="Text 26"/>
          <p:cNvSpPr/>
          <p:nvPr/>
        </p:nvSpPr>
        <p:spPr>
          <a:xfrm>
            <a:off x="4910328" y="5047488"/>
            <a:ext cx="6729984"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David makes journey reliability visible: the system must report the bad tail, not only mean travel time.</a:t>
            </a:r>
            <a:endParaRPr lang="en-US" sz="1300" dirty="0"/>
          </a:p>
        </p:txBody>
      </p:sp>
      <p:sp>
        <p:nvSpPr>
          <p:cNvPr id="30" name="Text 27"/>
          <p:cNvSpPr/>
          <p:nvPr/>
        </p:nvSpPr>
        <p:spPr>
          <a:xfrm>
            <a:off x="4910328" y="5449824"/>
            <a:ext cx="6729984" cy="475488"/>
          </a:xfrm>
          <a:prstGeom prst="rect">
            <a:avLst/>
          </a:prstGeom>
          <a:noFill/>
          <a:ln/>
        </p:spPr>
        <p:txBody>
          <a:bodyPr wrap="square" lIns="762" tIns="762" rIns="762" bIns="762" rtlCol="0" anchor="t">
            <a:normAutofit/>
          </a:bodyPr>
          <a:lstStyle/>
          <a:p>
            <a:pPr indent="0" marL="0">
              <a:buNone/>
            </a:pPr>
            <a:r>
              <a:rPr lang="en-US" sz="1200" dirty="0">
                <a:solidFill>
                  <a:srgbClr val="4E6878"/>
                </a:solidFill>
                <a:latin typeface="Aptos" pitchFamily="34" charset="0"/>
                <a:ea typeface="Aptos" pitchFamily="34" charset="-122"/>
                <a:cs typeface="Aptos" pitchFamily="34" charset="-120"/>
              </a:rPr>
              <a:t>DfT TAG uses 0.4 as an appraisal reliability ratio for car/non-freight LGV journey-time variability. [C05]</a:t>
            </a:r>
            <a:endParaRPr lang="en-US" sz="1200" dirty="0"/>
          </a:p>
        </p:txBody>
      </p:sp>
      <p:sp>
        <p:nvSpPr>
          <p:cNvPr id="31" name="Text 28"/>
          <p:cNvSpPr/>
          <p:nvPr/>
        </p:nvSpPr>
        <p:spPr>
          <a:xfrm>
            <a:off x="4910328" y="5943600"/>
            <a:ext cx="6729984" cy="384048"/>
          </a:xfrm>
          <a:prstGeom prst="rect">
            <a:avLst/>
          </a:prstGeom>
          <a:noFill/>
          <a:ln/>
        </p:spPr>
        <p:txBody>
          <a:bodyPr wrap="square" lIns="762" tIns="762" rIns="762" bIns="762" rtlCol="0" anchor="t">
            <a:normAutofit/>
          </a:bodyPr>
          <a:lstStyle/>
          <a:p>
            <a:pPr indent="0" marL="0">
              <a:buNone/>
            </a:pPr>
            <a:r>
              <a:rPr lang="en-US" sz="1200" i="1" dirty="0">
                <a:solidFill>
                  <a:srgbClr val="CF7B1B"/>
                </a:solidFill>
                <a:latin typeface="Aptos" pitchFamily="34" charset="0"/>
                <a:ea typeface="Aptos" pitchFamily="34" charset="-122"/>
                <a:cs typeface="Aptos" pitchFamily="34" charset="-120"/>
              </a:rPr>
              <a:t>Target, not a result: Completed and unfinished trips, P95/max duration, stops per vehicle, standstill time and teleports.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p:bgPr>
    </p:bg>
    <p:spTree>
      <p:nvGrpSpPr>
        <p:cNvPr id="1" name=""/>
        <p:cNvGrpSpPr/>
        <p:nvPr/>
      </p:nvGrpSpPr>
      <p:grpSpPr>
        <a:xfrm>
          <a:off x="0" y="0"/>
          <a:ext cx="0" cy="0"/>
          <a:chOff x="0" y="0"/>
          <a:chExt cx="0" cy="0"/>
        </a:xfrm>
      </p:grpSpPr>
      <p:pic>
        <p:nvPicPr>
          <p:cNvPr id="2" name="Image 0" descr="C:\Users\dell\Downloads\sumo\docs\presentation\personas\p3-chidi.png">    </p:cNvPr>
          <p:cNvPicPr>
            <a:picLocks noChangeAspect="1"/>
          </p:cNvPicPr>
          <p:nvPr/>
        </p:nvPicPr>
        <p:blipFill>
          <a:blip r:embed="rId1"/>
          <a:srcRect l="0" r="0" t="0" b="0"/>
          <a:stretch/>
        </p:blipFill>
        <p:spPr>
          <a:xfrm>
            <a:off x="0" y="0"/>
            <a:ext cx="4434840" cy="6858000"/>
          </a:xfrm>
          <a:prstGeom prst="rect">
            <a:avLst/>
          </a:prstGeom>
        </p:spPr>
      </p:pic>
      <p:sp>
        <p:nvSpPr>
          <p:cNvPr id="3" name="Shape 0"/>
          <p:cNvSpPr/>
          <p:nvPr/>
        </p:nvSpPr>
        <p:spPr>
          <a:xfrm>
            <a:off x="0" y="5074920"/>
            <a:ext cx="4434840" cy="1783080"/>
          </a:xfrm>
          <a:prstGeom prst="rect">
            <a:avLst/>
          </a:prstGeom>
          <a:solidFill>
            <a:srgbClr val="0B2239"/>
          </a:solidFill>
          <a:ln w="12700">
            <a:solidFill>
              <a:srgbClr val="0B2239"/>
            </a:solidFill>
            <a:prstDash val="solid"/>
          </a:ln>
        </p:spPr>
      </p:sp>
      <p:sp>
        <p:nvSpPr>
          <p:cNvPr id="4" name="Text 1"/>
          <p:cNvSpPr/>
          <p:nvPr/>
        </p:nvSpPr>
        <p:spPr>
          <a:xfrm>
            <a:off x="256032" y="5193792"/>
            <a:ext cx="3931920" cy="256032"/>
          </a:xfrm>
          <a:prstGeom prst="rect">
            <a:avLst/>
          </a:prstGeom>
          <a:noFill/>
          <a:ln/>
        </p:spPr>
        <p:txBody>
          <a:bodyPr wrap="square" lIns="762" tIns="762" rIns="762" bIns="762" rtlCol="0" anchor="ctr">
            <a:normAutofit/>
          </a:bodyPr>
          <a:lstStyle/>
          <a:p>
            <a:pPr indent="0" marL="0">
              <a:buNone/>
            </a:pPr>
            <a:r>
              <a:rPr lang="en-US" sz="1300" b="1" spc="80" kern="0" dirty="0">
                <a:solidFill>
                  <a:srgbClr val="7FE0D7"/>
                </a:solidFill>
                <a:latin typeface="Aptos" pitchFamily="34" charset="0"/>
                <a:ea typeface="Aptos" pitchFamily="34" charset="-122"/>
                <a:cs typeface="Aptos" pitchFamily="34" charset="-120"/>
              </a:rPr>
              <a:t>P3  ·  27</a:t>
            </a:r>
            <a:endParaRPr lang="en-US" sz="1300" dirty="0"/>
          </a:p>
        </p:txBody>
      </p:sp>
      <p:sp>
        <p:nvSpPr>
          <p:cNvPr id="5" name="Text 2"/>
          <p:cNvSpPr/>
          <p:nvPr/>
        </p:nvSpPr>
        <p:spPr>
          <a:xfrm>
            <a:off x="256032" y="5449824"/>
            <a:ext cx="3931920" cy="438912"/>
          </a:xfrm>
          <a:prstGeom prst="rect">
            <a:avLst/>
          </a:prstGeom>
          <a:noFill/>
          <a:ln/>
        </p:spPr>
        <p:txBody>
          <a:bodyPr wrap="square" lIns="762" tIns="762" rIns="762" bIns="762"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Chidi</a:t>
            </a:r>
            <a:endParaRPr lang="en-US" sz="3200" dirty="0"/>
          </a:p>
        </p:txBody>
      </p:sp>
      <p:sp>
        <p:nvSpPr>
          <p:cNvPr id="6" name="Text 3"/>
          <p:cNvSpPr/>
          <p:nvPr/>
        </p:nvSpPr>
        <p:spPr>
          <a:xfrm>
            <a:off x="256032" y="5907024"/>
            <a:ext cx="3931920" cy="292608"/>
          </a:xfrm>
          <a:prstGeom prst="rect">
            <a:avLst/>
          </a:prstGeom>
          <a:noFill/>
          <a:ln/>
        </p:spPr>
        <p:txBody>
          <a:bodyPr wrap="square" lIns="762" tIns="762" rIns="762" bIns="762" rtlCol="0" anchor="ctr">
            <a:normAutofit/>
          </a:bodyPr>
          <a:lstStyle/>
          <a:p>
            <a:pPr indent="0" marL="0">
              <a:buNone/>
            </a:pPr>
            <a:r>
              <a:rPr lang="en-US" sz="1400" dirty="0">
                <a:solidFill>
                  <a:srgbClr val="B9DCE7"/>
                </a:solidFill>
                <a:latin typeface="Aptos" pitchFamily="34" charset="0"/>
                <a:ea typeface="Aptos" pitchFamily="34" charset="-122"/>
                <a:cs typeface="Aptos" pitchFamily="34" charset="-120"/>
              </a:rPr>
              <a:t>Frequent bus passenger</a:t>
            </a:r>
            <a:endParaRPr lang="en-US" sz="1400" dirty="0"/>
          </a:p>
        </p:txBody>
      </p:sp>
      <p:sp>
        <p:nvSpPr>
          <p:cNvPr id="7" name="Text 4"/>
          <p:cNvSpPr/>
          <p:nvPr/>
        </p:nvSpPr>
        <p:spPr>
          <a:xfrm>
            <a:off x="256032" y="6291072"/>
            <a:ext cx="3931920" cy="256032"/>
          </a:xfrm>
          <a:prstGeom prst="rect">
            <a:avLst/>
          </a:prstGeom>
          <a:noFill/>
          <a:ln/>
        </p:spPr>
        <p:txBody>
          <a:bodyPr wrap="square" lIns="762" tIns="762" rIns="762" bIns="762" rtlCol="0" anchor="ctr">
            <a:normAutofit/>
          </a:bodyPr>
          <a:lstStyle/>
          <a:p>
            <a:pPr indent="0" marL="0">
              <a:buNone/>
            </a:pPr>
            <a:r>
              <a:rPr lang="en-US" sz="1100" i="1" dirty="0">
                <a:solidFill>
                  <a:srgbClr val="7896A8"/>
                </a:solidFill>
                <a:latin typeface="Aptos" pitchFamily="34" charset="0"/>
                <a:ea typeface="Aptos" pitchFamily="34" charset="-122"/>
                <a:cs typeface="Aptos" pitchFamily="34" charset="-120"/>
              </a:rPr>
              <a:t>Illustration · not a real stakeholder</a:t>
            </a:r>
            <a:endParaRPr lang="en-US" sz="1100" dirty="0"/>
          </a:p>
        </p:txBody>
      </p:sp>
      <p:sp>
        <p:nvSpPr>
          <p:cNvPr id="8" name="Shape 5"/>
          <p:cNvSpPr/>
          <p:nvPr/>
        </p:nvSpPr>
        <p:spPr>
          <a:xfrm>
            <a:off x="4709160" y="256032"/>
            <a:ext cx="141732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4745736" y="269748"/>
            <a:ext cx="134416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10" name="Text 7"/>
          <p:cNvSpPr/>
          <p:nvPr/>
        </p:nvSpPr>
        <p:spPr>
          <a:xfrm>
            <a:off x="4709160" y="621792"/>
            <a:ext cx="7132320" cy="384048"/>
          </a:xfrm>
          <a:prstGeom prst="rect">
            <a:avLst/>
          </a:prstGeom>
          <a:noFill/>
          <a:ln/>
        </p:spPr>
        <p:txBody>
          <a:bodyPr wrap="square" lIns="762" tIns="762" rIns="762" bIns="762" rtlCol="0" anchor="ctr">
            <a:normAutofit/>
          </a:bodyPr>
          <a:lstStyle/>
          <a:p>
            <a:pPr indent="0" marL="0">
              <a:buNone/>
            </a:pPr>
            <a:r>
              <a:rPr lang="en-US" sz="2400" b="1" dirty="0">
                <a:solidFill>
                  <a:srgbClr val="0B2239"/>
                </a:solidFill>
                <a:latin typeface="Aptos Display" pitchFamily="34" charset="0"/>
                <a:ea typeface="Aptos Display" pitchFamily="34" charset="-122"/>
                <a:cs typeface="Aptos Display" pitchFamily="34" charset="-120"/>
              </a:rPr>
              <a:t>Persona 3 — Chidi</a:t>
            </a:r>
            <a:endParaRPr lang="en-US" sz="2400" dirty="0"/>
          </a:p>
        </p:txBody>
      </p:sp>
      <p:sp>
        <p:nvSpPr>
          <p:cNvPr id="11" name="Text 8"/>
          <p:cNvSpPr/>
          <p:nvPr/>
        </p:nvSpPr>
        <p:spPr>
          <a:xfrm>
            <a:off x="4709160" y="1024128"/>
            <a:ext cx="7132320" cy="329184"/>
          </a:xfrm>
          <a:prstGeom prst="rect">
            <a:avLst/>
          </a:prstGeom>
          <a:noFill/>
          <a:ln/>
        </p:spPr>
        <p:txBody>
          <a:bodyPr wrap="square" lIns="762" tIns="762" rIns="762" bIns="762" rtlCol="0" anchor="ctr">
            <a:normAutofit/>
          </a:bodyPr>
          <a:lstStyle/>
          <a:p>
            <a:pPr indent="0" marL="0">
              <a:buNone/>
            </a:pPr>
            <a:r>
              <a:rPr lang="en-US" sz="1300" dirty="0">
                <a:solidFill>
                  <a:srgbClr val="4E6878"/>
                </a:solidFill>
                <a:latin typeface="Aptos" pitchFamily="34" charset="0"/>
                <a:ea typeface="Aptos" pitchFamily="34" charset="-122"/>
                <a:cs typeface="Aptos" pitchFamily="34" charset="-120"/>
              </a:rPr>
              <a:t>Uses a high-frequency corridor where regularity is the service. Tunis design context (assumption).</a:t>
            </a:r>
            <a:endParaRPr lang="en-US" sz="1300" dirty="0"/>
          </a:p>
        </p:txBody>
      </p:sp>
      <p:sp>
        <p:nvSpPr>
          <p:cNvPr id="12" name="Shape 9"/>
          <p:cNvSpPr/>
          <p:nvPr/>
        </p:nvSpPr>
        <p:spPr>
          <a:xfrm>
            <a:off x="4709160" y="1444752"/>
            <a:ext cx="7132320" cy="1078992"/>
          </a:xfrm>
          <a:prstGeom prst="roundRect">
            <a:avLst>
              <a:gd name="adj" fmla="val 6780"/>
            </a:avLst>
          </a:prstGeom>
          <a:solidFill>
            <a:srgbClr val="DDEFF5"/>
          </a:solidFill>
          <a:ln w="10160">
            <a:solidFill>
              <a:srgbClr val="2E9BB5"/>
            </a:solidFill>
            <a:prstDash val="solid"/>
          </a:ln>
        </p:spPr>
      </p:sp>
      <p:sp>
        <p:nvSpPr>
          <p:cNvPr id="13" name="Text 10"/>
          <p:cNvSpPr/>
          <p:nvPr/>
        </p:nvSpPr>
        <p:spPr>
          <a:xfrm>
            <a:off x="4910328" y="1536192"/>
            <a:ext cx="6729984" cy="201168"/>
          </a:xfrm>
          <a:prstGeom prst="rect">
            <a:avLst/>
          </a:prstGeom>
          <a:noFill/>
          <a:ln/>
        </p:spPr>
        <p:txBody>
          <a:bodyPr wrap="square" lIns="762" tIns="762" rIns="762" bIns="762" rtlCol="0" anchor="ctr">
            <a:normAutofit/>
          </a:bodyPr>
          <a:lstStyle/>
          <a:p>
            <a:pPr indent="0" marL="0">
              <a:buNone/>
            </a:pPr>
            <a:r>
              <a:rPr lang="en-US" sz="1000" b="1" spc="60" kern="0" dirty="0">
                <a:solidFill>
                  <a:srgbClr val="2E9BB5"/>
                </a:solidFill>
                <a:latin typeface="Aptos" pitchFamily="34" charset="0"/>
                <a:ea typeface="Aptos" pitchFamily="34" charset="-122"/>
                <a:cs typeface="Aptos" pitchFamily="34" charset="-120"/>
              </a:rPr>
              <a:t>DESIGN STATEMENT · NOT AN INTERVIEW QUOTE</a:t>
            </a:r>
            <a:endParaRPr lang="en-US" sz="1000" dirty="0"/>
          </a:p>
        </p:txBody>
      </p:sp>
      <p:sp>
        <p:nvSpPr>
          <p:cNvPr id="14" name="Text 11"/>
          <p:cNvSpPr/>
          <p:nvPr/>
        </p:nvSpPr>
        <p:spPr>
          <a:xfrm>
            <a:off x="4910328" y="1755648"/>
            <a:ext cx="6729984" cy="621792"/>
          </a:xfrm>
          <a:prstGeom prst="rect">
            <a:avLst/>
          </a:prstGeom>
          <a:noFill/>
          <a:ln/>
        </p:spPr>
        <p:txBody>
          <a:bodyPr wrap="square" lIns="762" tIns="762" rIns="762" bIns="762" rtlCol="0" anchor="t">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“Buses should arrive regularly—not three at once after a long wait.”</a:t>
            </a:r>
            <a:endParaRPr lang="en-US" sz="1800" dirty="0"/>
          </a:p>
        </p:txBody>
      </p:sp>
      <p:sp>
        <p:nvSpPr>
          <p:cNvPr id="15" name="Shape 12"/>
          <p:cNvSpPr/>
          <p:nvPr/>
        </p:nvSpPr>
        <p:spPr>
          <a:xfrm>
            <a:off x="4709160" y="2670048"/>
            <a:ext cx="7132320" cy="932688"/>
          </a:xfrm>
          <a:prstGeom prst="roundRect">
            <a:avLst>
              <a:gd name="adj" fmla="val 7843"/>
            </a:avLst>
          </a:prstGeom>
          <a:solidFill>
            <a:srgbClr val="DDF3EC"/>
          </a:solidFill>
          <a:ln w="10160">
            <a:solidFill>
              <a:srgbClr val="2D936C"/>
            </a:solidFill>
            <a:prstDash val="solid"/>
          </a:ln>
        </p:spPr>
      </p:sp>
      <p:sp>
        <p:nvSpPr>
          <p:cNvPr id="16" name="Shape 13"/>
          <p:cNvSpPr/>
          <p:nvPr/>
        </p:nvSpPr>
        <p:spPr>
          <a:xfrm>
            <a:off x="4709160" y="2670048"/>
            <a:ext cx="73152" cy="932688"/>
          </a:xfrm>
          <a:prstGeom prst="rect">
            <a:avLst/>
          </a:prstGeom>
          <a:solidFill>
            <a:srgbClr val="2D936C"/>
          </a:solidFill>
          <a:ln w="12700">
            <a:solidFill>
              <a:srgbClr val="2D936C"/>
            </a:solidFill>
            <a:prstDash val="solid"/>
          </a:ln>
        </p:spPr>
      </p:sp>
      <p:sp>
        <p:nvSpPr>
          <p:cNvPr id="17" name="Text 14"/>
          <p:cNvSpPr/>
          <p:nvPr/>
        </p:nvSpPr>
        <p:spPr>
          <a:xfrm>
            <a:off x="4873752" y="2743200"/>
            <a:ext cx="68397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a:t>
            </a:r>
            <a:endParaRPr lang="en-US" sz="1300" dirty="0"/>
          </a:p>
        </p:txBody>
      </p:sp>
      <p:sp>
        <p:nvSpPr>
          <p:cNvPr id="18" name="Text 15"/>
          <p:cNvSpPr/>
          <p:nvPr/>
        </p:nvSpPr>
        <p:spPr>
          <a:xfrm>
            <a:off x="4873752" y="3035808"/>
            <a:ext cx="6839712" cy="49377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Conditional priority for a late bus or large headway gap—not automatic priority for every bus.</a:t>
            </a:r>
            <a:endParaRPr lang="en-US" sz="1400" dirty="0"/>
          </a:p>
        </p:txBody>
      </p:sp>
      <p:sp>
        <p:nvSpPr>
          <p:cNvPr id="19" name="Shape 16"/>
          <p:cNvSpPr/>
          <p:nvPr/>
        </p:nvSpPr>
        <p:spPr>
          <a:xfrm>
            <a:off x="4709160" y="3694176"/>
            <a:ext cx="3456432" cy="987552"/>
          </a:xfrm>
          <a:prstGeom prst="roundRect">
            <a:avLst>
              <a:gd name="adj" fmla="val 7407"/>
            </a:avLst>
          </a:prstGeom>
          <a:solidFill>
            <a:srgbClr val="FFFFFF"/>
          </a:solidFill>
          <a:ln w="10160">
            <a:solidFill>
              <a:srgbClr val="B74444"/>
            </a:solidFill>
            <a:prstDash val="solid"/>
          </a:ln>
        </p:spPr>
      </p:sp>
      <p:sp>
        <p:nvSpPr>
          <p:cNvPr id="20" name="Shape 17"/>
          <p:cNvSpPr/>
          <p:nvPr/>
        </p:nvSpPr>
        <p:spPr>
          <a:xfrm>
            <a:off x="4709160" y="3694176"/>
            <a:ext cx="73152" cy="987552"/>
          </a:xfrm>
          <a:prstGeom prst="rect">
            <a:avLst/>
          </a:prstGeom>
          <a:solidFill>
            <a:srgbClr val="B74444"/>
          </a:solidFill>
          <a:ln w="12700">
            <a:solidFill>
              <a:srgbClr val="B74444"/>
            </a:solidFill>
            <a:prstDash val="solid"/>
          </a:ln>
        </p:spPr>
      </p:sp>
      <p:sp>
        <p:nvSpPr>
          <p:cNvPr id="21" name="Text 18"/>
          <p:cNvSpPr/>
          <p:nvPr/>
        </p:nvSpPr>
        <p:spPr>
          <a:xfrm>
            <a:off x="4873752"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Fear</a:t>
            </a:r>
            <a:endParaRPr lang="en-US" sz="1300" dirty="0"/>
          </a:p>
        </p:txBody>
      </p:sp>
      <p:sp>
        <p:nvSpPr>
          <p:cNvPr id="22" name="Text 19"/>
          <p:cNvSpPr/>
          <p:nvPr/>
        </p:nvSpPr>
        <p:spPr>
          <a:xfrm>
            <a:off x="4873752" y="4059936"/>
            <a:ext cx="3163824" cy="548640"/>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A long gap is followed by bunched buses. Signal delay compounds lateness and breaks connections.</a:t>
            </a:r>
            <a:endParaRPr lang="en-US" sz="1300" dirty="0"/>
          </a:p>
        </p:txBody>
      </p:sp>
      <p:sp>
        <p:nvSpPr>
          <p:cNvPr id="23" name="Shape 20"/>
          <p:cNvSpPr/>
          <p:nvPr/>
        </p:nvSpPr>
        <p:spPr>
          <a:xfrm>
            <a:off x="8385048" y="3694176"/>
            <a:ext cx="3456432" cy="987552"/>
          </a:xfrm>
          <a:prstGeom prst="roundRect">
            <a:avLst>
              <a:gd name="adj" fmla="val 7407"/>
            </a:avLst>
          </a:prstGeom>
          <a:solidFill>
            <a:srgbClr val="FBE4E4"/>
          </a:solidFill>
          <a:ln w="10160">
            <a:solidFill>
              <a:srgbClr val="B74444"/>
            </a:solidFill>
            <a:prstDash val="solid"/>
          </a:ln>
        </p:spPr>
      </p:sp>
      <p:sp>
        <p:nvSpPr>
          <p:cNvPr id="24" name="Shape 21"/>
          <p:cNvSpPr/>
          <p:nvPr/>
        </p:nvSpPr>
        <p:spPr>
          <a:xfrm>
            <a:off x="8385048" y="3694176"/>
            <a:ext cx="73152" cy="987552"/>
          </a:xfrm>
          <a:prstGeom prst="rect">
            <a:avLst/>
          </a:prstGeom>
          <a:solidFill>
            <a:srgbClr val="B74444"/>
          </a:solidFill>
          <a:ln w="12700">
            <a:solidFill>
              <a:srgbClr val="B74444"/>
            </a:solidFill>
            <a:prstDash val="solid"/>
          </a:ln>
        </p:spPr>
      </p:sp>
      <p:sp>
        <p:nvSpPr>
          <p:cNvPr id="25" name="Text 22"/>
          <p:cNvSpPr/>
          <p:nvPr/>
        </p:nvSpPr>
        <p:spPr>
          <a:xfrm>
            <a:off x="8549640"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Rejects</a:t>
            </a:r>
            <a:endParaRPr lang="en-US" sz="1300" dirty="0"/>
          </a:p>
        </p:txBody>
      </p:sp>
      <p:sp>
        <p:nvSpPr>
          <p:cNvPr id="26" name="Text 23"/>
          <p:cNvSpPr/>
          <p:nvPr/>
        </p:nvSpPr>
        <p:spPr>
          <a:xfrm>
            <a:off x="8549640" y="4059936"/>
            <a:ext cx="3163824" cy="54864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Unconditional bus priority; cutting pedestrian clearance; measuring only bus travel time.</a:t>
            </a:r>
            <a:endParaRPr lang="en-US" sz="1250" dirty="0"/>
          </a:p>
        </p:txBody>
      </p:sp>
      <p:sp>
        <p:nvSpPr>
          <p:cNvPr id="27" name="Shape 24"/>
          <p:cNvSpPr/>
          <p:nvPr/>
        </p:nvSpPr>
        <p:spPr>
          <a:xfrm>
            <a:off x="4709160" y="4773168"/>
            <a:ext cx="7132320" cy="1664208"/>
          </a:xfrm>
          <a:prstGeom prst="roundRect">
            <a:avLst>
              <a:gd name="adj" fmla="val 4396"/>
            </a:avLst>
          </a:prstGeom>
          <a:solidFill>
            <a:srgbClr val="FFFFFF"/>
          </a:solidFill>
          <a:ln w="10160">
            <a:solidFill>
              <a:srgbClr val="176B87"/>
            </a:solidFill>
            <a:prstDash val="solid"/>
          </a:ln>
        </p:spPr>
      </p:sp>
      <p:sp>
        <p:nvSpPr>
          <p:cNvPr id="28" name="Text 25"/>
          <p:cNvSpPr/>
          <p:nvPr/>
        </p:nvSpPr>
        <p:spPr>
          <a:xfrm>
            <a:off x="4910328" y="4846320"/>
            <a:ext cx="6729984" cy="182880"/>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WHY · EVIDENCE · PROPOSED MEASURE</a:t>
            </a:r>
            <a:endParaRPr lang="en-US" sz="1000" dirty="0"/>
          </a:p>
        </p:txBody>
      </p:sp>
      <p:sp>
        <p:nvSpPr>
          <p:cNvPr id="29" name="Text 26"/>
          <p:cNvSpPr/>
          <p:nvPr/>
        </p:nvSpPr>
        <p:spPr>
          <a:xfrm>
            <a:off x="4910328" y="5047488"/>
            <a:ext cx="6729984"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Chidi represents passengers for whom headway regularity and waiting matter more than one bus moving slightly faster.</a:t>
            </a:r>
            <a:endParaRPr lang="en-US" sz="1300" dirty="0"/>
          </a:p>
        </p:txBody>
      </p:sp>
      <p:sp>
        <p:nvSpPr>
          <p:cNvPr id="30" name="Text 27"/>
          <p:cNvSpPr/>
          <p:nvPr/>
        </p:nvSpPr>
        <p:spPr>
          <a:xfrm>
            <a:off x="4910328" y="5449824"/>
            <a:ext cx="6729984" cy="475488"/>
          </a:xfrm>
          <a:prstGeom prst="rect">
            <a:avLst/>
          </a:prstGeom>
          <a:noFill/>
          <a:ln/>
        </p:spPr>
        <p:txBody>
          <a:bodyPr wrap="square" lIns="762" tIns="762" rIns="762" bIns="762" rtlCol="0" anchor="t">
            <a:normAutofit/>
          </a:bodyPr>
          <a:lstStyle/>
          <a:p>
            <a:pPr indent="0" marL="0">
              <a:buNone/>
            </a:pPr>
            <a:r>
              <a:rPr lang="en-US" sz="1200" dirty="0">
                <a:solidFill>
                  <a:srgbClr val="4E6878"/>
                </a:solidFill>
                <a:latin typeface="Aptos" pitchFamily="34" charset="0"/>
                <a:ea typeface="Aptos" pitchFamily="34" charset="-122"/>
                <a:cs typeface="Aptos" pitchFamily="34" charset="-120"/>
              </a:rPr>
              <a:t>DfT TAG applies a 2x value-of-time multiplier to public-transport waiting. Bunching evidence motivates headway measures. [C05]</a:t>
            </a:r>
            <a:endParaRPr lang="en-US" sz="1200" dirty="0"/>
          </a:p>
        </p:txBody>
      </p:sp>
      <p:sp>
        <p:nvSpPr>
          <p:cNvPr id="31" name="Text 28"/>
          <p:cNvSpPr/>
          <p:nvPr/>
        </p:nvSpPr>
        <p:spPr>
          <a:xfrm>
            <a:off x="4910328" y="5943600"/>
            <a:ext cx="6729984" cy="384048"/>
          </a:xfrm>
          <a:prstGeom prst="rect">
            <a:avLst/>
          </a:prstGeom>
          <a:noFill/>
          <a:ln/>
        </p:spPr>
        <p:txBody>
          <a:bodyPr wrap="square" lIns="762" tIns="762" rIns="762" bIns="762" rtlCol="0" anchor="t">
            <a:normAutofit/>
          </a:bodyPr>
          <a:lstStyle/>
          <a:p>
            <a:pPr indent="0" marL="0">
              <a:buNone/>
            </a:pPr>
            <a:r>
              <a:rPr lang="en-US" sz="1200" i="1" dirty="0">
                <a:solidFill>
                  <a:srgbClr val="CF7B1B"/>
                </a:solidFill>
                <a:latin typeface="Aptos" pitchFamily="34" charset="0"/>
                <a:ea typeface="Aptos" pitchFamily="34" charset="-122"/>
                <a:cs typeface="Aptos" pitchFamily="34" charset="-120"/>
              </a:rPr>
              <a:t>Target, not a result: Lateness, headway variation, passenger waiting proxy and externality to other traffic.</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p:bgPr>
    </p:bg>
    <p:spTree>
      <p:nvGrpSpPr>
        <p:cNvPr id="1" name=""/>
        <p:cNvGrpSpPr/>
        <p:nvPr/>
      </p:nvGrpSpPr>
      <p:grpSpPr>
        <a:xfrm>
          <a:off x="0" y="0"/>
          <a:ext cx="0" cy="0"/>
          <a:chOff x="0" y="0"/>
          <a:chExt cx="0" cy="0"/>
        </a:xfrm>
      </p:grpSpPr>
      <p:pic>
        <p:nvPicPr>
          <p:cNvPr id="2" name="Image 0" descr="C:\Users\dell\Downloads\sumo\docs\presentation\personas\p4-rosa.png">    </p:cNvPr>
          <p:cNvPicPr>
            <a:picLocks noChangeAspect="1"/>
          </p:cNvPicPr>
          <p:nvPr/>
        </p:nvPicPr>
        <p:blipFill>
          <a:blip r:embed="rId1"/>
          <a:srcRect l="0" r="0" t="0" b="0"/>
          <a:stretch/>
        </p:blipFill>
        <p:spPr>
          <a:xfrm>
            <a:off x="0" y="0"/>
            <a:ext cx="4434840" cy="6858000"/>
          </a:xfrm>
          <a:prstGeom prst="rect">
            <a:avLst/>
          </a:prstGeom>
        </p:spPr>
      </p:pic>
      <p:sp>
        <p:nvSpPr>
          <p:cNvPr id="3" name="Shape 0"/>
          <p:cNvSpPr/>
          <p:nvPr/>
        </p:nvSpPr>
        <p:spPr>
          <a:xfrm>
            <a:off x="0" y="5074920"/>
            <a:ext cx="4434840" cy="1783080"/>
          </a:xfrm>
          <a:prstGeom prst="rect">
            <a:avLst/>
          </a:prstGeom>
          <a:solidFill>
            <a:srgbClr val="0B2239"/>
          </a:solidFill>
          <a:ln w="12700">
            <a:solidFill>
              <a:srgbClr val="0B2239"/>
            </a:solidFill>
            <a:prstDash val="solid"/>
          </a:ln>
        </p:spPr>
      </p:sp>
      <p:sp>
        <p:nvSpPr>
          <p:cNvPr id="4" name="Text 1"/>
          <p:cNvSpPr/>
          <p:nvPr/>
        </p:nvSpPr>
        <p:spPr>
          <a:xfrm>
            <a:off x="256032" y="5193792"/>
            <a:ext cx="3931920" cy="256032"/>
          </a:xfrm>
          <a:prstGeom prst="rect">
            <a:avLst/>
          </a:prstGeom>
          <a:noFill/>
          <a:ln/>
        </p:spPr>
        <p:txBody>
          <a:bodyPr wrap="square" lIns="762" tIns="762" rIns="762" bIns="762" rtlCol="0" anchor="ctr">
            <a:normAutofit/>
          </a:bodyPr>
          <a:lstStyle/>
          <a:p>
            <a:pPr indent="0" marL="0">
              <a:buNone/>
            </a:pPr>
            <a:r>
              <a:rPr lang="en-US" sz="1300" b="1" spc="80" kern="0" dirty="0">
                <a:solidFill>
                  <a:srgbClr val="7FE0D7"/>
                </a:solidFill>
                <a:latin typeface="Aptos" pitchFamily="34" charset="0"/>
                <a:ea typeface="Aptos" pitchFamily="34" charset="-122"/>
                <a:cs typeface="Aptos" pitchFamily="34" charset="-120"/>
              </a:rPr>
              <a:t>P4  ·  52</a:t>
            </a:r>
            <a:endParaRPr lang="en-US" sz="1300" dirty="0"/>
          </a:p>
        </p:txBody>
      </p:sp>
      <p:sp>
        <p:nvSpPr>
          <p:cNvPr id="5" name="Text 2"/>
          <p:cNvSpPr/>
          <p:nvPr/>
        </p:nvSpPr>
        <p:spPr>
          <a:xfrm>
            <a:off x="256032" y="5449824"/>
            <a:ext cx="3931920" cy="438912"/>
          </a:xfrm>
          <a:prstGeom prst="rect">
            <a:avLst/>
          </a:prstGeom>
          <a:noFill/>
          <a:ln/>
        </p:spPr>
        <p:txBody>
          <a:bodyPr wrap="square" lIns="762" tIns="762" rIns="762" bIns="762"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Rosa</a:t>
            </a:r>
            <a:endParaRPr lang="en-US" sz="3200" dirty="0"/>
          </a:p>
        </p:txBody>
      </p:sp>
      <p:sp>
        <p:nvSpPr>
          <p:cNvPr id="6" name="Text 3"/>
          <p:cNvSpPr/>
          <p:nvPr/>
        </p:nvSpPr>
        <p:spPr>
          <a:xfrm>
            <a:off x="256032" y="5907024"/>
            <a:ext cx="3931920" cy="292608"/>
          </a:xfrm>
          <a:prstGeom prst="rect">
            <a:avLst/>
          </a:prstGeom>
          <a:noFill/>
          <a:ln/>
        </p:spPr>
        <p:txBody>
          <a:bodyPr wrap="square" lIns="762" tIns="762" rIns="762" bIns="762" rtlCol="0" anchor="ctr">
            <a:normAutofit/>
          </a:bodyPr>
          <a:lstStyle/>
          <a:p>
            <a:pPr indent="0" marL="0">
              <a:buNone/>
            </a:pPr>
            <a:r>
              <a:rPr lang="en-US" sz="1400" dirty="0">
                <a:solidFill>
                  <a:srgbClr val="B9DCE7"/>
                </a:solidFill>
                <a:latin typeface="Aptos" pitchFamily="34" charset="0"/>
                <a:ea typeface="Aptos" pitchFamily="34" charset="-122"/>
                <a:cs typeface="Aptos" pitchFamily="34" charset="-120"/>
              </a:rPr>
              <a:t>Bus depot controller</a:t>
            </a:r>
            <a:endParaRPr lang="en-US" sz="1400" dirty="0"/>
          </a:p>
        </p:txBody>
      </p:sp>
      <p:sp>
        <p:nvSpPr>
          <p:cNvPr id="7" name="Text 4"/>
          <p:cNvSpPr/>
          <p:nvPr/>
        </p:nvSpPr>
        <p:spPr>
          <a:xfrm>
            <a:off x="256032" y="6291072"/>
            <a:ext cx="3931920" cy="256032"/>
          </a:xfrm>
          <a:prstGeom prst="rect">
            <a:avLst/>
          </a:prstGeom>
          <a:noFill/>
          <a:ln/>
        </p:spPr>
        <p:txBody>
          <a:bodyPr wrap="square" lIns="762" tIns="762" rIns="762" bIns="762" rtlCol="0" anchor="ctr">
            <a:normAutofit/>
          </a:bodyPr>
          <a:lstStyle/>
          <a:p>
            <a:pPr indent="0" marL="0">
              <a:buNone/>
            </a:pPr>
            <a:r>
              <a:rPr lang="en-US" sz="1100" i="1" dirty="0">
                <a:solidFill>
                  <a:srgbClr val="7896A8"/>
                </a:solidFill>
                <a:latin typeface="Aptos" pitchFamily="34" charset="0"/>
                <a:ea typeface="Aptos" pitchFamily="34" charset="-122"/>
                <a:cs typeface="Aptos" pitchFamily="34" charset="-120"/>
              </a:rPr>
              <a:t>Illustration · not a real stakeholder</a:t>
            </a:r>
            <a:endParaRPr lang="en-US" sz="1100" dirty="0"/>
          </a:p>
        </p:txBody>
      </p:sp>
      <p:sp>
        <p:nvSpPr>
          <p:cNvPr id="8" name="Shape 5"/>
          <p:cNvSpPr/>
          <p:nvPr/>
        </p:nvSpPr>
        <p:spPr>
          <a:xfrm>
            <a:off x="4709160" y="256032"/>
            <a:ext cx="141732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4745736" y="269748"/>
            <a:ext cx="134416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10" name="Text 7"/>
          <p:cNvSpPr/>
          <p:nvPr/>
        </p:nvSpPr>
        <p:spPr>
          <a:xfrm>
            <a:off x="4709160" y="621792"/>
            <a:ext cx="7132320" cy="384048"/>
          </a:xfrm>
          <a:prstGeom prst="rect">
            <a:avLst/>
          </a:prstGeom>
          <a:noFill/>
          <a:ln/>
        </p:spPr>
        <p:txBody>
          <a:bodyPr wrap="square" lIns="762" tIns="762" rIns="762" bIns="762" rtlCol="0" anchor="ctr">
            <a:normAutofit/>
          </a:bodyPr>
          <a:lstStyle/>
          <a:p>
            <a:pPr indent="0" marL="0">
              <a:buNone/>
            </a:pPr>
            <a:r>
              <a:rPr lang="en-US" sz="2400" b="1" dirty="0">
                <a:solidFill>
                  <a:srgbClr val="0B2239"/>
                </a:solidFill>
                <a:latin typeface="Aptos Display" pitchFamily="34" charset="0"/>
                <a:ea typeface="Aptos Display" pitchFamily="34" charset="-122"/>
                <a:cs typeface="Aptos Display" pitchFamily="34" charset="-120"/>
              </a:rPr>
              <a:t>Persona 4 — Rosa</a:t>
            </a:r>
            <a:endParaRPr lang="en-US" sz="2400" dirty="0"/>
          </a:p>
        </p:txBody>
      </p:sp>
      <p:sp>
        <p:nvSpPr>
          <p:cNvPr id="11" name="Text 8"/>
          <p:cNvSpPr/>
          <p:nvPr/>
        </p:nvSpPr>
        <p:spPr>
          <a:xfrm>
            <a:off x="4709160" y="1024128"/>
            <a:ext cx="7132320" cy="329184"/>
          </a:xfrm>
          <a:prstGeom prst="rect">
            <a:avLst/>
          </a:prstGeom>
          <a:noFill/>
          <a:ln/>
        </p:spPr>
        <p:txBody>
          <a:bodyPr wrap="square" lIns="762" tIns="762" rIns="762" bIns="762" rtlCol="0" anchor="ctr">
            <a:normAutofit/>
          </a:bodyPr>
          <a:lstStyle/>
          <a:p>
            <a:pPr indent="0" marL="0">
              <a:buNone/>
            </a:pPr>
            <a:r>
              <a:rPr lang="en-US" sz="1300" dirty="0">
                <a:solidFill>
                  <a:srgbClr val="4E6878"/>
                </a:solidFill>
                <a:latin typeface="Aptos" pitchFamily="34" charset="0"/>
                <a:ea typeface="Aptos" pitchFamily="34" charset="-122"/>
                <a:cs typeface="Aptos" pitchFamily="34" charset="-120"/>
              </a:rPr>
              <a:t>Supervises bus operations and disruption. Tunis design context (assumption).</a:t>
            </a:r>
            <a:endParaRPr lang="en-US" sz="1300" dirty="0"/>
          </a:p>
        </p:txBody>
      </p:sp>
      <p:sp>
        <p:nvSpPr>
          <p:cNvPr id="12" name="Shape 9"/>
          <p:cNvSpPr/>
          <p:nvPr/>
        </p:nvSpPr>
        <p:spPr>
          <a:xfrm>
            <a:off x="4709160" y="1444752"/>
            <a:ext cx="7132320" cy="1078992"/>
          </a:xfrm>
          <a:prstGeom prst="roundRect">
            <a:avLst>
              <a:gd name="adj" fmla="val 6780"/>
            </a:avLst>
          </a:prstGeom>
          <a:solidFill>
            <a:srgbClr val="DDEFF5"/>
          </a:solidFill>
          <a:ln w="10160">
            <a:solidFill>
              <a:srgbClr val="CF7B1B"/>
            </a:solidFill>
            <a:prstDash val="solid"/>
          </a:ln>
        </p:spPr>
      </p:sp>
      <p:sp>
        <p:nvSpPr>
          <p:cNvPr id="13" name="Text 10"/>
          <p:cNvSpPr/>
          <p:nvPr/>
        </p:nvSpPr>
        <p:spPr>
          <a:xfrm>
            <a:off x="4910328" y="1536192"/>
            <a:ext cx="6729984" cy="201168"/>
          </a:xfrm>
          <a:prstGeom prst="rect">
            <a:avLst/>
          </a:prstGeom>
          <a:noFill/>
          <a:ln/>
        </p:spPr>
        <p:txBody>
          <a:bodyPr wrap="square" lIns="762" tIns="762" rIns="762" bIns="762" rtlCol="0" anchor="ctr">
            <a:normAutofit/>
          </a:bodyPr>
          <a:lstStyle/>
          <a:p>
            <a:pPr indent="0" marL="0">
              <a:buNone/>
            </a:pPr>
            <a:r>
              <a:rPr lang="en-US" sz="1000" b="1" spc="60" kern="0" dirty="0">
                <a:solidFill>
                  <a:srgbClr val="CF7B1B"/>
                </a:solidFill>
                <a:latin typeface="Aptos" pitchFamily="34" charset="0"/>
                <a:ea typeface="Aptos" pitchFamily="34" charset="-122"/>
                <a:cs typeface="Aptos" pitchFamily="34" charset="-120"/>
              </a:rPr>
              <a:t>DESIGN STATEMENT · NOT AN INTERVIEW QUOTE</a:t>
            </a:r>
            <a:endParaRPr lang="en-US" sz="1000" dirty="0"/>
          </a:p>
        </p:txBody>
      </p:sp>
      <p:sp>
        <p:nvSpPr>
          <p:cNvPr id="14" name="Text 11"/>
          <p:cNvSpPr/>
          <p:nvPr/>
        </p:nvSpPr>
        <p:spPr>
          <a:xfrm>
            <a:off x="4910328" y="1755648"/>
            <a:ext cx="6729984" cy="621792"/>
          </a:xfrm>
          <a:prstGeom prst="rect">
            <a:avLst/>
          </a:prstGeom>
          <a:noFill/>
          <a:ln/>
        </p:spPr>
        <p:txBody>
          <a:bodyPr wrap="square" lIns="762" tIns="762" rIns="762" bIns="762" rtlCol="0" anchor="t">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“Show me why priority was granted or denied, and let me respond safely.”</a:t>
            </a:r>
            <a:endParaRPr lang="en-US" sz="1800" dirty="0"/>
          </a:p>
        </p:txBody>
      </p:sp>
      <p:sp>
        <p:nvSpPr>
          <p:cNvPr id="15" name="Shape 12"/>
          <p:cNvSpPr/>
          <p:nvPr/>
        </p:nvSpPr>
        <p:spPr>
          <a:xfrm>
            <a:off x="4709160" y="2670048"/>
            <a:ext cx="7132320" cy="932688"/>
          </a:xfrm>
          <a:prstGeom prst="roundRect">
            <a:avLst>
              <a:gd name="adj" fmla="val 7843"/>
            </a:avLst>
          </a:prstGeom>
          <a:solidFill>
            <a:srgbClr val="DDF3EC"/>
          </a:solidFill>
          <a:ln w="10160">
            <a:solidFill>
              <a:srgbClr val="2D936C"/>
            </a:solidFill>
            <a:prstDash val="solid"/>
          </a:ln>
        </p:spPr>
      </p:sp>
      <p:sp>
        <p:nvSpPr>
          <p:cNvPr id="16" name="Shape 13"/>
          <p:cNvSpPr/>
          <p:nvPr/>
        </p:nvSpPr>
        <p:spPr>
          <a:xfrm>
            <a:off x="4709160" y="2670048"/>
            <a:ext cx="73152" cy="932688"/>
          </a:xfrm>
          <a:prstGeom prst="rect">
            <a:avLst/>
          </a:prstGeom>
          <a:solidFill>
            <a:srgbClr val="2D936C"/>
          </a:solidFill>
          <a:ln w="12700">
            <a:solidFill>
              <a:srgbClr val="2D936C"/>
            </a:solidFill>
            <a:prstDash val="solid"/>
          </a:ln>
        </p:spPr>
      </p:sp>
      <p:sp>
        <p:nvSpPr>
          <p:cNvPr id="17" name="Text 14"/>
          <p:cNvSpPr/>
          <p:nvPr/>
        </p:nvSpPr>
        <p:spPr>
          <a:xfrm>
            <a:off x="4873752" y="2743200"/>
            <a:ext cx="68397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a:t>
            </a:r>
            <a:endParaRPr lang="en-US" sz="1300" dirty="0"/>
          </a:p>
        </p:txBody>
      </p:sp>
      <p:sp>
        <p:nvSpPr>
          <p:cNvPr id="18" name="Text 15"/>
          <p:cNvSpPr/>
          <p:nvPr/>
        </p:nvSpPr>
        <p:spPr>
          <a:xfrm>
            <a:off x="4873752" y="3035808"/>
            <a:ext cx="6839712" cy="49377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Positions, headways, priority status, confidence, reason codes, safe intervention and a time-stamped audit trail.</a:t>
            </a:r>
            <a:endParaRPr lang="en-US" sz="1400" dirty="0"/>
          </a:p>
        </p:txBody>
      </p:sp>
      <p:sp>
        <p:nvSpPr>
          <p:cNvPr id="19" name="Shape 16"/>
          <p:cNvSpPr/>
          <p:nvPr/>
        </p:nvSpPr>
        <p:spPr>
          <a:xfrm>
            <a:off x="4709160" y="3694176"/>
            <a:ext cx="3456432" cy="987552"/>
          </a:xfrm>
          <a:prstGeom prst="roundRect">
            <a:avLst>
              <a:gd name="adj" fmla="val 7407"/>
            </a:avLst>
          </a:prstGeom>
          <a:solidFill>
            <a:srgbClr val="FFFFFF"/>
          </a:solidFill>
          <a:ln w="10160">
            <a:solidFill>
              <a:srgbClr val="B74444"/>
            </a:solidFill>
            <a:prstDash val="solid"/>
          </a:ln>
        </p:spPr>
      </p:sp>
      <p:sp>
        <p:nvSpPr>
          <p:cNvPr id="20" name="Shape 17"/>
          <p:cNvSpPr/>
          <p:nvPr/>
        </p:nvSpPr>
        <p:spPr>
          <a:xfrm>
            <a:off x="4709160" y="3694176"/>
            <a:ext cx="73152" cy="987552"/>
          </a:xfrm>
          <a:prstGeom prst="rect">
            <a:avLst/>
          </a:prstGeom>
          <a:solidFill>
            <a:srgbClr val="B74444"/>
          </a:solidFill>
          <a:ln w="12700">
            <a:solidFill>
              <a:srgbClr val="B74444"/>
            </a:solidFill>
            <a:prstDash val="solid"/>
          </a:ln>
        </p:spPr>
      </p:sp>
      <p:sp>
        <p:nvSpPr>
          <p:cNvPr id="21" name="Text 18"/>
          <p:cNvSpPr/>
          <p:nvPr/>
        </p:nvSpPr>
        <p:spPr>
          <a:xfrm>
            <a:off x="4873752"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Fear</a:t>
            </a:r>
            <a:endParaRPr lang="en-US" sz="1300" dirty="0"/>
          </a:p>
        </p:txBody>
      </p:sp>
      <p:sp>
        <p:nvSpPr>
          <p:cNvPr id="22" name="Text 19"/>
          <p:cNvSpPr/>
          <p:nvPr/>
        </p:nvSpPr>
        <p:spPr>
          <a:xfrm>
            <a:off x="4873752" y="4059936"/>
            <a:ext cx="3163824" cy="548640"/>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Scattered information and unexplained refusals make incidents difficult to manage and defend later.</a:t>
            </a:r>
            <a:endParaRPr lang="en-US" sz="1300" dirty="0"/>
          </a:p>
        </p:txBody>
      </p:sp>
      <p:sp>
        <p:nvSpPr>
          <p:cNvPr id="23" name="Shape 20"/>
          <p:cNvSpPr/>
          <p:nvPr/>
        </p:nvSpPr>
        <p:spPr>
          <a:xfrm>
            <a:off x="8385048" y="3694176"/>
            <a:ext cx="3456432" cy="987552"/>
          </a:xfrm>
          <a:prstGeom prst="roundRect">
            <a:avLst>
              <a:gd name="adj" fmla="val 7407"/>
            </a:avLst>
          </a:prstGeom>
          <a:solidFill>
            <a:srgbClr val="FBE4E4"/>
          </a:solidFill>
          <a:ln w="10160">
            <a:solidFill>
              <a:srgbClr val="B74444"/>
            </a:solidFill>
            <a:prstDash val="solid"/>
          </a:ln>
        </p:spPr>
      </p:sp>
      <p:sp>
        <p:nvSpPr>
          <p:cNvPr id="24" name="Shape 21"/>
          <p:cNvSpPr/>
          <p:nvPr/>
        </p:nvSpPr>
        <p:spPr>
          <a:xfrm>
            <a:off x="8385048" y="3694176"/>
            <a:ext cx="73152" cy="987552"/>
          </a:xfrm>
          <a:prstGeom prst="rect">
            <a:avLst/>
          </a:prstGeom>
          <a:solidFill>
            <a:srgbClr val="B74444"/>
          </a:solidFill>
          <a:ln w="12700">
            <a:solidFill>
              <a:srgbClr val="B74444"/>
            </a:solidFill>
            <a:prstDash val="solid"/>
          </a:ln>
        </p:spPr>
      </p:sp>
      <p:sp>
        <p:nvSpPr>
          <p:cNvPr id="25" name="Text 22"/>
          <p:cNvSpPr/>
          <p:nvPr/>
        </p:nvSpPr>
        <p:spPr>
          <a:xfrm>
            <a:off x="8549640"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Rejects</a:t>
            </a:r>
            <a:endParaRPr lang="en-US" sz="1300" dirty="0"/>
          </a:p>
        </p:txBody>
      </p:sp>
      <p:sp>
        <p:nvSpPr>
          <p:cNvPr id="26" name="Text 23"/>
          <p:cNvSpPr/>
          <p:nvPr/>
        </p:nvSpPr>
        <p:spPr>
          <a:xfrm>
            <a:off x="8549640" y="4059936"/>
            <a:ext cx="3163824" cy="54864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 black box, unsupported prediction promises and any override that bypasses the safety mask.</a:t>
            </a:r>
            <a:endParaRPr lang="en-US" sz="1250" dirty="0"/>
          </a:p>
        </p:txBody>
      </p:sp>
      <p:sp>
        <p:nvSpPr>
          <p:cNvPr id="27" name="Shape 24"/>
          <p:cNvSpPr/>
          <p:nvPr/>
        </p:nvSpPr>
        <p:spPr>
          <a:xfrm>
            <a:off x="4709160" y="4773168"/>
            <a:ext cx="7132320" cy="1664208"/>
          </a:xfrm>
          <a:prstGeom prst="roundRect">
            <a:avLst>
              <a:gd name="adj" fmla="val 4396"/>
            </a:avLst>
          </a:prstGeom>
          <a:solidFill>
            <a:srgbClr val="FFFFFF"/>
          </a:solidFill>
          <a:ln w="10160">
            <a:solidFill>
              <a:srgbClr val="176B87"/>
            </a:solidFill>
            <a:prstDash val="solid"/>
          </a:ln>
        </p:spPr>
      </p:sp>
      <p:sp>
        <p:nvSpPr>
          <p:cNvPr id="28" name="Text 25"/>
          <p:cNvSpPr/>
          <p:nvPr/>
        </p:nvSpPr>
        <p:spPr>
          <a:xfrm>
            <a:off x="4910328" y="4846320"/>
            <a:ext cx="6729984" cy="182880"/>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WHY · EVIDENCE · PROPOSED MEASURE</a:t>
            </a:r>
            <a:endParaRPr lang="en-US" sz="1000" dirty="0"/>
          </a:p>
        </p:txBody>
      </p:sp>
      <p:sp>
        <p:nvSpPr>
          <p:cNvPr id="29" name="Text 26"/>
          <p:cNvSpPr/>
          <p:nvPr/>
        </p:nvSpPr>
        <p:spPr>
          <a:xfrm>
            <a:off x="4910328" y="5047488"/>
            <a:ext cx="6729984"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Rosa represents the operator who must understand why a bus request lost to safety, emergency or capacity constraints.</a:t>
            </a:r>
            <a:endParaRPr lang="en-US" sz="1300" dirty="0"/>
          </a:p>
        </p:txBody>
      </p:sp>
      <p:sp>
        <p:nvSpPr>
          <p:cNvPr id="30" name="Text 27"/>
          <p:cNvSpPr/>
          <p:nvPr/>
        </p:nvSpPr>
        <p:spPr>
          <a:xfrm>
            <a:off x="4910328" y="5449824"/>
            <a:ext cx="6729984" cy="475488"/>
          </a:xfrm>
          <a:prstGeom prst="rect">
            <a:avLst/>
          </a:prstGeom>
          <a:noFill/>
          <a:ln/>
        </p:spPr>
        <p:txBody>
          <a:bodyPr wrap="square" lIns="762" tIns="762" rIns="762" bIns="762" rtlCol="0" anchor="t">
            <a:normAutofit/>
          </a:bodyPr>
          <a:lstStyle/>
          <a:p>
            <a:pPr indent="0" marL="0">
              <a:buNone/>
            </a:pPr>
            <a:r>
              <a:rPr lang="en-US" sz="1200" dirty="0">
                <a:solidFill>
                  <a:srgbClr val="4E6878"/>
                </a:solidFill>
                <a:latin typeface="Aptos" pitchFamily="34" charset="0"/>
                <a:ea typeface="Aptos" pitchFamily="34" charset="-122"/>
                <a:cs typeface="Aptos" pitchFamily="34" charset="-120"/>
              </a:rPr>
              <a:t>SCATS documentation includes monitoring, manual intervention and audit trails, motivating explainable operations. [C08]</a:t>
            </a:r>
            <a:endParaRPr lang="en-US" sz="1200" dirty="0"/>
          </a:p>
        </p:txBody>
      </p:sp>
      <p:sp>
        <p:nvSpPr>
          <p:cNvPr id="31" name="Text 28"/>
          <p:cNvSpPr/>
          <p:nvPr/>
        </p:nvSpPr>
        <p:spPr>
          <a:xfrm>
            <a:off x="4910328" y="5943600"/>
            <a:ext cx="6729984" cy="384048"/>
          </a:xfrm>
          <a:prstGeom prst="rect">
            <a:avLst/>
          </a:prstGeom>
          <a:noFill/>
          <a:ln/>
        </p:spPr>
        <p:txBody>
          <a:bodyPr wrap="square" lIns="762" tIns="762" rIns="762" bIns="762" rtlCol="0" anchor="t">
            <a:normAutofit/>
          </a:bodyPr>
          <a:lstStyle/>
          <a:p>
            <a:pPr indent="0" marL="0">
              <a:buNone/>
            </a:pPr>
            <a:r>
              <a:rPr lang="en-US" sz="1200" i="1" dirty="0">
                <a:solidFill>
                  <a:srgbClr val="CF7B1B"/>
                </a:solidFill>
                <a:latin typeface="Aptos" pitchFamily="34" charset="0"/>
                <a:ea typeface="Aptos" pitchFamily="34" charset="-122"/>
                <a:cs typeface="Aptos" pitchFamily="34" charset="-120"/>
              </a:rPr>
              <a:t>Target, not a result: Reason-code coverage, joined decision history and a simple operator task: explain one accepted and one rejected request.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p:bgPr>
    </p:bg>
    <p:spTree>
      <p:nvGrpSpPr>
        <p:cNvPr id="1" name=""/>
        <p:cNvGrpSpPr/>
        <p:nvPr/>
      </p:nvGrpSpPr>
      <p:grpSpPr>
        <a:xfrm>
          <a:off x="0" y="0"/>
          <a:ext cx="0" cy="0"/>
          <a:chOff x="0" y="0"/>
          <a:chExt cx="0" cy="0"/>
        </a:xfrm>
      </p:grpSpPr>
      <p:pic>
        <p:nvPicPr>
          <p:cNvPr id="2" name="Image 0" descr="C:\Users\dell\Downloads\sumo\docs\presentation\personas\p5-marcus.png">    </p:cNvPr>
          <p:cNvPicPr>
            <a:picLocks noChangeAspect="1"/>
          </p:cNvPicPr>
          <p:nvPr/>
        </p:nvPicPr>
        <p:blipFill>
          <a:blip r:embed="rId1"/>
          <a:srcRect l="0" r="0" t="0" b="0"/>
          <a:stretch/>
        </p:blipFill>
        <p:spPr>
          <a:xfrm>
            <a:off x="0" y="0"/>
            <a:ext cx="4434840" cy="6858000"/>
          </a:xfrm>
          <a:prstGeom prst="rect">
            <a:avLst/>
          </a:prstGeom>
        </p:spPr>
      </p:pic>
      <p:sp>
        <p:nvSpPr>
          <p:cNvPr id="3" name="Shape 0"/>
          <p:cNvSpPr/>
          <p:nvPr/>
        </p:nvSpPr>
        <p:spPr>
          <a:xfrm>
            <a:off x="0" y="5074920"/>
            <a:ext cx="4434840" cy="1783080"/>
          </a:xfrm>
          <a:prstGeom prst="rect">
            <a:avLst/>
          </a:prstGeom>
          <a:solidFill>
            <a:srgbClr val="0B2239"/>
          </a:solidFill>
          <a:ln w="12700">
            <a:solidFill>
              <a:srgbClr val="0B2239"/>
            </a:solidFill>
            <a:prstDash val="solid"/>
          </a:ln>
        </p:spPr>
      </p:sp>
      <p:sp>
        <p:nvSpPr>
          <p:cNvPr id="4" name="Text 1"/>
          <p:cNvSpPr/>
          <p:nvPr/>
        </p:nvSpPr>
        <p:spPr>
          <a:xfrm>
            <a:off x="256032" y="5193792"/>
            <a:ext cx="3931920" cy="256032"/>
          </a:xfrm>
          <a:prstGeom prst="rect">
            <a:avLst/>
          </a:prstGeom>
          <a:noFill/>
          <a:ln/>
        </p:spPr>
        <p:txBody>
          <a:bodyPr wrap="square" lIns="762" tIns="762" rIns="762" bIns="762" rtlCol="0" anchor="ctr">
            <a:normAutofit/>
          </a:bodyPr>
          <a:lstStyle/>
          <a:p>
            <a:pPr indent="0" marL="0">
              <a:buNone/>
            </a:pPr>
            <a:r>
              <a:rPr lang="en-US" sz="1300" b="1" spc="80" kern="0" dirty="0">
                <a:solidFill>
                  <a:srgbClr val="7FE0D7"/>
                </a:solidFill>
                <a:latin typeface="Aptos" pitchFamily="34" charset="0"/>
                <a:ea typeface="Aptos" pitchFamily="34" charset="-122"/>
                <a:cs typeface="Aptos" pitchFamily="34" charset="-120"/>
              </a:rPr>
              <a:t>P5  ·  34</a:t>
            </a:r>
            <a:endParaRPr lang="en-US" sz="1300" dirty="0"/>
          </a:p>
        </p:txBody>
      </p:sp>
      <p:sp>
        <p:nvSpPr>
          <p:cNvPr id="5" name="Text 2"/>
          <p:cNvSpPr/>
          <p:nvPr/>
        </p:nvSpPr>
        <p:spPr>
          <a:xfrm>
            <a:off x="256032" y="5449824"/>
            <a:ext cx="3931920" cy="438912"/>
          </a:xfrm>
          <a:prstGeom prst="rect">
            <a:avLst/>
          </a:prstGeom>
          <a:noFill/>
          <a:ln/>
        </p:spPr>
        <p:txBody>
          <a:bodyPr wrap="square" lIns="762" tIns="762" rIns="762" bIns="762"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Marcus</a:t>
            </a:r>
            <a:endParaRPr lang="en-US" sz="3200" dirty="0"/>
          </a:p>
        </p:txBody>
      </p:sp>
      <p:sp>
        <p:nvSpPr>
          <p:cNvPr id="6" name="Text 3"/>
          <p:cNvSpPr/>
          <p:nvPr/>
        </p:nvSpPr>
        <p:spPr>
          <a:xfrm>
            <a:off x="256032" y="5907024"/>
            <a:ext cx="3931920" cy="292608"/>
          </a:xfrm>
          <a:prstGeom prst="rect">
            <a:avLst/>
          </a:prstGeom>
          <a:noFill/>
          <a:ln/>
        </p:spPr>
        <p:txBody>
          <a:bodyPr wrap="square" lIns="762" tIns="762" rIns="762" bIns="762" rtlCol="0" anchor="ctr">
            <a:normAutofit/>
          </a:bodyPr>
          <a:lstStyle/>
          <a:p>
            <a:pPr indent="0" marL="0">
              <a:buNone/>
            </a:pPr>
            <a:r>
              <a:rPr lang="en-US" sz="1400" dirty="0">
                <a:solidFill>
                  <a:srgbClr val="B9DCE7"/>
                </a:solidFill>
                <a:latin typeface="Aptos" pitchFamily="34" charset="0"/>
                <a:ea typeface="Aptos" pitchFamily="34" charset="-122"/>
                <a:cs typeface="Aptos" pitchFamily="34" charset="-120"/>
              </a:rPr>
              <a:t>Urban ambulance crew</a:t>
            </a:r>
            <a:endParaRPr lang="en-US" sz="1400" dirty="0"/>
          </a:p>
        </p:txBody>
      </p:sp>
      <p:sp>
        <p:nvSpPr>
          <p:cNvPr id="7" name="Text 4"/>
          <p:cNvSpPr/>
          <p:nvPr/>
        </p:nvSpPr>
        <p:spPr>
          <a:xfrm>
            <a:off x="256032" y="6291072"/>
            <a:ext cx="3931920" cy="256032"/>
          </a:xfrm>
          <a:prstGeom prst="rect">
            <a:avLst/>
          </a:prstGeom>
          <a:noFill/>
          <a:ln/>
        </p:spPr>
        <p:txBody>
          <a:bodyPr wrap="square" lIns="762" tIns="762" rIns="762" bIns="762" rtlCol="0" anchor="ctr">
            <a:normAutofit/>
          </a:bodyPr>
          <a:lstStyle/>
          <a:p>
            <a:pPr indent="0" marL="0">
              <a:buNone/>
            </a:pPr>
            <a:r>
              <a:rPr lang="en-US" sz="1100" i="1" dirty="0">
                <a:solidFill>
                  <a:srgbClr val="7896A8"/>
                </a:solidFill>
                <a:latin typeface="Aptos" pitchFamily="34" charset="0"/>
                <a:ea typeface="Aptos" pitchFamily="34" charset="-122"/>
                <a:cs typeface="Aptos" pitchFamily="34" charset="-120"/>
              </a:rPr>
              <a:t>Illustration · not a real stakeholder</a:t>
            </a:r>
            <a:endParaRPr lang="en-US" sz="1100" dirty="0"/>
          </a:p>
        </p:txBody>
      </p:sp>
      <p:sp>
        <p:nvSpPr>
          <p:cNvPr id="8" name="Shape 5"/>
          <p:cNvSpPr/>
          <p:nvPr/>
        </p:nvSpPr>
        <p:spPr>
          <a:xfrm>
            <a:off x="4709160" y="256032"/>
            <a:ext cx="141732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4745736" y="269748"/>
            <a:ext cx="134416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10" name="Text 7"/>
          <p:cNvSpPr/>
          <p:nvPr/>
        </p:nvSpPr>
        <p:spPr>
          <a:xfrm>
            <a:off x="4709160" y="621792"/>
            <a:ext cx="7132320" cy="384048"/>
          </a:xfrm>
          <a:prstGeom prst="rect">
            <a:avLst/>
          </a:prstGeom>
          <a:noFill/>
          <a:ln/>
        </p:spPr>
        <p:txBody>
          <a:bodyPr wrap="square" lIns="762" tIns="762" rIns="762" bIns="762" rtlCol="0" anchor="ctr">
            <a:normAutofit/>
          </a:bodyPr>
          <a:lstStyle/>
          <a:p>
            <a:pPr indent="0" marL="0">
              <a:buNone/>
            </a:pPr>
            <a:r>
              <a:rPr lang="en-US" sz="2400" b="1" dirty="0">
                <a:solidFill>
                  <a:srgbClr val="0B2239"/>
                </a:solidFill>
                <a:latin typeface="Aptos Display" pitchFamily="34" charset="0"/>
                <a:ea typeface="Aptos Display" pitchFamily="34" charset="-122"/>
                <a:cs typeface="Aptos Display" pitchFamily="34" charset="-120"/>
              </a:rPr>
              <a:t>Persona 5 — Marcus</a:t>
            </a:r>
            <a:endParaRPr lang="en-US" sz="2400" dirty="0"/>
          </a:p>
        </p:txBody>
      </p:sp>
      <p:sp>
        <p:nvSpPr>
          <p:cNvPr id="11" name="Text 8"/>
          <p:cNvSpPr/>
          <p:nvPr/>
        </p:nvSpPr>
        <p:spPr>
          <a:xfrm>
            <a:off x="4709160" y="1024128"/>
            <a:ext cx="7132320" cy="329184"/>
          </a:xfrm>
          <a:prstGeom prst="rect">
            <a:avLst/>
          </a:prstGeom>
          <a:noFill/>
          <a:ln/>
        </p:spPr>
        <p:txBody>
          <a:bodyPr wrap="square" lIns="762" tIns="762" rIns="762" bIns="762" rtlCol="0" anchor="ctr">
            <a:normAutofit/>
          </a:bodyPr>
          <a:lstStyle/>
          <a:p>
            <a:pPr indent="0" marL="0">
              <a:buNone/>
            </a:pPr>
            <a:r>
              <a:rPr lang="en-US" sz="1300" dirty="0">
                <a:solidFill>
                  <a:srgbClr val="4E6878"/>
                </a:solidFill>
                <a:latin typeface="Aptos" pitchFamily="34" charset="0"/>
                <a:ea typeface="Aptos" pitchFamily="34" charset="-122"/>
                <a:cs typeface="Aptos" pitchFamily="34" charset="-120"/>
              </a:rPr>
              <a:t>Responds through congested streets during peak periods. Tunis design context (assumption).</a:t>
            </a:r>
            <a:endParaRPr lang="en-US" sz="1300" dirty="0"/>
          </a:p>
        </p:txBody>
      </p:sp>
      <p:sp>
        <p:nvSpPr>
          <p:cNvPr id="12" name="Shape 9"/>
          <p:cNvSpPr/>
          <p:nvPr/>
        </p:nvSpPr>
        <p:spPr>
          <a:xfrm>
            <a:off x="4709160" y="1444752"/>
            <a:ext cx="7132320" cy="1078992"/>
          </a:xfrm>
          <a:prstGeom prst="roundRect">
            <a:avLst>
              <a:gd name="adj" fmla="val 6780"/>
            </a:avLst>
          </a:prstGeom>
          <a:solidFill>
            <a:srgbClr val="DDEFF5"/>
          </a:solidFill>
          <a:ln w="10160">
            <a:solidFill>
              <a:srgbClr val="B74444"/>
            </a:solidFill>
            <a:prstDash val="solid"/>
          </a:ln>
        </p:spPr>
      </p:sp>
      <p:sp>
        <p:nvSpPr>
          <p:cNvPr id="13" name="Text 10"/>
          <p:cNvSpPr/>
          <p:nvPr/>
        </p:nvSpPr>
        <p:spPr>
          <a:xfrm>
            <a:off x="4910328" y="1536192"/>
            <a:ext cx="6729984" cy="201168"/>
          </a:xfrm>
          <a:prstGeom prst="rect">
            <a:avLst/>
          </a:prstGeom>
          <a:noFill/>
          <a:ln/>
        </p:spPr>
        <p:txBody>
          <a:bodyPr wrap="square" lIns="762" tIns="762" rIns="762" bIns="762" rtlCol="0" anchor="ctr">
            <a:normAutofit/>
          </a:bodyPr>
          <a:lstStyle/>
          <a:p>
            <a:pPr indent="0" marL="0">
              <a:buNone/>
            </a:pPr>
            <a:r>
              <a:rPr lang="en-US" sz="1000" b="1" spc="60" kern="0" dirty="0">
                <a:solidFill>
                  <a:srgbClr val="B74444"/>
                </a:solidFill>
                <a:latin typeface="Aptos" pitchFamily="34" charset="0"/>
                <a:ea typeface="Aptos" pitchFamily="34" charset="-122"/>
                <a:cs typeface="Aptos" pitchFamily="34" charset="-120"/>
              </a:rPr>
              <a:t>DESIGN STATEMENT · NOT AN INTERVIEW QUOTE</a:t>
            </a:r>
            <a:endParaRPr lang="en-US" sz="1000" dirty="0"/>
          </a:p>
        </p:txBody>
      </p:sp>
      <p:sp>
        <p:nvSpPr>
          <p:cNvPr id="14" name="Text 11"/>
          <p:cNvSpPr/>
          <p:nvPr/>
        </p:nvSpPr>
        <p:spPr>
          <a:xfrm>
            <a:off x="4910328" y="1755648"/>
            <a:ext cx="6729984" cy="621792"/>
          </a:xfrm>
          <a:prstGeom prst="rect">
            <a:avLst/>
          </a:prstGeom>
          <a:noFill/>
          <a:ln/>
        </p:spPr>
        <p:txBody>
          <a:bodyPr wrap="square" lIns="762" tIns="762" rIns="762" bIns="762" rtlCol="0" anchor="t">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“Get us through safely, and make sure traffic recovers after we pass.”</a:t>
            </a:r>
            <a:endParaRPr lang="en-US" sz="1800" dirty="0"/>
          </a:p>
        </p:txBody>
      </p:sp>
      <p:sp>
        <p:nvSpPr>
          <p:cNvPr id="15" name="Shape 12"/>
          <p:cNvSpPr/>
          <p:nvPr/>
        </p:nvSpPr>
        <p:spPr>
          <a:xfrm>
            <a:off x="4709160" y="2670048"/>
            <a:ext cx="7132320" cy="932688"/>
          </a:xfrm>
          <a:prstGeom prst="roundRect">
            <a:avLst>
              <a:gd name="adj" fmla="val 7843"/>
            </a:avLst>
          </a:prstGeom>
          <a:solidFill>
            <a:srgbClr val="DDF3EC"/>
          </a:solidFill>
          <a:ln w="10160">
            <a:solidFill>
              <a:srgbClr val="2D936C"/>
            </a:solidFill>
            <a:prstDash val="solid"/>
          </a:ln>
        </p:spPr>
      </p:sp>
      <p:sp>
        <p:nvSpPr>
          <p:cNvPr id="16" name="Shape 13"/>
          <p:cNvSpPr/>
          <p:nvPr/>
        </p:nvSpPr>
        <p:spPr>
          <a:xfrm>
            <a:off x="4709160" y="2670048"/>
            <a:ext cx="73152" cy="932688"/>
          </a:xfrm>
          <a:prstGeom prst="rect">
            <a:avLst/>
          </a:prstGeom>
          <a:solidFill>
            <a:srgbClr val="2D936C"/>
          </a:solidFill>
          <a:ln w="12700">
            <a:solidFill>
              <a:srgbClr val="2D936C"/>
            </a:solidFill>
            <a:prstDash val="solid"/>
          </a:ln>
        </p:spPr>
      </p:sp>
      <p:sp>
        <p:nvSpPr>
          <p:cNvPr id="17" name="Text 14"/>
          <p:cNvSpPr/>
          <p:nvPr/>
        </p:nvSpPr>
        <p:spPr>
          <a:xfrm>
            <a:off x="4873752" y="2743200"/>
            <a:ext cx="68397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a:t>
            </a:r>
            <a:endParaRPr lang="en-US" sz="1300" dirty="0"/>
          </a:p>
        </p:txBody>
      </p:sp>
      <p:sp>
        <p:nvSpPr>
          <p:cNvPr id="18" name="Text 15"/>
          <p:cNvSpPr/>
          <p:nvPr/>
        </p:nvSpPr>
        <p:spPr>
          <a:xfrm>
            <a:off x="4873752" y="3035808"/>
            <a:ext cx="6839712" cy="49377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Authenticated route/ETA request, downstream-capacity check, safe pre-clearance and controlled post-passage recovery.</a:t>
            </a:r>
            <a:endParaRPr lang="en-US" sz="1400" dirty="0"/>
          </a:p>
        </p:txBody>
      </p:sp>
      <p:sp>
        <p:nvSpPr>
          <p:cNvPr id="19" name="Shape 16"/>
          <p:cNvSpPr/>
          <p:nvPr/>
        </p:nvSpPr>
        <p:spPr>
          <a:xfrm>
            <a:off x="4709160" y="3694176"/>
            <a:ext cx="3456432" cy="987552"/>
          </a:xfrm>
          <a:prstGeom prst="roundRect">
            <a:avLst>
              <a:gd name="adj" fmla="val 7407"/>
            </a:avLst>
          </a:prstGeom>
          <a:solidFill>
            <a:srgbClr val="FFFFFF"/>
          </a:solidFill>
          <a:ln w="10160">
            <a:solidFill>
              <a:srgbClr val="B74444"/>
            </a:solidFill>
            <a:prstDash val="solid"/>
          </a:ln>
        </p:spPr>
      </p:sp>
      <p:sp>
        <p:nvSpPr>
          <p:cNvPr id="20" name="Shape 17"/>
          <p:cNvSpPr/>
          <p:nvPr/>
        </p:nvSpPr>
        <p:spPr>
          <a:xfrm>
            <a:off x="4709160" y="3694176"/>
            <a:ext cx="73152" cy="987552"/>
          </a:xfrm>
          <a:prstGeom prst="rect">
            <a:avLst/>
          </a:prstGeom>
          <a:solidFill>
            <a:srgbClr val="B74444"/>
          </a:solidFill>
          <a:ln w="12700">
            <a:solidFill>
              <a:srgbClr val="B74444"/>
            </a:solidFill>
            <a:prstDash val="solid"/>
          </a:ln>
        </p:spPr>
      </p:sp>
      <p:sp>
        <p:nvSpPr>
          <p:cNvPr id="21" name="Text 18"/>
          <p:cNvSpPr/>
          <p:nvPr/>
        </p:nvSpPr>
        <p:spPr>
          <a:xfrm>
            <a:off x="4873752"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Fear</a:t>
            </a:r>
            <a:endParaRPr lang="en-US" sz="1300" dirty="0"/>
          </a:p>
        </p:txBody>
      </p:sp>
      <p:sp>
        <p:nvSpPr>
          <p:cNvPr id="22" name="Text 19"/>
          <p:cNvSpPr/>
          <p:nvPr/>
        </p:nvSpPr>
        <p:spPr>
          <a:xfrm>
            <a:off x="4873752" y="4059936"/>
            <a:ext cx="3163824" cy="548640"/>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A green is useless when the downstream link is full. Isolated priority can leave queues and disrupted buses behind.</a:t>
            </a:r>
            <a:endParaRPr lang="en-US" sz="1300" dirty="0"/>
          </a:p>
        </p:txBody>
      </p:sp>
      <p:sp>
        <p:nvSpPr>
          <p:cNvPr id="23" name="Shape 20"/>
          <p:cNvSpPr/>
          <p:nvPr/>
        </p:nvSpPr>
        <p:spPr>
          <a:xfrm>
            <a:off x="8385048" y="3694176"/>
            <a:ext cx="3456432" cy="987552"/>
          </a:xfrm>
          <a:prstGeom prst="roundRect">
            <a:avLst>
              <a:gd name="adj" fmla="val 7407"/>
            </a:avLst>
          </a:prstGeom>
          <a:solidFill>
            <a:srgbClr val="FBE4E4"/>
          </a:solidFill>
          <a:ln w="10160">
            <a:solidFill>
              <a:srgbClr val="B74444"/>
            </a:solidFill>
            <a:prstDash val="solid"/>
          </a:ln>
        </p:spPr>
      </p:sp>
      <p:sp>
        <p:nvSpPr>
          <p:cNvPr id="24" name="Shape 21"/>
          <p:cNvSpPr/>
          <p:nvPr/>
        </p:nvSpPr>
        <p:spPr>
          <a:xfrm>
            <a:off x="8385048" y="3694176"/>
            <a:ext cx="73152" cy="987552"/>
          </a:xfrm>
          <a:prstGeom prst="rect">
            <a:avLst/>
          </a:prstGeom>
          <a:solidFill>
            <a:srgbClr val="B74444"/>
          </a:solidFill>
          <a:ln w="12700">
            <a:solidFill>
              <a:srgbClr val="B74444"/>
            </a:solidFill>
            <a:prstDash val="solid"/>
          </a:ln>
        </p:spPr>
      </p:sp>
      <p:sp>
        <p:nvSpPr>
          <p:cNvPr id="25" name="Text 22"/>
          <p:cNvSpPr/>
          <p:nvPr/>
        </p:nvSpPr>
        <p:spPr>
          <a:xfrm>
            <a:off x="8549640"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Rejects</a:t>
            </a:r>
            <a:endParaRPr lang="en-US" sz="1300" dirty="0"/>
          </a:p>
        </p:txBody>
      </p:sp>
      <p:sp>
        <p:nvSpPr>
          <p:cNvPr id="26" name="Text 23"/>
          <p:cNvSpPr/>
          <p:nvPr/>
        </p:nvSpPr>
        <p:spPr>
          <a:xfrm>
            <a:off x="8549640" y="4059936"/>
            <a:ext cx="3163824" cy="54864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Truncating an occupied crossing, moving a queue one junction ahead or translating simulation seconds into casualties.</a:t>
            </a:r>
            <a:endParaRPr lang="en-US" sz="1250" dirty="0"/>
          </a:p>
        </p:txBody>
      </p:sp>
      <p:sp>
        <p:nvSpPr>
          <p:cNvPr id="27" name="Shape 24"/>
          <p:cNvSpPr/>
          <p:nvPr/>
        </p:nvSpPr>
        <p:spPr>
          <a:xfrm>
            <a:off x="4709160" y="4773168"/>
            <a:ext cx="7132320" cy="1664208"/>
          </a:xfrm>
          <a:prstGeom prst="roundRect">
            <a:avLst>
              <a:gd name="adj" fmla="val 4396"/>
            </a:avLst>
          </a:prstGeom>
          <a:solidFill>
            <a:srgbClr val="FFFFFF"/>
          </a:solidFill>
          <a:ln w="10160">
            <a:solidFill>
              <a:srgbClr val="176B87"/>
            </a:solidFill>
            <a:prstDash val="solid"/>
          </a:ln>
        </p:spPr>
      </p:sp>
      <p:sp>
        <p:nvSpPr>
          <p:cNvPr id="28" name="Text 25"/>
          <p:cNvSpPr/>
          <p:nvPr/>
        </p:nvSpPr>
        <p:spPr>
          <a:xfrm>
            <a:off x="4910328" y="4846320"/>
            <a:ext cx="6729984" cy="182880"/>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WHY · EVIDENCE · PROPOSED MEASURE</a:t>
            </a:r>
            <a:endParaRPr lang="en-US" sz="1000" dirty="0"/>
          </a:p>
        </p:txBody>
      </p:sp>
      <p:sp>
        <p:nvSpPr>
          <p:cNvPr id="29" name="Text 26"/>
          <p:cNvSpPr/>
          <p:nvPr/>
        </p:nvSpPr>
        <p:spPr>
          <a:xfrm>
            <a:off x="4910328" y="5047488"/>
            <a:ext cx="6729984"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Marcus makes both benefit and civilian externality visible. Passage and recovery form one journey.</a:t>
            </a:r>
            <a:endParaRPr lang="en-US" sz="1300" dirty="0"/>
          </a:p>
        </p:txBody>
      </p:sp>
      <p:sp>
        <p:nvSpPr>
          <p:cNvPr id="30" name="Text 27"/>
          <p:cNvSpPr/>
          <p:nvPr/>
        </p:nvSpPr>
        <p:spPr>
          <a:xfrm>
            <a:off x="4910328" y="5449824"/>
            <a:ext cx="6729984" cy="475488"/>
          </a:xfrm>
          <a:prstGeom prst="rect">
            <a:avLst/>
          </a:prstGeom>
          <a:noFill/>
          <a:ln/>
        </p:spPr>
        <p:txBody>
          <a:bodyPr wrap="square" lIns="762" tIns="762" rIns="762" bIns="762" rtlCol="0" anchor="t">
            <a:normAutofit/>
          </a:bodyPr>
          <a:lstStyle/>
          <a:p>
            <a:pPr indent="0" marL="0">
              <a:buNone/>
            </a:pPr>
            <a:r>
              <a:rPr lang="en-US" sz="1200" dirty="0">
                <a:solidFill>
                  <a:srgbClr val="4E6878"/>
                </a:solidFill>
                <a:latin typeface="Aptos" pitchFamily="34" charset="0"/>
                <a:ea typeface="Aptos" pitchFamily="34" charset="-122"/>
                <a:cs typeface="Aptos" pitchFamily="34" charset="-120"/>
              </a:rPr>
              <a:t>One Taipei cohort associated each additional ALS-response minute with 7% lower adjusted odds of survival to discharge. Closely spaced preemptions can impose delay in a studied network. [C06][C07]</a:t>
            </a:r>
            <a:endParaRPr lang="en-US" sz="1200" dirty="0"/>
          </a:p>
        </p:txBody>
      </p:sp>
      <p:sp>
        <p:nvSpPr>
          <p:cNvPr id="31" name="Text 28"/>
          <p:cNvSpPr/>
          <p:nvPr/>
        </p:nvSpPr>
        <p:spPr>
          <a:xfrm>
            <a:off x="4910328" y="5943600"/>
            <a:ext cx="6729984" cy="384048"/>
          </a:xfrm>
          <a:prstGeom prst="rect">
            <a:avLst/>
          </a:prstGeom>
          <a:noFill/>
          <a:ln/>
        </p:spPr>
        <p:txBody>
          <a:bodyPr wrap="square" lIns="762" tIns="762" rIns="762" bIns="762" rtlCol="0" anchor="t">
            <a:normAutofit/>
          </a:bodyPr>
          <a:lstStyle/>
          <a:p>
            <a:pPr indent="0" marL="0">
              <a:buNone/>
            </a:pPr>
            <a:r>
              <a:rPr lang="en-US" sz="1200" i="1" dirty="0">
                <a:solidFill>
                  <a:srgbClr val="CF7B1B"/>
                </a:solidFill>
                <a:latin typeface="Aptos" pitchFamily="34" charset="0"/>
                <a:ea typeface="Aptos" pitchFamily="34" charset="-122"/>
                <a:cs typeface="Aptos" pitchFamily="34" charset="-120"/>
              </a:rPr>
              <a:t>Target, not a result: Emergency travel effect, civilian delay externality, blocked-downstream rejection, safety violations and recovery completion.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p:bgPr>
    </p:bg>
    <p:spTree>
      <p:nvGrpSpPr>
        <p:cNvPr id="1" name=""/>
        <p:cNvGrpSpPr/>
        <p:nvPr/>
      </p:nvGrpSpPr>
      <p:grpSpPr>
        <a:xfrm>
          <a:off x="0" y="0"/>
          <a:ext cx="0" cy="0"/>
          <a:chOff x="0" y="0"/>
          <a:chExt cx="0" cy="0"/>
        </a:xfrm>
      </p:grpSpPr>
      <p:pic>
        <p:nvPicPr>
          <p:cNvPr id="2" name="Image 0" descr="C:\Users\dell\Downloads\sumo\docs\presentation\personas\p6-yuki.png">    </p:cNvPr>
          <p:cNvPicPr>
            <a:picLocks noChangeAspect="1"/>
          </p:cNvPicPr>
          <p:nvPr/>
        </p:nvPicPr>
        <p:blipFill>
          <a:blip r:embed="rId1"/>
          <a:srcRect l="0" r="0" t="0" b="0"/>
          <a:stretch/>
        </p:blipFill>
        <p:spPr>
          <a:xfrm>
            <a:off x="0" y="0"/>
            <a:ext cx="4434840" cy="6858000"/>
          </a:xfrm>
          <a:prstGeom prst="rect">
            <a:avLst/>
          </a:prstGeom>
        </p:spPr>
      </p:pic>
      <p:sp>
        <p:nvSpPr>
          <p:cNvPr id="3" name="Shape 0"/>
          <p:cNvSpPr/>
          <p:nvPr/>
        </p:nvSpPr>
        <p:spPr>
          <a:xfrm>
            <a:off x="0" y="5074920"/>
            <a:ext cx="4434840" cy="1783080"/>
          </a:xfrm>
          <a:prstGeom prst="rect">
            <a:avLst/>
          </a:prstGeom>
          <a:solidFill>
            <a:srgbClr val="0B2239"/>
          </a:solidFill>
          <a:ln w="12700">
            <a:solidFill>
              <a:srgbClr val="0B2239"/>
            </a:solidFill>
            <a:prstDash val="solid"/>
          </a:ln>
        </p:spPr>
      </p:sp>
      <p:sp>
        <p:nvSpPr>
          <p:cNvPr id="4" name="Text 1"/>
          <p:cNvSpPr/>
          <p:nvPr/>
        </p:nvSpPr>
        <p:spPr>
          <a:xfrm>
            <a:off x="256032" y="5193792"/>
            <a:ext cx="3931920" cy="256032"/>
          </a:xfrm>
          <a:prstGeom prst="rect">
            <a:avLst/>
          </a:prstGeom>
          <a:noFill/>
          <a:ln/>
        </p:spPr>
        <p:txBody>
          <a:bodyPr wrap="square" lIns="762" tIns="762" rIns="762" bIns="762" rtlCol="0" anchor="ctr">
            <a:normAutofit/>
          </a:bodyPr>
          <a:lstStyle/>
          <a:p>
            <a:pPr indent="0" marL="0">
              <a:buNone/>
            </a:pPr>
            <a:r>
              <a:rPr lang="en-US" sz="1300" b="1" spc="80" kern="0" dirty="0">
                <a:solidFill>
                  <a:srgbClr val="7FE0D7"/>
                </a:solidFill>
                <a:latin typeface="Aptos" pitchFamily="34" charset="0"/>
                <a:ea typeface="Aptos" pitchFamily="34" charset="-122"/>
                <a:cs typeface="Aptos" pitchFamily="34" charset="-120"/>
              </a:rPr>
              <a:t>P6  ·  47</a:t>
            </a:r>
            <a:endParaRPr lang="en-US" sz="1300" dirty="0"/>
          </a:p>
        </p:txBody>
      </p:sp>
      <p:sp>
        <p:nvSpPr>
          <p:cNvPr id="5" name="Text 2"/>
          <p:cNvSpPr/>
          <p:nvPr/>
        </p:nvSpPr>
        <p:spPr>
          <a:xfrm>
            <a:off x="256032" y="5449824"/>
            <a:ext cx="3931920" cy="438912"/>
          </a:xfrm>
          <a:prstGeom prst="rect">
            <a:avLst/>
          </a:prstGeom>
          <a:noFill/>
          <a:ln/>
        </p:spPr>
        <p:txBody>
          <a:bodyPr wrap="square" lIns="762" tIns="762" rIns="762" bIns="762"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Yuki</a:t>
            </a:r>
            <a:endParaRPr lang="en-US" sz="3200" dirty="0"/>
          </a:p>
        </p:txBody>
      </p:sp>
      <p:sp>
        <p:nvSpPr>
          <p:cNvPr id="6" name="Text 3"/>
          <p:cNvSpPr/>
          <p:nvPr/>
        </p:nvSpPr>
        <p:spPr>
          <a:xfrm>
            <a:off x="256032" y="5907024"/>
            <a:ext cx="3931920" cy="292608"/>
          </a:xfrm>
          <a:prstGeom prst="rect">
            <a:avLst/>
          </a:prstGeom>
          <a:noFill/>
          <a:ln/>
        </p:spPr>
        <p:txBody>
          <a:bodyPr wrap="square" lIns="762" tIns="762" rIns="762" bIns="762" rtlCol="0" anchor="ctr">
            <a:normAutofit/>
          </a:bodyPr>
          <a:lstStyle/>
          <a:p>
            <a:pPr indent="0" marL="0">
              <a:buNone/>
            </a:pPr>
            <a:r>
              <a:rPr lang="en-US" sz="1400" dirty="0">
                <a:solidFill>
                  <a:srgbClr val="B9DCE7"/>
                </a:solidFill>
                <a:latin typeface="Aptos" pitchFamily="34" charset="0"/>
                <a:ea typeface="Aptos" pitchFamily="34" charset="-122"/>
                <a:cs typeface="Aptos" pitchFamily="34" charset="-120"/>
              </a:rPr>
              <a:t>Traffic engineer / network operations</a:t>
            </a:r>
            <a:endParaRPr lang="en-US" sz="1400" dirty="0"/>
          </a:p>
        </p:txBody>
      </p:sp>
      <p:sp>
        <p:nvSpPr>
          <p:cNvPr id="7" name="Text 4"/>
          <p:cNvSpPr/>
          <p:nvPr/>
        </p:nvSpPr>
        <p:spPr>
          <a:xfrm>
            <a:off x="256032" y="6291072"/>
            <a:ext cx="3931920" cy="256032"/>
          </a:xfrm>
          <a:prstGeom prst="rect">
            <a:avLst/>
          </a:prstGeom>
          <a:noFill/>
          <a:ln/>
        </p:spPr>
        <p:txBody>
          <a:bodyPr wrap="square" lIns="762" tIns="762" rIns="762" bIns="762" rtlCol="0" anchor="ctr">
            <a:normAutofit/>
          </a:bodyPr>
          <a:lstStyle/>
          <a:p>
            <a:pPr indent="0" marL="0">
              <a:buNone/>
            </a:pPr>
            <a:r>
              <a:rPr lang="en-US" sz="1100" i="1" dirty="0">
                <a:solidFill>
                  <a:srgbClr val="7896A8"/>
                </a:solidFill>
                <a:latin typeface="Aptos" pitchFamily="34" charset="0"/>
                <a:ea typeface="Aptos" pitchFamily="34" charset="-122"/>
                <a:cs typeface="Aptos" pitchFamily="34" charset="-120"/>
              </a:rPr>
              <a:t>Illustration · not a real stakeholder</a:t>
            </a:r>
            <a:endParaRPr lang="en-US" sz="1100" dirty="0"/>
          </a:p>
        </p:txBody>
      </p:sp>
      <p:sp>
        <p:nvSpPr>
          <p:cNvPr id="8" name="Shape 5"/>
          <p:cNvSpPr/>
          <p:nvPr/>
        </p:nvSpPr>
        <p:spPr>
          <a:xfrm>
            <a:off x="4709160" y="256032"/>
            <a:ext cx="141732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4745736" y="269748"/>
            <a:ext cx="134416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10" name="Text 7"/>
          <p:cNvSpPr/>
          <p:nvPr/>
        </p:nvSpPr>
        <p:spPr>
          <a:xfrm>
            <a:off x="4709160" y="621792"/>
            <a:ext cx="7132320" cy="384048"/>
          </a:xfrm>
          <a:prstGeom prst="rect">
            <a:avLst/>
          </a:prstGeom>
          <a:noFill/>
          <a:ln/>
        </p:spPr>
        <p:txBody>
          <a:bodyPr wrap="square" lIns="762" tIns="762" rIns="762" bIns="762" rtlCol="0" anchor="ctr">
            <a:normAutofit/>
          </a:bodyPr>
          <a:lstStyle/>
          <a:p>
            <a:pPr indent="0" marL="0">
              <a:buNone/>
            </a:pPr>
            <a:r>
              <a:rPr lang="en-US" sz="2400" b="1" dirty="0">
                <a:solidFill>
                  <a:srgbClr val="0B2239"/>
                </a:solidFill>
                <a:latin typeface="Aptos Display" pitchFamily="34" charset="0"/>
                <a:ea typeface="Aptos Display" pitchFamily="34" charset="-122"/>
                <a:cs typeface="Aptos Display" pitchFamily="34" charset="-120"/>
              </a:rPr>
              <a:t>Persona 6 — Yuki</a:t>
            </a:r>
            <a:endParaRPr lang="en-US" sz="2400" dirty="0"/>
          </a:p>
        </p:txBody>
      </p:sp>
      <p:sp>
        <p:nvSpPr>
          <p:cNvPr id="11" name="Text 8"/>
          <p:cNvSpPr/>
          <p:nvPr/>
        </p:nvSpPr>
        <p:spPr>
          <a:xfrm>
            <a:off x="4709160" y="1024128"/>
            <a:ext cx="7132320" cy="329184"/>
          </a:xfrm>
          <a:prstGeom prst="rect">
            <a:avLst/>
          </a:prstGeom>
          <a:noFill/>
          <a:ln/>
        </p:spPr>
        <p:txBody>
          <a:bodyPr wrap="square" lIns="762" tIns="762" rIns="762" bIns="762" rtlCol="0" anchor="ctr">
            <a:normAutofit/>
          </a:bodyPr>
          <a:lstStyle/>
          <a:p>
            <a:pPr indent="0" marL="0">
              <a:buNone/>
            </a:pPr>
            <a:r>
              <a:rPr lang="en-US" sz="1300" dirty="0">
                <a:solidFill>
                  <a:srgbClr val="4E6878"/>
                </a:solidFill>
                <a:latin typeface="Aptos" pitchFamily="34" charset="0"/>
                <a:ea typeface="Aptos" pitchFamily="34" charset="-122"/>
                <a:cs typeface="Aptos" pitchFamily="34" charset="-120"/>
              </a:rPr>
              <a:t>Accountable for safe automated network performance. Tunis design context (assumption).</a:t>
            </a:r>
            <a:endParaRPr lang="en-US" sz="1300" dirty="0"/>
          </a:p>
        </p:txBody>
      </p:sp>
      <p:sp>
        <p:nvSpPr>
          <p:cNvPr id="12" name="Shape 9"/>
          <p:cNvSpPr/>
          <p:nvPr/>
        </p:nvSpPr>
        <p:spPr>
          <a:xfrm>
            <a:off x="4709160" y="1444752"/>
            <a:ext cx="7132320" cy="1078992"/>
          </a:xfrm>
          <a:prstGeom prst="roundRect">
            <a:avLst>
              <a:gd name="adj" fmla="val 6780"/>
            </a:avLst>
          </a:prstGeom>
          <a:solidFill>
            <a:srgbClr val="DDEFF5"/>
          </a:solidFill>
          <a:ln w="10160">
            <a:solidFill>
              <a:srgbClr val="168F8B"/>
            </a:solidFill>
            <a:prstDash val="solid"/>
          </a:ln>
        </p:spPr>
      </p:sp>
      <p:sp>
        <p:nvSpPr>
          <p:cNvPr id="13" name="Text 10"/>
          <p:cNvSpPr/>
          <p:nvPr/>
        </p:nvSpPr>
        <p:spPr>
          <a:xfrm>
            <a:off x="4910328" y="1536192"/>
            <a:ext cx="6729984" cy="201168"/>
          </a:xfrm>
          <a:prstGeom prst="rect">
            <a:avLst/>
          </a:prstGeom>
          <a:noFill/>
          <a:ln/>
        </p:spPr>
        <p:txBody>
          <a:bodyPr wrap="square" lIns="762" tIns="762" rIns="762" bIns="762" rtlCol="0" anchor="ctr">
            <a:normAutofit/>
          </a:bodyPr>
          <a:lstStyle/>
          <a:p>
            <a:pPr indent="0" marL="0">
              <a:buNone/>
            </a:pPr>
            <a:r>
              <a:rPr lang="en-US" sz="1000" b="1" spc="60" kern="0" dirty="0">
                <a:solidFill>
                  <a:srgbClr val="168F8B"/>
                </a:solidFill>
                <a:latin typeface="Aptos" pitchFamily="34" charset="0"/>
                <a:ea typeface="Aptos" pitchFamily="34" charset="-122"/>
                <a:cs typeface="Aptos" pitchFamily="34" charset="-120"/>
              </a:rPr>
              <a:t>DESIGN STATEMENT · NOT AN INTERVIEW QUOTE</a:t>
            </a:r>
            <a:endParaRPr lang="en-US" sz="1000" dirty="0"/>
          </a:p>
        </p:txBody>
      </p:sp>
      <p:sp>
        <p:nvSpPr>
          <p:cNvPr id="14" name="Text 11"/>
          <p:cNvSpPr/>
          <p:nvPr/>
        </p:nvSpPr>
        <p:spPr>
          <a:xfrm>
            <a:off x="4910328" y="1755648"/>
            <a:ext cx="6729984" cy="621792"/>
          </a:xfrm>
          <a:prstGeom prst="rect">
            <a:avLst/>
          </a:prstGeom>
          <a:noFill/>
          <a:ln/>
        </p:spPr>
        <p:txBody>
          <a:bodyPr wrap="square" lIns="762" tIns="762" rIns="762" bIns="762" rtlCol="0" anchor="t">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“Automation should support my decisions—not leave me responsible for a system I cannot control.”</a:t>
            </a:r>
            <a:endParaRPr lang="en-US" sz="1800" dirty="0"/>
          </a:p>
        </p:txBody>
      </p:sp>
      <p:sp>
        <p:nvSpPr>
          <p:cNvPr id="15" name="Shape 12"/>
          <p:cNvSpPr/>
          <p:nvPr/>
        </p:nvSpPr>
        <p:spPr>
          <a:xfrm>
            <a:off x="4709160" y="2670048"/>
            <a:ext cx="7132320" cy="932688"/>
          </a:xfrm>
          <a:prstGeom prst="roundRect">
            <a:avLst>
              <a:gd name="adj" fmla="val 7843"/>
            </a:avLst>
          </a:prstGeom>
          <a:solidFill>
            <a:srgbClr val="DDF3EC"/>
          </a:solidFill>
          <a:ln w="10160">
            <a:solidFill>
              <a:srgbClr val="2D936C"/>
            </a:solidFill>
            <a:prstDash val="solid"/>
          </a:ln>
        </p:spPr>
      </p:sp>
      <p:sp>
        <p:nvSpPr>
          <p:cNvPr id="16" name="Shape 13"/>
          <p:cNvSpPr/>
          <p:nvPr/>
        </p:nvSpPr>
        <p:spPr>
          <a:xfrm>
            <a:off x="4709160" y="2670048"/>
            <a:ext cx="73152" cy="932688"/>
          </a:xfrm>
          <a:prstGeom prst="rect">
            <a:avLst/>
          </a:prstGeom>
          <a:solidFill>
            <a:srgbClr val="2D936C"/>
          </a:solidFill>
          <a:ln w="12700">
            <a:solidFill>
              <a:srgbClr val="2D936C"/>
            </a:solidFill>
            <a:prstDash val="solid"/>
          </a:ln>
        </p:spPr>
      </p:sp>
      <p:sp>
        <p:nvSpPr>
          <p:cNvPr id="17" name="Text 14"/>
          <p:cNvSpPr/>
          <p:nvPr/>
        </p:nvSpPr>
        <p:spPr>
          <a:xfrm>
            <a:off x="4873752" y="2743200"/>
            <a:ext cx="68397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a:t>
            </a:r>
            <a:endParaRPr lang="en-US" sz="1300" dirty="0"/>
          </a:p>
        </p:txBody>
      </p:sp>
      <p:sp>
        <p:nvSpPr>
          <p:cNvPr id="18" name="Text 15"/>
          <p:cNvSpPr/>
          <p:nvPr/>
        </p:nvSpPr>
        <p:spPr>
          <a:xfrm>
            <a:off x="4873752" y="3035808"/>
            <a:ext cx="6839712" cy="49377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Current mode, health, freshness, decisions, constraints, safe override and predictable recovery.</a:t>
            </a:r>
            <a:endParaRPr lang="en-US" sz="1400" dirty="0"/>
          </a:p>
        </p:txBody>
      </p:sp>
      <p:sp>
        <p:nvSpPr>
          <p:cNvPr id="19" name="Shape 16"/>
          <p:cNvSpPr/>
          <p:nvPr/>
        </p:nvSpPr>
        <p:spPr>
          <a:xfrm>
            <a:off x="4709160" y="3694176"/>
            <a:ext cx="3456432" cy="987552"/>
          </a:xfrm>
          <a:prstGeom prst="roundRect">
            <a:avLst>
              <a:gd name="adj" fmla="val 7407"/>
            </a:avLst>
          </a:prstGeom>
          <a:solidFill>
            <a:srgbClr val="FFFFFF"/>
          </a:solidFill>
          <a:ln w="10160">
            <a:solidFill>
              <a:srgbClr val="B74444"/>
            </a:solidFill>
            <a:prstDash val="solid"/>
          </a:ln>
        </p:spPr>
      </p:sp>
      <p:sp>
        <p:nvSpPr>
          <p:cNvPr id="20" name="Shape 17"/>
          <p:cNvSpPr/>
          <p:nvPr/>
        </p:nvSpPr>
        <p:spPr>
          <a:xfrm>
            <a:off x="4709160" y="3694176"/>
            <a:ext cx="73152" cy="987552"/>
          </a:xfrm>
          <a:prstGeom prst="rect">
            <a:avLst/>
          </a:prstGeom>
          <a:solidFill>
            <a:srgbClr val="B74444"/>
          </a:solidFill>
          <a:ln w="12700">
            <a:solidFill>
              <a:srgbClr val="B74444"/>
            </a:solidFill>
            <a:prstDash val="solid"/>
          </a:ln>
        </p:spPr>
      </p:sp>
      <p:sp>
        <p:nvSpPr>
          <p:cNvPr id="21" name="Text 18"/>
          <p:cNvSpPr/>
          <p:nvPr/>
        </p:nvSpPr>
        <p:spPr>
          <a:xfrm>
            <a:off x="4873752"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Fear</a:t>
            </a:r>
            <a:endParaRPr lang="en-US" sz="1300" dirty="0"/>
          </a:p>
        </p:txBody>
      </p:sp>
      <p:sp>
        <p:nvSpPr>
          <p:cNvPr id="22" name="Text 19"/>
          <p:cNvSpPr/>
          <p:nvPr/>
        </p:nvSpPr>
        <p:spPr>
          <a:xfrm>
            <a:off x="4873752" y="4059936"/>
            <a:ext cx="3163824" cy="548640"/>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Stale data can look normal. Unexpected decisions are hard to diagnose, and unsafe manual takeover is not acceptable.</a:t>
            </a:r>
            <a:endParaRPr lang="en-US" sz="1300" dirty="0"/>
          </a:p>
        </p:txBody>
      </p:sp>
      <p:sp>
        <p:nvSpPr>
          <p:cNvPr id="23" name="Shape 20"/>
          <p:cNvSpPr/>
          <p:nvPr/>
        </p:nvSpPr>
        <p:spPr>
          <a:xfrm>
            <a:off x="8385048" y="3694176"/>
            <a:ext cx="3456432" cy="987552"/>
          </a:xfrm>
          <a:prstGeom prst="roundRect">
            <a:avLst>
              <a:gd name="adj" fmla="val 7407"/>
            </a:avLst>
          </a:prstGeom>
          <a:solidFill>
            <a:srgbClr val="FBE4E4"/>
          </a:solidFill>
          <a:ln w="10160">
            <a:solidFill>
              <a:srgbClr val="B74444"/>
            </a:solidFill>
            <a:prstDash val="solid"/>
          </a:ln>
        </p:spPr>
      </p:sp>
      <p:sp>
        <p:nvSpPr>
          <p:cNvPr id="24" name="Shape 21"/>
          <p:cNvSpPr/>
          <p:nvPr/>
        </p:nvSpPr>
        <p:spPr>
          <a:xfrm>
            <a:off x="8385048" y="3694176"/>
            <a:ext cx="73152" cy="987552"/>
          </a:xfrm>
          <a:prstGeom prst="rect">
            <a:avLst/>
          </a:prstGeom>
          <a:solidFill>
            <a:srgbClr val="B74444"/>
          </a:solidFill>
          <a:ln w="12700">
            <a:solidFill>
              <a:srgbClr val="B74444"/>
            </a:solidFill>
            <a:prstDash val="solid"/>
          </a:ln>
        </p:spPr>
      </p:sp>
      <p:sp>
        <p:nvSpPr>
          <p:cNvPr id="25" name="Text 22"/>
          <p:cNvSpPr/>
          <p:nvPr/>
        </p:nvSpPr>
        <p:spPr>
          <a:xfrm>
            <a:off x="8549640"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Rejects</a:t>
            </a:r>
            <a:endParaRPr lang="en-US" sz="1300" dirty="0"/>
          </a:p>
        </p:txBody>
      </p:sp>
      <p:sp>
        <p:nvSpPr>
          <p:cNvPr id="26" name="Text 23"/>
          <p:cNvSpPr/>
          <p:nvPr/>
        </p:nvSpPr>
        <p:spPr>
          <a:xfrm>
            <a:off x="8549640" y="4059936"/>
            <a:ext cx="3163824" cy="54864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Silent degradation, an LLM in the control loop and a manual command that can create conflicting greens.</a:t>
            </a:r>
            <a:endParaRPr lang="en-US" sz="1250" dirty="0"/>
          </a:p>
        </p:txBody>
      </p:sp>
      <p:sp>
        <p:nvSpPr>
          <p:cNvPr id="27" name="Shape 24"/>
          <p:cNvSpPr/>
          <p:nvPr/>
        </p:nvSpPr>
        <p:spPr>
          <a:xfrm>
            <a:off x="4709160" y="4773168"/>
            <a:ext cx="7132320" cy="1664208"/>
          </a:xfrm>
          <a:prstGeom prst="roundRect">
            <a:avLst>
              <a:gd name="adj" fmla="val 4396"/>
            </a:avLst>
          </a:prstGeom>
          <a:solidFill>
            <a:srgbClr val="FFFFFF"/>
          </a:solidFill>
          <a:ln w="10160">
            <a:solidFill>
              <a:srgbClr val="176B87"/>
            </a:solidFill>
            <a:prstDash val="solid"/>
          </a:ln>
        </p:spPr>
      </p:sp>
      <p:sp>
        <p:nvSpPr>
          <p:cNvPr id="28" name="Text 25"/>
          <p:cNvSpPr/>
          <p:nvPr/>
        </p:nvSpPr>
        <p:spPr>
          <a:xfrm>
            <a:off x="4910328" y="4846320"/>
            <a:ext cx="6729984" cy="182880"/>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WHY · EVIDENCE · PROPOSED MEASURE</a:t>
            </a:r>
            <a:endParaRPr lang="en-US" sz="1000" dirty="0"/>
          </a:p>
        </p:txBody>
      </p:sp>
      <p:sp>
        <p:nvSpPr>
          <p:cNvPr id="29" name="Text 26"/>
          <p:cNvSpPr/>
          <p:nvPr/>
        </p:nvSpPr>
        <p:spPr>
          <a:xfrm>
            <a:off x="4910328" y="5047488"/>
            <a:ext cx="6729984"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Yuki represents the engineer who must diagnose failure and regain control without bypassing legal signal transitions.</a:t>
            </a:r>
            <a:endParaRPr lang="en-US" sz="1300" dirty="0"/>
          </a:p>
        </p:txBody>
      </p:sp>
      <p:sp>
        <p:nvSpPr>
          <p:cNvPr id="30" name="Text 27"/>
          <p:cNvSpPr/>
          <p:nvPr/>
        </p:nvSpPr>
        <p:spPr>
          <a:xfrm>
            <a:off x="4910328" y="5449824"/>
            <a:ext cx="6729984" cy="475488"/>
          </a:xfrm>
          <a:prstGeom prst="rect">
            <a:avLst/>
          </a:prstGeom>
          <a:noFill/>
          <a:ln/>
        </p:spPr>
        <p:txBody>
          <a:bodyPr wrap="square" lIns="762" tIns="762" rIns="762" bIns="762" rtlCol="0" anchor="t">
            <a:normAutofit/>
          </a:bodyPr>
          <a:lstStyle/>
          <a:p>
            <a:pPr indent="0" marL="0">
              <a:buNone/>
            </a:pPr>
            <a:r>
              <a:rPr lang="en-US" sz="1200" dirty="0">
                <a:solidFill>
                  <a:srgbClr val="4E6878"/>
                </a:solidFill>
                <a:latin typeface="Aptos" pitchFamily="34" charset="0"/>
                <a:ea typeface="Aptos" pitchFamily="34" charset="-122"/>
                <a:cs typeface="Aptos" pitchFamily="34" charset="-120"/>
              </a:rPr>
              <a:t>Operational systems document intervention and fallback concepts; they motivate—not validate—CoFlow-5's exact ladder. [C08]</a:t>
            </a:r>
            <a:endParaRPr lang="en-US" sz="1200" dirty="0"/>
          </a:p>
        </p:txBody>
      </p:sp>
      <p:sp>
        <p:nvSpPr>
          <p:cNvPr id="31" name="Text 28"/>
          <p:cNvSpPr/>
          <p:nvPr/>
        </p:nvSpPr>
        <p:spPr>
          <a:xfrm>
            <a:off x="4910328" y="5943600"/>
            <a:ext cx="6729984" cy="384048"/>
          </a:xfrm>
          <a:prstGeom prst="rect">
            <a:avLst/>
          </a:prstGeom>
          <a:noFill/>
          <a:ln/>
        </p:spPr>
        <p:txBody>
          <a:bodyPr wrap="square" lIns="762" tIns="762" rIns="762" bIns="762" rtlCol="0" anchor="t">
            <a:normAutofit/>
          </a:bodyPr>
          <a:lstStyle/>
          <a:p>
            <a:pPr indent="0" marL="0">
              <a:buNone/>
            </a:pPr>
            <a:r>
              <a:rPr lang="en-US" sz="1200" i="1" dirty="0">
                <a:solidFill>
                  <a:srgbClr val="CF7B1B"/>
                </a:solidFill>
                <a:latin typeface="Aptos" pitchFamily="34" charset="0"/>
                <a:ea typeface="Aptos" pitchFamily="34" charset="-122"/>
                <a:cs typeface="Aptos" pitchFamily="34" charset="-120"/>
              </a:rPr>
              <a:t>Target, not a result: Legal actions, transition reasons, health evidence, fallback order, log completeness and recovery time.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B"/>
        </a:solidFill>
      </p:bgPr>
    </p:bg>
    <p:spTree>
      <p:nvGrpSpPr>
        <p:cNvPr id="1" name=""/>
        <p:cNvGrpSpPr/>
        <p:nvPr/>
      </p:nvGrpSpPr>
      <p:grpSpPr>
        <a:xfrm>
          <a:off x="0" y="0"/>
          <a:ext cx="0" cy="0"/>
          <a:chOff x="0" y="0"/>
          <a:chExt cx="0" cy="0"/>
        </a:xfrm>
      </p:grpSpPr>
      <p:pic>
        <p:nvPicPr>
          <p:cNvPr id="2" name="Image 0" descr="C:\Users\dell\Downloads\sumo\docs\presentation\personas\p7-maria.png">    </p:cNvPr>
          <p:cNvPicPr>
            <a:picLocks noChangeAspect="1"/>
          </p:cNvPicPr>
          <p:nvPr/>
        </p:nvPicPr>
        <p:blipFill>
          <a:blip r:embed="rId1"/>
          <a:srcRect l="0" r="0" t="0" b="0"/>
          <a:stretch/>
        </p:blipFill>
        <p:spPr>
          <a:xfrm>
            <a:off x="0" y="0"/>
            <a:ext cx="4434840" cy="6858000"/>
          </a:xfrm>
          <a:prstGeom prst="rect">
            <a:avLst/>
          </a:prstGeom>
        </p:spPr>
      </p:pic>
      <p:sp>
        <p:nvSpPr>
          <p:cNvPr id="3" name="Shape 0"/>
          <p:cNvSpPr/>
          <p:nvPr/>
        </p:nvSpPr>
        <p:spPr>
          <a:xfrm>
            <a:off x="0" y="5074920"/>
            <a:ext cx="4434840" cy="1783080"/>
          </a:xfrm>
          <a:prstGeom prst="rect">
            <a:avLst/>
          </a:prstGeom>
          <a:solidFill>
            <a:srgbClr val="0B2239"/>
          </a:solidFill>
          <a:ln w="12700">
            <a:solidFill>
              <a:srgbClr val="0B2239"/>
            </a:solidFill>
            <a:prstDash val="solid"/>
          </a:ln>
        </p:spPr>
      </p:sp>
      <p:sp>
        <p:nvSpPr>
          <p:cNvPr id="4" name="Text 1"/>
          <p:cNvSpPr/>
          <p:nvPr/>
        </p:nvSpPr>
        <p:spPr>
          <a:xfrm>
            <a:off x="256032" y="5193792"/>
            <a:ext cx="3931920" cy="256032"/>
          </a:xfrm>
          <a:prstGeom prst="rect">
            <a:avLst/>
          </a:prstGeom>
          <a:noFill/>
          <a:ln/>
        </p:spPr>
        <p:txBody>
          <a:bodyPr wrap="square" lIns="762" tIns="762" rIns="762" bIns="762" rtlCol="0" anchor="ctr">
            <a:normAutofit/>
          </a:bodyPr>
          <a:lstStyle/>
          <a:p>
            <a:pPr indent="0" marL="0">
              <a:buNone/>
            </a:pPr>
            <a:r>
              <a:rPr lang="en-US" sz="1300" b="1" spc="80" kern="0" dirty="0">
                <a:solidFill>
                  <a:srgbClr val="7FE0D7"/>
                </a:solidFill>
                <a:latin typeface="Aptos" pitchFamily="34" charset="0"/>
                <a:ea typeface="Aptos" pitchFamily="34" charset="-122"/>
                <a:cs typeface="Aptos" pitchFamily="34" charset="-120"/>
              </a:rPr>
              <a:t>P7  ·  38</a:t>
            </a:r>
            <a:endParaRPr lang="en-US" sz="1300" dirty="0"/>
          </a:p>
        </p:txBody>
      </p:sp>
      <p:sp>
        <p:nvSpPr>
          <p:cNvPr id="5" name="Text 2"/>
          <p:cNvSpPr/>
          <p:nvPr/>
        </p:nvSpPr>
        <p:spPr>
          <a:xfrm>
            <a:off x="256032" y="5449824"/>
            <a:ext cx="3931920" cy="438912"/>
          </a:xfrm>
          <a:prstGeom prst="rect">
            <a:avLst/>
          </a:prstGeom>
          <a:noFill/>
          <a:ln/>
        </p:spPr>
        <p:txBody>
          <a:bodyPr wrap="square" lIns="762" tIns="762" rIns="762" bIns="762"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Maria</a:t>
            </a:r>
            <a:endParaRPr lang="en-US" sz="3200" dirty="0"/>
          </a:p>
        </p:txBody>
      </p:sp>
      <p:sp>
        <p:nvSpPr>
          <p:cNvPr id="6" name="Text 3"/>
          <p:cNvSpPr/>
          <p:nvPr/>
        </p:nvSpPr>
        <p:spPr>
          <a:xfrm>
            <a:off x="256032" y="5907024"/>
            <a:ext cx="3931920" cy="292608"/>
          </a:xfrm>
          <a:prstGeom prst="rect">
            <a:avLst/>
          </a:prstGeom>
          <a:noFill/>
          <a:ln/>
        </p:spPr>
        <p:txBody>
          <a:bodyPr wrap="square" lIns="762" tIns="762" rIns="762" bIns="762" rtlCol="0" anchor="ctr">
            <a:normAutofit/>
          </a:bodyPr>
          <a:lstStyle/>
          <a:p>
            <a:pPr indent="0" marL="0">
              <a:buNone/>
            </a:pPr>
            <a:r>
              <a:rPr lang="en-US" sz="1400" dirty="0">
                <a:solidFill>
                  <a:srgbClr val="B9DCE7"/>
                </a:solidFill>
                <a:latin typeface="Aptos" pitchFamily="34" charset="0"/>
                <a:ea typeface="Aptos" pitchFamily="34" charset="-122"/>
                <a:cs typeface="Aptos" pitchFamily="34" charset="-120"/>
              </a:rPr>
              <a:t>Parent living near an arterial</a:t>
            </a:r>
            <a:endParaRPr lang="en-US" sz="1400" dirty="0"/>
          </a:p>
        </p:txBody>
      </p:sp>
      <p:sp>
        <p:nvSpPr>
          <p:cNvPr id="7" name="Text 4"/>
          <p:cNvSpPr/>
          <p:nvPr/>
        </p:nvSpPr>
        <p:spPr>
          <a:xfrm>
            <a:off x="256032" y="6291072"/>
            <a:ext cx="3931920" cy="256032"/>
          </a:xfrm>
          <a:prstGeom prst="rect">
            <a:avLst/>
          </a:prstGeom>
          <a:noFill/>
          <a:ln/>
        </p:spPr>
        <p:txBody>
          <a:bodyPr wrap="square" lIns="762" tIns="762" rIns="762" bIns="762" rtlCol="0" anchor="ctr">
            <a:normAutofit/>
          </a:bodyPr>
          <a:lstStyle/>
          <a:p>
            <a:pPr indent="0" marL="0">
              <a:buNone/>
            </a:pPr>
            <a:r>
              <a:rPr lang="en-US" sz="1100" i="1" dirty="0">
                <a:solidFill>
                  <a:srgbClr val="7896A8"/>
                </a:solidFill>
                <a:latin typeface="Aptos" pitchFamily="34" charset="0"/>
                <a:ea typeface="Aptos" pitchFamily="34" charset="-122"/>
                <a:cs typeface="Aptos" pitchFamily="34" charset="-120"/>
              </a:rPr>
              <a:t>Illustration · not a real stakeholder</a:t>
            </a:r>
            <a:endParaRPr lang="en-US" sz="1100" dirty="0"/>
          </a:p>
        </p:txBody>
      </p:sp>
      <p:sp>
        <p:nvSpPr>
          <p:cNvPr id="8" name="Shape 5"/>
          <p:cNvSpPr/>
          <p:nvPr/>
        </p:nvSpPr>
        <p:spPr>
          <a:xfrm>
            <a:off x="4709160" y="256032"/>
            <a:ext cx="141732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4745736" y="269748"/>
            <a:ext cx="134416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10" name="Text 7"/>
          <p:cNvSpPr/>
          <p:nvPr/>
        </p:nvSpPr>
        <p:spPr>
          <a:xfrm>
            <a:off x="4709160" y="621792"/>
            <a:ext cx="7132320" cy="384048"/>
          </a:xfrm>
          <a:prstGeom prst="rect">
            <a:avLst/>
          </a:prstGeom>
          <a:noFill/>
          <a:ln/>
        </p:spPr>
        <p:txBody>
          <a:bodyPr wrap="square" lIns="762" tIns="762" rIns="762" bIns="762" rtlCol="0" anchor="ctr">
            <a:normAutofit/>
          </a:bodyPr>
          <a:lstStyle/>
          <a:p>
            <a:pPr indent="0" marL="0">
              <a:buNone/>
            </a:pPr>
            <a:r>
              <a:rPr lang="en-US" sz="2400" b="1" dirty="0">
                <a:solidFill>
                  <a:srgbClr val="0B2239"/>
                </a:solidFill>
                <a:latin typeface="Aptos Display" pitchFamily="34" charset="0"/>
                <a:ea typeface="Aptos Display" pitchFamily="34" charset="-122"/>
                <a:cs typeface="Aptos Display" pitchFamily="34" charset="-120"/>
              </a:rPr>
              <a:t>Persona 7 — Maria</a:t>
            </a:r>
            <a:endParaRPr lang="en-US" sz="2400" dirty="0"/>
          </a:p>
        </p:txBody>
      </p:sp>
      <p:sp>
        <p:nvSpPr>
          <p:cNvPr id="11" name="Text 8"/>
          <p:cNvSpPr/>
          <p:nvPr/>
        </p:nvSpPr>
        <p:spPr>
          <a:xfrm>
            <a:off x="4709160" y="1024128"/>
            <a:ext cx="7132320" cy="329184"/>
          </a:xfrm>
          <a:prstGeom prst="rect">
            <a:avLst/>
          </a:prstGeom>
          <a:noFill/>
          <a:ln/>
        </p:spPr>
        <p:txBody>
          <a:bodyPr wrap="square" lIns="762" tIns="762" rIns="762" bIns="762" rtlCol="0" anchor="ctr">
            <a:normAutofit/>
          </a:bodyPr>
          <a:lstStyle/>
          <a:p>
            <a:pPr indent="0" marL="0">
              <a:buNone/>
            </a:pPr>
            <a:r>
              <a:rPr lang="en-US" sz="1300" dirty="0">
                <a:solidFill>
                  <a:srgbClr val="4E6878"/>
                </a:solidFill>
                <a:latin typeface="Aptos" pitchFamily="34" charset="0"/>
                <a:ea typeface="Aptos" pitchFamily="34" charset="-122"/>
                <a:cs typeface="Aptos" pitchFamily="34" charset="-120"/>
              </a:rPr>
              <a:t>Walks her child along a school-adjacent street. Tunis design context (assumption).</a:t>
            </a:r>
            <a:endParaRPr lang="en-US" sz="1300" dirty="0"/>
          </a:p>
        </p:txBody>
      </p:sp>
      <p:sp>
        <p:nvSpPr>
          <p:cNvPr id="12" name="Shape 9"/>
          <p:cNvSpPr/>
          <p:nvPr/>
        </p:nvSpPr>
        <p:spPr>
          <a:xfrm>
            <a:off x="4709160" y="1444752"/>
            <a:ext cx="7132320" cy="1078992"/>
          </a:xfrm>
          <a:prstGeom prst="roundRect">
            <a:avLst>
              <a:gd name="adj" fmla="val 6780"/>
            </a:avLst>
          </a:prstGeom>
          <a:solidFill>
            <a:srgbClr val="DDEFF5"/>
          </a:solidFill>
          <a:ln w="10160">
            <a:solidFill>
              <a:srgbClr val="2D936C"/>
            </a:solidFill>
            <a:prstDash val="solid"/>
          </a:ln>
        </p:spPr>
      </p:sp>
      <p:sp>
        <p:nvSpPr>
          <p:cNvPr id="13" name="Text 10"/>
          <p:cNvSpPr/>
          <p:nvPr/>
        </p:nvSpPr>
        <p:spPr>
          <a:xfrm>
            <a:off x="4910328" y="1536192"/>
            <a:ext cx="6729984" cy="201168"/>
          </a:xfrm>
          <a:prstGeom prst="rect">
            <a:avLst/>
          </a:prstGeom>
          <a:noFill/>
          <a:ln/>
        </p:spPr>
        <p:txBody>
          <a:bodyPr wrap="square" lIns="762" tIns="762" rIns="762" bIns="762" rtlCol="0" anchor="ctr">
            <a:normAutofit/>
          </a:bodyPr>
          <a:lstStyle/>
          <a:p>
            <a:pPr indent="0" marL="0">
              <a:buNone/>
            </a:pPr>
            <a:r>
              <a:rPr lang="en-US" sz="1000" b="1" spc="60" kern="0" dirty="0">
                <a:solidFill>
                  <a:srgbClr val="2D936C"/>
                </a:solidFill>
                <a:latin typeface="Aptos" pitchFamily="34" charset="0"/>
                <a:ea typeface="Aptos" pitchFamily="34" charset="-122"/>
                <a:cs typeface="Aptos" pitchFamily="34" charset="-120"/>
              </a:rPr>
              <a:t>DESIGN STATEMENT · NOT AN INTERVIEW QUOTE</a:t>
            </a:r>
            <a:endParaRPr lang="en-US" sz="1000" dirty="0"/>
          </a:p>
        </p:txBody>
      </p:sp>
      <p:sp>
        <p:nvSpPr>
          <p:cNvPr id="14" name="Text 11"/>
          <p:cNvSpPr/>
          <p:nvPr/>
        </p:nvSpPr>
        <p:spPr>
          <a:xfrm>
            <a:off x="4910328" y="1755648"/>
            <a:ext cx="6729984" cy="621792"/>
          </a:xfrm>
          <a:prstGeom prst="rect">
            <a:avLst/>
          </a:prstGeom>
          <a:noFill/>
          <a:ln/>
        </p:spPr>
        <p:txBody>
          <a:bodyPr wrap="square" lIns="762" tIns="762" rIns="762" bIns="762" rtlCol="0" anchor="t">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“Cleaner traffic on the main road must not mean more exhaust outside our homes.”</a:t>
            </a:r>
            <a:endParaRPr lang="en-US" sz="1800" dirty="0"/>
          </a:p>
        </p:txBody>
      </p:sp>
      <p:sp>
        <p:nvSpPr>
          <p:cNvPr id="15" name="Shape 12"/>
          <p:cNvSpPr/>
          <p:nvPr/>
        </p:nvSpPr>
        <p:spPr>
          <a:xfrm>
            <a:off x="4709160" y="2670048"/>
            <a:ext cx="7132320" cy="932688"/>
          </a:xfrm>
          <a:prstGeom prst="roundRect">
            <a:avLst>
              <a:gd name="adj" fmla="val 7843"/>
            </a:avLst>
          </a:prstGeom>
          <a:solidFill>
            <a:srgbClr val="DDF3EC"/>
          </a:solidFill>
          <a:ln w="10160">
            <a:solidFill>
              <a:srgbClr val="2D936C"/>
            </a:solidFill>
            <a:prstDash val="solid"/>
          </a:ln>
        </p:spPr>
      </p:sp>
      <p:sp>
        <p:nvSpPr>
          <p:cNvPr id="16" name="Shape 13"/>
          <p:cNvSpPr/>
          <p:nvPr/>
        </p:nvSpPr>
        <p:spPr>
          <a:xfrm>
            <a:off x="4709160" y="2670048"/>
            <a:ext cx="73152" cy="932688"/>
          </a:xfrm>
          <a:prstGeom prst="rect">
            <a:avLst/>
          </a:prstGeom>
          <a:solidFill>
            <a:srgbClr val="2D936C"/>
          </a:solidFill>
          <a:ln w="12700">
            <a:solidFill>
              <a:srgbClr val="2D936C"/>
            </a:solidFill>
            <a:prstDash val="solid"/>
          </a:ln>
        </p:spPr>
      </p:sp>
      <p:sp>
        <p:nvSpPr>
          <p:cNvPr id="17" name="Text 14"/>
          <p:cNvSpPr/>
          <p:nvPr/>
        </p:nvSpPr>
        <p:spPr>
          <a:xfrm>
            <a:off x="4873752" y="2743200"/>
            <a:ext cx="68397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a:t>
            </a:r>
            <a:endParaRPr lang="en-US" sz="1300" dirty="0"/>
          </a:p>
        </p:txBody>
      </p:sp>
      <p:sp>
        <p:nvSpPr>
          <p:cNvPr id="18" name="Text 15"/>
          <p:cNvSpPr/>
          <p:nvPr/>
        </p:nvSpPr>
        <p:spPr>
          <a:xfrm>
            <a:off x="4873752" y="3035808"/>
            <a:ext cx="6839712" cy="49377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Link-level maps, school-sensitive checks, before/after comparison and explicit displacement limits.</a:t>
            </a:r>
            <a:endParaRPr lang="en-US" sz="1400" dirty="0"/>
          </a:p>
        </p:txBody>
      </p:sp>
      <p:sp>
        <p:nvSpPr>
          <p:cNvPr id="19" name="Shape 16"/>
          <p:cNvSpPr/>
          <p:nvPr/>
        </p:nvSpPr>
        <p:spPr>
          <a:xfrm>
            <a:off x="4709160" y="3694176"/>
            <a:ext cx="3456432" cy="987552"/>
          </a:xfrm>
          <a:prstGeom prst="roundRect">
            <a:avLst>
              <a:gd name="adj" fmla="val 7407"/>
            </a:avLst>
          </a:prstGeom>
          <a:solidFill>
            <a:srgbClr val="FFFFFF"/>
          </a:solidFill>
          <a:ln w="10160">
            <a:solidFill>
              <a:srgbClr val="B74444"/>
            </a:solidFill>
            <a:prstDash val="solid"/>
          </a:ln>
        </p:spPr>
      </p:sp>
      <p:sp>
        <p:nvSpPr>
          <p:cNvPr id="20" name="Shape 17"/>
          <p:cNvSpPr/>
          <p:nvPr/>
        </p:nvSpPr>
        <p:spPr>
          <a:xfrm>
            <a:off x="4709160" y="3694176"/>
            <a:ext cx="73152" cy="987552"/>
          </a:xfrm>
          <a:prstGeom prst="rect">
            <a:avLst/>
          </a:prstGeom>
          <a:solidFill>
            <a:srgbClr val="B74444"/>
          </a:solidFill>
          <a:ln w="12700">
            <a:solidFill>
              <a:srgbClr val="B74444"/>
            </a:solidFill>
            <a:prstDash val="solid"/>
          </a:ln>
        </p:spPr>
      </p:sp>
      <p:sp>
        <p:nvSpPr>
          <p:cNvPr id="21" name="Text 18"/>
          <p:cNvSpPr/>
          <p:nvPr/>
        </p:nvSpPr>
        <p:spPr>
          <a:xfrm>
            <a:off x="4873752"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Fear</a:t>
            </a:r>
            <a:endParaRPr lang="en-US" sz="1300" dirty="0"/>
          </a:p>
        </p:txBody>
      </p:sp>
      <p:sp>
        <p:nvSpPr>
          <p:cNvPr id="22" name="Text 19"/>
          <p:cNvSpPr/>
          <p:nvPr/>
        </p:nvSpPr>
        <p:spPr>
          <a:xfrm>
            <a:off x="4873752" y="4059936"/>
            <a:ext cx="3163824" cy="548640"/>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A network average can hide queues moved to her street. Modelled emissions are not the air her family breathes.</a:t>
            </a:r>
            <a:endParaRPr lang="en-US" sz="1300" dirty="0"/>
          </a:p>
        </p:txBody>
      </p:sp>
      <p:sp>
        <p:nvSpPr>
          <p:cNvPr id="23" name="Shape 20"/>
          <p:cNvSpPr/>
          <p:nvPr/>
        </p:nvSpPr>
        <p:spPr>
          <a:xfrm>
            <a:off x="8385048" y="3694176"/>
            <a:ext cx="3456432" cy="987552"/>
          </a:xfrm>
          <a:prstGeom prst="roundRect">
            <a:avLst>
              <a:gd name="adj" fmla="val 7407"/>
            </a:avLst>
          </a:prstGeom>
          <a:solidFill>
            <a:srgbClr val="FBE4E4"/>
          </a:solidFill>
          <a:ln w="10160">
            <a:solidFill>
              <a:srgbClr val="B74444"/>
            </a:solidFill>
            <a:prstDash val="solid"/>
          </a:ln>
        </p:spPr>
      </p:sp>
      <p:sp>
        <p:nvSpPr>
          <p:cNvPr id="24" name="Shape 21"/>
          <p:cNvSpPr/>
          <p:nvPr/>
        </p:nvSpPr>
        <p:spPr>
          <a:xfrm>
            <a:off x="8385048" y="3694176"/>
            <a:ext cx="73152" cy="987552"/>
          </a:xfrm>
          <a:prstGeom prst="rect">
            <a:avLst/>
          </a:prstGeom>
          <a:solidFill>
            <a:srgbClr val="B74444"/>
          </a:solidFill>
          <a:ln w="12700">
            <a:solidFill>
              <a:srgbClr val="B74444"/>
            </a:solidFill>
            <a:prstDash val="solid"/>
          </a:ln>
        </p:spPr>
      </p:sp>
      <p:sp>
        <p:nvSpPr>
          <p:cNvPr id="25" name="Text 22"/>
          <p:cNvSpPr/>
          <p:nvPr/>
        </p:nvSpPr>
        <p:spPr>
          <a:xfrm>
            <a:off x="8549640"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Rejects</a:t>
            </a:r>
            <a:endParaRPr lang="en-US" sz="1300" dirty="0"/>
          </a:p>
        </p:txBody>
      </p:sp>
      <p:sp>
        <p:nvSpPr>
          <p:cNvPr id="26" name="Text 23"/>
          <p:cNvSpPr/>
          <p:nvPr/>
        </p:nvSpPr>
        <p:spPr>
          <a:xfrm>
            <a:off x="8549640" y="4059936"/>
            <a:ext cx="3163824" cy="54864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Calling HBEFA air quality, hiding a worse side street, or claiming a Tunis deployment from simulation.</a:t>
            </a:r>
            <a:endParaRPr lang="en-US" sz="1250" dirty="0"/>
          </a:p>
        </p:txBody>
      </p:sp>
      <p:sp>
        <p:nvSpPr>
          <p:cNvPr id="27" name="Shape 24"/>
          <p:cNvSpPr/>
          <p:nvPr/>
        </p:nvSpPr>
        <p:spPr>
          <a:xfrm>
            <a:off x="4709160" y="4773168"/>
            <a:ext cx="7132320" cy="1664208"/>
          </a:xfrm>
          <a:prstGeom prst="roundRect">
            <a:avLst>
              <a:gd name="adj" fmla="val 4396"/>
            </a:avLst>
          </a:prstGeom>
          <a:solidFill>
            <a:srgbClr val="FFFFFF"/>
          </a:solidFill>
          <a:ln w="10160">
            <a:solidFill>
              <a:srgbClr val="176B87"/>
            </a:solidFill>
            <a:prstDash val="solid"/>
          </a:ln>
        </p:spPr>
      </p:sp>
      <p:sp>
        <p:nvSpPr>
          <p:cNvPr id="28" name="Text 25"/>
          <p:cNvSpPr/>
          <p:nvPr/>
        </p:nvSpPr>
        <p:spPr>
          <a:xfrm>
            <a:off x="4910328" y="4846320"/>
            <a:ext cx="6729984" cy="182880"/>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WHY · EVIDENCE · PROPOSED MEASURE</a:t>
            </a:r>
            <a:endParaRPr lang="en-US" sz="1000" dirty="0"/>
          </a:p>
        </p:txBody>
      </p:sp>
      <p:sp>
        <p:nvSpPr>
          <p:cNvPr id="29" name="Text 26"/>
          <p:cNvSpPr/>
          <p:nvPr/>
        </p:nvSpPr>
        <p:spPr>
          <a:xfrm>
            <a:off x="4910328" y="5047488"/>
            <a:ext cx="6729984"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Maria represents residents who bear local burdens even when a city-wide metric improves.</a:t>
            </a:r>
            <a:endParaRPr lang="en-US" sz="1300" dirty="0"/>
          </a:p>
        </p:txBody>
      </p:sp>
      <p:sp>
        <p:nvSpPr>
          <p:cNvPr id="30" name="Text 27"/>
          <p:cNvSpPr/>
          <p:nvPr/>
        </p:nvSpPr>
        <p:spPr>
          <a:xfrm>
            <a:off x="4910328" y="5449824"/>
            <a:ext cx="6729984" cy="475488"/>
          </a:xfrm>
          <a:prstGeom prst="rect">
            <a:avLst/>
          </a:prstGeom>
          <a:noFill/>
          <a:ln/>
        </p:spPr>
        <p:txBody>
          <a:bodyPr wrap="square" lIns="762" tIns="762" rIns="762" bIns="762" rtlCol="0" anchor="t">
            <a:normAutofit/>
          </a:bodyPr>
          <a:lstStyle/>
          <a:p>
            <a:pPr indent="0" marL="0">
              <a:buNone/>
            </a:pPr>
            <a:r>
              <a:rPr lang="en-US" sz="1200" dirty="0">
                <a:solidFill>
                  <a:srgbClr val="4E6878"/>
                </a:solidFill>
                <a:latin typeface="Aptos" pitchFamily="34" charset="0"/>
                <a:ea typeface="Aptos" pitchFamily="34" charset="-122"/>
                <a:cs typeface="Aptos" pitchFamily="34" charset="-120"/>
              </a:rPr>
              <a:t>For 2005–2006, 6.4 million students (12.5% of the studied US population) attended schools within 250 m of a major road. [C09]</a:t>
            </a:r>
            <a:endParaRPr lang="en-US" sz="1200" dirty="0"/>
          </a:p>
        </p:txBody>
      </p:sp>
      <p:sp>
        <p:nvSpPr>
          <p:cNvPr id="31" name="Text 28"/>
          <p:cNvSpPr/>
          <p:nvPr/>
        </p:nvSpPr>
        <p:spPr>
          <a:xfrm>
            <a:off x="4910328" y="5943600"/>
            <a:ext cx="6729984" cy="384048"/>
          </a:xfrm>
          <a:prstGeom prst="rect">
            <a:avLst/>
          </a:prstGeom>
          <a:noFill/>
          <a:ln/>
        </p:spPr>
        <p:txBody>
          <a:bodyPr wrap="square" lIns="762" tIns="762" rIns="762" bIns="762" rtlCol="0" anchor="t">
            <a:normAutofit/>
          </a:bodyPr>
          <a:lstStyle/>
          <a:p>
            <a:pPr indent="0" marL="0">
              <a:buNone/>
            </a:pPr>
            <a:r>
              <a:rPr lang="en-US" sz="1200" i="1" dirty="0">
                <a:solidFill>
                  <a:srgbClr val="CF7B1B"/>
                </a:solidFill>
                <a:latin typeface="Aptos" pitchFamily="34" charset="0"/>
                <a:ea typeface="Aptos" pitchFamily="34" charset="-122"/>
                <a:cs typeface="Aptos" pitchFamily="34" charset="-120"/>
              </a:rPr>
              <a:t>Target, not a result: Per-link stops and emission proxies near selected receptors; displacement map; no ambient-exposure claim.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p:bgPr>
    </p:bg>
    <p:spTree>
      <p:nvGrpSpPr>
        <p:cNvPr id="1" name=""/>
        <p:cNvGrpSpPr/>
        <p:nvPr/>
      </p:nvGrpSpPr>
      <p:grpSpPr>
        <a:xfrm>
          <a:off x="0" y="0"/>
          <a:ext cx="0" cy="0"/>
          <a:chOff x="0" y="0"/>
          <a:chExt cx="0" cy="0"/>
        </a:xfrm>
      </p:grpSpPr>
      <p:pic>
        <p:nvPicPr>
          <p:cNvPr id="2" name="Image 0" descr="C:\Users\dell\Downloads\sumo\docs\presentation\personas\p8-omar.png">    </p:cNvPr>
          <p:cNvPicPr>
            <a:picLocks noChangeAspect="1"/>
          </p:cNvPicPr>
          <p:nvPr/>
        </p:nvPicPr>
        <p:blipFill>
          <a:blip r:embed="rId1"/>
          <a:srcRect l="0" r="0" t="0" b="0"/>
          <a:stretch/>
        </p:blipFill>
        <p:spPr>
          <a:xfrm>
            <a:off x="0" y="0"/>
            <a:ext cx="4434840" cy="6858000"/>
          </a:xfrm>
          <a:prstGeom prst="rect">
            <a:avLst/>
          </a:prstGeom>
        </p:spPr>
      </p:pic>
      <p:sp>
        <p:nvSpPr>
          <p:cNvPr id="3" name="Shape 0"/>
          <p:cNvSpPr/>
          <p:nvPr/>
        </p:nvSpPr>
        <p:spPr>
          <a:xfrm>
            <a:off x="0" y="5074920"/>
            <a:ext cx="4434840" cy="1783080"/>
          </a:xfrm>
          <a:prstGeom prst="rect">
            <a:avLst/>
          </a:prstGeom>
          <a:solidFill>
            <a:srgbClr val="0B2239"/>
          </a:solidFill>
          <a:ln w="12700">
            <a:solidFill>
              <a:srgbClr val="0B2239"/>
            </a:solidFill>
            <a:prstDash val="solid"/>
          </a:ln>
        </p:spPr>
      </p:sp>
      <p:sp>
        <p:nvSpPr>
          <p:cNvPr id="4" name="Text 1"/>
          <p:cNvSpPr/>
          <p:nvPr/>
        </p:nvSpPr>
        <p:spPr>
          <a:xfrm>
            <a:off x="256032" y="5193792"/>
            <a:ext cx="3931920" cy="256032"/>
          </a:xfrm>
          <a:prstGeom prst="rect">
            <a:avLst/>
          </a:prstGeom>
          <a:noFill/>
          <a:ln/>
        </p:spPr>
        <p:txBody>
          <a:bodyPr wrap="square" lIns="762" tIns="762" rIns="762" bIns="762" rtlCol="0" anchor="ctr">
            <a:normAutofit/>
          </a:bodyPr>
          <a:lstStyle/>
          <a:p>
            <a:pPr indent="0" marL="0">
              <a:buNone/>
            </a:pPr>
            <a:r>
              <a:rPr lang="en-US" sz="1300" b="1" spc="80" kern="0" dirty="0">
                <a:solidFill>
                  <a:srgbClr val="7FE0D7"/>
                </a:solidFill>
                <a:latin typeface="Aptos" pitchFamily="34" charset="0"/>
                <a:ea typeface="Aptos" pitchFamily="34" charset="-122"/>
                <a:cs typeface="Aptos" pitchFamily="34" charset="-120"/>
              </a:rPr>
              <a:t>P8  ·  55</a:t>
            </a:r>
            <a:endParaRPr lang="en-US" sz="1300" dirty="0"/>
          </a:p>
        </p:txBody>
      </p:sp>
      <p:sp>
        <p:nvSpPr>
          <p:cNvPr id="5" name="Text 2"/>
          <p:cNvSpPr/>
          <p:nvPr/>
        </p:nvSpPr>
        <p:spPr>
          <a:xfrm>
            <a:off x="256032" y="5449824"/>
            <a:ext cx="3931920" cy="438912"/>
          </a:xfrm>
          <a:prstGeom prst="rect">
            <a:avLst/>
          </a:prstGeom>
          <a:noFill/>
          <a:ln/>
        </p:spPr>
        <p:txBody>
          <a:bodyPr wrap="square" lIns="762" tIns="762" rIns="762" bIns="762"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Omar</a:t>
            </a:r>
            <a:endParaRPr lang="en-US" sz="3200" dirty="0"/>
          </a:p>
        </p:txBody>
      </p:sp>
      <p:sp>
        <p:nvSpPr>
          <p:cNvPr id="6" name="Text 3"/>
          <p:cNvSpPr/>
          <p:nvPr/>
        </p:nvSpPr>
        <p:spPr>
          <a:xfrm>
            <a:off x="256032" y="5907024"/>
            <a:ext cx="3931920" cy="292608"/>
          </a:xfrm>
          <a:prstGeom prst="rect">
            <a:avLst/>
          </a:prstGeom>
          <a:noFill/>
          <a:ln/>
        </p:spPr>
        <p:txBody>
          <a:bodyPr wrap="square" lIns="762" tIns="762" rIns="762" bIns="762" rtlCol="0" anchor="ctr">
            <a:normAutofit/>
          </a:bodyPr>
          <a:lstStyle/>
          <a:p>
            <a:pPr indent="0" marL="0">
              <a:buNone/>
            </a:pPr>
            <a:r>
              <a:rPr lang="en-US" sz="1400" dirty="0">
                <a:solidFill>
                  <a:srgbClr val="B9DCE7"/>
                </a:solidFill>
                <a:latin typeface="Aptos" pitchFamily="34" charset="0"/>
                <a:ea typeface="Aptos" pitchFamily="34" charset="-122"/>
                <a:cs typeface="Aptos" pitchFamily="34" charset="-120"/>
              </a:rPr>
              <a:t>Network duty officer</a:t>
            </a:r>
            <a:endParaRPr lang="en-US" sz="1400" dirty="0"/>
          </a:p>
        </p:txBody>
      </p:sp>
      <p:sp>
        <p:nvSpPr>
          <p:cNvPr id="7" name="Text 4"/>
          <p:cNvSpPr/>
          <p:nvPr/>
        </p:nvSpPr>
        <p:spPr>
          <a:xfrm>
            <a:off x="256032" y="6291072"/>
            <a:ext cx="3931920" cy="256032"/>
          </a:xfrm>
          <a:prstGeom prst="rect">
            <a:avLst/>
          </a:prstGeom>
          <a:noFill/>
          <a:ln/>
        </p:spPr>
        <p:txBody>
          <a:bodyPr wrap="square" lIns="762" tIns="762" rIns="762" bIns="762" rtlCol="0" anchor="ctr">
            <a:normAutofit/>
          </a:bodyPr>
          <a:lstStyle/>
          <a:p>
            <a:pPr indent="0" marL="0">
              <a:buNone/>
            </a:pPr>
            <a:r>
              <a:rPr lang="en-US" sz="1100" i="1" dirty="0">
                <a:solidFill>
                  <a:srgbClr val="7896A8"/>
                </a:solidFill>
                <a:latin typeface="Aptos" pitchFamily="34" charset="0"/>
                <a:ea typeface="Aptos" pitchFamily="34" charset="-122"/>
                <a:cs typeface="Aptos" pitchFamily="34" charset="-120"/>
              </a:rPr>
              <a:t>Illustration · not a real stakeholder</a:t>
            </a:r>
            <a:endParaRPr lang="en-US" sz="1100" dirty="0"/>
          </a:p>
        </p:txBody>
      </p:sp>
      <p:sp>
        <p:nvSpPr>
          <p:cNvPr id="8" name="Shape 5"/>
          <p:cNvSpPr/>
          <p:nvPr/>
        </p:nvSpPr>
        <p:spPr>
          <a:xfrm>
            <a:off x="4709160" y="256032"/>
            <a:ext cx="141732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4745736" y="269748"/>
            <a:ext cx="134416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10" name="Text 7"/>
          <p:cNvSpPr/>
          <p:nvPr/>
        </p:nvSpPr>
        <p:spPr>
          <a:xfrm>
            <a:off x="4709160" y="621792"/>
            <a:ext cx="7132320" cy="384048"/>
          </a:xfrm>
          <a:prstGeom prst="rect">
            <a:avLst/>
          </a:prstGeom>
          <a:noFill/>
          <a:ln/>
        </p:spPr>
        <p:txBody>
          <a:bodyPr wrap="square" lIns="762" tIns="762" rIns="762" bIns="762" rtlCol="0" anchor="ctr">
            <a:normAutofit/>
          </a:bodyPr>
          <a:lstStyle/>
          <a:p>
            <a:pPr indent="0" marL="0">
              <a:buNone/>
            </a:pPr>
            <a:r>
              <a:rPr lang="en-US" sz="2400" b="1" dirty="0">
                <a:solidFill>
                  <a:srgbClr val="0B2239"/>
                </a:solidFill>
                <a:latin typeface="Aptos Display" pitchFamily="34" charset="0"/>
                <a:ea typeface="Aptos Display" pitchFamily="34" charset="-122"/>
                <a:cs typeface="Aptos Display" pitchFamily="34" charset="-120"/>
              </a:rPr>
              <a:t>Persona 8 — Omar</a:t>
            </a:r>
            <a:endParaRPr lang="en-US" sz="2400" dirty="0"/>
          </a:p>
        </p:txBody>
      </p:sp>
      <p:sp>
        <p:nvSpPr>
          <p:cNvPr id="11" name="Text 8"/>
          <p:cNvSpPr/>
          <p:nvPr/>
        </p:nvSpPr>
        <p:spPr>
          <a:xfrm>
            <a:off x="4709160" y="1024128"/>
            <a:ext cx="7132320" cy="329184"/>
          </a:xfrm>
          <a:prstGeom prst="rect">
            <a:avLst/>
          </a:prstGeom>
          <a:noFill/>
          <a:ln/>
        </p:spPr>
        <p:txBody>
          <a:bodyPr wrap="square" lIns="762" tIns="762" rIns="762" bIns="762" rtlCol="0" anchor="ctr">
            <a:normAutofit/>
          </a:bodyPr>
          <a:lstStyle/>
          <a:p>
            <a:pPr indent="0" marL="0">
              <a:buNone/>
            </a:pPr>
            <a:r>
              <a:rPr lang="en-US" sz="1300" dirty="0">
                <a:solidFill>
                  <a:srgbClr val="4E6878"/>
                </a:solidFill>
                <a:latin typeface="Aptos" pitchFamily="34" charset="0"/>
                <a:ea typeface="Aptos" pitchFamily="34" charset="-122"/>
                <a:cs typeface="Aptos" pitchFamily="34" charset="-120"/>
              </a:rPr>
              <a:t>Monitors incidents and coordinates operational response. Tunis design context (assumption).</a:t>
            </a:r>
            <a:endParaRPr lang="en-US" sz="1300" dirty="0"/>
          </a:p>
        </p:txBody>
      </p:sp>
      <p:sp>
        <p:nvSpPr>
          <p:cNvPr id="12" name="Shape 9"/>
          <p:cNvSpPr/>
          <p:nvPr/>
        </p:nvSpPr>
        <p:spPr>
          <a:xfrm>
            <a:off x="4709160" y="1444752"/>
            <a:ext cx="7132320" cy="1078992"/>
          </a:xfrm>
          <a:prstGeom prst="roundRect">
            <a:avLst>
              <a:gd name="adj" fmla="val 6780"/>
            </a:avLst>
          </a:prstGeom>
          <a:solidFill>
            <a:srgbClr val="DDEFF5"/>
          </a:solidFill>
          <a:ln w="10160">
            <a:solidFill>
              <a:srgbClr val="123552"/>
            </a:solidFill>
            <a:prstDash val="solid"/>
          </a:ln>
        </p:spPr>
      </p:sp>
      <p:sp>
        <p:nvSpPr>
          <p:cNvPr id="13" name="Text 10"/>
          <p:cNvSpPr/>
          <p:nvPr/>
        </p:nvSpPr>
        <p:spPr>
          <a:xfrm>
            <a:off x="4910328" y="1536192"/>
            <a:ext cx="6729984" cy="201168"/>
          </a:xfrm>
          <a:prstGeom prst="rect">
            <a:avLst/>
          </a:prstGeom>
          <a:noFill/>
          <a:ln/>
        </p:spPr>
        <p:txBody>
          <a:bodyPr wrap="square" lIns="762" tIns="762" rIns="762" bIns="762" rtlCol="0" anchor="ctr">
            <a:normAutofit/>
          </a:bodyPr>
          <a:lstStyle/>
          <a:p>
            <a:pPr indent="0" marL="0">
              <a:buNone/>
            </a:pPr>
            <a:r>
              <a:rPr lang="en-US" sz="1000" b="1" spc="60" kern="0" dirty="0">
                <a:solidFill>
                  <a:srgbClr val="123552"/>
                </a:solidFill>
                <a:latin typeface="Aptos" pitchFamily="34" charset="0"/>
                <a:ea typeface="Aptos" pitchFamily="34" charset="-122"/>
                <a:cs typeface="Aptos" pitchFamily="34" charset="-120"/>
              </a:rPr>
              <a:t>DESIGN STATEMENT · NOT AN INTERVIEW QUOTE</a:t>
            </a:r>
            <a:endParaRPr lang="en-US" sz="1000" dirty="0"/>
          </a:p>
        </p:txBody>
      </p:sp>
      <p:sp>
        <p:nvSpPr>
          <p:cNvPr id="14" name="Text 11"/>
          <p:cNvSpPr/>
          <p:nvPr/>
        </p:nvSpPr>
        <p:spPr>
          <a:xfrm>
            <a:off x="4910328" y="1755648"/>
            <a:ext cx="6729984" cy="621792"/>
          </a:xfrm>
          <a:prstGeom prst="rect">
            <a:avLst/>
          </a:prstGeom>
          <a:noFill/>
          <a:ln/>
        </p:spPr>
        <p:txBody>
          <a:bodyPr wrap="square" lIns="762" tIns="762" rIns="762" bIns="762" rtlCol="0" anchor="t">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“Tell me what is wrong, why you think so, and whether I can still trust the data.”</a:t>
            </a:r>
            <a:endParaRPr lang="en-US" sz="1800" dirty="0"/>
          </a:p>
        </p:txBody>
      </p:sp>
      <p:sp>
        <p:nvSpPr>
          <p:cNvPr id="15" name="Shape 12"/>
          <p:cNvSpPr/>
          <p:nvPr/>
        </p:nvSpPr>
        <p:spPr>
          <a:xfrm>
            <a:off x="4709160" y="2670048"/>
            <a:ext cx="7132320" cy="932688"/>
          </a:xfrm>
          <a:prstGeom prst="roundRect">
            <a:avLst>
              <a:gd name="adj" fmla="val 7843"/>
            </a:avLst>
          </a:prstGeom>
          <a:solidFill>
            <a:srgbClr val="DDF3EC"/>
          </a:solidFill>
          <a:ln w="10160">
            <a:solidFill>
              <a:srgbClr val="2D936C"/>
            </a:solidFill>
            <a:prstDash val="solid"/>
          </a:ln>
        </p:spPr>
      </p:sp>
      <p:sp>
        <p:nvSpPr>
          <p:cNvPr id="16" name="Shape 13"/>
          <p:cNvSpPr/>
          <p:nvPr/>
        </p:nvSpPr>
        <p:spPr>
          <a:xfrm>
            <a:off x="4709160" y="2670048"/>
            <a:ext cx="73152" cy="932688"/>
          </a:xfrm>
          <a:prstGeom prst="rect">
            <a:avLst/>
          </a:prstGeom>
          <a:solidFill>
            <a:srgbClr val="2D936C"/>
          </a:solidFill>
          <a:ln w="12700">
            <a:solidFill>
              <a:srgbClr val="2D936C"/>
            </a:solidFill>
            <a:prstDash val="solid"/>
          </a:ln>
        </p:spPr>
      </p:sp>
      <p:sp>
        <p:nvSpPr>
          <p:cNvPr id="17" name="Text 14"/>
          <p:cNvSpPr/>
          <p:nvPr/>
        </p:nvSpPr>
        <p:spPr>
          <a:xfrm>
            <a:off x="4873752" y="2743200"/>
            <a:ext cx="68397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a:t>
            </a:r>
            <a:endParaRPr lang="en-US" sz="1300" dirty="0"/>
          </a:p>
        </p:txBody>
      </p:sp>
      <p:sp>
        <p:nvSpPr>
          <p:cNvPr id="18" name="Text 15"/>
          <p:cNvSpPr/>
          <p:nvPr/>
        </p:nvSpPr>
        <p:spPr>
          <a:xfrm>
            <a:off x="4873752" y="3035808"/>
            <a:ext cx="6839712" cy="49377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Severity, observations, uncertainty, freshness, data-health warnings and recovery tracked after clearance.</a:t>
            </a:r>
            <a:endParaRPr lang="en-US" sz="1400" dirty="0"/>
          </a:p>
        </p:txBody>
      </p:sp>
      <p:sp>
        <p:nvSpPr>
          <p:cNvPr id="19" name="Shape 16"/>
          <p:cNvSpPr/>
          <p:nvPr/>
        </p:nvSpPr>
        <p:spPr>
          <a:xfrm>
            <a:off x="4709160" y="3694176"/>
            <a:ext cx="3456432" cy="987552"/>
          </a:xfrm>
          <a:prstGeom prst="roundRect">
            <a:avLst>
              <a:gd name="adj" fmla="val 7407"/>
            </a:avLst>
          </a:prstGeom>
          <a:solidFill>
            <a:srgbClr val="FFFFFF"/>
          </a:solidFill>
          <a:ln w="10160">
            <a:solidFill>
              <a:srgbClr val="B74444"/>
            </a:solidFill>
            <a:prstDash val="solid"/>
          </a:ln>
        </p:spPr>
      </p:sp>
      <p:sp>
        <p:nvSpPr>
          <p:cNvPr id="20" name="Shape 17"/>
          <p:cNvSpPr/>
          <p:nvPr/>
        </p:nvSpPr>
        <p:spPr>
          <a:xfrm>
            <a:off x="4709160" y="3694176"/>
            <a:ext cx="73152" cy="987552"/>
          </a:xfrm>
          <a:prstGeom prst="rect">
            <a:avLst/>
          </a:prstGeom>
          <a:solidFill>
            <a:srgbClr val="B74444"/>
          </a:solidFill>
          <a:ln w="12700">
            <a:solidFill>
              <a:srgbClr val="B74444"/>
            </a:solidFill>
            <a:prstDash val="solid"/>
          </a:ln>
        </p:spPr>
      </p:sp>
      <p:sp>
        <p:nvSpPr>
          <p:cNvPr id="21" name="Text 18"/>
          <p:cNvSpPr/>
          <p:nvPr/>
        </p:nvSpPr>
        <p:spPr>
          <a:xfrm>
            <a:off x="4873752"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Fear</a:t>
            </a:r>
            <a:endParaRPr lang="en-US" sz="1300" dirty="0"/>
          </a:p>
        </p:txBody>
      </p:sp>
      <p:sp>
        <p:nvSpPr>
          <p:cNvPr id="22" name="Text 19"/>
          <p:cNvSpPr/>
          <p:nvPr/>
        </p:nvSpPr>
        <p:spPr>
          <a:xfrm>
            <a:off x="4873752" y="4059936"/>
            <a:ext cx="3163824" cy="548640"/>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False alarms destroy trust. A queue may mean an incident, demand or a dead sensor; a frozen screen can look healthy.</a:t>
            </a:r>
            <a:endParaRPr lang="en-US" sz="1300" dirty="0"/>
          </a:p>
        </p:txBody>
      </p:sp>
      <p:sp>
        <p:nvSpPr>
          <p:cNvPr id="23" name="Shape 20"/>
          <p:cNvSpPr/>
          <p:nvPr/>
        </p:nvSpPr>
        <p:spPr>
          <a:xfrm>
            <a:off x="8385048" y="3694176"/>
            <a:ext cx="3456432" cy="987552"/>
          </a:xfrm>
          <a:prstGeom prst="roundRect">
            <a:avLst>
              <a:gd name="adj" fmla="val 7407"/>
            </a:avLst>
          </a:prstGeom>
          <a:solidFill>
            <a:srgbClr val="FBE4E4"/>
          </a:solidFill>
          <a:ln w="10160">
            <a:solidFill>
              <a:srgbClr val="B74444"/>
            </a:solidFill>
            <a:prstDash val="solid"/>
          </a:ln>
        </p:spPr>
      </p:sp>
      <p:sp>
        <p:nvSpPr>
          <p:cNvPr id="24" name="Shape 21"/>
          <p:cNvSpPr/>
          <p:nvPr/>
        </p:nvSpPr>
        <p:spPr>
          <a:xfrm>
            <a:off x="8385048" y="3694176"/>
            <a:ext cx="73152" cy="987552"/>
          </a:xfrm>
          <a:prstGeom prst="rect">
            <a:avLst/>
          </a:prstGeom>
          <a:solidFill>
            <a:srgbClr val="B74444"/>
          </a:solidFill>
          <a:ln w="12700">
            <a:solidFill>
              <a:srgbClr val="B74444"/>
            </a:solidFill>
            <a:prstDash val="solid"/>
          </a:ln>
        </p:spPr>
      </p:sp>
      <p:sp>
        <p:nvSpPr>
          <p:cNvPr id="25" name="Text 22"/>
          <p:cNvSpPr/>
          <p:nvPr/>
        </p:nvSpPr>
        <p:spPr>
          <a:xfrm>
            <a:off x="8549640" y="3767328"/>
            <a:ext cx="316382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Rejects</a:t>
            </a:r>
            <a:endParaRPr lang="en-US" sz="1300" dirty="0"/>
          </a:p>
        </p:txBody>
      </p:sp>
      <p:sp>
        <p:nvSpPr>
          <p:cNvPr id="26" name="Text 23"/>
          <p:cNvSpPr/>
          <p:nvPr/>
        </p:nvSpPr>
        <p:spPr>
          <a:xfrm>
            <a:off x="8549640" y="4059936"/>
            <a:ext cx="3163824" cy="54864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Alerts without evidence, a universal detection-delay number or an anomaly presented as a proven cause.</a:t>
            </a:r>
            <a:endParaRPr lang="en-US" sz="1250" dirty="0"/>
          </a:p>
        </p:txBody>
      </p:sp>
      <p:sp>
        <p:nvSpPr>
          <p:cNvPr id="27" name="Shape 24"/>
          <p:cNvSpPr/>
          <p:nvPr/>
        </p:nvSpPr>
        <p:spPr>
          <a:xfrm>
            <a:off x="4709160" y="4773168"/>
            <a:ext cx="7132320" cy="1664208"/>
          </a:xfrm>
          <a:prstGeom prst="roundRect">
            <a:avLst>
              <a:gd name="adj" fmla="val 4396"/>
            </a:avLst>
          </a:prstGeom>
          <a:solidFill>
            <a:srgbClr val="FFFFFF"/>
          </a:solidFill>
          <a:ln w="10160">
            <a:solidFill>
              <a:srgbClr val="176B87"/>
            </a:solidFill>
            <a:prstDash val="solid"/>
          </a:ln>
        </p:spPr>
      </p:sp>
      <p:sp>
        <p:nvSpPr>
          <p:cNvPr id="28" name="Text 25"/>
          <p:cNvSpPr/>
          <p:nvPr/>
        </p:nvSpPr>
        <p:spPr>
          <a:xfrm>
            <a:off x="4910328" y="4846320"/>
            <a:ext cx="6729984" cy="182880"/>
          </a:xfrm>
          <a:prstGeom prst="rect">
            <a:avLst/>
          </a:prstGeom>
          <a:noFill/>
          <a:ln/>
        </p:spPr>
        <p:txBody>
          <a:bodyPr wrap="square" lIns="762" tIns="762" rIns="762" bIns="762" rtlCol="0" anchor="ctr">
            <a:normAutofit/>
          </a:bodyPr>
          <a:lstStyle/>
          <a:p>
            <a:pPr indent="0" marL="0">
              <a:buNone/>
            </a:pPr>
            <a:r>
              <a:rPr lang="en-US" sz="1000" b="1" spc="60" kern="0" dirty="0">
                <a:solidFill>
                  <a:srgbClr val="176B87"/>
                </a:solidFill>
                <a:latin typeface="Aptos" pitchFamily="34" charset="0"/>
                <a:ea typeface="Aptos" pitchFamily="34" charset="-122"/>
                <a:cs typeface="Aptos" pitchFamily="34" charset="-120"/>
              </a:rPr>
              <a:t>WHY · EVIDENCE · PROPOSED MEASURE</a:t>
            </a:r>
            <a:endParaRPr lang="en-US" sz="1000" dirty="0"/>
          </a:p>
        </p:txBody>
      </p:sp>
      <p:sp>
        <p:nvSpPr>
          <p:cNvPr id="29" name="Text 26"/>
          <p:cNvSpPr/>
          <p:nvPr/>
        </p:nvSpPr>
        <p:spPr>
          <a:xfrm>
            <a:off x="4910328" y="5047488"/>
            <a:ext cx="6729984"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Omar represents the person who must separate “nothing detected” from “insufficient reliable data.”</a:t>
            </a:r>
            <a:endParaRPr lang="en-US" sz="1300" dirty="0"/>
          </a:p>
        </p:txBody>
      </p:sp>
      <p:sp>
        <p:nvSpPr>
          <p:cNvPr id="30" name="Text 27"/>
          <p:cNvSpPr/>
          <p:nvPr/>
        </p:nvSpPr>
        <p:spPr>
          <a:xfrm>
            <a:off x="4910328" y="5449824"/>
            <a:ext cx="6729984" cy="475488"/>
          </a:xfrm>
          <a:prstGeom prst="rect">
            <a:avLst/>
          </a:prstGeom>
          <a:noFill/>
          <a:ln/>
        </p:spPr>
        <p:txBody>
          <a:bodyPr wrap="square" lIns="762" tIns="762" rIns="762" bIns="762" rtlCol="0" anchor="t">
            <a:normAutofit/>
          </a:bodyPr>
          <a:lstStyle/>
          <a:p>
            <a:pPr indent="0" marL="0">
              <a:buNone/>
            </a:pPr>
            <a:r>
              <a:rPr lang="en-US" sz="1200" dirty="0">
                <a:solidFill>
                  <a:srgbClr val="4E6878"/>
                </a:solidFill>
                <a:latin typeface="Aptos" pitchFamily="34" charset="0"/>
                <a:ea typeface="Aptos" pitchFamily="34" charset="-122"/>
                <a:cs typeface="Aptos" pitchFamily="34" charset="-120"/>
              </a:rPr>
              <a:t>FHWA estimates incidents account for about 25–30% of congestion in many US metropolitan contexts; this is not a Tunis measurement. [C10]</a:t>
            </a:r>
            <a:endParaRPr lang="en-US" sz="1200" dirty="0"/>
          </a:p>
        </p:txBody>
      </p:sp>
      <p:sp>
        <p:nvSpPr>
          <p:cNvPr id="31" name="Text 28"/>
          <p:cNvSpPr/>
          <p:nvPr/>
        </p:nvSpPr>
        <p:spPr>
          <a:xfrm>
            <a:off x="4910328" y="5943600"/>
            <a:ext cx="6729984" cy="384048"/>
          </a:xfrm>
          <a:prstGeom prst="rect">
            <a:avLst/>
          </a:prstGeom>
          <a:noFill/>
          <a:ln/>
        </p:spPr>
        <p:txBody>
          <a:bodyPr wrap="square" lIns="762" tIns="762" rIns="762" bIns="762" rtlCol="0" anchor="t">
            <a:normAutofit/>
          </a:bodyPr>
          <a:lstStyle/>
          <a:p>
            <a:pPr indent="0" marL="0">
              <a:buNone/>
            </a:pPr>
            <a:r>
              <a:rPr lang="en-US" sz="1200" i="1" dirty="0">
                <a:solidFill>
                  <a:srgbClr val="CF7B1B"/>
                </a:solidFill>
                <a:latin typeface="Aptos" pitchFamily="34" charset="0"/>
                <a:ea typeface="Aptos" pitchFamily="34" charset="-122"/>
                <a:cs typeface="Aptos" pitchFamily="34" charset="-120"/>
              </a:rPr>
              <a:t>Target, not a result: Detection delay, false-alarm rate, missed incidents, stale-data handling and recovery by severity.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USER JOURNEY</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Shared journey: one street, competing needs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An ambulance approaches Maria’s school street while Amara is crossing and Chidi’s late bus arrives.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1024128" y="1463040"/>
            <a:ext cx="713232" cy="713232"/>
          </a:xfrm>
          <a:prstGeom prst="ellipse">
            <a:avLst/>
          </a:prstGeom>
          <a:solidFill>
            <a:srgbClr val="B74444"/>
          </a:solidFill>
          <a:ln w="12700">
            <a:solidFill>
              <a:srgbClr val="FFFFFF"/>
            </a:solidFill>
            <a:prstDash val="solid"/>
          </a:ln>
        </p:spPr>
      </p:sp>
      <p:sp>
        <p:nvSpPr>
          <p:cNvPr id="9" name="Text 6"/>
          <p:cNvSpPr/>
          <p:nvPr/>
        </p:nvSpPr>
        <p:spPr>
          <a:xfrm>
            <a:off x="1024128"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10" name="Shape 7"/>
          <p:cNvSpPr/>
          <p:nvPr/>
        </p:nvSpPr>
        <p:spPr>
          <a:xfrm>
            <a:off x="1856232" y="1664208"/>
            <a:ext cx="347472" cy="310896"/>
          </a:xfrm>
          <a:prstGeom prst="chevron">
            <a:avLst/>
          </a:prstGeom>
          <a:solidFill>
            <a:srgbClr val="C8D7E3"/>
          </a:solidFill>
          <a:ln w="12700">
            <a:solidFill>
              <a:srgbClr val="C8D7E3"/>
            </a:solidFill>
            <a:prstDash val="solid"/>
          </a:ln>
        </p:spPr>
      </p:sp>
      <p:sp>
        <p:nvSpPr>
          <p:cNvPr id="11" name="Text 8"/>
          <p:cNvSpPr/>
          <p:nvPr/>
        </p:nvSpPr>
        <p:spPr>
          <a:xfrm>
            <a:off x="502920"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Request arrives</a:t>
            </a:r>
            <a:endParaRPr lang="en-US" sz="1400" dirty="0"/>
          </a:p>
        </p:txBody>
      </p:sp>
      <p:sp>
        <p:nvSpPr>
          <p:cNvPr id="12" name="Text 9"/>
          <p:cNvSpPr/>
          <p:nvPr/>
        </p:nvSpPr>
        <p:spPr>
          <a:xfrm>
            <a:off x="502920"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Marcus / Yuki</a:t>
            </a:r>
            <a:endParaRPr lang="en-US" sz="1050" dirty="0"/>
          </a:p>
        </p:txBody>
      </p:sp>
      <p:sp>
        <p:nvSpPr>
          <p:cNvPr id="13" name="Text 10"/>
          <p:cNvSpPr/>
          <p:nvPr/>
        </p:nvSpPr>
        <p:spPr>
          <a:xfrm>
            <a:off x="502920"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Authenticate route, ETA and urgency</a:t>
            </a:r>
            <a:endParaRPr lang="en-US" sz="1200" dirty="0"/>
          </a:p>
        </p:txBody>
      </p:sp>
      <p:sp>
        <p:nvSpPr>
          <p:cNvPr id="14" name="Shape 11"/>
          <p:cNvSpPr/>
          <p:nvPr/>
        </p:nvSpPr>
        <p:spPr>
          <a:xfrm>
            <a:off x="2926080" y="1463040"/>
            <a:ext cx="713232" cy="713232"/>
          </a:xfrm>
          <a:prstGeom prst="ellipse">
            <a:avLst/>
          </a:prstGeom>
          <a:solidFill>
            <a:srgbClr val="B74444"/>
          </a:solidFill>
          <a:ln w="12700">
            <a:solidFill>
              <a:srgbClr val="FFFFFF"/>
            </a:solidFill>
            <a:prstDash val="solid"/>
          </a:ln>
        </p:spPr>
      </p:sp>
      <p:sp>
        <p:nvSpPr>
          <p:cNvPr id="15" name="Text 12"/>
          <p:cNvSpPr/>
          <p:nvPr/>
        </p:nvSpPr>
        <p:spPr>
          <a:xfrm>
            <a:off x="2926080"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6" name="Shape 13"/>
          <p:cNvSpPr/>
          <p:nvPr/>
        </p:nvSpPr>
        <p:spPr>
          <a:xfrm>
            <a:off x="3758184" y="1664208"/>
            <a:ext cx="347472" cy="310896"/>
          </a:xfrm>
          <a:prstGeom prst="chevron">
            <a:avLst/>
          </a:prstGeom>
          <a:solidFill>
            <a:srgbClr val="C8D7E3"/>
          </a:solidFill>
          <a:ln w="12700">
            <a:solidFill>
              <a:srgbClr val="C8D7E3"/>
            </a:solidFill>
            <a:prstDash val="solid"/>
          </a:ln>
        </p:spPr>
      </p:sp>
      <p:sp>
        <p:nvSpPr>
          <p:cNvPr id="17" name="Text 14"/>
          <p:cNvSpPr/>
          <p:nvPr/>
        </p:nvSpPr>
        <p:spPr>
          <a:xfrm>
            <a:off x="2404872"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Crossing occupied</a:t>
            </a:r>
            <a:endParaRPr lang="en-US" sz="1400" dirty="0"/>
          </a:p>
        </p:txBody>
      </p:sp>
      <p:sp>
        <p:nvSpPr>
          <p:cNvPr id="18" name="Text 15"/>
          <p:cNvSpPr/>
          <p:nvPr/>
        </p:nvSpPr>
        <p:spPr>
          <a:xfrm>
            <a:off x="2404872"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Amara / Marcus</a:t>
            </a:r>
            <a:endParaRPr lang="en-US" sz="1050" dirty="0"/>
          </a:p>
        </p:txBody>
      </p:sp>
      <p:sp>
        <p:nvSpPr>
          <p:cNvPr id="19" name="Text 16"/>
          <p:cNvSpPr/>
          <p:nvPr/>
        </p:nvSpPr>
        <p:spPr>
          <a:xfrm>
            <a:off x="2404872"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Finish active clearance before conflicting movement</a:t>
            </a:r>
            <a:endParaRPr lang="en-US" sz="1200" dirty="0"/>
          </a:p>
        </p:txBody>
      </p:sp>
      <p:sp>
        <p:nvSpPr>
          <p:cNvPr id="20" name="Shape 17"/>
          <p:cNvSpPr/>
          <p:nvPr/>
        </p:nvSpPr>
        <p:spPr>
          <a:xfrm>
            <a:off x="4828032" y="1463040"/>
            <a:ext cx="713232" cy="713232"/>
          </a:xfrm>
          <a:prstGeom prst="ellipse">
            <a:avLst/>
          </a:prstGeom>
          <a:solidFill>
            <a:srgbClr val="176B87"/>
          </a:solidFill>
          <a:ln w="12700">
            <a:solidFill>
              <a:srgbClr val="FFFFFF"/>
            </a:solidFill>
            <a:prstDash val="solid"/>
          </a:ln>
        </p:spPr>
      </p:sp>
      <p:sp>
        <p:nvSpPr>
          <p:cNvPr id="21" name="Text 18"/>
          <p:cNvSpPr/>
          <p:nvPr/>
        </p:nvSpPr>
        <p:spPr>
          <a:xfrm>
            <a:off x="4828032"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2" name="Shape 19"/>
          <p:cNvSpPr/>
          <p:nvPr/>
        </p:nvSpPr>
        <p:spPr>
          <a:xfrm>
            <a:off x="5660136" y="1664208"/>
            <a:ext cx="347472" cy="310896"/>
          </a:xfrm>
          <a:prstGeom prst="chevron">
            <a:avLst/>
          </a:prstGeom>
          <a:solidFill>
            <a:srgbClr val="C8D7E3"/>
          </a:solidFill>
          <a:ln w="12700">
            <a:solidFill>
              <a:srgbClr val="C8D7E3"/>
            </a:solidFill>
            <a:prstDash val="solid"/>
          </a:ln>
        </p:spPr>
      </p:sp>
      <p:sp>
        <p:nvSpPr>
          <p:cNvPr id="23" name="Text 20"/>
          <p:cNvSpPr/>
          <p:nvPr/>
        </p:nvSpPr>
        <p:spPr>
          <a:xfrm>
            <a:off x="4306824"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Capacity checked</a:t>
            </a:r>
            <a:endParaRPr lang="en-US" sz="1400" dirty="0"/>
          </a:p>
        </p:txBody>
      </p:sp>
      <p:sp>
        <p:nvSpPr>
          <p:cNvPr id="24" name="Text 21"/>
          <p:cNvSpPr/>
          <p:nvPr/>
        </p:nvSpPr>
        <p:spPr>
          <a:xfrm>
            <a:off x="4306824"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Marcus / David</a:t>
            </a:r>
            <a:endParaRPr lang="en-US" sz="1050" dirty="0"/>
          </a:p>
        </p:txBody>
      </p:sp>
      <p:sp>
        <p:nvSpPr>
          <p:cNvPr id="25" name="Text 22"/>
          <p:cNvSpPr/>
          <p:nvPr/>
        </p:nvSpPr>
        <p:spPr>
          <a:xfrm>
            <a:off x="4306824"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Reject a green into blocked downstream space</a:t>
            </a:r>
            <a:endParaRPr lang="en-US" sz="1200" dirty="0"/>
          </a:p>
        </p:txBody>
      </p:sp>
      <p:sp>
        <p:nvSpPr>
          <p:cNvPr id="26" name="Shape 23"/>
          <p:cNvSpPr/>
          <p:nvPr/>
        </p:nvSpPr>
        <p:spPr>
          <a:xfrm>
            <a:off x="6729984" y="1463040"/>
            <a:ext cx="713232" cy="713232"/>
          </a:xfrm>
          <a:prstGeom prst="ellipse">
            <a:avLst/>
          </a:prstGeom>
          <a:solidFill>
            <a:srgbClr val="176B87"/>
          </a:solidFill>
          <a:ln w="12700">
            <a:solidFill>
              <a:srgbClr val="FFFFFF"/>
            </a:solidFill>
            <a:prstDash val="solid"/>
          </a:ln>
        </p:spPr>
      </p:sp>
      <p:sp>
        <p:nvSpPr>
          <p:cNvPr id="27" name="Text 24"/>
          <p:cNvSpPr/>
          <p:nvPr/>
        </p:nvSpPr>
        <p:spPr>
          <a:xfrm>
            <a:off x="6729984"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8" name="Shape 25"/>
          <p:cNvSpPr/>
          <p:nvPr/>
        </p:nvSpPr>
        <p:spPr>
          <a:xfrm>
            <a:off x="7562088" y="1664208"/>
            <a:ext cx="347472" cy="310896"/>
          </a:xfrm>
          <a:prstGeom prst="chevron">
            <a:avLst/>
          </a:prstGeom>
          <a:solidFill>
            <a:srgbClr val="C8D7E3"/>
          </a:solidFill>
          <a:ln w="12700">
            <a:solidFill>
              <a:srgbClr val="C8D7E3"/>
            </a:solidFill>
            <a:prstDash val="solid"/>
          </a:ln>
        </p:spPr>
      </p:sp>
      <p:sp>
        <p:nvSpPr>
          <p:cNvPr id="29" name="Text 26"/>
          <p:cNvSpPr/>
          <p:nvPr/>
        </p:nvSpPr>
        <p:spPr>
          <a:xfrm>
            <a:off x="6208776"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Bus request judged</a:t>
            </a:r>
            <a:endParaRPr lang="en-US" sz="1400" dirty="0"/>
          </a:p>
        </p:txBody>
      </p:sp>
      <p:sp>
        <p:nvSpPr>
          <p:cNvPr id="30" name="Text 27"/>
          <p:cNvSpPr/>
          <p:nvPr/>
        </p:nvSpPr>
        <p:spPr>
          <a:xfrm>
            <a:off x="6208776"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Chidi / Rosa</a:t>
            </a:r>
            <a:endParaRPr lang="en-US" sz="1050" dirty="0"/>
          </a:p>
        </p:txBody>
      </p:sp>
      <p:sp>
        <p:nvSpPr>
          <p:cNvPr id="31" name="Text 28"/>
          <p:cNvSpPr/>
          <p:nvPr/>
        </p:nvSpPr>
        <p:spPr>
          <a:xfrm>
            <a:off x="6208776"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Late-only request; record accept/reject reason</a:t>
            </a:r>
            <a:endParaRPr lang="en-US" sz="1200" dirty="0"/>
          </a:p>
        </p:txBody>
      </p:sp>
      <p:sp>
        <p:nvSpPr>
          <p:cNvPr id="32" name="Shape 29"/>
          <p:cNvSpPr/>
          <p:nvPr/>
        </p:nvSpPr>
        <p:spPr>
          <a:xfrm>
            <a:off x="8631936" y="1463040"/>
            <a:ext cx="713232" cy="713232"/>
          </a:xfrm>
          <a:prstGeom prst="ellipse">
            <a:avLst/>
          </a:prstGeom>
          <a:solidFill>
            <a:srgbClr val="2D936C"/>
          </a:solidFill>
          <a:ln w="12700">
            <a:solidFill>
              <a:srgbClr val="FFFFFF"/>
            </a:solidFill>
            <a:prstDash val="solid"/>
          </a:ln>
        </p:spPr>
      </p:sp>
      <p:sp>
        <p:nvSpPr>
          <p:cNvPr id="33" name="Text 30"/>
          <p:cNvSpPr/>
          <p:nvPr/>
        </p:nvSpPr>
        <p:spPr>
          <a:xfrm>
            <a:off x="8631936"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4" name="Shape 31"/>
          <p:cNvSpPr/>
          <p:nvPr/>
        </p:nvSpPr>
        <p:spPr>
          <a:xfrm>
            <a:off x="9464040" y="1664208"/>
            <a:ext cx="347472" cy="310896"/>
          </a:xfrm>
          <a:prstGeom prst="chevron">
            <a:avLst/>
          </a:prstGeom>
          <a:solidFill>
            <a:srgbClr val="C8D7E3"/>
          </a:solidFill>
          <a:ln w="12700">
            <a:solidFill>
              <a:srgbClr val="C8D7E3"/>
            </a:solidFill>
            <a:prstDash val="solid"/>
          </a:ln>
        </p:spPr>
      </p:sp>
      <p:sp>
        <p:nvSpPr>
          <p:cNvPr id="35" name="Text 32"/>
          <p:cNvSpPr/>
          <p:nvPr/>
        </p:nvSpPr>
        <p:spPr>
          <a:xfrm>
            <a:off x="8110728"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Queues watched</a:t>
            </a:r>
            <a:endParaRPr lang="en-US" sz="1400" dirty="0"/>
          </a:p>
        </p:txBody>
      </p:sp>
      <p:sp>
        <p:nvSpPr>
          <p:cNvPr id="36" name="Text 33"/>
          <p:cNvSpPr/>
          <p:nvPr/>
        </p:nvSpPr>
        <p:spPr>
          <a:xfrm>
            <a:off x="8110728"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Maria / David</a:t>
            </a:r>
            <a:endParaRPr lang="en-US" sz="1050" dirty="0"/>
          </a:p>
        </p:txBody>
      </p:sp>
      <p:sp>
        <p:nvSpPr>
          <p:cNvPr id="37" name="Text 34"/>
          <p:cNvSpPr/>
          <p:nvPr/>
        </p:nvSpPr>
        <p:spPr>
          <a:xfrm>
            <a:off x="8110728"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Observe displaced stops and local proxy burden</a:t>
            </a:r>
            <a:endParaRPr lang="en-US" sz="1200" dirty="0"/>
          </a:p>
        </p:txBody>
      </p:sp>
      <p:sp>
        <p:nvSpPr>
          <p:cNvPr id="38" name="Shape 35"/>
          <p:cNvSpPr/>
          <p:nvPr/>
        </p:nvSpPr>
        <p:spPr>
          <a:xfrm>
            <a:off x="10533888" y="1463040"/>
            <a:ext cx="713232" cy="713232"/>
          </a:xfrm>
          <a:prstGeom prst="ellipse">
            <a:avLst/>
          </a:prstGeom>
          <a:solidFill>
            <a:srgbClr val="2D936C"/>
          </a:solidFill>
          <a:ln w="12700">
            <a:solidFill>
              <a:srgbClr val="FFFFFF"/>
            </a:solidFill>
            <a:prstDash val="solid"/>
          </a:ln>
        </p:spPr>
      </p:sp>
      <p:sp>
        <p:nvSpPr>
          <p:cNvPr id="39" name="Text 36"/>
          <p:cNvSpPr/>
          <p:nvPr/>
        </p:nvSpPr>
        <p:spPr>
          <a:xfrm>
            <a:off x="10533888"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6</a:t>
            </a:r>
            <a:endParaRPr lang="en-US" sz="2000" dirty="0"/>
          </a:p>
        </p:txBody>
      </p:sp>
      <p:sp>
        <p:nvSpPr>
          <p:cNvPr id="40" name="Text 37"/>
          <p:cNvSpPr/>
          <p:nvPr/>
        </p:nvSpPr>
        <p:spPr>
          <a:xfrm>
            <a:off x="10012680"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Failure + recovery</a:t>
            </a:r>
            <a:endParaRPr lang="en-US" sz="1400" dirty="0"/>
          </a:p>
        </p:txBody>
      </p:sp>
      <p:sp>
        <p:nvSpPr>
          <p:cNvPr id="41" name="Text 38"/>
          <p:cNvSpPr/>
          <p:nvPr/>
        </p:nvSpPr>
        <p:spPr>
          <a:xfrm>
            <a:off x="10012680"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Yuki / Omar</a:t>
            </a:r>
            <a:endParaRPr lang="en-US" sz="1050" dirty="0"/>
          </a:p>
        </p:txBody>
      </p:sp>
      <p:sp>
        <p:nvSpPr>
          <p:cNvPr id="42" name="Text 39"/>
          <p:cNvSpPr/>
          <p:nvPr/>
        </p:nvSpPr>
        <p:spPr>
          <a:xfrm>
            <a:off x="10012680"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Degrade visibly; then recover in known stages</a:t>
            </a:r>
            <a:endParaRPr lang="en-US" sz="1200" dirty="0"/>
          </a:p>
        </p:txBody>
      </p:sp>
      <p:sp>
        <p:nvSpPr>
          <p:cNvPr id="43" name="Shape 40"/>
          <p:cNvSpPr/>
          <p:nvPr/>
        </p:nvSpPr>
        <p:spPr>
          <a:xfrm>
            <a:off x="685800" y="4754880"/>
            <a:ext cx="10808208" cy="822960"/>
          </a:xfrm>
          <a:prstGeom prst="roundRect">
            <a:avLst>
              <a:gd name="adj" fmla="val 8889"/>
            </a:avLst>
          </a:prstGeom>
          <a:solidFill>
            <a:srgbClr val="0B2239"/>
          </a:solidFill>
          <a:ln w="10160">
            <a:solidFill>
              <a:srgbClr val="168F8B"/>
            </a:solidFill>
            <a:prstDash val="solid"/>
          </a:ln>
        </p:spPr>
      </p:sp>
      <p:sp>
        <p:nvSpPr>
          <p:cNvPr id="44" name="Shape 41"/>
          <p:cNvSpPr/>
          <p:nvPr/>
        </p:nvSpPr>
        <p:spPr>
          <a:xfrm>
            <a:off x="685800" y="4754880"/>
            <a:ext cx="73152" cy="822960"/>
          </a:xfrm>
          <a:prstGeom prst="rect">
            <a:avLst/>
          </a:prstGeom>
          <a:solidFill>
            <a:srgbClr val="168F8B"/>
          </a:solidFill>
          <a:ln w="12700">
            <a:solidFill>
              <a:srgbClr val="168F8B"/>
            </a:solidFill>
            <a:prstDash val="solid"/>
          </a:ln>
        </p:spPr>
      </p:sp>
      <p:sp>
        <p:nvSpPr>
          <p:cNvPr id="45" name="Text 42"/>
          <p:cNvSpPr/>
          <p:nvPr/>
        </p:nvSpPr>
        <p:spPr>
          <a:xfrm>
            <a:off x="850392" y="4828032"/>
            <a:ext cx="10515600"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Design principle</a:t>
            </a:r>
            <a:endParaRPr lang="en-US" sz="1300" dirty="0"/>
          </a:p>
        </p:txBody>
      </p:sp>
      <p:sp>
        <p:nvSpPr>
          <p:cNvPr id="46" name="Text 43"/>
          <p:cNvSpPr/>
          <p:nvPr/>
        </p:nvSpPr>
        <p:spPr>
          <a:xfrm>
            <a:off x="850392" y="5120640"/>
            <a:ext cx="10515600" cy="384048"/>
          </a:xfrm>
          <a:prstGeom prst="rect">
            <a:avLst/>
          </a:prstGeom>
          <a:noFill/>
          <a:ln/>
        </p:spPr>
        <p:txBody>
          <a:bodyPr wrap="square" lIns="762" tIns="762" rIns="762" bIns="762" rtlCol="0" anchor="t">
            <a:normAutofit/>
          </a:bodyPr>
          <a:lstStyle/>
          <a:p>
            <a:pPr indent="0" marL="0">
              <a:buNone/>
            </a:pPr>
            <a:r>
              <a:rPr lang="en-US" sz="1800" dirty="0">
                <a:solidFill>
                  <a:srgbClr val="FFFFFF"/>
                </a:solidFill>
                <a:latin typeface="Aptos" pitchFamily="34" charset="0"/>
                <a:ea typeface="Aptos" pitchFamily="34" charset="-122"/>
                <a:cs typeface="Aptos" pitchFamily="34" charset="-120"/>
              </a:rPr>
              <a:t>Cooperation with explicit safeguards: no specialist may hide the cost imposed on another person.</a:t>
            </a:r>
            <a:endParaRPr lang="en-US" sz="1800" dirty="0"/>
          </a:p>
        </p:txBody>
      </p:sp>
      <p:sp>
        <p:nvSpPr>
          <p:cNvPr id="47" name="Text 44"/>
          <p:cNvSpPr/>
          <p:nvPr/>
        </p:nvSpPr>
        <p:spPr>
          <a:xfrm>
            <a:off x="685800" y="5779008"/>
            <a:ext cx="10808208" cy="310896"/>
          </a:xfrm>
          <a:prstGeom prst="rect">
            <a:avLst/>
          </a:prstGeom>
          <a:noFill/>
          <a:ln/>
        </p:spPr>
        <p:txBody>
          <a:bodyPr wrap="square" lIns="762" tIns="762" rIns="762" bIns="762" rtlCol="0" anchor="ctr">
            <a:normAutofit/>
          </a:bodyPr>
          <a:lstStyle/>
          <a:p>
            <a:pPr algn="ctr" indent="0" marL="0">
              <a:buNone/>
            </a:pPr>
            <a:r>
              <a:rPr lang="en-US" sz="1250" i="1" dirty="0">
                <a:solidFill>
                  <a:srgbClr val="4E6878"/>
                </a:solidFill>
                <a:latin typeface="Aptos" pitchFamily="34" charset="0"/>
                <a:ea typeface="Aptos" pitchFamily="34" charset="-122"/>
                <a:cs typeface="Aptos" pitchFamily="34" charset="-120"/>
              </a:rPr>
              <a:t>This is a human-centred scenario story. Implemented deterministic fixtures are shown later.</a:t>
            </a:r>
            <a:endParaRPr lang="en-US" sz="12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38912" y="256032"/>
            <a:ext cx="1563624"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490472"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EVIDENCE DISCIPLINE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Evidence register: what supports a need—and what does not</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Use the source type before using the number.</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48640" y="1417320"/>
            <a:ext cx="11064240" cy="658368"/>
          </a:xfrm>
          <a:prstGeom prst="roundRect">
            <a:avLst>
              <a:gd name="adj" fmla="val 11111"/>
            </a:avLst>
          </a:prstGeom>
          <a:solidFill>
            <a:srgbClr val="0B2239"/>
          </a:solidFill>
          <a:ln w="10160">
            <a:solidFill>
              <a:srgbClr val="0B2239"/>
            </a:solidFill>
            <a:prstDash val="solid"/>
          </a:ln>
        </p:spPr>
      </p:sp>
      <p:sp>
        <p:nvSpPr>
          <p:cNvPr id="9" name="Text 6"/>
          <p:cNvSpPr/>
          <p:nvPr/>
        </p:nvSpPr>
        <p:spPr>
          <a:xfrm>
            <a:off x="777240" y="1536192"/>
            <a:ext cx="10607040" cy="365760"/>
          </a:xfrm>
          <a:prstGeom prst="rect">
            <a:avLst/>
          </a:prstGeom>
          <a:noFill/>
          <a:ln/>
        </p:spPr>
        <p:txBody>
          <a:bodyPr wrap="square" lIns="762" tIns="762" rIns="762" bIns="762"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32-row mixed-source evidence register, audited by source type</a:t>
            </a:r>
            <a:endParaRPr lang="en-US" sz="2100" dirty="0"/>
          </a:p>
        </p:txBody>
      </p:sp>
      <p:sp>
        <p:nvSpPr>
          <p:cNvPr id="10" name="Shape 7"/>
          <p:cNvSpPr/>
          <p:nvPr/>
        </p:nvSpPr>
        <p:spPr>
          <a:xfrm>
            <a:off x="548640" y="2423160"/>
            <a:ext cx="5394960" cy="987552"/>
          </a:xfrm>
          <a:prstGeom prst="roundRect">
            <a:avLst>
              <a:gd name="adj" fmla="val 7407"/>
            </a:avLst>
          </a:prstGeom>
          <a:solidFill>
            <a:srgbClr val="DDF3EC"/>
          </a:solidFill>
          <a:ln w="10160">
            <a:solidFill>
              <a:srgbClr val="2D936C"/>
            </a:solidFill>
            <a:prstDash val="solid"/>
          </a:ln>
        </p:spPr>
      </p:sp>
      <p:sp>
        <p:nvSpPr>
          <p:cNvPr id="11" name="Shape 8"/>
          <p:cNvSpPr/>
          <p:nvPr/>
        </p:nvSpPr>
        <p:spPr>
          <a:xfrm>
            <a:off x="548640" y="2423160"/>
            <a:ext cx="73152" cy="987552"/>
          </a:xfrm>
          <a:prstGeom prst="rect">
            <a:avLst/>
          </a:prstGeom>
          <a:solidFill>
            <a:srgbClr val="2D936C"/>
          </a:solidFill>
          <a:ln w="12700">
            <a:solidFill>
              <a:srgbClr val="2D936C"/>
            </a:solidFill>
            <a:prstDash val="solid"/>
          </a:ln>
        </p:spPr>
      </p:sp>
      <p:sp>
        <p:nvSpPr>
          <p:cNvPr id="12" name="Text 9"/>
          <p:cNvSpPr/>
          <p:nvPr/>
        </p:nvSpPr>
        <p:spPr>
          <a:xfrm>
            <a:off x="713232" y="249631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PRIMARY / OFFICIAL</a:t>
            </a:r>
            <a:endParaRPr lang="en-US" sz="1300" dirty="0"/>
          </a:p>
        </p:txBody>
      </p:sp>
      <p:sp>
        <p:nvSpPr>
          <p:cNvPr id="13" name="Text 10"/>
          <p:cNvSpPr/>
          <p:nvPr/>
        </p:nvSpPr>
        <p:spPr>
          <a:xfrm>
            <a:off x="713232" y="2788920"/>
            <a:ext cx="5102352" cy="54864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Original study, agency guidance or owning documentation</a:t>
            </a:r>
            <a:endParaRPr lang="en-US" sz="1400" dirty="0"/>
          </a:p>
        </p:txBody>
      </p:sp>
      <p:sp>
        <p:nvSpPr>
          <p:cNvPr id="14" name="Shape 11"/>
          <p:cNvSpPr/>
          <p:nvPr/>
        </p:nvSpPr>
        <p:spPr>
          <a:xfrm>
            <a:off x="6172200" y="2423160"/>
            <a:ext cx="5394960" cy="987552"/>
          </a:xfrm>
          <a:prstGeom prst="roundRect">
            <a:avLst>
              <a:gd name="adj" fmla="val 7407"/>
            </a:avLst>
          </a:prstGeom>
          <a:solidFill>
            <a:srgbClr val="DDEFF5"/>
          </a:solidFill>
          <a:ln w="10160">
            <a:solidFill>
              <a:srgbClr val="176B87"/>
            </a:solidFill>
            <a:prstDash val="solid"/>
          </a:ln>
        </p:spPr>
      </p:sp>
      <p:sp>
        <p:nvSpPr>
          <p:cNvPr id="15" name="Shape 12"/>
          <p:cNvSpPr/>
          <p:nvPr/>
        </p:nvSpPr>
        <p:spPr>
          <a:xfrm>
            <a:off x="6172200" y="2423160"/>
            <a:ext cx="73152" cy="987552"/>
          </a:xfrm>
          <a:prstGeom prst="rect">
            <a:avLst/>
          </a:prstGeom>
          <a:solidFill>
            <a:srgbClr val="176B87"/>
          </a:solidFill>
          <a:ln w="12700">
            <a:solidFill>
              <a:srgbClr val="176B87"/>
            </a:solidFill>
            <a:prstDash val="solid"/>
          </a:ln>
        </p:spPr>
      </p:sp>
      <p:sp>
        <p:nvSpPr>
          <p:cNvPr id="16" name="Text 13"/>
          <p:cNvSpPr/>
          <p:nvPr/>
        </p:nvSpPr>
        <p:spPr>
          <a:xfrm>
            <a:off x="6336792" y="249631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SECONDARY / VENDOR</a:t>
            </a:r>
            <a:endParaRPr lang="en-US" sz="1300" dirty="0"/>
          </a:p>
        </p:txBody>
      </p:sp>
      <p:sp>
        <p:nvSpPr>
          <p:cNvPr id="17" name="Text 14"/>
          <p:cNvSpPr/>
          <p:nvPr/>
        </p:nvSpPr>
        <p:spPr>
          <a:xfrm>
            <a:off x="6336792" y="2788920"/>
            <a:ext cx="5102352" cy="54864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Useful context; narrower wording and visible source limits</a:t>
            </a:r>
            <a:endParaRPr lang="en-US" sz="1400" dirty="0"/>
          </a:p>
        </p:txBody>
      </p:sp>
      <p:sp>
        <p:nvSpPr>
          <p:cNvPr id="18" name="Shape 15"/>
          <p:cNvSpPr/>
          <p:nvPr/>
        </p:nvSpPr>
        <p:spPr>
          <a:xfrm>
            <a:off x="548640" y="3657600"/>
            <a:ext cx="5394960" cy="987552"/>
          </a:xfrm>
          <a:prstGeom prst="roundRect">
            <a:avLst>
              <a:gd name="adj" fmla="val 7407"/>
            </a:avLst>
          </a:prstGeom>
          <a:solidFill>
            <a:srgbClr val="ECE8F8"/>
          </a:solidFill>
          <a:ln w="10160">
            <a:solidFill>
              <a:srgbClr val="6C5AA7"/>
            </a:solidFill>
            <a:prstDash val="solid"/>
          </a:ln>
        </p:spPr>
      </p:sp>
      <p:sp>
        <p:nvSpPr>
          <p:cNvPr id="19" name="Shape 16"/>
          <p:cNvSpPr/>
          <p:nvPr/>
        </p:nvSpPr>
        <p:spPr>
          <a:xfrm>
            <a:off x="548640" y="3657600"/>
            <a:ext cx="73152" cy="987552"/>
          </a:xfrm>
          <a:prstGeom prst="rect">
            <a:avLst/>
          </a:prstGeom>
          <a:solidFill>
            <a:srgbClr val="6C5AA7"/>
          </a:solidFill>
          <a:ln w="12700">
            <a:solidFill>
              <a:srgbClr val="6C5AA7"/>
            </a:solidFill>
            <a:prstDash val="solid"/>
          </a:ln>
        </p:spPr>
      </p:sp>
      <p:sp>
        <p:nvSpPr>
          <p:cNvPr id="20" name="Text 17"/>
          <p:cNvSpPr/>
          <p:nvPr/>
        </p:nvSpPr>
        <p:spPr>
          <a:xfrm>
            <a:off x="713232" y="373075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6C5AA7"/>
                </a:solidFill>
                <a:latin typeface="Aptos" pitchFamily="34" charset="0"/>
                <a:ea typeface="Aptos" pitchFamily="34" charset="-122"/>
                <a:cs typeface="Aptos" pitchFamily="34" charset="-120"/>
              </a:rPr>
              <a:t>TEAM JUDGEMENT</a:t>
            </a:r>
            <a:endParaRPr lang="en-US" sz="1300" dirty="0"/>
          </a:p>
        </p:txBody>
      </p:sp>
      <p:sp>
        <p:nvSpPr>
          <p:cNvPr id="21" name="Text 18"/>
          <p:cNvSpPr/>
          <p:nvPr/>
        </p:nvSpPr>
        <p:spPr>
          <a:xfrm>
            <a:off x="713232" y="4023360"/>
            <a:ext cx="5102352" cy="54864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Priority, weights and architecture scores—not measurements</a:t>
            </a:r>
            <a:endParaRPr lang="en-US" sz="1400" dirty="0"/>
          </a:p>
        </p:txBody>
      </p:sp>
      <p:sp>
        <p:nvSpPr>
          <p:cNvPr id="22" name="Shape 19"/>
          <p:cNvSpPr/>
          <p:nvPr/>
        </p:nvSpPr>
        <p:spPr>
          <a:xfrm>
            <a:off x="6172200" y="3657600"/>
            <a:ext cx="5394960" cy="987552"/>
          </a:xfrm>
          <a:prstGeom prst="roundRect">
            <a:avLst>
              <a:gd name="adj" fmla="val 7407"/>
            </a:avLst>
          </a:prstGeom>
          <a:solidFill>
            <a:srgbClr val="FFF0D8"/>
          </a:solidFill>
          <a:ln w="10160">
            <a:solidFill>
              <a:srgbClr val="CF7B1B"/>
            </a:solidFill>
            <a:prstDash val="solid"/>
          </a:ln>
        </p:spPr>
      </p:sp>
      <p:sp>
        <p:nvSpPr>
          <p:cNvPr id="23" name="Shape 20"/>
          <p:cNvSpPr/>
          <p:nvPr/>
        </p:nvSpPr>
        <p:spPr>
          <a:xfrm>
            <a:off x="6172200" y="3657600"/>
            <a:ext cx="73152" cy="987552"/>
          </a:xfrm>
          <a:prstGeom prst="rect">
            <a:avLst/>
          </a:prstGeom>
          <a:solidFill>
            <a:srgbClr val="CF7B1B"/>
          </a:solidFill>
          <a:ln w="12700">
            <a:solidFill>
              <a:srgbClr val="CF7B1B"/>
            </a:solidFill>
            <a:prstDash val="solid"/>
          </a:ln>
        </p:spPr>
      </p:sp>
      <p:sp>
        <p:nvSpPr>
          <p:cNvPr id="24" name="Text 21"/>
          <p:cNvSpPr/>
          <p:nvPr/>
        </p:nvSpPr>
        <p:spPr>
          <a:xfrm>
            <a:off x="6336792" y="373075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TARGET</a:t>
            </a:r>
            <a:endParaRPr lang="en-US" sz="1300" dirty="0"/>
          </a:p>
        </p:txBody>
      </p:sp>
      <p:sp>
        <p:nvSpPr>
          <p:cNvPr id="25" name="Text 22"/>
          <p:cNvSpPr/>
          <p:nvPr/>
        </p:nvSpPr>
        <p:spPr>
          <a:xfrm>
            <a:off x="6336792" y="4023360"/>
            <a:ext cx="5102352" cy="54864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A threshold to test—not a result or universal standard</a:t>
            </a:r>
            <a:endParaRPr lang="en-US" sz="1400" dirty="0"/>
          </a:p>
        </p:txBody>
      </p:sp>
      <p:sp>
        <p:nvSpPr>
          <p:cNvPr id="26" name="Shape 23"/>
          <p:cNvSpPr/>
          <p:nvPr/>
        </p:nvSpPr>
        <p:spPr>
          <a:xfrm>
            <a:off x="548640" y="5074920"/>
            <a:ext cx="11064240" cy="786384"/>
          </a:xfrm>
          <a:prstGeom prst="roundRect">
            <a:avLst>
              <a:gd name="adj" fmla="val 9302"/>
            </a:avLst>
          </a:prstGeom>
          <a:solidFill>
            <a:srgbClr val="FBE4E4"/>
          </a:solidFill>
          <a:ln w="10160">
            <a:solidFill>
              <a:srgbClr val="B74444"/>
            </a:solidFill>
            <a:prstDash val="solid"/>
          </a:ln>
        </p:spPr>
      </p:sp>
      <p:sp>
        <p:nvSpPr>
          <p:cNvPr id="27" name="Shape 24"/>
          <p:cNvSpPr/>
          <p:nvPr/>
        </p:nvSpPr>
        <p:spPr>
          <a:xfrm>
            <a:off x="548640" y="5074920"/>
            <a:ext cx="73152" cy="786384"/>
          </a:xfrm>
          <a:prstGeom prst="rect">
            <a:avLst/>
          </a:prstGeom>
          <a:solidFill>
            <a:srgbClr val="B74444"/>
          </a:solidFill>
          <a:ln w="12700">
            <a:solidFill>
              <a:srgbClr val="B74444"/>
            </a:solidFill>
            <a:prstDash val="solid"/>
          </a:ln>
        </p:spPr>
      </p:sp>
      <p:sp>
        <p:nvSpPr>
          <p:cNvPr id="28" name="Text 25"/>
          <p:cNvSpPr/>
          <p:nvPr/>
        </p:nvSpPr>
        <p:spPr>
          <a:xfrm>
            <a:off x="713232" y="5148072"/>
            <a:ext cx="1077163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Claim flags</a:t>
            </a:r>
            <a:endParaRPr lang="en-US" sz="1300" dirty="0"/>
          </a:p>
        </p:txBody>
      </p:sp>
      <p:sp>
        <p:nvSpPr>
          <p:cNvPr id="29" name="Text 26"/>
          <p:cNvSpPr/>
          <p:nvPr/>
        </p:nvSpPr>
        <p:spPr>
          <a:xfrm>
            <a:off x="713232" y="5440680"/>
            <a:ext cx="10771632" cy="347472"/>
          </a:xfrm>
          <a:prstGeom prst="rect">
            <a:avLst/>
          </a:prstGeom>
          <a:noFill/>
          <a:ln/>
        </p:spPr>
        <p:txBody>
          <a:bodyPr wrap="square" lIns="762" tIns="762" rIns="762" bIns="762" rtlCol="0" anchor="t">
            <a:normAutofit/>
          </a:bodyPr>
          <a:lstStyle/>
          <a:p>
            <a:pPr indent="0" marL="0">
              <a:buNone/>
            </a:pPr>
            <a:r>
              <a:rPr lang="en-US" sz="1600" dirty="0">
                <a:solidFill>
                  <a:srgbClr val="162B3A"/>
                </a:solidFill>
                <a:latin typeface="Aptos" pitchFamily="34" charset="0"/>
                <a:ea typeface="Aptos" pitchFamily="34" charset="-122"/>
                <a:cs typeface="Aptos" pitchFamily="34" charset="-120"/>
              </a:rPr>
              <a:t>No casualty interpretation · no ambient air-quality claim · no invented interviews · no best-episode headline · no Tunis deployment claim</a:t>
            </a:r>
            <a:endParaRPr lang="en-US" sz="1600" dirty="0"/>
          </a:p>
        </p:txBody>
      </p:sp>
      <p:sp>
        <p:nvSpPr>
          <p:cNvPr id="30" name="Text 27"/>
          <p:cNvSpPr/>
          <p:nvPr/>
        </p:nvSpPr>
        <p:spPr>
          <a:xfrm>
            <a:off x="594360" y="5989320"/>
            <a:ext cx="10972800" cy="274320"/>
          </a:xfrm>
          <a:prstGeom prst="rect">
            <a:avLst/>
          </a:prstGeom>
          <a:noFill/>
          <a:ln/>
        </p:spPr>
        <p:txBody>
          <a:bodyPr wrap="square" lIns="762" tIns="762" rIns="762" bIns="762" rtlCol="0" anchor="ctr">
            <a:normAutofit/>
          </a:bodyPr>
          <a:lstStyle/>
          <a:p>
            <a:pPr algn="ctr" indent="0" marL="0">
              <a:buNone/>
            </a:pPr>
            <a:r>
              <a:rPr lang="en-US" sz="1100" dirty="0">
                <a:solidFill>
                  <a:srgbClr val="4E6878"/>
                </a:solidFill>
                <a:latin typeface="Aptos" pitchFamily="34" charset="0"/>
                <a:ea typeface="Aptos" pitchFamily="34" charset="-122"/>
                <a:cs typeface="Aptos" pitchFamily="34" charset="-120"/>
              </a:rPr>
              <a:t>Method and persona status [C02] · full safe wording lives in presentation-claim-ledger.json</a:t>
            </a:r>
            <a:endParaRPr lang="en-US" sz="11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DEFINE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Define: the problem is not “reduce average car delay”</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Averages can hide starvation, displacement, fragility and unexplained trade-offs.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508760"/>
            <a:ext cx="5303520" cy="1828800"/>
          </a:xfrm>
          <a:prstGeom prst="roundRect">
            <a:avLst>
              <a:gd name="adj" fmla="val 4000"/>
            </a:avLst>
          </a:prstGeom>
          <a:solidFill>
            <a:srgbClr val="FBE4E4"/>
          </a:solidFill>
          <a:ln w="10160">
            <a:solidFill>
              <a:srgbClr val="B74444"/>
            </a:solidFill>
            <a:prstDash val="solid"/>
          </a:ln>
        </p:spPr>
      </p:sp>
      <p:sp>
        <p:nvSpPr>
          <p:cNvPr id="9" name="Shape 6"/>
          <p:cNvSpPr/>
          <p:nvPr/>
        </p:nvSpPr>
        <p:spPr>
          <a:xfrm>
            <a:off x="594360" y="1508760"/>
            <a:ext cx="73152" cy="1828800"/>
          </a:xfrm>
          <a:prstGeom prst="rect">
            <a:avLst/>
          </a:prstGeom>
          <a:solidFill>
            <a:srgbClr val="B74444"/>
          </a:solidFill>
          <a:ln w="12700">
            <a:solidFill>
              <a:srgbClr val="B74444"/>
            </a:solidFill>
            <a:prstDash val="solid"/>
          </a:ln>
        </p:spPr>
      </p:sp>
      <p:sp>
        <p:nvSpPr>
          <p:cNvPr id="10" name="Text 7"/>
          <p:cNvSpPr/>
          <p:nvPr/>
        </p:nvSpPr>
        <p:spPr>
          <a:xfrm>
            <a:off x="758952" y="1581912"/>
            <a:ext cx="501091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Wrong framing</a:t>
            </a:r>
            <a:endParaRPr lang="en-US" sz="1300" dirty="0"/>
          </a:p>
        </p:txBody>
      </p:sp>
      <p:sp>
        <p:nvSpPr>
          <p:cNvPr id="11" name="Text 8"/>
          <p:cNvSpPr/>
          <p:nvPr/>
        </p:nvSpPr>
        <p:spPr>
          <a:xfrm>
            <a:off x="758952" y="1874520"/>
            <a:ext cx="5010912" cy="1389888"/>
          </a:xfrm>
          <a:prstGeom prst="rect">
            <a:avLst/>
          </a:prstGeom>
          <a:noFill/>
          <a:ln/>
        </p:spPr>
        <p:txBody>
          <a:bodyPr wrap="square" lIns="762" tIns="762" rIns="762" bIns="762" rtlCol="0" anchor="t">
            <a:normAutofit/>
          </a:bodyPr>
          <a:lstStyle/>
          <a:p>
            <a:pPr indent="0" marL="0">
              <a:buNone/>
            </a:pPr>
            <a:r>
              <a:rPr lang="en-US" sz="1700" dirty="0">
                <a:solidFill>
                  <a:srgbClr val="162B3A"/>
                </a:solidFill>
                <a:latin typeface="Aptos" pitchFamily="34" charset="0"/>
                <a:ea typeface="Aptos" pitchFamily="34" charset="-122"/>
                <a:cs typeface="Aptos" pitchFamily="34" charset="-120"/>
              </a:rPr>
              <a:t>“Build five AI agents and reduce mean vehicle delay.”</a:t>
            </a:r>
            <a:endParaRPr lang="en-US" sz="1700" dirty="0"/>
          </a:p>
          <a:p>
            <a:pPr indent="0" marL="0">
              <a:buNone/>
            </a:pPr>
            <a:endParaRPr lang="en-US" sz="1700" dirty="0"/>
          </a:p>
          <a:p>
            <a:pPr indent="0" marL="0">
              <a:buNone/>
            </a:pPr>
            <a:r>
              <a:rPr lang="en-US" sz="1700" dirty="0">
                <a:solidFill>
                  <a:srgbClr val="162B3A"/>
                </a:solidFill>
                <a:latin typeface="Aptos" pitchFamily="34" charset="0"/>
                <a:ea typeface="Aptos" pitchFamily="34" charset="-122"/>
                <a:cs typeface="Aptos" pitchFamily="34" charset="-120"/>
              </a:rPr>
              <a:t>That is a builder wish. It says nothing about who is harmed, safety, failure or evidence.</a:t>
            </a:r>
            <a:endParaRPr lang="en-US" sz="1700" dirty="0"/>
          </a:p>
        </p:txBody>
      </p:sp>
      <p:sp>
        <p:nvSpPr>
          <p:cNvPr id="12" name="Shape 9"/>
          <p:cNvSpPr/>
          <p:nvPr/>
        </p:nvSpPr>
        <p:spPr>
          <a:xfrm>
            <a:off x="6263640" y="1508760"/>
            <a:ext cx="5321808" cy="1828800"/>
          </a:xfrm>
          <a:prstGeom prst="roundRect">
            <a:avLst>
              <a:gd name="adj" fmla="val 4000"/>
            </a:avLst>
          </a:prstGeom>
          <a:solidFill>
            <a:srgbClr val="DDF3EC"/>
          </a:solidFill>
          <a:ln w="10160">
            <a:solidFill>
              <a:srgbClr val="2D936C"/>
            </a:solidFill>
            <a:prstDash val="solid"/>
          </a:ln>
        </p:spPr>
      </p:sp>
      <p:sp>
        <p:nvSpPr>
          <p:cNvPr id="13" name="Shape 10"/>
          <p:cNvSpPr/>
          <p:nvPr/>
        </p:nvSpPr>
        <p:spPr>
          <a:xfrm>
            <a:off x="6263640" y="1508760"/>
            <a:ext cx="73152" cy="1828800"/>
          </a:xfrm>
          <a:prstGeom prst="rect">
            <a:avLst/>
          </a:prstGeom>
          <a:solidFill>
            <a:srgbClr val="2D936C"/>
          </a:solidFill>
          <a:ln w="12700">
            <a:solidFill>
              <a:srgbClr val="2D936C"/>
            </a:solidFill>
            <a:prstDash val="solid"/>
          </a:ln>
        </p:spPr>
      </p:sp>
      <p:sp>
        <p:nvSpPr>
          <p:cNvPr id="14" name="Text 11"/>
          <p:cNvSpPr/>
          <p:nvPr/>
        </p:nvSpPr>
        <p:spPr>
          <a:xfrm>
            <a:off x="6428232" y="1581912"/>
            <a:ext cx="5029200"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Human-centred framing</a:t>
            </a:r>
            <a:endParaRPr lang="en-US" sz="1300" dirty="0"/>
          </a:p>
        </p:txBody>
      </p:sp>
      <p:sp>
        <p:nvSpPr>
          <p:cNvPr id="15" name="Text 12"/>
          <p:cNvSpPr/>
          <p:nvPr/>
        </p:nvSpPr>
        <p:spPr>
          <a:xfrm>
            <a:off x="6428232" y="1874520"/>
            <a:ext cx="5029200" cy="1389888"/>
          </a:xfrm>
          <a:prstGeom prst="rect">
            <a:avLst/>
          </a:prstGeom>
          <a:noFill/>
          <a:ln/>
        </p:spPr>
        <p:txBody>
          <a:bodyPr wrap="square" lIns="762" tIns="762" rIns="762" bIns="762" rtlCol="0" anchor="t">
            <a:normAutofit/>
          </a:bodyPr>
          <a:lstStyle/>
          <a:p>
            <a:pPr indent="0" marL="0">
              <a:buNone/>
            </a:pPr>
            <a:r>
              <a:rPr lang="en-US" sz="1700" dirty="0">
                <a:solidFill>
                  <a:srgbClr val="162B3A"/>
                </a:solidFill>
                <a:latin typeface="Aptos" pitchFamily="34" charset="0"/>
                <a:ea typeface="Aptos" pitchFamily="34" charset="-122"/>
                <a:cs typeface="Aptos" pitchFamily="34" charset="-120"/>
              </a:rPr>
              <a:t>Street users and operators need signal control that treats distinct needs as first-class objectives with visible trade-offs—because throughput-only control hides who pays and can degrade silently.</a:t>
            </a:r>
            <a:endParaRPr lang="en-US" sz="1700" dirty="0"/>
          </a:p>
        </p:txBody>
      </p:sp>
      <p:sp>
        <p:nvSpPr>
          <p:cNvPr id="16" name="Shape 13"/>
          <p:cNvSpPr/>
          <p:nvPr/>
        </p:nvSpPr>
        <p:spPr>
          <a:xfrm>
            <a:off x="594360" y="3794760"/>
            <a:ext cx="2578608" cy="1143000"/>
          </a:xfrm>
          <a:prstGeom prst="roundRect">
            <a:avLst>
              <a:gd name="adj" fmla="val 6400"/>
            </a:avLst>
          </a:prstGeom>
          <a:solidFill>
            <a:srgbClr val="FFFFFF"/>
          </a:solidFill>
          <a:ln w="10160">
            <a:solidFill>
              <a:srgbClr val="168F8B"/>
            </a:solidFill>
            <a:prstDash val="solid"/>
          </a:ln>
        </p:spPr>
      </p:sp>
      <p:sp>
        <p:nvSpPr>
          <p:cNvPr id="17" name="Shape 14"/>
          <p:cNvSpPr/>
          <p:nvPr/>
        </p:nvSpPr>
        <p:spPr>
          <a:xfrm>
            <a:off x="594360" y="3794760"/>
            <a:ext cx="73152" cy="1143000"/>
          </a:xfrm>
          <a:prstGeom prst="rect">
            <a:avLst/>
          </a:prstGeom>
          <a:solidFill>
            <a:srgbClr val="168F8B"/>
          </a:solidFill>
          <a:ln w="12700">
            <a:solidFill>
              <a:srgbClr val="168F8B"/>
            </a:solidFill>
            <a:prstDash val="solid"/>
          </a:ln>
        </p:spPr>
      </p:sp>
      <p:sp>
        <p:nvSpPr>
          <p:cNvPr id="18" name="Text 15"/>
          <p:cNvSpPr/>
          <p:nvPr/>
        </p:nvSpPr>
        <p:spPr>
          <a:xfrm>
            <a:off x="758952" y="3867912"/>
            <a:ext cx="2286000"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MEAN DELAY</a:t>
            </a:r>
            <a:endParaRPr lang="en-US" sz="1300" dirty="0"/>
          </a:p>
        </p:txBody>
      </p:sp>
      <p:sp>
        <p:nvSpPr>
          <p:cNvPr id="19" name="Text 16"/>
          <p:cNvSpPr/>
          <p:nvPr/>
        </p:nvSpPr>
        <p:spPr>
          <a:xfrm>
            <a:off x="758952" y="4160520"/>
            <a:ext cx="2286000" cy="70408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can hide unfinished and extreme trips</a:t>
            </a:r>
            <a:endParaRPr lang="en-US" sz="1350" dirty="0"/>
          </a:p>
        </p:txBody>
      </p:sp>
      <p:sp>
        <p:nvSpPr>
          <p:cNvPr id="20" name="Shape 17"/>
          <p:cNvSpPr/>
          <p:nvPr/>
        </p:nvSpPr>
        <p:spPr>
          <a:xfrm>
            <a:off x="3374136" y="3794760"/>
            <a:ext cx="2578608" cy="1143000"/>
          </a:xfrm>
          <a:prstGeom prst="roundRect">
            <a:avLst>
              <a:gd name="adj" fmla="val 6400"/>
            </a:avLst>
          </a:prstGeom>
          <a:solidFill>
            <a:srgbClr val="DDEFF5"/>
          </a:solidFill>
          <a:ln w="10160">
            <a:solidFill>
              <a:srgbClr val="176B87"/>
            </a:solidFill>
            <a:prstDash val="solid"/>
          </a:ln>
        </p:spPr>
      </p:sp>
      <p:sp>
        <p:nvSpPr>
          <p:cNvPr id="21" name="Shape 18"/>
          <p:cNvSpPr/>
          <p:nvPr/>
        </p:nvSpPr>
        <p:spPr>
          <a:xfrm>
            <a:off x="3374136" y="3794760"/>
            <a:ext cx="73152" cy="1143000"/>
          </a:xfrm>
          <a:prstGeom prst="rect">
            <a:avLst/>
          </a:prstGeom>
          <a:solidFill>
            <a:srgbClr val="176B87"/>
          </a:solidFill>
          <a:ln w="12700">
            <a:solidFill>
              <a:srgbClr val="176B87"/>
            </a:solidFill>
            <a:prstDash val="solid"/>
          </a:ln>
        </p:spPr>
      </p:sp>
      <p:sp>
        <p:nvSpPr>
          <p:cNvPr id="22" name="Text 19"/>
          <p:cNvSpPr/>
          <p:nvPr/>
        </p:nvSpPr>
        <p:spPr>
          <a:xfrm>
            <a:off x="3538728" y="3867912"/>
            <a:ext cx="2286000"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FAST BUS</a:t>
            </a:r>
            <a:endParaRPr lang="en-US" sz="1300" dirty="0"/>
          </a:p>
        </p:txBody>
      </p:sp>
      <p:sp>
        <p:nvSpPr>
          <p:cNvPr id="23" name="Text 20"/>
          <p:cNvSpPr/>
          <p:nvPr/>
        </p:nvSpPr>
        <p:spPr>
          <a:xfrm>
            <a:off x="3538728" y="4160520"/>
            <a:ext cx="2286000" cy="70408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does not guarantee regular headways</a:t>
            </a:r>
            <a:endParaRPr lang="en-US" sz="1350" dirty="0"/>
          </a:p>
        </p:txBody>
      </p:sp>
      <p:sp>
        <p:nvSpPr>
          <p:cNvPr id="24" name="Shape 21"/>
          <p:cNvSpPr/>
          <p:nvPr/>
        </p:nvSpPr>
        <p:spPr>
          <a:xfrm>
            <a:off x="6153912" y="3794760"/>
            <a:ext cx="2578608" cy="1143000"/>
          </a:xfrm>
          <a:prstGeom prst="roundRect">
            <a:avLst>
              <a:gd name="adj" fmla="val 6400"/>
            </a:avLst>
          </a:prstGeom>
          <a:solidFill>
            <a:srgbClr val="FFFFFF"/>
          </a:solidFill>
          <a:ln w="10160">
            <a:solidFill>
              <a:srgbClr val="168F8B"/>
            </a:solidFill>
            <a:prstDash val="solid"/>
          </a:ln>
        </p:spPr>
      </p:sp>
      <p:sp>
        <p:nvSpPr>
          <p:cNvPr id="25" name="Shape 22"/>
          <p:cNvSpPr/>
          <p:nvPr/>
        </p:nvSpPr>
        <p:spPr>
          <a:xfrm>
            <a:off x="6153912" y="3794760"/>
            <a:ext cx="73152" cy="1143000"/>
          </a:xfrm>
          <a:prstGeom prst="rect">
            <a:avLst/>
          </a:prstGeom>
          <a:solidFill>
            <a:srgbClr val="168F8B"/>
          </a:solidFill>
          <a:ln w="12700">
            <a:solidFill>
              <a:srgbClr val="168F8B"/>
            </a:solidFill>
            <a:prstDash val="solid"/>
          </a:ln>
        </p:spPr>
      </p:sp>
      <p:sp>
        <p:nvSpPr>
          <p:cNvPr id="26" name="Text 23"/>
          <p:cNvSpPr/>
          <p:nvPr/>
        </p:nvSpPr>
        <p:spPr>
          <a:xfrm>
            <a:off x="6318504" y="3867912"/>
            <a:ext cx="2286000"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GREEN FOR EV</a:t>
            </a:r>
            <a:endParaRPr lang="en-US" sz="1300" dirty="0"/>
          </a:p>
        </p:txBody>
      </p:sp>
      <p:sp>
        <p:nvSpPr>
          <p:cNvPr id="27" name="Text 24"/>
          <p:cNvSpPr/>
          <p:nvPr/>
        </p:nvSpPr>
        <p:spPr>
          <a:xfrm>
            <a:off x="6318504" y="4160520"/>
            <a:ext cx="2286000" cy="70408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does not create downstream space</a:t>
            </a:r>
            <a:endParaRPr lang="en-US" sz="1350" dirty="0"/>
          </a:p>
        </p:txBody>
      </p:sp>
      <p:sp>
        <p:nvSpPr>
          <p:cNvPr id="28" name="Shape 25"/>
          <p:cNvSpPr/>
          <p:nvPr/>
        </p:nvSpPr>
        <p:spPr>
          <a:xfrm>
            <a:off x="8933688" y="3794760"/>
            <a:ext cx="2578608" cy="1143000"/>
          </a:xfrm>
          <a:prstGeom prst="roundRect">
            <a:avLst>
              <a:gd name="adj" fmla="val 6400"/>
            </a:avLst>
          </a:prstGeom>
          <a:solidFill>
            <a:srgbClr val="DDEFF5"/>
          </a:solidFill>
          <a:ln w="10160">
            <a:solidFill>
              <a:srgbClr val="176B87"/>
            </a:solidFill>
            <a:prstDash val="solid"/>
          </a:ln>
        </p:spPr>
      </p:sp>
      <p:sp>
        <p:nvSpPr>
          <p:cNvPr id="29" name="Shape 26"/>
          <p:cNvSpPr/>
          <p:nvPr/>
        </p:nvSpPr>
        <p:spPr>
          <a:xfrm>
            <a:off x="8933688" y="3794760"/>
            <a:ext cx="73152" cy="1143000"/>
          </a:xfrm>
          <a:prstGeom prst="rect">
            <a:avLst/>
          </a:prstGeom>
          <a:solidFill>
            <a:srgbClr val="176B87"/>
          </a:solidFill>
          <a:ln w="12700">
            <a:solidFill>
              <a:srgbClr val="176B87"/>
            </a:solidFill>
            <a:prstDash val="solid"/>
          </a:ln>
        </p:spPr>
      </p:sp>
      <p:sp>
        <p:nvSpPr>
          <p:cNvPr id="30" name="Text 27"/>
          <p:cNvSpPr/>
          <p:nvPr/>
        </p:nvSpPr>
        <p:spPr>
          <a:xfrm>
            <a:off x="9098280" y="3867912"/>
            <a:ext cx="2286000"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NETWORK CO₂</a:t>
            </a:r>
            <a:endParaRPr lang="en-US" sz="1300" dirty="0"/>
          </a:p>
        </p:txBody>
      </p:sp>
      <p:sp>
        <p:nvSpPr>
          <p:cNvPr id="31" name="Text 28"/>
          <p:cNvSpPr/>
          <p:nvPr/>
        </p:nvSpPr>
        <p:spPr>
          <a:xfrm>
            <a:off x="9098280" y="4160520"/>
            <a:ext cx="2286000" cy="70408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can hide a worse school-adjacent street</a:t>
            </a:r>
            <a:endParaRPr lang="en-US" sz="1350" dirty="0"/>
          </a:p>
        </p:txBody>
      </p:sp>
      <p:sp>
        <p:nvSpPr>
          <p:cNvPr id="32" name="Shape 29"/>
          <p:cNvSpPr/>
          <p:nvPr/>
        </p:nvSpPr>
        <p:spPr>
          <a:xfrm>
            <a:off x="960120" y="5349240"/>
            <a:ext cx="10268712" cy="621792"/>
          </a:xfrm>
          <a:prstGeom prst="roundRect">
            <a:avLst>
              <a:gd name="adj" fmla="val 11765"/>
            </a:avLst>
          </a:prstGeom>
          <a:solidFill>
            <a:srgbClr val="0B2239"/>
          </a:solidFill>
          <a:ln w="10160">
            <a:solidFill>
              <a:srgbClr val="0B2239"/>
            </a:solidFill>
            <a:prstDash val="solid"/>
          </a:ln>
        </p:spPr>
      </p:sp>
      <p:sp>
        <p:nvSpPr>
          <p:cNvPr id="33" name="Text 30"/>
          <p:cNvSpPr/>
          <p:nvPr/>
        </p:nvSpPr>
        <p:spPr>
          <a:xfrm>
            <a:off x="1143000" y="5468112"/>
            <a:ext cx="9902952" cy="347472"/>
          </a:xfrm>
          <a:prstGeom prst="rect">
            <a:avLst/>
          </a:prstGeom>
          <a:noFill/>
          <a:ln/>
        </p:spPr>
        <p:txBody>
          <a:bodyPr wrap="square" lIns="762" tIns="762" rIns="762" bIns="762"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Design goal: measurable, constrained, explainable decisions that remain safe when data, messages or models fail.</a:t>
            </a:r>
            <a:endParaRPr lang="en-US" sz="16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DEFINE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POV statements become “How might we” questions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User + need + insight → a question broad enough for multiple solutions.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30352" y="1371600"/>
            <a:ext cx="5440680" cy="694944"/>
          </a:xfrm>
          <a:prstGeom prst="roundRect">
            <a:avLst>
              <a:gd name="adj" fmla="val 10526"/>
            </a:avLst>
          </a:prstGeom>
          <a:solidFill>
            <a:srgbClr val="EEF5F8"/>
          </a:solidFill>
          <a:ln w="10160">
            <a:solidFill>
              <a:srgbClr val="C8D7E3"/>
            </a:solidFill>
            <a:prstDash val="solid"/>
          </a:ln>
        </p:spPr>
      </p:sp>
      <p:sp>
        <p:nvSpPr>
          <p:cNvPr id="9" name="Text 6"/>
          <p:cNvSpPr/>
          <p:nvPr/>
        </p:nvSpPr>
        <p:spPr>
          <a:xfrm>
            <a:off x="640080" y="144475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Amara</a:t>
            </a:r>
            <a:endParaRPr lang="en-US" sz="1200" dirty="0"/>
          </a:p>
        </p:txBody>
      </p:sp>
      <p:sp>
        <p:nvSpPr>
          <p:cNvPr id="10" name="Text 7"/>
          <p:cNvSpPr/>
          <p:nvPr/>
        </p:nvSpPr>
        <p:spPr>
          <a:xfrm>
            <a:off x="1426464" y="144475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finish safely</a:t>
            </a:r>
            <a:endParaRPr lang="en-US" sz="1100" dirty="0"/>
          </a:p>
        </p:txBody>
      </p:sp>
      <p:sp>
        <p:nvSpPr>
          <p:cNvPr id="11" name="Text 8"/>
          <p:cNvSpPr/>
          <p:nvPr/>
        </p:nvSpPr>
        <p:spPr>
          <a:xfrm>
            <a:off x="640080" y="168249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reduce waiting without shortening required clearance?</a:t>
            </a:r>
            <a:endParaRPr lang="en-US" sz="1150" dirty="0"/>
          </a:p>
        </p:txBody>
      </p:sp>
      <p:sp>
        <p:nvSpPr>
          <p:cNvPr id="12" name="Shape 9"/>
          <p:cNvSpPr/>
          <p:nvPr/>
        </p:nvSpPr>
        <p:spPr>
          <a:xfrm>
            <a:off x="6181344" y="1371600"/>
            <a:ext cx="5440680" cy="694944"/>
          </a:xfrm>
          <a:prstGeom prst="roundRect">
            <a:avLst>
              <a:gd name="adj" fmla="val 10526"/>
            </a:avLst>
          </a:prstGeom>
          <a:solidFill>
            <a:srgbClr val="EEF5F8"/>
          </a:solidFill>
          <a:ln w="10160">
            <a:solidFill>
              <a:srgbClr val="C8D7E3"/>
            </a:solidFill>
            <a:prstDash val="solid"/>
          </a:ln>
        </p:spPr>
      </p:sp>
      <p:sp>
        <p:nvSpPr>
          <p:cNvPr id="13" name="Text 10"/>
          <p:cNvSpPr/>
          <p:nvPr/>
        </p:nvSpPr>
        <p:spPr>
          <a:xfrm>
            <a:off x="6291072" y="144475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David</a:t>
            </a:r>
            <a:endParaRPr lang="en-US" sz="1200" dirty="0"/>
          </a:p>
        </p:txBody>
      </p:sp>
      <p:sp>
        <p:nvSpPr>
          <p:cNvPr id="14" name="Text 11"/>
          <p:cNvSpPr/>
          <p:nvPr/>
        </p:nvSpPr>
        <p:spPr>
          <a:xfrm>
            <a:off x="7077456" y="144475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predictable trips</a:t>
            </a:r>
            <a:endParaRPr lang="en-US" sz="1100" dirty="0"/>
          </a:p>
        </p:txBody>
      </p:sp>
      <p:sp>
        <p:nvSpPr>
          <p:cNvPr id="15" name="Text 12"/>
          <p:cNvSpPr/>
          <p:nvPr/>
        </p:nvSpPr>
        <p:spPr>
          <a:xfrm>
            <a:off x="6291072" y="168249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improve tails, not only the mean?</a:t>
            </a:r>
            <a:endParaRPr lang="en-US" sz="1150" dirty="0"/>
          </a:p>
        </p:txBody>
      </p:sp>
      <p:sp>
        <p:nvSpPr>
          <p:cNvPr id="16" name="Shape 13"/>
          <p:cNvSpPr/>
          <p:nvPr/>
        </p:nvSpPr>
        <p:spPr>
          <a:xfrm>
            <a:off x="530352" y="2194560"/>
            <a:ext cx="5440680" cy="694944"/>
          </a:xfrm>
          <a:prstGeom prst="roundRect">
            <a:avLst>
              <a:gd name="adj" fmla="val 10526"/>
            </a:avLst>
          </a:prstGeom>
          <a:solidFill>
            <a:srgbClr val="FFFFFF"/>
          </a:solidFill>
          <a:ln w="10160">
            <a:solidFill>
              <a:srgbClr val="C8D7E3"/>
            </a:solidFill>
            <a:prstDash val="solid"/>
          </a:ln>
        </p:spPr>
      </p:sp>
      <p:sp>
        <p:nvSpPr>
          <p:cNvPr id="17" name="Text 14"/>
          <p:cNvSpPr/>
          <p:nvPr/>
        </p:nvSpPr>
        <p:spPr>
          <a:xfrm>
            <a:off x="640080" y="226771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Chidi</a:t>
            </a:r>
            <a:endParaRPr lang="en-US" sz="1200" dirty="0"/>
          </a:p>
        </p:txBody>
      </p:sp>
      <p:sp>
        <p:nvSpPr>
          <p:cNvPr id="18" name="Text 15"/>
          <p:cNvSpPr/>
          <p:nvPr/>
        </p:nvSpPr>
        <p:spPr>
          <a:xfrm>
            <a:off x="1426464" y="226771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regular service</a:t>
            </a:r>
            <a:endParaRPr lang="en-US" sz="1100" dirty="0"/>
          </a:p>
        </p:txBody>
      </p:sp>
      <p:sp>
        <p:nvSpPr>
          <p:cNvPr id="19" name="Text 16"/>
          <p:cNvSpPr/>
          <p:nvPr/>
        </p:nvSpPr>
        <p:spPr>
          <a:xfrm>
            <a:off x="640080" y="250545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lights help headways without prioritising every bus?</a:t>
            </a:r>
            <a:endParaRPr lang="en-US" sz="1150" dirty="0"/>
          </a:p>
        </p:txBody>
      </p:sp>
      <p:sp>
        <p:nvSpPr>
          <p:cNvPr id="20" name="Shape 17"/>
          <p:cNvSpPr/>
          <p:nvPr/>
        </p:nvSpPr>
        <p:spPr>
          <a:xfrm>
            <a:off x="6181344" y="2194560"/>
            <a:ext cx="5440680" cy="694944"/>
          </a:xfrm>
          <a:prstGeom prst="roundRect">
            <a:avLst>
              <a:gd name="adj" fmla="val 10526"/>
            </a:avLst>
          </a:prstGeom>
          <a:solidFill>
            <a:srgbClr val="FFFFFF"/>
          </a:solidFill>
          <a:ln w="10160">
            <a:solidFill>
              <a:srgbClr val="C8D7E3"/>
            </a:solidFill>
            <a:prstDash val="solid"/>
          </a:ln>
        </p:spPr>
      </p:sp>
      <p:sp>
        <p:nvSpPr>
          <p:cNvPr id="21" name="Text 18"/>
          <p:cNvSpPr/>
          <p:nvPr/>
        </p:nvSpPr>
        <p:spPr>
          <a:xfrm>
            <a:off x="6291072" y="226771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Rosa</a:t>
            </a:r>
            <a:endParaRPr lang="en-US" sz="1200" dirty="0"/>
          </a:p>
        </p:txBody>
      </p:sp>
      <p:sp>
        <p:nvSpPr>
          <p:cNvPr id="22" name="Text 19"/>
          <p:cNvSpPr/>
          <p:nvPr/>
        </p:nvSpPr>
        <p:spPr>
          <a:xfrm>
            <a:off x="7077456" y="226771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understand decisions</a:t>
            </a:r>
            <a:endParaRPr lang="en-US" sz="1100" dirty="0"/>
          </a:p>
        </p:txBody>
      </p:sp>
      <p:sp>
        <p:nvSpPr>
          <p:cNvPr id="23" name="Text 20"/>
          <p:cNvSpPr/>
          <p:nvPr/>
        </p:nvSpPr>
        <p:spPr>
          <a:xfrm>
            <a:off x="6291072" y="250545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every accept/reject be explainable and reviewable?</a:t>
            </a:r>
            <a:endParaRPr lang="en-US" sz="1150" dirty="0"/>
          </a:p>
        </p:txBody>
      </p:sp>
      <p:sp>
        <p:nvSpPr>
          <p:cNvPr id="24" name="Shape 21"/>
          <p:cNvSpPr/>
          <p:nvPr/>
        </p:nvSpPr>
        <p:spPr>
          <a:xfrm>
            <a:off x="530352" y="3017520"/>
            <a:ext cx="5440680" cy="694944"/>
          </a:xfrm>
          <a:prstGeom prst="roundRect">
            <a:avLst>
              <a:gd name="adj" fmla="val 10526"/>
            </a:avLst>
          </a:prstGeom>
          <a:solidFill>
            <a:srgbClr val="EEF5F8"/>
          </a:solidFill>
          <a:ln w="10160">
            <a:solidFill>
              <a:srgbClr val="C8D7E3"/>
            </a:solidFill>
            <a:prstDash val="solid"/>
          </a:ln>
        </p:spPr>
      </p:sp>
      <p:sp>
        <p:nvSpPr>
          <p:cNvPr id="25" name="Text 22"/>
          <p:cNvSpPr/>
          <p:nvPr/>
        </p:nvSpPr>
        <p:spPr>
          <a:xfrm>
            <a:off x="640080" y="309067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Marcus</a:t>
            </a:r>
            <a:endParaRPr lang="en-US" sz="1200" dirty="0"/>
          </a:p>
        </p:txBody>
      </p:sp>
      <p:sp>
        <p:nvSpPr>
          <p:cNvPr id="26" name="Text 23"/>
          <p:cNvSpPr/>
          <p:nvPr/>
        </p:nvSpPr>
        <p:spPr>
          <a:xfrm>
            <a:off x="1426464" y="309067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passage + recovery</a:t>
            </a:r>
            <a:endParaRPr lang="en-US" sz="1100" dirty="0"/>
          </a:p>
        </p:txBody>
      </p:sp>
      <p:sp>
        <p:nvSpPr>
          <p:cNvPr id="27" name="Text 24"/>
          <p:cNvSpPr/>
          <p:nvPr/>
        </p:nvSpPr>
        <p:spPr>
          <a:xfrm>
            <a:off x="640080" y="332841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create useful space and record civilian cost?</a:t>
            </a:r>
            <a:endParaRPr lang="en-US" sz="1150" dirty="0"/>
          </a:p>
        </p:txBody>
      </p:sp>
      <p:sp>
        <p:nvSpPr>
          <p:cNvPr id="28" name="Shape 25"/>
          <p:cNvSpPr/>
          <p:nvPr/>
        </p:nvSpPr>
        <p:spPr>
          <a:xfrm>
            <a:off x="6181344" y="3017520"/>
            <a:ext cx="5440680" cy="694944"/>
          </a:xfrm>
          <a:prstGeom prst="roundRect">
            <a:avLst>
              <a:gd name="adj" fmla="val 10526"/>
            </a:avLst>
          </a:prstGeom>
          <a:solidFill>
            <a:srgbClr val="EEF5F8"/>
          </a:solidFill>
          <a:ln w="10160">
            <a:solidFill>
              <a:srgbClr val="C8D7E3"/>
            </a:solidFill>
            <a:prstDash val="solid"/>
          </a:ln>
        </p:spPr>
      </p:sp>
      <p:sp>
        <p:nvSpPr>
          <p:cNvPr id="29" name="Text 26"/>
          <p:cNvSpPr/>
          <p:nvPr/>
        </p:nvSpPr>
        <p:spPr>
          <a:xfrm>
            <a:off x="6291072" y="309067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Yuki</a:t>
            </a:r>
            <a:endParaRPr lang="en-US" sz="1200" dirty="0"/>
          </a:p>
        </p:txBody>
      </p:sp>
      <p:sp>
        <p:nvSpPr>
          <p:cNvPr id="30" name="Text 27"/>
          <p:cNvSpPr/>
          <p:nvPr/>
        </p:nvSpPr>
        <p:spPr>
          <a:xfrm>
            <a:off x="7077456" y="309067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safe command</a:t>
            </a:r>
            <a:endParaRPr lang="en-US" sz="1100" dirty="0"/>
          </a:p>
        </p:txBody>
      </p:sp>
      <p:sp>
        <p:nvSpPr>
          <p:cNvPr id="31" name="Text 28"/>
          <p:cNvSpPr/>
          <p:nvPr/>
        </p:nvSpPr>
        <p:spPr>
          <a:xfrm>
            <a:off x="6291072" y="332841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diagnose, override and recover predictably?</a:t>
            </a:r>
            <a:endParaRPr lang="en-US" sz="1150" dirty="0"/>
          </a:p>
        </p:txBody>
      </p:sp>
      <p:sp>
        <p:nvSpPr>
          <p:cNvPr id="32" name="Shape 29"/>
          <p:cNvSpPr/>
          <p:nvPr/>
        </p:nvSpPr>
        <p:spPr>
          <a:xfrm>
            <a:off x="530352" y="3840480"/>
            <a:ext cx="5440680" cy="694944"/>
          </a:xfrm>
          <a:prstGeom prst="roundRect">
            <a:avLst>
              <a:gd name="adj" fmla="val 10526"/>
            </a:avLst>
          </a:prstGeom>
          <a:solidFill>
            <a:srgbClr val="FFFFFF"/>
          </a:solidFill>
          <a:ln w="10160">
            <a:solidFill>
              <a:srgbClr val="C8D7E3"/>
            </a:solidFill>
            <a:prstDash val="solid"/>
          </a:ln>
        </p:spPr>
      </p:sp>
      <p:sp>
        <p:nvSpPr>
          <p:cNvPr id="33" name="Text 30"/>
          <p:cNvSpPr/>
          <p:nvPr/>
        </p:nvSpPr>
        <p:spPr>
          <a:xfrm>
            <a:off x="640080" y="391363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Maria</a:t>
            </a:r>
            <a:endParaRPr lang="en-US" sz="1200" dirty="0"/>
          </a:p>
        </p:txBody>
      </p:sp>
      <p:sp>
        <p:nvSpPr>
          <p:cNvPr id="34" name="Text 31"/>
          <p:cNvSpPr/>
          <p:nvPr/>
        </p:nvSpPr>
        <p:spPr>
          <a:xfrm>
            <a:off x="1426464" y="391363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no displacement</a:t>
            </a:r>
            <a:endParaRPr lang="en-US" sz="1100" dirty="0"/>
          </a:p>
        </p:txBody>
      </p:sp>
      <p:sp>
        <p:nvSpPr>
          <p:cNvPr id="35" name="Text 32"/>
          <p:cNvSpPr/>
          <p:nvPr/>
        </p:nvSpPr>
        <p:spPr>
          <a:xfrm>
            <a:off x="640080" y="415137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show where modelled burdens move?</a:t>
            </a:r>
            <a:endParaRPr lang="en-US" sz="1150" dirty="0"/>
          </a:p>
        </p:txBody>
      </p:sp>
      <p:sp>
        <p:nvSpPr>
          <p:cNvPr id="36" name="Shape 33"/>
          <p:cNvSpPr/>
          <p:nvPr/>
        </p:nvSpPr>
        <p:spPr>
          <a:xfrm>
            <a:off x="6181344" y="3840480"/>
            <a:ext cx="5440680" cy="694944"/>
          </a:xfrm>
          <a:prstGeom prst="roundRect">
            <a:avLst>
              <a:gd name="adj" fmla="val 10526"/>
            </a:avLst>
          </a:prstGeom>
          <a:solidFill>
            <a:srgbClr val="FFFFFF"/>
          </a:solidFill>
          <a:ln w="10160">
            <a:solidFill>
              <a:srgbClr val="C8D7E3"/>
            </a:solidFill>
            <a:prstDash val="solid"/>
          </a:ln>
        </p:spPr>
      </p:sp>
      <p:sp>
        <p:nvSpPr>
          <p:cNvPr id="37" name="Text 34"/>
          <p:cNvSpPr/>
          <p:nvPr/>
        </p:nvSpPr>
        <p:spPr>
          <a:xfrm>
            <a:off x="6291072" y="391363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Omar</a:t>
            </a:r>
            <a:endParaRPr lang="en-US" sz="1200" dirty="0"/>
          </a:p>
        </p:txBody>
      </p:sp>
      <p:sp>
        <p:nvSpPr>
          <p:cNvPr id="38" name="Text 35"/>
          <p:cNvSpPr/>
          <p:nvPr/>
        </p:nvSpPr>
        <p:spPr>
          <a:xfrm>
            <a:off x="7077456" y="391363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trustworthy alerts</a:t>
            </a:r>
            <a:endParaRPr lang="en-US" sz="1100" dirty="0"/>
          </a:p>
        </p:txBody>
      </p:sp>
      <p:sp>
        <p:nvSpPr>
          <p:cNvPr id="39" name="Text 36"/>
          <p:cNvSpPr/>
          <p:nvPr/>
        </p:nvSpPr>
        <p:spPr>
          <a:xfrm>
            <a:off x="6291072" y="415137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separate incident, congestion and bad data?</a:t>
            </a:r>
            <a:endParaRPr lang="en-US" sz="1150" dirty="0"/>
          </a:p>
        </p:txBody>
      </p:sp>
      <p:sp>
        <p:nvSpPr>
          <p:cNvPr id="40" name="Shape 37"/>
          <p:cNvSpPr/>
          <p:nvPr/>
        </p:nvSpPr>
        <p:spPr>
          <a:xfrm>
            <a:off x="731520" y="4892040"/>
            <a:ext cx="10725912" cy="987552"/>
          </a:xfrm>
          <a:prstGeom prst="roundRect">
            <a:avLst>
              <a:gd name="adj" fmla="val 7407"/>
            </a:avLst>
          </a:prstGeom>
          <a:solidFill>
            <a:srgbClr val="0B2239"/>
          </a:solidFill>
          <a:ln w="10160">
            <a:solidFill>
              <a:srgbClr val="0B2239"/>
            </a:solidFill>
            <a:prstDash val="solid"/>
          </a:ln>
        </p:spPr>
      </p:sp>
      <p:sp>
        <p:nvSpPr>
          <p:cNvPr id="41" name="Text 38"/>
          <p:cNvSpPr/>
          <p:nvPr/>
        </p:nvSpPr>
        <p:spPr>
          <a:xfrm>
            <a:off x="960120" y="5029200"/>
            <a:ext cx="1325880" cy="201168"/>
          </a:xfrm>
          <a:prstGeom prst="rect">
            <a:avLst/>
          </a:prstGeom>
          <a:noFill/>
          <a:ln/>
        </p:spPr>
        <p:txBody>
          <a:bodyPr wrap="square" lIns="762" tIns="762" rIns="762" bIns="762" rtlCol="0" anchor="ctr">
            <a:normAutofit/>
          </a:bodyPr>
          <a:lstStyle/>
          <a:p>
            <a:pPr indent="0" marL="0">
              <a:buNone/>
            </a:pPr>
            <a:r>
              <a:rPr lang="en-US" sz="1000" b="1" dirty="0">
                <a:solidFill>
                  <a:srgbClr val="76D4CF"/>
                </a:solidFill>
                <a:latin typeface="Aptos" pitchFamily="34" charset="0"/>
                <a:ea typeface="Aptos" pitchFamily="34" charset="-122"/>
                <a:cs typeface="Aptos" pitchFamily="34" charset="-120"/>
              </a:rPr>
              <a:t>INTEGRATED HMW</a:t>
            </a:r>
            <a:endParaRPr lang="en-US" sz="1000" dirty="0"/>
          </a:p>
        </p:txBody>
      </p:sp>
      <p:sp>
        <p:nvSpPr>
          <p:cNvPr id="42" name="Text 39"/>
          <p:cNvSpPr/>
          <p:nvPr/>
        </p:nvSpPr>
        <p:spPr>
          <a:xfrm>
            <a:off x="960120" y="5285232"/>
            <a:ext cx="10241280" cy="420624"/>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How might we improve urban traffic for every person—not only the average car—while making trade-offs auditable and failure safe?</a:t>
            </a:r>
            <a:endParaRPr lang="en-US" sz="18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IDEATE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Ideate: diverge before choosing</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We generated alternatives across flow, emergency, multimodal, sustainability, situation and communication.</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30352" y="1417320"/>
            <a:ext cx="3602736" cy="1143000"/>
          </a:xfrm>
          <a:prstGeom prst="roundRect">
            <a:avLst>
              <a:gd name="adj" fmla="val 6400"/>
            </a:avLst>
          </a:prstGeom>
          <a:solidFill>
            <a:srgbClr val="DDEFF5"/>
          </a:solidFill>
          <a:ln w="10160">
            <a:solidFill>
              <a:srgbClr val="176B87"/>
            </a:solidFill>
            <a:prstDash val="solid"/>
          </a:ln>
        </p:spPr>
      </p:sp>
      <p:sp>
        <p:nvSpPr>
          <p:cNvPr id="9" name="Shape 6"/>
          <p:cNvSpPr/>
          <p:nvPr/>
        </p:nvSpPr>
        <p:spPr>
          <a:xfrm>
            <a:off x="530352" y="1417320"/>
            <a:ext cx="73152" cy="1143000"/>
          </a:xfrm>
          <a:prstGeom prst="rect">
            <a:avLst/>
          </a:prstGeom>
          <a:solidFill>
            <a:srgbClr val="176B87"/>
          </a:solidFill>
          <a:ln w="12700">
            <a:solidFill>
              <a:srgbClr val="176B87"/>
            </a:solidFill>
            <a:prstDash val="solid"/>
          </a:ln>
        </p:spPr>
      </p:sp>
      <p:sp>
        <p:nvSpPr>
          <p:cNvPr id="10" name="Text 7"/>
          <p:cNvSpPr/>
          <p:nvPr/>
        </p:nvSpPr>
        <p:spPr>
          <a:xfrm>
            <a:off x="694944" y="149047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FLOW</a:t>
            </a:r>
            <a:endParaRPr lang="en-US" sz="1300" dirty="0"/>
          </a:p>
        </p:txBody>
      </p:sp>
      <p:sp>
        <p:nvSpPr>
          <p:cNvPr id="11" name="Text 8"/>
          <p:cNvSpPr/>
          <p:nvPr/>
        </p:nvSpPr>
        <p:spPr>
          <a:xfrm>
            <a:off x="694944" y="178308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Fixed-time · actuated · Max-Pressure · independent RL · graph coordination · corridor offsets</a:t>
            </a:r>
            <a:endParaRPr lang="en-US" sz="1250" dirty="0"/>
          </a:p>
        </p:txBody>
      </p:sp>
      <p:sp>
        <p:nvSpPr>
          <p:cNvPr id="12" name="Shape 9"/>
          <p:cNvSpPr/>
          <p:nvPr/>
        </p:nvSpPr>
        <p:spPr>
          <a:xfrm>
            <a:off x="4352544" y="1417320"/>
            <a:ext cx="3602736" cy="1143000"/>
          </a:xfrm>
          <a:prstGeom prst="roundRect">
            <a:avLst>
              <a:gd name="adj" fmla="val 6400"/>
            </a:avLst>
          </a:prstGeom>
          <a:solidFill>
            <a:srgbClr val="DDF3EC"/>
          </a:solidFill>
          <a:ln w="10160">
            <a:solidFill>
              <a:srgbClr val="2D936C"/>
            </a:solidFill>
            <a:prstDash val="solid"/>
          </a:ln>
        </p:spPr>
      </p:sp>
      <p:sp>
        <p:nvSpPr>
          <p:cNvPr id="13" name="Shape 10"/>
          <p:cNvSpPr/>
          <p:nvPr/>
        </p:nvSpPr>
        <p:spPr>
          <a:xfrm>
            <a:off x="4352544" y="1417320"/>
            <a:ext cx="73152" cy="1143000"/>
          </a:xfrm>
          <a:prstGeom prst="rect">
            <a:avLst/>
          </a:prstGeom>
          <a:solidFill>
            <a:srgbClr val="2D936C"/>
          </a:solidFill>
          <a:ln w="12700">
            <a:solidFill>
              <a:srgbClr val="2D936C"/>
            </a:solidFill>
            <a:prstDash val="solid"/>
          </a:ln>
        </p:spPr>
      </p:sp>
      <p:sp>
        <p:nvSpPr>
          <p:cNvPr id="14" name="Text 11"/>
          <p:cNvSpPr/>
          <p:nvPr/>
        </p:nvSpPr>
        <p:spPr>
          <a:xfrm>
            <a:off x="4517136" y="149047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EMERGENCY</a:t>
            </a:r>
            <a:endParaRPr lang="en-US" sz="1300" dirty="0"/>
          </a:p>
        </p:txBody>
      </p:sp>
      <p:sp>
        <p:nvSpPr>
          <p:cNvPr id="15" name="Text 12"/>
          <p:cNvSpPr/>
          <p:nvPr/>
        </p:nvSpPr>
        <p:spPr>
          <a:xfrm>
            <a:off x="4517136" y="178308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Local preemption · corridor pre-clearance · route-aware requests · recovery mode</a:t>
            </a:r>
            <a:endParaRPr lang="en-US" sz="1250" dirty="0"/>
          </a:p>
        </p:txBody>
      </p:sp>
      <p:sp>
        <p:nvSpPr>
          <p:cNvPr id="16" name="Shape 13"/>
          <p:cNvSpPr/>
          <p:nvPr/>
        </p:nvSpPr>
        <p:spPr>
          <a:xfrm>
            <a:off x="8174736" y="1417320"/>
            <a:ext cx="3602736" cy="1143000"/>
          </a:xfrm>
          <a:prstGeom prst="roundRect">
            <a:avLst>
              <a:gd name="adj" fmla="val 6400"/>
            </a:avLst>
          </a:prstGeom>
          <a:solidFill>
            <a:srgbClr val="DDEFF5"/>
          </a:solidFill>
          <a:ln w="10160">
            <a:solidFill>
              <a:srgbClr val="176B87"/>
            </a:solidFill>
            <a:prstDash val="solid"/>
          </a:ln>
        </p:spPr>
      </p:sp>
      <p:sp>
        <p:nvSpPr>
          <p:cNvPr id="17" name="Shape 14"/>
          <p:cNvSpPr/>
          <p:nvPr/>
        </p:nvSpPr>
        <p:spPr>
          <a:xfrm>
            <a:off x="8174736" y="1417320"/>
            <a:ext cx="73152" cy="1143000"/>
          </a:xfrm>
          <a:prstGeom prst="rect">
            <a:avLst/>
          </a:prstGeom>
          <a:solidFill>
            <a:srgbClr val="176B87"/>
          </a:solidFill>
          <a:ln w="12700">
            <a:solidFill>
              <a:srgbClr val="176B87"/>
            </a:solidFill>
            <a:prstDash val="solid"/>
          </a:ln>
        </p:spPr>
      </p:sp>
      <p:sp>
        <p:nvSpPr>
          <p:cNvPr id="18" name="Text 15"/>
          <p:cNvSpPr/>
          <p:nvPr/>
        </p:nvSpPr>
        <p:spPr>
          <a:xfrm>
            <a:off x="8339328" y="149047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MULTIMODAL</a:t>
            </a:r>
            <a:endParaRPr lang="en-US" sz="1300" dirty="0"/>
          </a:p>
        </p:txBody>
      </p:sp>
      <p:sp>
        <p:nvSpPr>
          <p:cNvPr id="19" name="Text 16"/>
          <p:cNvSpPr/>
          <p:nvPr/>
        </p:nvSpPr>
        <p:spPr>
          <a:xfrm>
            <a:off x="8339328" y="178308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Every-bus priority · lateness-gated priority · pedestrian deadline · bus holding</a:t>
            </a:r>
            <a:endParaRPr lang="en-US" sz="1250" dirty="0"/>
          </a:p>
        </p:txBody>
      </p:sp>
      <p:sp>
        <p:nvSpPr>
          <p:cNvPr id="20" name="Shape 17"/>
          <p:cNvSpPr/>
          <p:nvPr/>
        </p:nvSpPr>
        <p:spPr>
          <a:xfrm>
            <a:off x="530352" y="2834640"/>
            <a:ext cx="3602736" cy="1143000"/>
          </a:xfrm>
          <a:prstGeom prst="roundRect">
            <a:avLst>
              <a:gd name="adj" fmla="val 6400"/>
            </a:avLst>
          </a:prstGeom>
          <a:solidFill>
            <a:srgbClr val="DDF3EC"/>
          </a:solidFill>
          <a:ln w="10160">
            <a:solidFill>
              <a:srgbClr val="2D936C"/>
            </a:solidFill>
            <a:prstDash val="solid"/>
          </a:ln>
        </p:spPr>
      </p:sp>
      <p:sp>
        <p:nvSpPr>
          <p:cNvPr id="21" name="Shape 18"/>
          <p:cNvSpPr/>
          <p:nvPr/>
        </p:nvSpPr>
        <p:spPr>
          <a:xfrm>
            <a:off x="530352" y="2834640"/>
            <a:ext cx="73152" cy="1143000"/>
          </a:xfrm>
          <a:prstGeom prst="rect">
            <a:avLst/>
          </a:prstGeom>
          <a:solidFill>
            <a:srgbClr val="2D936C"/>
          </a:solidFill>
          <a:ln w="12700">
            <a:solidFill>
              <a:srgbClr val="2D936C"/>
            </a:solidFill>
            <a:prstDash val="solid"/>
          </a:ln>
        </p:spPr>
      </p:sp>
      <p:sp>
        <p:nvSpPr>
          <p:cNvPr id="22" name="Text 19"/>
          <p:cNvSpPr/>
          <p:nvPr/>
        </p:nvSpPr>
        <p:spPr>
          <a:xfrm>
            <a:off x="694944" y="290779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SITUATION</a:t>
            </a:r>
            <a:endParaRPr lang="en-US" sz="1300" dirty="0"/>
          </a:p>
        </p:txBody>
      </p:sp>
      <p:sp>
        <p:nvSpPr>
          <p:cNvPr id="23" name="Text 20"/>
          <p:cNvSpPr/>
          <p:nvPr/>
        </p:nvSpPr>
        <p:spPr>
          <a:xfrm>
            <a:off x="694944" y="320040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Persistence · tree model · LightGBM · residual anomaly detection · oracle ablation</a:t>
            </a:r>
            <a:endParaRPr lang="en-US" sz="1250" dirty="0"/>
          </a:p>
        </p:txBody>
      </p:sp>
      <p:sp>
        <p:nvSpPr>
          <p:cNvPr id="24" name="Shape 21"/>
          <p:cNvSpPr/>
          <p:nvPr/>
        </p:nvSpPr>
        <p:spPr>
          <a:xfrm>
            <a:off x="4352544" y="2834640"/>
            <a:ext cx="3602736" cy="1143000"/>
          </a:xfrm>
          <a:prstGeom prst="roundRect">
            <a:avLst>
              <a:gd name="adj" fmla="val 6400"/>
            </a:avLst>
          </a:prstGeom>
          <a:solidFill>
            <a:srgbClr val="DDEFF5"/>
          </a:solidFill>
          <a:ln w="10160">
            <a:solidFill>
              <a:srgbClr val="176B87"/>
            </a:solidFill>
            <a:prstDash val="solid"/>
          </a:ln>
        </p:spPr>
      </p:sp>
      <p:sp>
        <p:nvSpPr>
          <p:cNvPr id="25" name="Shape 22"/>
          <p:cNvSpPr/>
          <p:nvPr/>
        </p:nvSpPr>
        <p:spPr>
          <a:xfrm>
            <a:off x="4352544" y="2834640"/>
            <a:ext cx="73152" cy="1143000"/>
          </a:xfrm>
          <a:prstGeom prst="rect">
            <a:avLst/>
          </a:prstGeom>
          <a:solidFill>
            <a:srgbClr val="176B87"/>
          </a:solidFill>
          <a:ln w="12700">
            <a:solidFill>
              <a:srgbClr val="176B87"/>
            </a:solidFill>
            <a:prstDash val="solid"/>
          </a:ln>
        </p:spPr>
      </p:sp>
      <p:sp>
        <p:nvSpPr>
          <p:cNvPr id="26" name="Text 23"/>
          <p:cNvSpPr/>
          <p:nvPr/>
        </p:nvSpPr>
        <p:spPr>
          <a:xfrm>
            <a:off x="4517136" y="290779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SUSTAINABILITY</a:t>
            </a:r>
            <a:endParaRPr lang="en-US" sz="1300" dirty="0"/>
          </a:p>
        </p:txBody>
      </p:sp>
      <p:sp>
        <p:nvSpPr>
          <p:cNvPr id="27" name="Text 24"/>
          <p:cNvSpPr/>
          <p:nvPr/>
        </p:nvSpPr>
        <p:spPr>
          <a:xfrm>
            <a:off x="4517136" y="320040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Stop/idle proxy · modelled CO₂ · link displacement maps · eco advice</a:t>
            </a:r>
            <a:endParaRPr lang="en-US" sz="1250" dirty="0"/>
          </a:p>
        </p:txBody>
      </p:sp>
      <p:sp>
        <p:nvSpPr>
          <p:cNvPr id="28" name="Shape 25"/>
          <p:cNvSpPr/>
          <p:nvPr/>
        </p:nvSpPr>
        <p:spPr>
          <a:xfrm>
            <a:off x="8174736" y="2834640"/>
            <a:ext cx="3602736" cy="1143000"/>
          </a:xfrm>
          <a:prstGeom prst="roundRect">
            <a:avLst>
              <a:gd name="adj" fmla="val 6400"/>
            </a:avLst>
          </a:prstGeom>
          <a:solidFill>
            <a:srgbClr val="DDF3EC"/>
          </a:solidFill>
          <a:ln w="10160">
            <a:solidFill>
              <a:srgbClr val="2D936C"/>
            </a:solidFill>
            <a:prstDash val="solid"/>
          </a:ln>
        </p:spPr>
      </p:sp>
      <p:sp>
        <p:nvSpPr>
          <p:cNvPr id="29" name="Shape 26"/>
          <p:cNvSpPr/>
          <p:nvPr/>
        </p:nvSpPr>
        <p:spPr>
          <a:xfrm>
            <a:off x="8174736" y="2834640"/>
            <a:ext cx="73152" cy="1143000"/>
          </a:xfrm>
          <a:prstGeom prst="rect">
            <a:avLst/>
          </a:prstGeom>
          <a:solidFill>
            <a:srgbClr val="2D936C"/>
          </a:solidFill>
          <a:ln w="12700">
            <a:solidFill>
              <a:srgbClr val="2D936C"/>
            </a:solidFill>
            <a:prstDash val="solid"/>
          </a:ln>
        </p:spPr>
      </p:sp>
      <p:sp>
        <p:nvSpPr>
          <p:cNvPr id="30" name="Text 27"/>
          <p:cNvSpPr/>
          <p:nvPr/>
        </p:nvSpPr>
        <p:spPr>
          <a:xfrm>
            <a:off x="8339328" y="290779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COMMUNICATION</a:t>
            </a:r>
            <a:endParaRPr lang="en-US" sz="1300" dirty="0"/>
          </a:p>
        </p:txBody>
      </p:sp>
      <p:sp>
        <p:nvSpPr>
          <p:cNvPr id="31" name="Text 28"/>
          <p:cNvSpPr/>
          <p:nvPr/>
        </p:nvSpPr>
        <p:spPr>
          <a:xfrm>
            <a:off x="8339328" y="320040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Perfect comms · typed board · TTL · drop/delay emulator · LLM orchestrator</a:t>
            </a:r>
            <a:endParaRPr lang="en-US" sz="1250" dirty="0"/>
          </a:p>
        </p:txBody>
      </p:sp>
      <p:sp>
        <p:nvSpPr>
          <p:cNvPr id="32" name="Shape 29"/>
          <p:cNvSpPr/>
          <p:nvPr/>
        </p:nvSpPr>
        <p:spPr>
          <a:xfrm>
            <a:off x="530352" y="4498848"/>
            <a:ext cx="11247120" cy="1051560"/>
          </a:xfrm>
          <a:prstGeom prst="roundRect">
            <a:avLst>
              <a:gd name="adj" fmla="val 6957"/>
            </a:avLst>
          </a:prstGeom>
          <a:solidFill>
            <a:srgbClr val="FFFFFF"/>
          </a:solidFill>
          <a:ln w="10160">
            <a:solidFill>
              <a:srgbClr val="6C5AA7"/>
            </a:solidFill>
            <a:prstDash val="solid"/>
          </a:ln>
        </p:spPr>
      </p:sp>
      <p:sp>
        <p:nvSpPr>
          <p:cNvPr id="33" name="Shape 30"/>
          <p:cNvSpPr/>
          <p:nvPr/>
        </p:nvSpPr>
        <p:spPr>
          <a:xfrm>
            <a:off x="530352" y="4498848"/>
            <a:ext cx="73152" cy="1051560"/>
          </a:xfrm>
          <a:prstGeom prst="rect">
            <a:avLst/>
          </a:prstGeom>
          <a:solidFill>
            <a:srgbClr val="6C5AA7"/>
          </a:solidFill>
          <a:ln w="12700">
            <a:solidFill>
              <a:srgbClr val="6C5AA7"/>
            </a:solidFill>
            <a:prstDash val="solid"/>
          </a:ln>
        </p:spPr>
      </p:sp>
      <p:sp>
        <p:nvSpPr>
          <p:cNvPr id="34" name="Text 31"/>
          <p:cNvSpPr/>
          <p:nvPr/>
        </p:nvSpPr>
        <p:spPr>
          <a:xfrm>
            <a:off x="694944" y="4572000"/>
            <a:ext cx="10954512" cy="256032"/>
          </a:xfrm>
          <a:prstGeom prst="rect">
            <a:avLst/>
          </a:prstGeom>
          <a:noFill/>
          <a:ln/>
        </p:spPr>
        <p:txBody>
          <a:bodyPr wrap="square" lIns="762" tIns="762" rIns="762" bIns="762" rtlCol="0" anchor="ctr">
            <a:normAutofit/>
          </a:bodyPr>
          <a:lstStyle/>
          <a:p>
            <a:pPr indent="0" marL="0">
              <a:buNone/>
            </a:pPr>
            <a:r>
              <a:rPr lang="en-US" sz="1300" b="1" dirty="0">
                <a:solidFill>
                  <a:srgbClr val="6C5AA7"/>
                </a:solidFill>
                <a:latin typeface="Aptos" pitchFamily="34" charset="0"/>
                <a:ea typeface="Aptos" pitchFamily="34" charset="-122"/>
                <a:cs typeface="Aptos" pitchFamily="34" charset="-120"/>
              </a:rPr>
              <a:t>Research context—not our results</a:t>
            </a:r>
            <a:endParaRPr lang="en-US" sz="1300" dirty="0"/>
          </a:p>
        </p:txBody>
      </p:sp>
      <p:sp>
        <p:nvSpPr>
          <p:cNvPr id="35" name="Text 32"/>
          <p:cNvSpPr/>
          <p:nvPr/>
        </p:nvSpPr>
        <p:spPr>
          <a:xfrm>
            <a:off x="694944" y="4864608"/>
            <a:ext cx="10954512" cy="612648"/>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RESCO, T-REX, CoLLMLight and communication-reliability work helped us ask harder questions about stability, incidents, timing and failures. [C11][C12][C13][C14]</a:t>
            </a:r>
            <a:endParaRPr lang="en-US" sz="1400" dirty="0"/>
          </a:p>
        </p:txBody>
      </p:sp>
      <p:sp>
        <p:nvSpPr>
          <p:cNvPr id="36" name="Text 33"/>
          <p:cNvSpPr/>
          <p:nvPr/>
        </p:nvSpPr>
        <p:spPr>
          <a:xfrm>
            <a:off x="685800" y="5788152"/>
            <a:ext cx="10835640" cy="310896"/>
          </a:xfrm>
          <a:prstGeom prst="rect">
            <a:avLst/>
          </a:prstGeom>
          <a:noFill/>
          <a:ln/>
        </p:spPr>
        <p:txBody>
          <a:bodyPr wrap="square" lIns="762" tIns="762" rIns="762" bIns="762" rtlCol="0" anchor="ctr">
            <a:normAutofit/>
          </a:bodyPr>
          <a:lstStyle/>
          <a:p>
            <a:pPr algn="ctr" indent="0" marL="0">
              <a:buNone/>
            </a:pPr>
            <a:r>
              <a:rPr lang="en-US" sz="1600" b="1" dirty="0">
                <a:solidFill>
                  <a:srgbClr val="168F8B"/>
                </a:solidFill>
                <a:latin typeface="Aptos" pitchFamily="34" charset="0"/>
                <a:ea typeface="Aptos" pitchFamily="34" charset="-122"/>
                <a:cs typeface="Aptos" pitchFamily="34" charset="-120"/>
              </a:rPr>
              <a:t>Divergence rule: generate first; judge later.</a:t>
            </a:r>
            <a:endParaRPr lang="en-US" sz="16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IDEATE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Worst Possible Idea: invert a bad design into a safeguard</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Deliberately unsafe ideas made hidden assumptions visible.</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Text 5"/>
          <p:cNvSpPr/>
          <p:nvPr/>
        </p:nvSpPr>
        <p:spPr>
          <a:xfrm>
            <a:off x="594360" y="1371600"/>
            <a:ext cx="2423160" cy="274320"/>
          </a:xfrm>
          <a:prstGeom prst="rect">
            <a:avLst/>
          </a:prstGeom>
          <a:noFill/>
          <a:ln/>
        </p:spPr>
        <p:txBody>
          <a:bodyPr wrap="square" lIns="762" tIns="762" rIns="762" bIns="762" rtlCol="0" anchor="ctr">
            <a:normAutofit/>
          </a:bodyPr>
          <a:lstStyle/>
          <a:p>
            <a:pPr indent="0" marL="0">
              <a:buNone/>
            </a:pPr>
            <a:r>
              <a:rPr lang="en-US" sz="1000" b="1" dirty="0">
                <a:solidFill>
                  <a:srgbClr val="B74444"/>
                </a:solidFill>
                <a:latin typeface="Aptos" pitchFamily="34" charset="0"/>
                <a:ea typeface="Aptos" pitchFamily="34" charset="-122"/>
                <a:cs typeface="Aptos" pitchFamily="34" charset="-120"/>
              </a:rPr>
              <a:t>BAD IDEA</a:t>
            </a:r>
            <a:endParaRPr lang="en-US" sz="1000" dirty="0"/>
          </a:p>
        </p:txBody>
      </p:sp>
      <p:sp>
        <p:nvSpPr>
          <p:cNvPr id="9" name="Text 6"/>
          <p:cNvSpPr/>
          <p:nvPr/>
        </p:nvSpPr>
        <p:spPr>
          <a:xfrm>
            <a:off x="3063240" y="1371600"/>
            <a:ext cx="3794760" cy="274320"/>
          </a:xfrm>
          <a:prstGeom prst="rect">
            <a:avLst/>
          </a:prstGeom>
          <a:noFill/>
          <a:ln/>
        </p:spPr>
        <p:txBody>
          <a:bodyPr wrap="square" lIns="762" tIns="762" rIns="762" bIns="762" rtlCol="0" anchor="ctr">
            <a:normAutofit/>
          </a:bodyPr>
          <a:lstStyle/>
          <a:p>
            <a:pPr indent="0" marL="0">
              <a:buNone/>
            </a:pPr>
            <a:r>
              <a:rPr lang="en-US" sz="1000" b="1" dirty="0">
                <a:solidFill>
                  <a:srgbClr val="CF7B1B"/>
                </a:solidFill>
                <a:latin typeface="Aptos" pitchFamily="34" charset="0"/>
                <a:ea typeface="Aptos" pitchFamily="34" charset="-122"/>
                <a:cs typeface="Aptos" pitchFamily="34" charset="-120"/>
              </a:rPr>
              <a:t>WHY IT FAILS</a:t>
            </a:r>
            <a:endParaRPr lang="en-US" sz="1000" dirty="0"/>
          </a:p>
        </p:txBody>
      </p:sp>
      <p:sp>
        <p:nvSpPr>
          <p:cNvPr id="10" name="Text 7"/>
          <p:cNvSpPr/>
          <p:nvPr/>
        </p:nvSpPr>
        <p:spPr>
          <a:xfrm>
            <a:off x="7086600" y="1371600"/>
            <a:ext cx="4434840" cy="274320"/>
          </a:xfrm>
          <a:prstGeom prst="rect">
            <a:avLst/>
          </a:prstGeom>
          <a:noFill/>
          <a:ln/>
        </p:spPr>
        <p:txBody>
          <a:bodyPr wrap="square" lIns="762" tIns="762" rIns="762" bIns="762" rtlCol="0" anchor="ctr">
            <a:normAutofit/>
          </a:bodyPr>
          <a:lstStyle/>
          <a:p>
            <a:pPr indent="0" marL="0">
              <a:buNone/>
            </a:pPr>
            <a:r>
              <a:rPr lang="en-US" sz="1000" b="1" dirty="0">
                <a:solidFill>
                  <a:srgbClr val="2D936C"/>
                </a:solidFill>
                <a:latin typeface="Aptos" pitchFamily="34" charset="0"/>
                <a:ea typeface="Aptos" pitchFamily="34" charset="-122"/>
                <a:cs typeface="Aptos" pitchFamily="34" charset="-120"/>
              </a:rPr>
              <a:t>SAFEGUARD CREATED</a:t>
            </a:r>
            <a:endParaRPr lang="en-US" sz="1000" dirty="0"/>
          </a:p>
        </p:txBody>
      </p:sp>
      <p:sp>
        <p:nvSpPr>
          <p:cNvPr id="11" name="Shape 8"/>
          <p:cNvSpPr/>
          <p:nvPr/>
        </p:nvSpPr>
        <p:spPr>
          <a:xfrm>
            <a:off x="530352" y="1719072"/>
            <a:ext cx="11119104" cy="566928"/>
          </a:xfrm>
          <a:prstGeom prst="roundRect">
            <a:avLst>
              <a:gd name="adj" fmla="val 12903"/>
            </a:avLst>
          </a:prstGeom>
          <a:solidFill>
            <a:srgbClr val="EEF5F8"/>
          </a:solidFill>
          <a:ln w="10160">
            <a:solidFill>
              <a:srgbClr val="C8D7E3"/>
            </a:solidFill>
            <a:prstDash val="solid"/>
          </a:ln>
        </p:spPr>
      </p:sp>
      <p:sp>
        <p:nvSpPr>
          <p:cNvPr id="12" name="Text 9"/>
          <p:cNvSpPr/>
          <p:nvPr/>
        </p:nvSpPr>
        <p:spPr>
          <a:xfrm>
            <a:off x="685800" y="1792224"/>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LLM sets lights</a:t>
            </a:r>
            <a:endParaRPr lang="en-US" sz="1300" dirty="0"/>
          </a:p>
        </p:txBody>
      </p:sp>
      <p:sp>
        <p:nvSpPr>
          <p:cNvPr id="13" name="Text 10"/>
          <p:cNvSpPr/>
          <p:nvPr/>
        </p:nvSpPr>
        <p:spPr>
          <a:xfrm>
            <a:off x="3063240" y="1792224"/>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Latency and failure are wrong for safety-critical actuation</a:t>
            </a:r>
            <a:endParaRPr lang="en-US" sz="1250" dirty="0"/>
          </a:p>
        </p:txBody>
      </p:sp>
      <p:sp>
        <p:nvSpPr>
          <p:cNvPr id="14" name="Text 11"/>
          <p:cNvSpPr/>
          <p:nvPr/>
        </p:nvSpPr>
        <p:spPr>
          <a:xfrm>
            <a:off x="7086600" y="1792224"/>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Synapse explains; never actuates</a:t>
            </a:r>
            <a:endParaRPr lang="en-US" sz="1300" dirty="0"/>
          </a:p>
        </p:txBody>
      </p:sp>
      <p:sp>
        <p:nvSpPr>
          <p:cNvPr id="15" name="Shape 12"/>
          <p:cNvSpPr/>
          <p:nvPr/>
        </p:nvSpPr>
        <p:spPr>
          <a:xfrm>
            <a:off x="530352" y="2377440"/>
            <a:ext cx="11119104" cy="566928"/>
          </a:xfrm>
          <a:prstGeom prst="roundRect">
            <a:avLst>
              <a:gd name="adj" fmla="val 12903"/>
            </a:avLst>
          </a:prstGeom>
          <a:solidFill>
            <a:srgbClr val="FFFFFF"/>
          </a:solidFill>
          <a:ln w="10160">
            <a:solidFill>
              <a:srgbClr val="C8D7E3"/>
            </a:solidFill>
            <a:prstDash val="solid"/>
          </a:ln>
        </p:spPr>
      </p:sp>
      <p:sp>
        <p:nvSpPr>
          <p:cNvPr id="16" name="Text 13"/>
          <p:cNvSpPr/>
          <p:nvPr/>
        </p:nvSpPr>
        <p:spPr>
          <a:xfrm>
            <a:off x="685800" y="2450592"/>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All agents write</a:t>
            </a:r>
            <a:endParaRPr lang="en-US" sz="1300" dirty="0"/>
          </a:p>
        </p:txBody>
      </p:sp>
      <p:sp>
        <p:nvSpPr>
          <p:cNvPr id="17" name="Text 14"/>
          <p:cNvSpPr/>
          <p:nvPr/>
        </p:nvSpPr>
        <p:spPr>
          <a:xfrm>
            <a:off x="3063240" y="2450592"/>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Conflicting commands and unclear accountability</a:t>
            </a:r>
            <a:endParaRPr lang="en-US" sz="1250" dirty="0"/>
          </a:p>
        </p:txBody>
      </p:sp>
      <p:sp>
        <p:nvSpPr>
          <p:cNvPr id="18" name="Text 15"/>
          <p:cNvSpPr/>
          <p:nvPr/>
        </p:nvSpPr>
        <p:spPr>
          <a:xfrm>
            <a:off x="7086600" y="2450592"/>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One signal writer: A1</a:t>
            </a:r>
            <a:endParaRPr lang="en-US" sz="1300" dirty="0"/>
          </a:p>
        </p:txBody>
      </p:sp>
      <p:sp>
        <p:nvSpPr>
          <p:cNvPr id="19" name="Shape 16"/>
          <p:cNvSpPr/>
          <p:nvPr/>
        </p:nvSpPr>
        <p:spPr>
          <a:xfrm>
            <a:off x="530352" y="3035808"/>
            <a:ext cx="11119104" cy="566928"/>
          </a:xfrm>
          <a:prstGeom prst="roundRect">
            <a:avLst>
              <a:gd name="adj" fmla="val 12903"/>
            </a:avLst>
          </a:prstGeom>
          <a:solidFill>
            <a:srgbClr val="EEF5F8"/>
          </a:solidFill>
          <a:ln w="10160">
            <a:solidFill>
              <a:srgbClr val="C8D7E3"/>
            </a:solidFill>
            <a:prstDash val="solid"/>
          </a:ln>
        </p:spPr>
      </p:sp>
      <p:sp>
        <p:nvSpPr>
          <p:cNvPr id="20" name="Text 17"/>
          <p:cNvSpPr/>
          <p:nvPr/>
        </p:nvSpPr>
        <p:spPr>
          <a:xfrm>
            <a:off x="685800" y="3108960"/>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Always preempt EV</a:t>
            </a:r>
            <a:endParaRPr lang="en-US" sz="1300" dirty="0"/>
          </a:p>
        </p:txBody>
      </p:sp>
      <p:sp>
        <p:nvSpPr>
          <p:cNvPr id="21" name="Text 18"/>
          <p:cNvSpPr/>
          <p:nvPr/>
        </p:nvSpPr>
        <p:spPr>
          <a:xfrm>
            <a:off x="3063240" y="3108960"/>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Blocked exits and hidden civilian cost</a:t>
            </a:r>
            <a:endParaRPr lang="en-US" sz="1250" dirty="0"/>
          </a:p>
        </p:txBody>
      </p:sp>
      <p:sp>
        <p:nvSpPr>
          <p:cNvPr id="22" name="Text 19"/>
          <p:cNvSpPr/>
          <p:nvPr/>
        </p:nvSpPr>
        <p:spPr>
          <a:xfrm>
            <a:off x="7086600" y="3108960"/>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Capacity check + separate externality</a:t>
            </a:r>
            <a:endParaRPr lang="en-US" sz="1300" dirty="0"/>
          </a:p>
        </p:txBody>
      </p:sp>
      <p:sp>
        <p:nvSpPr>
          <p:cNvPr id="23" name="Shape 20"/>
          <p:cNvSpPr/>
          <p:nvPr/>
        </p:nvSpPr>
        <p:spPr>
          <a:xfrm>
            <a:off x="530352" y="3694176"/>
            <a:ext cx="11119104" cy="566928"/>
          </a:xfrm>
          <a:prstGeom prst="roundRect">
            <a:avLst>
              <a:gd name="adj" fmla="val 12903"/>
            </a:avLst>
          </a:prstGeom>
          <a:solidFill>
            <a:srgbClr val="FFFFFF"/>
          </a:solidFill>
          <a:ln w="10160">
            <a:solidFill>
              <a:srgbClr val="C8D7E3"/>
            </a:solidFill>
            <a:prstDash val="solid"/>
          </a:ln>
        </p:spPr>
      </p:sp>
      <p:sp>
        <p:nvSpPr>
          <p:cNvPr id="24" name="Text 21"/>
          <p:cNvSpPr/>
          <p:nvPr/>
        </p:nvSpPr>
        <p:spPr>
          <a:xfrm>
            <a:off x="685800" y="3767328"/>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Every bus gets green</a:t>
            </a:r>
            <a:endParaRPr lang="en-US" sz="1300" dirty="0"/>
          </a:p>
        </p:txBody>
      </p:sp>
      <p:sp>
        <p:nvSpPr>
          <p:cNvPr id="25" name="Text 22"/>
          <p:cNvSpPr/>
          <p:nvPr/>
        </p:nvSpPr>
        <p:spPr>
          <a:xfrm>
            <a:off x="3063240" y="3767328"/>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Early buses consume recovery time</a:t>
            </a:r>
            <a:endParaRPr lang="en-US" sz="1250" dirty="0"/>
          </a:p>
        </p:txBody>
      </p:sp>
      <p:sp>
        <p:nvSpPr>
          <p:cNvPr id="26" name="Text 23"/>
          <p:cNvSpPr/>
          <p:nvPr/>
        </p:nvSpPr>
        <p:spPr>
          <a:xfrm>
            <a:off x="7086600" y="3767328"/>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Lateness/headway evidence required</a:t>
            </a:r>
            <a:endParaRPr lang="en-US" sz="1300" dirty="0"/>
          </a:p>
        </p:txBody>
      </p:sp>
      <p:sp>
        <p:nvSpPr>
          <p:cNvPr id="27" name="Shape 24"/>
          <p:cNvSpPr/>
          <p:nvPr/>
        </p:nvSpPr>
        <p:spPr>
          <a:xfrm>
            <a:off x="530352" y="4352544"/>
            <a:ext cx="11119104" cy="566928"/>
          </a:xfrm>
          <a:prstGeom prst="roundRect">
            <a:avLst>
              <a:gd name="adj" fmla="val 12903"/>
            </a:avLst>
          </a:prstGeom>
          <a:solidFill>
            <a:srgbClr val="EEF5F8"/>
          </a:solidFill>
          <a:ln w="10160">
            <a:solidFill>
              <a:srgbClr val="C8D7E3"/>
            </a:solidFill>
            <a:prstDash val="solid"/>
          </a:ln>
        </p:spPr>
      </p:sp>
      <p:sp>
        <p:nvSpPr>
          <p:cNvPr id="28" name="Text 25"/>
          <p:cNvSpPr/>
          <p:nvPr/>
        </p:nvSpPr>
        <p:spPr>
          <a:xfrm>
            <a:off x="685800" y="4425696"/>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Trust perfect data</a:t>
            </a:r>
            <a:endParaRPr lang="en-US" sz="1300" dirty="0"/>
          </a:p>
        </p:txBody>
      </p:sp>
      <p:sp>
        <p:nvSpPr>
          <p:cNvPr id="29" name="Text 26"/>
          <p:cNvSpPr/>
          <p:nvPr/>
        </p:nvSpPr>
        <p:spPr>
          <a:xfrm>
            <a:off x="3063240" y="4425696"/>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Stale or missing messages look healthy</a:t>
            </a:r>
            <a:endParaRPr lang="en-US" sz="1250" dirty="0"/>
          </a:p>
        </p:txBody>
      </p:sp>
      <p:sp>
        <p:nvSpPr>
          <p:cNvPr id="30" name="Text 27"/>
          <p:cNvSpPr/>
          <p:nvPr/>
        </p:nvSpPr>
        <p:spPr>
          <a:xfrm>
            <a:off x="7086600" y="4425696"/>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TTL, visible disposition and local fallback</a:t>
            </a:r>
            <a:endParaRPr lang="en-US" sz="1300" dirty="0"/>
          </a:p>
        </p:txBody>
      </p:sp>
      <p:sp>
        <p:nvSpPr>
          <p:cNvPr id="31" name="Shape 28"/>
          <p:cNvSpPr/>
          <p:nvPr/>
        </p:nvSpPr>
        <p:spPr>
          <a:xfrm>
            <a:off x="530352" y="5010912"/>
            <a:ext cx="11119104" cy="566928"/>
          </a:xfrm>
          <a:prstGeom prst="roundRect">
            <a:avLst>
              <a:gd name="adj" fmla="val 12903"/>
            </a:avLst>
          </a:prstGeom>
          <a:solidFill>
            <a:srgbClr val="FFFFFF"/>
          </a:solidFill>
          <a:ln w="10160">
            <a:solidFill>
              <a:srgbClr val="C8D7E3"/>
            </a:solidFill>
            <a:prstDash val="solid"/>
          </a:ln>
        </p:spPr>
      </p:sp>
      <p:sp>
        <p:nvSpPr>
          <p:cNvPr id="32" name="Text 29"/>
          <p:cNvSpPr/>
          <p:nvPr/>
        </p:nvSpPr>
        <p:spPr>
          <a:xfrm>
            <a:off x="685800" y="5084064"/>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Show best episode</a:t>
            </a:r>
            <a:endParaRPr lang="en-US" sz="1300" dirty="0"/>
          </a:p>
        </p:txBody>
      </p:sp>
      <p:sp>
        <p:nvSpPr>
          <p:cNvPr id="33" name="Text 30"/>
          <p:cNvSpPr/>
          <p:nvPr/>
        </p:nvSpPr>
        <p:spPr>
          <a:xfrm>
            <a:off x="3063240" y="5084064"/>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Selects an extreme and hides instability</a:t>
            </a:r>
            <a:endParaRPr lang="en-US" sz="1250" dirty="0"/>
          </a:p>
        </p:txBody>
      </p:sp>
      <p:sp>
        <p:nvSpPr>
          <p:cNvPr id="34" name="Text 31"/>
          <p:cNvSpPr/>
          <p:nvPr/>
        </p:nvSpPr>
        <p:spPr>
          <a:xfrm>
            <a:off x="7086600" y="5084064"/>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Matched evidence + null/negative results</a:t>
            </a:r>
            <a:endParaRPr lang="en-US" sz="13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IDEATE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SCAMPER: rethink a conventional traffic controller</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Seven prompts generated concrete features without assuming one AI model.</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371600"/>
            <a:ext cx="530352" cy="530352"/>
          </a:xfrm>
          <a:prstGeom prst="ellipse">
            <a:avLst/>
          </a:prstGeom>
          <a:solidFill>
            <a:srgbClr val="168F8B"/>
          </a:solidFill>
          <a:ln w="12700">
            <a:solidFill>
              <a:srgbClr val="FFFFFF"/>
            </a:solidFill>
            <a:prstDash val="solid"/>
          </a:ln>
        </p:spPr>
      </p:sp>
      <p:sp>
        <p:nvSpPr>
          <p:cNvPr id="9" name="Text 6"/>
          <p:cNvSpPr/>
          <p:nvPr/>
        </p:nvSpPr>
        <p:spPr>
          <a:xfrm>
            <a:off x="594360" y="137160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S</a:t>
            </a:r>
            <a:endParaRPr lang="en-US" sz="1800" dirty="0"/>
          </a:p>
        </p:txBody>
      </p:sp>
      <p:sp>
        <p:nvSpPr>
          <p:cNvPr id="10" name="Text 7"/>
          <p:cNvSpPr/>
          <p:nvPr/>
        </p:nvSpPr>
        <p:spPr>
          <a:xfrm>
            <a:off x="1307592" y="135331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Substitute</a:t>
            </a:r>
            <a:endParaRPr lang="en-US" sz="1300" dirty="0"/>
          </a:p>
        </p:txBody>
      </p:sp>
      <p:sp>
        <p:nvSpPr>
          <p:cNvPr id="11" name="Text 8"/>
          <p:cNvSpPr/>
          <p:nvPr/>
        </p:nvSpPr>
        <p:spPr>
          <a:xfrm>
            <a:off x="1307592" y="165506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Assumed demand → observed queues and downstream capacity</a:t>
            </a:r>
            <a:endParaRPr lang="en-US" sz="1250" dirty="0"/>
          </a:p>
        </p:txBody>
      </p:sp>
      <p:sp>
        <p:nvSpPr>
          <p:cNvPr id="12" name="Shape 9"/>
          <p:cNvSpPr/>
          <p:nvPr/>
        </p:nvSpPr>
        <p:spPr>
          <a:xfrm>
            <a:off x="594360" y="2423160"/>
            <a:ext cx="530352" cy="530352"/>
          </a:xfrm>
          <a:prstGeom prst="ellipse">
            <a:avLst/>
          </a:prstGeom>
          <a:solidFill>
            <a:srgbClr val="176B87"/>
          </a:solidFill>
          <a:ln w="12700">
            <a:solidFill>
              <a:srgbClr val="FFFFFF"/>
            </a:solidFill>
            <a:prstDash val="solid"/>
          </a:ln>
        </p:spPr>
      </p:sp>
      <p:sp>
        <p:nvSpPr>
          <p:cNvPr id="13" name="Text 10"/>
          <p:cNvSpPr/>
          <p:nvPr/>
        </p:nvSpPr>
        <p:spPr>
          <a:xfrm>
            <a:off x="594360" y="242316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C</a:t>
            </a:r>
            <a:endParaRPr lang="en-US" sz="1800" dirty="0"/>
          </a:p>
        </p:txBody>
      </p:sp>
      <p:sp>
        <p:nvSpPr>
          <p:cNvPr id="14" name="Text 11"/>
          <p:cNvSpPr/>
          <p:nvPr/>
        </p:nvSpPr>
        <p:spPr>
          <a:xfrm>
            <a:off x="1307592" y="240487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Combine</a:t>
            </a:r>
            <a:endParaRPr lang="en-US" sz="1300" dirty="0"/>
          </a:p>
        </p:txBody>
      </p:sp>
      <p:sp>
        <p:nvSpPr>
          <p:cNvPr id="15" name="Text 12"/>
          <p:cNvSpPr/>
          <p:nvPr/>
        </p:nvSpPr>
        <p:spPr>
          <a:xfrm>
            <a:off x="1307592" y="270662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Local flow + typed emergency, pedestrian and transit evidence</a:t>
            </a:r>
            <a:endParaRPr lang="en-US" sz="1250" dirty="0"/>
          </a:p>
        </p:txBody>
      </p:sp>
      <p:sp>
        <p:nvSpPr>
          <p:cNvPr id="16" name="Shape 13"/>
          <p:cNvSpPr/>
          <p:nvPr/>
        </p:nvSpPr>
        <p:spPr>
          <a:xfrm>
            <a:off x="594360" y="3474720"/>
            <a:ext cx="530352" cy="530352"/>
          </a:xfrm>
          <a:prstGeom prst="ellipse">
            <a:avLst/>
          </a:prstGeom>
          <a:solidFill>
            <a:srgbClr val="168F8B"/>
          </a:solidFill>
          <a:ln w="12700">
            <a:solidFill>
              <a:srgbClr val="FFFFFF"/>
            </a:solidFill>
            <a:prstDash val="solid"/>
          </a:ln>
        </p:spPr>
      </p:sp>
      <p:sp>
        <p:nvSpPr>
          <p:cNvPr id="17" name="Text 14"/>
          <p:cNvSpPr/>
          <p:nvPr/>
        </p:nvSpPr>
        <p:spPr>
          <a:xfrm>
            <a:off x="594360" y="347472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A</a:t>
            </a:r>
            <a:endParaRPr lang="en-US" sz="1800" dirty="0"/>
          </a:p>
        </p:txBody>
      </p:sp>
      <p:sp>
        <p:nvSpPr>
          <p:cNvPr id="18" name="Text 15"/>
          <p:cNvSpPr/>
          <p:nvPr/>
        </p:nvSpPr>
        <p:spPr>
          <a:xfrm>
            <a:off x="1307592" y="345643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Adapt</a:t>
            </a:r>
            <a:endParaRPr lang="en-US" sz="1300" dirty="0"/>
          </a:p>
        </p:txBody>
      </p:sp>
      <p:sp>
        <p:nvSpPr>
          <p:cNvPr id="19" name="Text 16"/>
          <p:cNvSpPr/>
          <p:nvPr/>
        </p:nvSpPr>
        <p:spPr>
          <a:xfrm>
            <a:off x="1307592" y="375818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Max-Pressure and deterministic recovery from adaptive control</a:t>
            </a:r>
            <a:endParaRPr lang="en-US" sz="1250" dirty="0"/>
          </a:p>
        </p:txBody>
      </p:sp>
      <p:sp>
        <p:nvSpPr>
          <p:cNvPr id="20" name="Shape 17"/>
          <p:cNvSpPr/>
          <p:nvPr/>
        </p:nvSpPr>
        <p:spPr>
          <a:xfrm>
            <a:off x="594360" y="4526280"/>
            <a:ext cx="530352" cy="530352"/>
          </a:xfrm>
          <a:prstGeom prst="ellipse">
            <a:avLst/>
          </a:prstGeom>
          <a:solidFill>
            <a:srgbClr val="176B87"/>
          </a:solidFill>
          <a:ln w="12700">
            <a:solidFill>
              <a:srgbClr val="FFFFFF"/>
            </a:solidFill>
            <a:prstDash val="solid"/>
          </a:ln>
        </p:spPr>
      </p:sp>
      <p:sp>
        <p:nvSpPr>
          <p:cNvPr id="21" name="Text 18"/>
          <p:cNvSpPr/>
          <p:nvPr/>
        </p:nvSpPr>
        <p:spPr>
          <a:xfrm>
            <a:off x="594360" y="452628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M</a:t>
            </a:r>
            <a:endParaRPr lang="en-US" sz="1800" dirty="0"/>
          </a:p>
        </p:txBody>
      </p:sp>
      <p:sp>
        <p:nvSpPr>
          <p:cNvPr id="22" name="Text 19"/>
          <p:cNvSpPr/>
          <p:nvPr/>
        </p:nvSpPr>
        <p:spPr>
          <a:xfrm>
            <a:off x="1307592" y="450799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Modify</a:t>
            </a:r>
            <a:endParaRPr lang="en-US" sz="1300" dirty="0"/>
          </a:p>
        </p:txBody>
      </p:sp>
      <p:sp>
        <p:nvSpPr>
          <p:cNvPr id="23" name="Text 20"/>
          <p:cNvSpPr/>
          <p:nvPr/>
        </p:nvSpPr>
        <p:spPr>
          <a:xfrm>
            <a:off x="1307592" y="480974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Count people, tails and externalities—not only vehicles</a:t>
            </a:r>
            <a:endParaRPr lang="en-US" sz="1250" dirty="0"/>
          </a:p>
        </p:txBody>
      </p:sp>
      <p:sp>
        <p:nvSpPr>
          <p:cNvPr id="24" name="Shape 21"/>
          <p:cNvSpPr/>
          <p:nvPr/>
        </p:nvSpPr>
        <p:spPr>
          <a:xfrm>
            <a:off x="6144768" y="1371600"/>
            <a:ext cx="530352" cy="530352"/>
          </a:xfrm>
          <a:prstGeom prst="ellipse">
            <a:avLst/>
          </a:prstGeom>
          <a:solidFill>
            <a:srgbClr val="168F8B"/>
          </a:solidFill>
          <a:ln w="12700">
            <a:solidFill>
              <a:srgbClr val="FFFFFF"/>
            </a:solidFill>
            <a:prstDash val="solid"/>
          </a:ln>
        </p:spPr>
      </p:sp>
      <p:sp>
        <p:nvSpPr>
          <p:cNvPr id="25" name="Text 22"/>
          <p:cNvSpPr/>
          <p:nvPr/>
        </p:nvSpPr>
        <p:spPr>
          <a:xfrm>
            <a:off x="6144768" y="137160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P</a:t>
            </a:r>
            <a:endParaRPr lang="en-US" sz="1800" dirty="0"/>
          </a:p>
        </p:txBody>
      </p:sp>
      <p:sp>
        <p:nvSpPr>
          <p:cNvPr id="26" name="Text 23"/>
          <p:cNvSpPr/>
          <p:nvPr/>
        </p:nvSpPr>
        <p:spPr>
          <a:xfrm>
            <a:off x="6858000" y="135331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Put to use</a:t>
            </a:r>
            <a:endParaRPr lang="en-US" sz="1300" dirty="0"/>
          </a:p>
        </p:txBody>
      </p:sp>
      <p:sp>
        <p:nvSpPr>
          <p:cNvPr id="27" name="Text 24"/>
          <p:cNvSpPr/>
          <p:nvPr/>
        </p:nvSpPr>
        <p:spPr>
          <a:xfrm>
            <a:off x="6858000" y="165506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The same observations support forecasts and incident residuals</a:t>
            </a:r>
            <a:endParaRPr lang="en-US" sz="1250" dirty="0"/>
          </a:p>
        </p:txBody>
      </p:sp>
      <p:sp>
        <p:nvSpPr>
          <p:cNvPr id="28" name="Shape 25"/>
          <p:cNvSpPr/>
          <p:nvPr/>
        </p:nvSpPr>
        <p:spPr>
          <a:xfrm>
            <a:off x="6144768" y="2423160"/>
            <a:ext cx="530352" cy="530352"/>
          </a:xfrm>
          <a:prstGeom prst="ellipse">
            <a:avLst/>
          </a:prstGeom>
          <a:solidFill>
            <a:srgbClr val="176B87"/>
          </a:solidFill>
          <a:ln w="12700">
            <a:solidFill>
              <a:srgbClr val="FFFFFF"/>
            </a:solidFill>
            <a:prstDash val="solid"/>
          </a:ln>
        </p:spPr>
      </p:sp>
      <p:sp>
        <p:nvSpPr>
          <p:cNvPr id="29" name="Text 26"/>
          <p:cNvSpPr/>
          <p:nvPr/>
        </p:nvSpPr>
        <p:spPr>
          <a:xfrm>
            <a:off x="6144768" y="242316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E</a:t>
            </a:r>
            <a:endParaRPr lang="en-US" sz="1800" dirty="0"/>
          </a:p>
        </p:txBody>
      </p:sp>
      <p:sp>
        <p:nvSpPr>
          <p:cNvPr id="30" name="Text 27"/>
          <p:cNvSpPr/>
          <p:nvPr/>
        </p:nvSpPr>
        <p:spPr>
          <a:xfrm>
            <a:off x="6858000" y="240487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Eliminate</a:t>
            </a:r>
            <a:endParaRPr lang="en-US" sz="1300" dirty="0"/>
          </a:p>
        </p:txBody>
      </p:sp>
      <p:sp>
        <p:nvSpPr>
          <p:cNvPr id="31" name="Text 28"/>
          <p:cNvSpPr/>
          <p:nvPr/>
        </p:nvSpPr>
        <p:spPr>
          <a:xfrm>
            <a:off x="6858000" y="270662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Perfect communication and unlimited priority assumptions</a:t>
            </a:r>
            <a:endParaRPr lang="en-US" sz="1250" dirty="0"/>
          </a:p>
        </p:txBody>
      </p:sp>
      <p:sp>
        <p:nvSpPr>
          <p:cNvPr id="32" name="Shape 29"/>
          <p:cNvSpPr/>
          <p:nvPr/>
        </p:nvSpPr>
        <p:spPr>
          <a:xfrm>
            <a:off x="6144768" y="3474720"/>
            <a:ext cx="530352" cy="530352"/>
          </a:xfrm>
          <a:prstGeom prst="ellipse">
            <a:avLst/>
          </a:prstGeom>
          <a:solidFill>
            <a:srgbClr val="168F8B"/>
          </a:solidFill>
          <a:ln w="12700">
            <a:solidFill>
              <a:srgbClr val="FFFFFF"/>
            </a:solidFill>
            <a:prstDash val="solid"/>
          </a:ln>
        </p:spPr>
      </p:sp>
      <p:sp>
        <p:nvSpPr>
          <p:cNvPr id="33" name="Text 30"/>
          <p:cNvSpPr/>
          <p:nvPr/>
        </p:nvSpPr>
        <p:spPr>
          <a:xfrm>
            <a:off x="6144768" y="347472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R</a:t>
            </a:r>
            <a:endParaRPr lang="en-US" sz="1800" dirty="0"/>
          </a:p>
        </p:txBody>
      </p:sp>
      <p:sp>
        <p:nvSpPr>
          <p:cNvPr id="34" name="Text 31"/>
          <p:cNvSpPr/>
          <p:nvPr/>
        </p:nvSpPr>
        <p:spPr>
          <a:xfrm>
            <a:off x="6858000" y="345643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Reverse</a:t>
            </a:r>
            <a:endParaRPr lang="en-US" sz="1300" dirty="0"/>
          </a:p>
        </p:txBody>
      </p:sp>
      <p:sp>
        <p:nvSpPr>
          <p:cNvPr id="35" name="Text 32"/>
          <p:cNvSpPr/>
          <p:nvPr/>
        </p:nvSpPr>
        <p:spPr>
          <a:xfrm>
            <a:off x="6858000" y="375818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Specialists ask; one authority acts; active crossing outranks EV</a:t>
            </a:r>
            <a:endParaRPr lang="en-US" sz="1250" dirty="0"/>
          </a:p>
        </p:txBody>
      </p:sp>
      <p:sp>
        <p:nvSpPr>
          <p:cNvPr id="36" name="Shape 33"/>
          <p:cNvSpPr/>
          <p:nvPr/>
        </p:nvSpPr>
        <p:spPr>
          <a:xfrm>
            <a:off x="6144768" y="4754880"/>
            <a:ext cx="5440680" cy="914400"/>
          </a:xfrm>
          <a:prstGeom prst="roundRect">
            <a:avLst>
              <a:gd name="adj" fmla="val 8000"/>
            </a:avLst>
          </a:prstGeom>
          <a:solidFill>
            <a:srgbClr val="FFF0D8"/>
          </a:solidFill>
          <a:ln w="10160">
            <a:solidFill>
              <a:srgbClr val="CF7B1B"/>
            </a:solidFill>
            <a:prstDash val="solid"/>
          </a:ln>
        </p:spPr>
      </p:sp>
      <p:sp>
        <p:nvSpPr>
          <p:cNvPr id="37" name="Shape 34"/>
          <p:cNvSpPr/>
          <p:nvPr/>
        </p:nvSpPr>
        <p:spPr>
          <a:xfrm>
            <a:off x="6144768" y="4754880"/>
            <a:ext cx="73152" cy="914400"/>
          </a:xfrm>
          <a:prstGeom prst="rect">
            <a:avLst/>
          </a:prstGeom>
          <a:solidFill>
            <a:srgbClr val="CF7B1B"/>
          </a:solidFill>
          <a:ln w="12700">
            <a:solidFill>
              <a:srgbClr val="CF7B1B"/>
            </a:solidFill>
            <a:prstDash val="solid"/>
          </a:ln>
        </p:spPr>
      </p:sp>
      <p:sp>
        <p:nvSpPr>
          <p:cNvPr id="38" name="Text 35"/>
          <p:cNvSpPr/>
          <p:nvPr/>
        </p:nvSpPr>
        <p:spPr>
          <a:xfrm>
            <a:off x="6309360" y="4828032"/>
            <a:ext cx="514807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Result</a:t>
            </a:r>
            <a:endParaRPr lang="en-US" sz="1300" dirty="0"/>
          </a:p>
        </p:txBody>
      </p:sp>
      <p:sp>
        <p:nvSpPr>
          <p:cNvPr id="39" name="Text 36"/>
          <p:cNvSpPr/>
          <p:nvPr/>
        </p:nvSpPr>
        <p:spPr>
          <a:xfrm>
            <a:off x="6309360" y="5120640"/>
            <a:ext cx="5148072" cy="475488"/>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SCAMPER did not “prove” the architecture. It generated testable design features that still had to be compared and constrained.</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IDEATE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Converge: compare architecture options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Scores and weights are team judgements—not empirical evidence.</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48640" y="1389888"/>
            <a:ext cx="2788920" cy="457200"/>
          </a:xfrm>
          <a:prstGeom prst="roundRect">
            <a:avLst/>
          </a:prstGeom>
          <a:solidFill>
            <a:srgbClr val="0B2239"/>
          </a:solidFill>
          <a:ln w="10160">
            <a:solidFill>
              <a:srgbClr val="0B2239"/>
            </a:solidFill>
            <a:prstDash val="solid"/>
          </a:ln>
        </p:spPr>
      </p:sp>
      <p:sp>
        <p:nvSpPr>
          <p:cNvPr id="9" name="Text 6"/>
          <p:cNvSpPr/>
          <p:nvPr/>
        </p:nvSpPr>
        <p:spPr>
          <a:xfrm>
            <a:off x="585216" y="1463040"/>
            <a:ext cx="271576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OPTION</a:t>
            </a:r>
            <a:endParaRPr lang="en-US" sz="1000" dirty="0"/>
          </a:p>
        </p:txBody>
      </p:sp>
      <p:sp>
        <p:nvSpPr>
          <p:cNvPr id="10" name="Shape 7"/>
          <p:cNvSpPr/>
          <p:nvPr/>
        </p:nvSpPr>
        <p:spPr>
          <a:xfrm>
            <a:off x="3337560" y="1389888"/>
            <a:ext cx="1325880" cy="457200"/>
          </a:xfrm>
          <a:prstGeom prst="roundRect">
            <a:avLst/>
          </a:prstGeom>
          <a:solidFill>
            <a:srgbClr val="0B2239"/>
          </a:solidFill>
          <a:ln w="10160">
            <a:solidFill>
              <a:srgbClr val="0B2239"/>
            </a:solidFill>
            <a:prstDash val="solid"/>
          </a:ln>
        </p:spPr>
      </p:sp>
      <p:sp>
        <p:nvSpPr>
          <p:cNvPr id="11" name="Text 8"/>
          <p:cNvSpPr/>
          <p:nvPr/>
        </p:nvSpPr>
        <p:spPr>
          <a:xfrm>
            <a:off x="3374136" y="1463040"/>
            <a:ext cx="125272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SAFETY</a:t>
            </a:r>
            <a:endParaRPr lang="en-US" sz="1000" dirty="0"/>
          </a:p>
        </p:txBody>
      </p:sp>
      <p:sp>
        <p:nvSpPr>
          <p:cNvPr id="12" name="Shape 9"/>
          <p:cNvSpPr/>
          <p:nvPr/>
        </p:nvSpPr>
        <p:spPr>
          <a:xfrm>
            <a:off x="4663440" y="1389888"/>
            <a:ext cx="1325880" cy="457200"/>
          </a:xfrm>
          <a:prstGeom prst="roundRect">
            <a:avLst/>
          </a:prstGeom>
          <a:solidFill>
            <a:srgbClr val="0B2239"/>
          </a:solidFill>
          <a:ln w="10160">
            <a:solidFill>
              <a:srgbClr val="0B2239"/>
            </a:solidFill>
            <a:prstDash val="solid"/>
          </a:ln>
        </p:spPr>
      </p:sp>
      <p:sp>
        <p:nvSpPr>
          <p:cNvPr id="13" name="Text 10"/>
          <p:cNvSpPr/>
          <p:nvPr/>
        </p:nvSpPr>
        <p:spPr>
          <a:xfrm>
            <a:off x="4700016" y="1463040"/>
            <a:ext cx="125272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AUDIT</a:t>
            </a:r>
            <a:endParaRPr lang="en-US" sz="1000" dirty="0"/>
          </a:p>
        </p:txBody>
      </p:sp>
      <p:sp>
        <p:nvSpPr>
          <p:cNvPr id="14" name="Shape 11"/>
          <p:cNvSpPr/>
          <p:nvPr/>
        </p:nvSpPr>
        <p:spPr>
          <a:xfrm>
            <a:off x="5989320" y="1389888"/>
            <a:ext cx="1828800" cy="457200"/>
          </a:xfrm>
          <a:prstGeom prst="roundRect">
            <a:avLst/>
          </a:prstGeom>
          <a:solidFill>
            <a:srgbClr val="0B2239"/>
          </a:solidFill>
          <a:ln w="10160">
            <a:solidFill>
              <a:srgbClr val="0B2239"/>
            </a:solidFill>
            <a:prstDash val="solid"/>
          </a:ln>
        </p:spPr>
      </p:sp>
      <p:sp>
        <p:nvSpPr>
          <p:cNvPr id="15" name="Text 12"/>
          <p:cNvSpPr/>
          <p:nvPr/>
        </p:nvSpPr>
        <p:spPr>
          <a:xfrm>
            <a:off x="6025896" y="1463040"/>
            <a:ext cx="175564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EVIDENCE RISK</a:t>
            </a:r>
            <a:endParaRPr lang="en-US" sz="1000" dirty="0"/>
          </a:p>
        </p:txBody>
      </p:sp>
      <p:sp>
        <p:nvSpPr>
          <p:cNvPr id="16" name="Shape 13"/>
          <p:cNvSpPr/>
          <p:nvPr/>
        </p:nvSpPr>
        <p:spPr>
          <a:xfrm>
            <a:off x="7818120" y="1389888"/>
            <a:ext cx="1325880" cy="457200"/>
          </a:xfrm>
          <a:prstGeom prst="roundRect">
            <a:avLst/>
          </a:prstGeom>
          <a:solidFill>
            <a:srgbClr val="0B2239"/>
          </a:solidFill>
          <a:ln w="10160">
            <a:solidFill>
              <a:srgbClr val="0B2239"/>
            </a:solidFill>
            <a:prstDash val="solid"/>
          </a:ln>
        </p:spPr>
      </p:sp>
      <p:sp>
        <p:nvSpPr>
          <p:cNvPr id="17" name="Text 14"/>
          <p:cNvSpPr/>
          <p:nvPr/>
        </p:nvSpPr>
        <p:spPr>
          <a:xfrm>
            <a:off x="7854696" y="1463040"/>
            <a:ext cx="125272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COMPUTE</a:t>
            </a:r>
            <a:endParaRPr lang="en-US" sz="1000" dirty="0"/>
          </a:p>
        </p:txBody>
      </p:sp>
      <p:sp>
        <p:nvSpPr>
          <p:cNvPr id="18" name="Shape 15"/>
          <p:cNvSpPr/>
          <p:nvPr/>
        </p:nvSpPr>
        <p:spPr>
          <a:xfrm>
            <a:off x="9144000" y="1389888"/>
            <a:ext cx="2057400" cy="457200"/>
          </a:xfrm>
          <a:prstGeom prst="roundRect">
            <a:avLst/>
          </a:prstGeom>
          <a:solidFill>
            <a:srgbClr val="0B2239"/>
          </a:solidFill>
          <a:ln w="10160">
            <a:solidFill>
              <a:srgbClr val="0B2239"/>
            </a:solidFill>
            <a:prstDash val="solid"/>
          </a:ln>
        </p:spPr>
      </p:sp>
      <p:sp>
        <p:nvSpPr>
          <p:cNvPr id="19" name="Text 16"/>
          <p:cNvSpPr/>
          <p:nvPr/>
        </p:nvSpPr>
        <p:spPr>
          <a:xfrm>
            <a:off x="9180576" y="1463040"/>
            <a:ext cx="198424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DECISION</a:t>
            </a:r>
            <a:endParaRPr lang="en-US" sz="1000" dirty="0"/>
          </a:p>
        </p:txBody>
      </p:sp>
      <p:sp>
        <p:nvSpPr>
          <p:cNvPr id="20" name="Shape 17"/>
          <p:cNvSpPr/>
          <p:nvPr/>
        </p:nvSpPr>
        <p:spPr>
          <a:xfrm>
            <a:off x="548640" y="1920240"/>
            <a:ext cx="2788920" cy="621792"/>
          </a:xfrm>
          <a:prstGeom prst="roundRect">
            <a:avLst/>
          </a:prstGeom>
          <a:solidFill>
            <a:srgbClr val="EEF5F8"/>
          </a:solidFill>
          <a:ln w="10160">
            <a:solidFill>
              <a:srgbClr val="C8D7E3"/>
            </a:solidFill>
            <a:prstDash val="solid"/>
          </a:ln>
        </p:spPr>
      </p:sp>
      <p:sp>
        <p:nvSpPr>
          <p:cNvPr id="21" name="Text 18"/>
          <p:cNvSpPr/>
          <p:nvPr/>
        </p:nvSpPr>
        <p:spPr>
          <a:xfrm>
            <a:off x="594360" y="1993392"/>
            <a:ext cx="2697480" cy="438912"/>
          </a:xfrm>
          <a:prstGeom prst="rect">
            <a:avLst/>
          </a:prstGeom>
          <a:noFill/>
          <a:ln/>
        </p:spPr>
        <p:txBody>
          <a:bodyPr wrap="square" lIns="762" tIns="762" rIns="762" bIns="762" rtlCol="0" anchor="ctr">
            <a:normAutofit/>
          </a:bodyPr>
          <a:lstStyle/>
          <a:p>
            <a:pPr algn="l" indent="0" marL="0">
              <a:buNone/>
            </a:pPr>
            <a:r>
              <a:rPr lang="en-US" sz="1300" b="1" dirty="0">
                <a:solidFill>
                  <a:srgbClr val="162B3A"/>
                </a:solidFill>
                <a:latin typeface="Aptos" pitchFamily="34" charset="0"/>
                <a:ea typeface="Aptos" pitchFamily="34" charset="-122"/>
                <a:cs typeface="Aptos" pitchFamily="34" charset="-120"/>
              </a:rPr>
              <a:t>Central learned brain</a:t>
            </a:r>
            <a:endParaRPr lang="en-US" sz="1300" dirty="0"/>
          </a:p>
        </p:txBody>
      </p:sp>
      <p:sp>
        <p:nvSpPr>
          <p:cNvPr id="22" name="Shape 19"/>
          <p:cNvSpPr/>
          <p:nvPr/>
        </p:nvSpPr>
        <p:spPr>
          <a:xfrm>
            <a:off x="3337560" y="1920240"/>
            <a:ext cx="1325880" cy="621792"/>
          </a:xfrm>
          <a:prstGeom prst="roundRect">
            <a:avLst/>
          </a:prstGeom>
          <a:solidFill>
            <a:srgbClr val="EEF5F8"/>
          </a:solidFill>
          <a:ln w="10160">
            <a:solidFill>
              <a:srgbClr val="C8D7E3"/>
            </a:solidFill>
            <a:prstDash val="solid"/>
          </a:ln>
        </p:spPr>
      </p:sp>
      <p:sp>
        <p:nvSpPr>
          <p:cNvPr id="23" name="Text 20"/>
          <p:cNvSpPr/>
          <p:nvPr/>
        </p:nvSpPr>
        <p:spPr>
          <a:xfrm>
            <a:off x="3383280" y="1993392"/>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2/5</a:t>
            </a:r>
            <a:endParaRPr lang="en-US" sz="1250" dirty="0"/>
          </a:p>
        </p:txBody>
      </p:sp>
      <p:sp>
        <p:nvSpPr>
          <p:cNvPr id="24" name="Shape 21"/>
          <p:cNvSpPr/>
          <p:nvPr/>
        </p:nvSpPr>
        <p:spPr>
          <a:xfrm>
            <a:off x="4663440" y="1920240"/>
            <a:ext cx="1325880" cy="621792"/>
          </a:xfrm>
          <a:prstGeom prst="roundRect">
            <a:avLst/>
          </a:prstGeom>
          <a:solidFill>
            <a:srgbClr val="EEF5F8"/>
          </a:solidFill>
          <a:ln w="10160">
            <a:solidFill>
              <a:srgbClr val="C8D7E3"/>
            </a:solidFill>
            <a:prstDash val="solid"/>
          </a:ln>
        </p:spPr>
      </p:sp>
      <p:sp>
        <p:nvSpPr>
          <p:cNvPr id="25" name="Text 22"/>
          <p:cNvSpPr/>
          <p:nvPr/>
        </p:nvSpPr>
        <p:spPr>
          <a:xfrm>
            <a:off x="4709160" y="1993392"/>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2/5</a:t>
            </a:r>
            <a:endParaRPr lang="en-US" sz="1250" dirty="0"/>
          </a:p>
        </p:txBody>
      </p:sp>
      <p:sp>
        <p:nvSpPr>
          <p:cNvPr id="26" name="Shape 23"/>
          <p:cNvSpPr/>
          <p:nvPr/>
        </p:nvSpPr>
        <p:spPr>
          <a:xfrm>
            <a:off x="5989320" y="1920240"/>
            <a:ext cx="1828800" cy="621792"/>
          </a:xfrm>
          <a:prstGeom prst="roundRect">
            <a:avLst/>
          </a:prstGeom>
          <a:solidFill>
            <a:srgbClr val="EEF5F8"/>
          </a:solidFill>
          <a:ln w="10160">
            <a:solidFill>
              <a:srgbClr val="C8D7E3"/>
            </a:solidFill>
            <a:prstDash val="solid"/>
          </a:ln>
        </p:spPr>
      </p:sp>
      <p:sp>
        <p:nvSpPr>
          <p:cNvPr id="27" name="Text 24"/>
          <p:cNvSpPr/>
          <p:nvPr/>
        </p:nvSpPr>
        <p:spPr>
          <a:xfrm>
            <a:off x="6035040" y="1993392"/>
            <a:ext cx="17373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High</a:t>
            </a:r>
            <a:endParaRPr lang="en-US" sz="1250" dirty="0"/>
          </a:p>
        </p:txBody>
      </p:sp>
      <p:sp>
        <p:nvSpPr>
          <p:cNvPr id="28" name="Shape 25"/>
          <p:cNvSpPr/>
          <p:nvPr/>
        </p:nvSpPr>
        <p:spPr>
          <a:xfrm>
            <a:off x="7818120" y="1920240"/>
            <a:ext cx="1325880" cy="621792"/>
          </a:xfrm>
          <a:prstGeom prst="roundRect">
            <a:avLst/>
          </a:prstGeom>
          <a:solidFill>
            <a:srgbClr val="EEF5F8"/>
          </a:solidFill>
          <a:ln w="10160">
            <a:solidFill>
              <a:srgbClr val="C8D7E3"/>
            </a:solidFill>
            <a:prstDash val="solid"/>
          </a:ln>
        </p:spPr>
      </p:sp>
      <p:sp>
        <p:nvSpPr>
          <p:cNvPr id="29" name="Text 26"/>
          <p:cNvSpPr/>
          <p:nvPr/>
        </p:nvSpPr>
        <p:spPr>
          <a:xfrm>
            <a:off x="7863840" y="1993392"/>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High</a:t>
            </a:r>
            <a:endParaRPr lang="en-US" sz="1250" dirty="0"/>
          </a:p>
        </p:txBody>
      </p:sp>
      <p:sp>
        <p:nvSpPr>
          <p:cNvPr id="30" name="Shape 27"/>
          <p:cNvSpPr/>
          <p:nvPr/>
        </p:nvSpPr>
        <p:spPr>
          <a:xfrm>
            <a:off x="9144000" y="1920240"/>
            <a:ext cx="2057400" cy="621792"/>
          </a:xfrm>
          <a:prstGeom prst="roundRect">
            <a:avLst/>
          </a:prstGeom>
          <a:solidFill>
            <a:srgbClr val="EEF5F8"/>
          </a:solidFill>
          <a:ln w="10160">
            <a:solidFill>
              <a:srgbClr val="C8D7E3"/>
            </a:solidFill>
            <a:prstDash val="solid"/>
          </a:ln>
        </p:spPr>
      </p:sp>
      <p:sp>
        <p:nvSpPr>
          <p:cNvPr id="31" name="Text 28"/>
          <p:cNvSpPr/>
          <p:nvPr/>
        </p:nvSpPr>
        <p:spPr>
          <a:xfrm>
            <a:off x="9189720" y="1993392"/>
            <a:ext cx="19659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Reject</a:t>
            </a:r>
            <a:endParaRPr lang="en-US" sz="1250" dirty="0"/>
          </a:p>
        </p:txBody>
      </p:sp>
      <p:sp>
        <p:nvSpPr>
          <p:cNvPr id="32" name="Shape 29"/>
          <p:cNvSpPr/>
          <p:nvPr/>
        </p:nvSpPr>
        <p:spPr>
          <a:xfrm>
            <a:off x="548640" y="2670048"/>
            <a:ext cx="2788920" cy="621792"/>
          </a:xfrm>
          <a:prstGeom prst="roundRect">
            <a:avLst/>
          </a:prstGeom>
          <a:solidFill>
            <a:srgbClr val="FFFFFF"/>
          </a:solidFill>
          <a:ln w="10160">
            <a:solidFill>
              <a:srgbClr val="C8D7E3"/>
            </a:solidFill>
            <a:prstDash val="solid"/>
          </a:ln>
        </p:spPr>
      </p:sp>
      <p:sp>
        <p:nvSpPr>
          <p:cNvPr id="33" name="Text 30"/>
          <p:cNvSpPr/>
          <p:nvPr/>
        </p:nvSpPr>
        <p:spPr>
          <a:xfrm>
            <a:off x="594360" y="2743200"/>
            <a:ext cx="2697480" cy="438912"/>
          </a:xfrm>
          <a:prstGeom prst="rect">
            <a:avLst/>
          </a:prstGeom>
          <a:noFill/>
          <a:ln/>
        </p:spPr>
        <p:txBody>
          <a:bodyPr wrap="square" lIns="762" tIns="762" rIns="762" bIns="762" rtlCol="0" anchor="ctr">
            <a:normAutofit/>
          </a:bodyPr>
          <a:lstStyle/>
          <a:p>
            <a:pPr algn="l" indent="0" marL="0">
              <a:buNone/>
            </a:pPr>
            <a:r>
              <a:rPr lang="en-US" sz="1300" b="1" dirty="0">
                <a:solidFill>
                  <a:srgbClr val="162B3A"/>
                </a:solidFill>
                <a:latin typeface="Aptos" pitchFamily="34" charset="0"/>
                <a:ea typeface="Aptos" pitchFamily="34" charset="-122"/>
                <a:cs typeface="Aptos" pitchFamily="34" charset="-120"/>
              </a:rPr>
              <a:t>Independent junctions</a:t>
            </a:r>
            <a:endParaRPr lang="en-US" sz="1300" dirty="0"/>
          </a:p>
        </p:txBody>
      </p:sp>
      <p:sp>
        <p:nvSpPr>
          <p:cNvPr id="34" name="Shape 31"/>
          <p:cNvSpPr/>
          <p:nvPr/>
        </p:nvSpPr>
        <p:spPr>
          <a:xfrm>
            <a:off x="3337560" y="2670048"/>
            <a:ext cx="1325880" cy="621792"/>
          </a:xfrm>
          <a:prstGeom prst="roundRect">
            <a:avLst/>
          </a:prstGeom>
          <a:solidFill>
            <a:srgbClr val="FFFFFF"/>
          </a:solidFill>
          <a:ln w="10160">
            <a:solidFill>
              <a:srgbClr val="C8D7E3"/>
            </a:solidFill>
            <a:prstDash val="solid"/>
          </a:ln>
        </p:spPr>
      </p:sp>
      <p:sp>
        <p:nvSpPr>
          <p:cNvPr id="35" name="Text 32"/>
          <p:cNvSpPr/>
          <p:nvPr/>
        </p:nvSpPr>
        <p:spPr>
          <a:xfrm>
            <a:off x="3383280" y="2743200"/>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3/5</a:t>
            </a:r>
            <a:endParaRPr lang="en-US" sz="1250" dirty="0"/>
          </a:p>
        </p:txBody>
      </p:sp>
      <p:sp>
        <p:nvSpPr>
          <p:cNvPr id="36" name="Shape 33"/>
          <p:cNvSpPr/>
          <p:nvPr/>
        </p:nvSpPr>
        <p:spPr>
          <a:xfrm>
            <a:off x="4663440" y="2670048"/>
            <a:ext cx="1325880" cy="621792"/>
          </a:xfrm>
          <a:prstGeom prst="roundRect">
            <a:avLst/>
          </a:prstGeom>
          <a:solidFill>
            <a:srgbClr val="FFFFFF"/>
          </a:solidFill>
          <a:ln w="10160">
            <a:solidFill>
              <a:srgbClr val="C8D7E3"/>
            </a:solidFill>
            <a:prstDash val="solid"/>
          </a:ln>
        </p:spPr>
      </p:sp>
      <p:sp>
        <p:nvSpPr>
          <p:cNvPr id="37" name="Text 34"/>
          <p:cNvSpPr/>
          <p:nvPr/>
        </p:nvSpPr>
        <p:spPr>
          <a:xfrm>
            <a:off x="4709160" y="2743200"/>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3/5</a:t>
            </a:r>
            <a:endParaRPr lang="en-US" sz="1250" dirty="0"/>
          </a:p>
        </p:txBody>
      </p:sp>
      <p:sp>
        <p:nvSpPr>
          <p:cNvPr id="38" name="Shape 35"/>
          <p:cNvSpPr/>
          <p:nvPr/>
        </p:nvSpPr>
        <p:spPr>
          <a:xfrm>
            <a:off x="5989320" y="2670048"/>
            <a:ext cx="1828800" cy="621792"/>
          </a:xfrm>
          <a:prstGeom prst="roundRect">
            <a:avLst/>
          </a:prstGeom>
          <a:solidFill>
            <a:srgbClr val="FFFFFF"/>
          </a:solidFill>
          <a:ln w="10160">
            <a:solidFill>
              <a:srgbClr val="C8D7E3"/>
            </a:solidFill>
            <a:prstDash val="solid"/>
          </a:ln>
        </p:spPr>
      </p:sp>
      <p:sp>
        <p:nvSpPr>
          <p:cNvPr id="39" name="Text 36"/>
          <p:cNvSpPr/>
          <p:nvPr/>
        </p:nvSpPr>
        <p:spPr>
          <a:xfrm>
            <a:off x="6035040" y="2743200"/>
            <a:ext cx="17373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Medium</a:t>
            </a:r>
            <a:endParaRPr lang="en-US" sz="1250" dirty="0"/>
          </a:p>
        </p:txBody>
      </p:sp>
      <p:sp>
        <p:nvSpPr>
          <p:cNvPr id="40" name="Shape 37"/>
          <p:cNvSpPr/>
          <p:nvPr/>
        </p:nvSpPr>
        <p:spPr>
          <a:xfrm>
            <a:off x="7818120" y="2670048"/>
            <a:ext cx="1325880" cy="621792"/>
          </a:xfrm>
          <a:prstGeom prst="roundRect">
            <a:avLst/>
          </a:prstGeom>
          <a:solidFill>
            <a:srgbClr val="FFFFFF"/>
          </a:solidFill>
          <a:ln w="10160">
            <a:solidFill>
              <a:srgbClr val="C8D7E3"/>
            </a:solidFill>
            <a:prstDash val="solid"/>
          </a:ln>
        </p:spPr>
      </p:sp>
      <p:sp>
        <p:nvSpPr>
          <p:cNvPr id="41" name="Text 38"/>
          <p:cNvSpPr/>
          <p:nvPr/>
        </p:nvSpPr>
        <p:spPr>
          <a:xfrm>
            <a:off x="7863840" y="2743200"/>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Low</a:t>
            </a:r>
            <a:endParaRPr lang="en-US" sz="1250" dirty="0"/>
          </a:p>
        </p:txBody>
      </p:sp>
      <p:sp>
        <p:nvSpPr>
          <p:cNvPr id="42" name="Shape 39"/>
          <p:cNvSpPr/>
          <p:nvPr/>
        </p:nvSpPr>
        <p:spPr>
          <a:xfrm>
            <a:off x="9144000" y="2670048"/>
            <a:ext cx="2057400" cy="621792"/>
          </a:xfrm>
          <a:prstGeom prst="roundRect">
            <a:avLst/>
          </a:prstGeom>
          <a:solidFill>
            <a:srgbClr val="FFFFFF"/>
          </a:solidFill>
          <a:ln w="10160">
            <a:solidFill>
              <a:srgbClr val="C8D7E3"/>
            </a:solidFill>
            <a:prstDash val="solid"/>
          </a:ln>
        </p:spPr>
      </p:sp>
      <p:sp>
        <p:nvSpPr>
          <p:cNvPr id="43" name="Text 40"/>
          <p:cNvSpPr/>
          <p:nvPr/>
        </p:nvSpPr>
        <p:spPr>
          <a:xfrm>
            <a:off x="9189720" y="2743200"/>
            <a:ext cx="19659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Reject</a:t>
            </a:r>
            <a:endParaRPr lang="en-US" sz="1250" dirty="0"/>
          </a:p>
        </p:txBody>
      </p:sp>
      <p:sp>
        <p:nvSpPr>
          <p:cNvPr id="44" name="Shape 41"/>
          <p:cNvSpPr/>
          <p:nvPr/>
        </p:nvSpPr>
        <p:spPr>
          <a:xfrm>
            <a:off x="548640" y="3419856"/>
            <a:ext cx="2788920" cy="621792"/>
          </a:xfrm>
          <a:prstGeom prst="roundRect">
            <a:avLst/>
          </a:prstGeom>
          <a:solidFill>
            <a:srgbClr val="EEF5F8"/>
          </a:solidFill>
          <a:ln w="10160">
            <a:solidFill>
              <a:srgbClr val="C8D7E3"/>
            </a:solidFill>
            <a:prstDash val="solid"/>
          </a:ln>
        </p:spPr>
      </p:sp>
      <p:sp>
        <p:nvSpPr>
          <p:cNvPr id="45" name="Text 42"/>
          <p:cNvSpPr/>
          <p:nvPr/>
        </p:nvSpPr>
        <p:spPr>
          <a:xfrm>
            <a:off x="594360" y="3493008"/>
            <a:ext cx="2697480" cy="438912"/>
          </a:xfrm>
          <a:prstGeom prst="rect">
            <a:avLst/>
          </a:prstGeom>
          <a:noFill/>
          <a:ln/>
        </p:spPr>
        <p:txBody>
          <a:bodyPr wrap="square" lIns="762" tIns="762" rIns="762" bIns="762" rtlCol="0" anchor="ctr">
            <a:normAutofit/>
          </a:bodyPr>
          <a:lstStyle/>
          <a:p>
            <a:pPr algn="l" indent="0" marL="0">
              <a:buNone/>
            </a:pPr>
            <a:r>
              <a:rPr lang="en-US" sz="1300" b="1" dirty="0">
                <a:solidFill>
                  <a:srgbClr val="162B3A"/>
                </a:solidFill>
                <a:latin typeface="Aptos" pitchFamily="34" charset="0"/>
                <a:ea typeface="Aptos" pitchFamily="34" charset="-122"/>
                <a:cs typeface="Aptos" pitchFamily="34" charset="-120"/>
              </a:rPr>
              <a:t>Hierarchical MARL</a:t>
            </a:r>
            <a:endParaRPr lang="en-US" sz="1300" dirty="0"/>
          </a:p>
        </p:txBody>
      </p:sp>
      <p:sp>
        <p:nvSpPr>
          <p:cNvPr id="46" name="Shape 43"/>
          <p:cNvSpPr/>
          <p:nvPr/>
        </p:nvSpPr>
        <p:spPr>
          <a:xfrm>
            <a:off x="3337560" y="3419856"/>
            <a:ext cx="1325880" cy="621792"/>
          </a:xfrm>
          <a:prstGeom prst="roundRect">
            <a:avLst/>
          </a:prstGeom>
          <a:solidFill>
            <a:srgbClr val="EEF5F8"/>
          </a:solidFill>
          <a:ln w="10160">
            <a:solidFill>
              <a:srgbClr val="C8D7E3"/>
            </a:solidFill>
            <a:prstDash val="solid"/>
          </a:ln>
        </p:spPr>
      </p:sp>
      <p:sp>
        <p:nvSpPr>
          <p:cNvPr id="47" name="Text 44"/>
          <p:cNvSpPr/>
          <p:nvPr/>
        </p:nvSpPr>
        <p:spPr>
          <a:xfrm>
            <a:off x="3383280" y="3493008"/>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4/5</a:t>
            </a:r>
            <a:endParaRPr lang="en-US" sz="1250" dirty="0"/>
          </a:p>
        </p:txBody>
      </p:sp>
      <p:sp>
        <p:nvSpPr>
          <p:cNvPr id="48" name="Shape 45"/>
          <p:cNvSpPr/>
          <p:nvPr/>
        </p:nvSpPr>
        <p:spPr>
          <a:xfrm>
            <a:off x="4663440" y="3419856"/>
            <a:ext cx="1325880" cy="621792"/>
          </a:xfrm>
          <a:prstGeom prst="roundRect">
            <a:avLst/>
          </a:prstGeom>
          <a:solidFill>
            <a:srgbClr val="EEF5F8"/>
          </a:solidFill>
          <a:ln w="10160">
            <a:solidFill>
              <a:srgbClr val="C8D7E3"/>
            </a:solidFill>
            <a:prstDash val="solid"/>
          </a:ln>
        </p:spPr>
      </p:sp>
      <p:sp>
        <p:nvSpPr>
          <p:cNvPr id="49" name="Text 46"/>
          <p:cNvSpPr/>
          <p:nvPr/>
        </p:nvSpPr>
        <p:spPr>
          <a:xfrm>
            <a:off x="4709160" y="3493008"/>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3/5</a:t>
            </a:r>
            <a:endParaRPr lang="en-US" sz="1250" dirty="0"/>
          </a:p>
        </p:txBody>
      </p:sp>
      <p:sp>
        <p:nvSpPr>
          <p:cNvPr id="50" name="Shape 47"/>
          <p:cNvSpPr/>
          <p:nvPr/>
        </p:nvSpPr>
        <p:spPr>
          <a:xfrm>
            <a:off x="5989320" y="3419856"/>
            <a:ext cx="1828800" cy="621792"/>
          </a:xfrm>
          <a:prstGeom prst="roundRect">
            <a:avLst/>
          </a:prstGeom>
          <a:solidFill>
            <a:srgbClr val="EEF5F8"/>
          </a:solidFill>
          <a:ln w="10160">
            <a:solidFill>
              <a:srgbClr val="C8D7E3"/>
            </a:solidFill>
            <a:prstDash val="solid"/>
          </a:ln>
        </p:spPr>
      </p:sp>
      <p:sp>
        <p:nvSpPr>
          <p:cNvPr id="51" name="Text 48"/>
          <p:cNvSpPr/>
          <p:nvPr/>
        </p:nvSpPr>
        <p:spPr>
          <a:xfrm>
            <a:off x="6035040" y="3493008"/>
            <a:ext cx="17373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High</a:t>
            </a:r>
            <a:endParaRPr lang="en-US" sz="1250" dirty="0"/>
          </a:p>
        </p:txBody>
      </p:sp>
      <p:sp>
        <p:nvSpPr>
          <p:cNvPr id="52" name="Shape 49"/>
          <p:cNvSpPr/>
          <p:nvPr/>
        </p:nvSpPr>
        <p:spPr>
          <a:xfrm>
            <a:off x="7818120" y="3419856"/>
            <a:ext cx="1325880" cy="621792"/>
          </a:xfrm>
          <a:prstGeom prst="roundRect">
            <a:avLst/>
          </a:prstGeom>
          <a:solidFill>
            <a:srgbClr val="EEF5F8"/>
          </a:solidFill>
          <a:ln w="10160">
            <a:solidFill>
              <a:srgbClr val="C8D7E3"/>
            </a:solidFill>
            <a:prstDash val="solid"/>
          </a:ln>
        </p:spPr>
      </p:sp>
      <p:sp>
        <p:nvSpPr>
          <p:cNvPr id="53" name="Text 50"/>
          <p:cNvSpPr/>
          <p:nvPr/>
        </p:nvSpPr>
        <p:spPr>
          <a:xfrm>
            <a:off x="7863840" y="3493008"/>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High</a:t>
            </a:r>
            <a:endParaRPr lang="en-US" sz="1250" dirty="0"/>
          </a:p>
        </p:txBody>
      </p:sp>
      <p:sp>
        <p:nvSpPr>
          <p:cNvPr id="54" name="Shape 51"/>
          <p:cNvSpPr/>
          <p:nvPr/>
        </p:nvSpPr>
        <p:spPr>
          <a:xfrm>
            <a:off x="9144000" y="3419856"/>
            <a:ext cx="2057400" cy="621792"/>
          </a:xfrm>
          <a:prstGeom prst="roundRect">
            <a:avLst/>
          </a:prstGeom>
          <a:solidFill>
            <a:srgbClr val="EEF5F8"/>
          </a:solidFill>
          <a:ln w="10160">
            <a:solidFill>
              <a:srgbClr val="C8D7E3"/>
            </a:solidFill>
            <a:prstDash val="solid"/>
          </a:ln>
        </p:spPr>
      </p:sp>
      <p:sp>
        <p:nvSpPr>
          <p:cNvPr id="55" name="Text 52"/>
          <p:cNvSpPr/>
          <p:nvPr/>
        </p:nvSpPr>
        <p:spPr>
          <a:xfrm>
            <a:off x="9189720" y="3493008"/>
            <a:ext cx="19659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Park</a:t>
            </a:r>
            <a:endParaRPr lang="en-US" sz="1250" dirty="0"/>
          </a:p>
        </p:txBody>
      </p:sp>
      <p:sp>
        <p:nvSpPr>
          <p:cNvPr id="56" name="Shape 53"/>
          <p:cNvSpPr/>
          <p:nvPr/>
        </p:nvSpPr>
        <p:spPr>
          <a:xfrm>
            <a:off x="548640" y="4169664"/>
            <a:ext cx="2788920" cy="621792"/>
          </a:xfrm>
          <a:prstGeom prst="roundRect">
            <a:avLst/>
          </a:prstGeom>
          <a:solidFill>
            <a:srgbClr val="DDF3EC"/>
          </a:solidFill>
          <a:ln w="10160">
            <a:solidFill>
              <a:srgbClr val="2D936C"/>
            </a:solidFill>
            <a:prstDash val="solid"/>
          </a:ln>
        </p:spPr>
      </p:sp>
      <p:sp>
        <p:nvSpPr>
          <p:cNvPr id="57" name="Text 54"/>
          <p:cNvSpPr/>
          <p:nvPr/>
        </p:nvSpPr>
        <p:spPr>
          <a:xfrm>
            <a:off x="594360" y="4242816"/>
            <a:ext cx="2697480" cy="438912"/>
          </a:xfrm>
          <a:prstGeom prst="rect">
            <a:avLst/>
          </a:prstGeom>
          <a:noFill/>
          <a:ln/>
        </p:spPr>
        <p:txBody>
          <a:bodyPr wrap="square" lIns="762" tIns="762" rIns="762" bIns="762" rtlCol="0" anchor="ctr">
            <a:normAutofit/>
          </a:bodyPr>
          <a:lstStyle/>
          <a:p>
            <a:pPr algn="l" indent="0" marL="0">
              <a:buNone/>
            </a:pPr>
            <a:r>
              <a:rPr lang="en-US" sz="1300" b="1" dirty="0">
                <a:solidFill>
                  <a:srgbClr val="2D936C"/>
                </a:solidFill>
                <a:latin typeface="Aptos" pitchFamily="34" charset="0"/>
                <a:ea typeface="Aptos" pitchFamily="34" charset="-122"/>
                <a:cs typeface="Aptos" pitchFamily="34" charset="-120"/>
              </a:rPr>
              <a:t>One actuator + advisers</a:t>
            </a:r>
            <a:endParaRPr lang="en-US" sz="1300" dirty="0"/>
          </a:p>
        </p:txBody>
      </p:sp>
      <p:sp>
        <p:nvSpPr>
          <p:cNvPr id="58" name="Shape 55"/>
          <p:cNvSpPr/>
          <p:nvPr/>
        </p:nvSpPr>
        <p:spPr>
          <a:xfrm>
            <a:off x="3337560" y="4169664"/>
            <a:ext cx="1325880" cy="621792"/>
          </a:xfrm>
          <a:prstGeom prst="roundRect">
            <a:avLst/>
          </a:prstGeom>
          <a:solidFill>
            <a:srgbClr val="DDF3EC"/>
          </a:solidFill>
          <a:ln w="10160">
            <a:solidFill>
              <a:srgbClr val="2D936C"/>
            </a:solidFill>
            <a:prstDash val="solid"/>
          </a:ln>
        </p:spPr>
      </p:sp>
      <p:sp>
        <p:nvSpPr>
          <p:cNvPr id="59" name="Text 56"/>
          <p:cNvSpPr/>
          <p:nvPr/>
        </p:nvSpPr>
        <p:spPr>
          <a:xfrm>
            <a:off x="3383280" y="4242816"/>
            <a:ext cx="123444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5/5</a:t>
            </a:r>
            <a:endParaRPr lang="en-US" sz="1250" dirty="0"/>
          </a:p>
        </p:txBody>
      </p:sp>
      <p:sp>
        <p:nvSpPr>
          <p:cNvPr id="60" name="Shape 57"/>
          <p:cNvSpPr/>
          <p:nvPr/>
        </p:nvSpPr>
        <p:spPr>
          <a:xfrm>
            <a:off x="4663440" y="4169664"/>
            <a:ext cx="1325880" cy="621792"/>
          </a:xfrm>
          <a:prstGeom prst="roundRect">
            <a:avLst/>
          </a:prstGeom>
          <a:solidFill>
            <a:srgbClr val="DDF3EC"/>
          </a:solidFill>
          <a:ln w="10160">
            <a:solidFill>
              <a:srgbClr val="2D936C"/>
            </a:solidFill>
            <a:prstDash val="solid"/>
          </a:ln>
        </p:spPr>
      </p:sp>
      <p:sp>
        <p:nvSpPr>
          <p:cNvPr id="61" name="Text 58"/>
          <p:cNvSpPr/>
          <p:nvPr/>
        </p:nvSpPr>
        <p:spPr>
          <a:xfrm>
            <a:off x="4709160" y="4242816"/>
            <a:ext cx="123444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5/5</a:t>
            </a:r>
            <a:endParaRPr lang="en-US" sz="1250" dirty="0"/>
          </a:p>
        </p:txBody>
      </p:sp>
      <p:sp>
        <p:nvSpPr>
          <p:cNvPr id="62" name="Shape 59"/>
          <p:cNvSpPr/>
          <p:nvPr/>
        </p:nvSpPr>
        <p:spPr>
          <a:xfrm>
            <a:off x="5989320" y="4169664"/>
            <a:ext cx="1828800" cy="621792"/>
          </a:xfrm>
          <a:prstGeom prst="roundRect">
            <a:avLst/>
          </a:prstGeom>
          <a:solidFill>
            <a:srgbClr val="DDF3EC"/>
          </a:solidFill>
          <a:ln w="10160">
            <a:solidFill>
              <a:srgbClr val="2D936C"/>
            </a:solidFill>
            <a:prstDash val="solid"/>
          </a:ln>
        </p:spPr>
      </p:sp>
      <p:sp>
        <p:nvSpPr>
          <p:cNvPr id="63" name="Text 60"/>
          <p:cNvSpPr/>
          <p:nvPr/>
        </p:nvSpPr>
        <p:spPr>
          <a:xfrm>
            <a:off x="6035040" y="4242816"/>
            <a:ext cx="173736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Lower</a:t>
            </a:r>
            <a:endParaRPr lang="en-US" sz="1250" dirty="0"/>
          </a:p>
        </p:txBody>
      </p:sp>
      <p:sp>
        <p:nvSpPr>
          <p:cNvPr id="64" name="Shape 61"/>
          <p:cNvSpPr/>
          <p:nvPr/>
        </p:nvSpPr>
        <p:spPr>
          <a:xfrm>
            <a:off x="7818120" y="4169664"/>
            <a:ext cx="1325880" cy="621792"/>
          </a:xfrm>
          <a:prstGeom prst="roundRect">
            <a:avLst/>
          </a:prstGeom>
          <a:solidFill>
            <a:srgbClr val="DDF3EC"/>
          </a:solidFill>
          <a:ln w="10160">
            <a:solidFill>
              <a:srgbClr val="2D936C"/>
            </a:solidFill>
            <a:prstDash val="solid"/>
          </a:ln>
        </p:spPr>
      </p:sp>
      <p:sp>
        <p:nvSpPr>
          <p:cNvPr id="65" name="Text 62"/>
          <p:cNvSpPr/>
          <p:nvPr/>
        </p:nvSpPr>
        <p:spPr>
          <a:xfrm>
            <a:off x="7863840" y="4242816"/>
            <a:ext cx="123444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Medium</a:t>
            </a:r>
            <a:endParaRPr lang="en-US" sz="1250" dirty="0"/>
          </a:p>
        </p:txBody>
      </p:sp>
      <p:sp>
        <p:nvSpPr>
          <p:cNvPr id="66" name="Shape 63"/>
          <p:cNvSpPr/>
          <p:nvPr/>
        </p:nvSpPr>
        <p:spPr>
          <a:xfrm>
            <a:off x="9144000" y="4169664"/>
            <a:ext cx="2057400" cy="621792"/>
          </a:xfrm>
          <a:prstGeom prst="roundRect">
            <a:avLst/>
          </a:prstGeom>
          <a:solidFill>
            <a:srgbClr val="DDF3EC"/>
          </a:solidFill>
          <a:ln w="10160">
            <a:solidFill>
              <a:srgbClr val="2D936C"/>
            </a:solidFill>
            <a:prstDash val="solid"/>
          </a:ln>
        </p:spPr>
      </p:sp>
      <p:sp>
        <p:nvSpPr>
          <p:cNvPr id="67" name="Text 64"/>
          <p:cNvSpPr/>
          <p:nvPr/>
        </p:nvSpPr>
        <p:spPr>
          <a:xfrm>
            <a:off x="9189720" y="4242816"/>
            <a:ext cx="196596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Choose</a:t>
            </a:r>
            <a:endParaRPr lang="en-US" sz="1250" dirty="0"/>
          </a:p>
        </p:txBody>
      </p:sp>
      <p:sp>
        <p:nvSpPr>
          <p:cNvPr id="68" name="Shape 65"/>
          <p:cNvSpPr/>
          <p:nvPr/>
        </p:nvSpPr>
        <p:spPr>
          <a:xfrm>
            <a:off x="685800" y="5166360"/>
            <a:ext cx="10835640" cy="749808"/>
          </a:xfrm>
          <a:prstGeom prst="roundRect">
            <a:avLst>
              <a:gd name="adj" fmla="val 9756"/>
            </a:avLst>
          </a:prstGeom>
          <a:solidFill>
            <a:srgbClr val="DDEFF5"/>
          </a:solidFill>
          <a:ln w="10160">
            <a:solidFill>
              <a:srgbClr val="176B87"/>
            </a:solidFill>
            <a:prstDash val="solid"/>
          </a:ln>
        </p:spPr>
      </p:sp>
      <p:sp>
        <p:nvSpPr>
          <p:cNvPr id="69" name="Shape 66"/>
          <p:cNvSpPr/>
          <p:nvPr/>
        </p:nvSpPr>
        <p:spPr>
          <a:xfrm>
            <a:off x="685800" y="5166360"/>
            <a:ext cx="73152" cy="749808"/>
          </a:xfrm>
          <a:prstGeom prst="rect">
            <a:avLst/>
          </a:prstGeom>
          <a:solidFill>
            <a:srgbClr val="176B87"/>
          </a:solidFill>
          <a:ln w="12700">
            <a:solidFill>
              <a:srgbClr val="176B87"/>
            </a:solidFill>
            <a:prstDash val="solid"/>
          </a:ln>
        </p:spPr>
      </p:sp>
      <p:sp>
        <p:nvSpPr>
          <p:cNvPr id="70" name="Text 67"/>
          <p:cNvSpPr/>
          <p:nvPr/>
        </p:nvSpPr>
        <p:spPr>
          <a:xfrm>
            <a:off x="850392" y="5239512"/>
            <a:ext cx="1054303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Why chosen</a:t>
            </a:r>
            <a:endParaRPr lang="en-US" sz="1300" dirty="0"/>
          </a:p>
        </p:txBody>
      </p:sp>
      <p:sp>
        <p:nvSpPr>
          <p:cNvPr id="71" name="Text 68"/>
          <p:cNvSpPr/>
          <p:nvPr/>
        </p:nvSpPr>
        <p:spPr>
          <a:xfrm>
            <a:off x="850392" y="5532120"/>
            <a:ext cx="10543032" cy="310896"/>
          </a:xfrm>
          <a:prstGeom prst="rect">
            <a:avLst/>
          </a:prstGeom>
          <a:noFill/>
          <a:ln/>
        </p:spPr>
        <p:txBody>
          <a:bodyPr wrap="square" lIns="762" tIns="762" rIns="762" bIns="762" rtlCol="0" anchor="t">
            <a:normAutofit/>
          </a:bodyPr>
          <a:lstStyle/>
          <a:p>
            <a:pPr indent="0" marL="0">
              <a:buNone/>
            </a:pPr>
            <a:r>
              <a:rPr lang="en-US" sz="1500" dirty="0">
                <a:solidFill>
                  <a:srgbClr val="162B3A"/>
                </a:solidFill>
                <a:latin typeface="Aptos" pitchFamily="34" charset="0"/>
                <a:ea typeface="Aptos" pitchFamily="34" charset="-122"/>
                <a:cs typeface="Aptos" pitchFamily="34" charset="-120"/>
              </a:rPr>
              <a:t>One writer makes authority testable. Deterministic safety remains outside learning. Specialists can be removed by ablation. Explanations cannot affect actuation.</a:t>
            </a:r>
            <a:endParaRPr lang="en-US" sz="1500" dirty="0"/>
          </a:p>
        </p:txBody>
      </p:sp>
      <p:sp>
        <p:nvSpPr>
          <p:cNvPr id="72" name="Text 69"/>
          <p:cNvSpPr/>
          <p:nvPr/>
        </p:nvSpPr>
        <p:spPr>
          <a:xfrm>
            <a:off x="731520" y="5989320"/>
            <a:ext cx="10744200" cy="228600"/>
          </a:xfrm>
          <a:prstGeom prst="rect">
            <a:avLst/>
          </a:prstGeom>
          <a:noFill/>
          <a:ln/>
        </p:spPr>
        <p:txBody>
          <a:bodyPr wrap="square" lIns="762" tIns="762" rIns="762" bIns="762" rtlCol="0" anchor="ctr">
            <a:normAutofit/>
          </a:bodyPr>
          <a:lstStyle/>
          <a:p>
            <a:pPr algn="ctr" indent="0" marL="0">
              <a:buNone/>
            </a:pPr>
            <a:r>
              <a:rPr lang="en-US" sz="1100" i="1" dirty="0">
                <a:solidFill>
                  <a:srgbClr val="CF7B1B"/>
                </a:solidFill>
                <a:latin typeface="Aptos" pitchFamily="34" charset="0"/>
                <a:ea typeface="Aptos" pitchFamily="34" charset="-122"/>
                <a:cs typeface="Aptos" pitchFamily="34" charset="-120"/>
              </a:rPr>
              <a:t>Illustrative scores only · change the scores and discuss sensitivity before treating the matrix as a decision.</a:t>
            </a:r>
            <a:endParaRPr lang="en-US" sz="11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38912" y="256032"/>
            <a:ext cx="1399032"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32588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PROPOSED SOLUTION</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Chosen solution: five agents, one set of hands on the lights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 Control plane is deterministic at the safety boundary; Synapse remains outside actuation.</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457200" y="1417320"/>
            <a:ext cx="1874520" cy="868680"/>
          </a:xfrm>
          <a:prstGeom prst="roundRect">
            <a:avLst>
              <a:gd name="adj" fmla="val 8421"/>
            </a:avLst>
          </a:prstGeom>
          <a:solidFill>
            <a:srgbClr val="DDF3EC"/>
          </a:solidFill>
          <a:ln w="10160">
            <a:solidFill>
              <a:srgbClr val="2D936C"/>
            </a:solidFill>
            <a:prstDash val="solid"/>
          </a:ln>
        </p:spPr>
      </p:sp>
      <p:sp>
        <p:nvSpPr>
          <p:cNvPr id="9" name="Shape 6"/>
          <p:cNvSpPr/>
          <p:nvPr/>
        </p:nvSpPr>
        <p:spPr>
          <a:xfrm>
            <a:off x="457200" y="1417320"/>
            <a:ext cx="73152" cy="868680"/>
          </a:xfrm>
          <a:prstGeom prst="rect">
            <a:avLst/>
          </a:prstGeom>
          <a:solidFill>
            <a:srgbClr val="2D936C"/>
          </a:solidFill>
          <a:ln w="12700">
            <a:solidFill>
              <a:srgbClr val="2D936C"/>
            </a:solidFill>
            <a:prstDash val="solid"/>
          </a:ln>
        </p:spPr>
      </p:sp>
      <p:sp>
        <p:nvSpPr>
          <p:cNvPr id="10" name="Text 7"/>
          <p:cNvSpPr/>
          <p:nvPr/>
        </p:nvSpPr>
        <p:spPr>
          <a:xfrm>
            <a:off x="621792" y="1490472"/>
            <a:ext cx="15819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A2 · Emergency</a:t>
            </a:r>
            <a:endParaRPr lang="en-US" sz="1300" dirty="0"/>
          </a:p>
        </p:txBody>
      </p:sp>
      <p:sp>
        <p:nvSpPr>
          <p:cNvPr id="11" name="Text 8"/>
          <p:cNvSpPr/>
          <p:nvPr/>
        </p:nvSpPr>
        <p:spPr>
          <a:xfrm>
            <a:off x="621792" y="1783080"/>
            <a:ext cx="1581912" cy="429768"/>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route · ETA · urgency</a:t>
            </a:r>
            <a:endParaRPr lang="en-US" sz="1150" dirty="0"/>
          </a:p>
        </p:txBody>
      </p:sp>
      <p:sp>
        <p:nvSpPr>
          <p:cNvPr id="12" name="Shape 9"/>
          <p:cNvSpPr/>
          <p:nvPr/>
        </p:nvSpPr>
        <p:spPr>
          <a:xfrm>
            <a:off x="1143000" y="2350008"/>
            <a:ext cx="502920" cy="310896"/>
          </a:xfrm>
          <a:prstGeom prst="chevron">
            <a:avLst/>
          </a:prstGeom>
          <a:solidFill>
            <a:srgbClr val="C8D7E3"/>
          </a:solidFill>
          <a:ln w="12700">
            <a:solidFill>
              <a:srgbClr val="C8D7E3"/>
            </a:solidFill>
            <a:prstDash val="solid"/>
          </a:ln>
        </p:spPr>
      </p:sp>
      <p:sp>
        <p:nvSpPr>
          <p:cNvPr id="13" name="Shape 10"/>
          <p:cNvSpPr/>
          <p:nvPr/>
        </p:nvSpPr>
        <p:spPr>
          <a:xfrm>
            <a:off x="2542032" y="1417320"/>
            <a:ext cx="1874520" cy="868680"/>
          </a:xfrm>
          <a:prstGeom prst="roundRect">
            <a:avLst>
              <a:gd name="adj" fmla="val 8421"/>
            </a:avLst>
          </a:prstGeom>
          <a:solidFill>
            <a:srgbClr val="DDEFF5"/>
          </a:solidFill>
          <a:ln w="10160">
            <a:solidFill>
              <a:srgbClr val="176B87"/>
            </a:solidFill>
            <a:prstDash val="solid"/>
          </a:ln>
        </p:spPr>
      </p:sp>
      <p:sp>
        <p:nvSpPr>
          <p:cNvPr id="14" name="Shape 11"/>
          <p:cNvSpPr/>
          <p:nvPr/>
        </p:nvSpPr>
        <p:spPr>
          <a:xfrm>
            <a:off x="2542032" y="1417320"/>
            <a:ext cx="73152" cy="868680"/>
          </a:xfrm>
          <a:prstGeom prst="rect">
            <a:avLst/>
          </a:prstGeom>
          <a:solidFill>
            <a:srgbClr val="176B87"/>
          </a:solidFill>
          <a:ln w="12700">
            <a:solidFill>
              <a:srgbClr val="176B87"/>
            </a:solidFill>
            <a:prstDash val="solid"/>
          </a:ln>
        </p:spPr>
      </p:sp>
      <p:sp>
        <p:nvSpPr>
          <p:cNvPr id="15" name="Text 12"/>
          <p:cNvSpPr/>
          <p:nvPr/>
        </p:nvSpPr>
        <p:spPr>
          <a:xfrm>
            <a:off x="2706624" y="1490472"/>
            <a:ext cx="158191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A3 · Multimodal</a:t>
            </a:r>
            <a:endParaRPr lang="en-US" sz="1300" dirty="0"/>
          </a:p>
        </p:txBody>
      </p:sp>
      <p:sp>
        <p:nvSpPr>
          <p:cNvPr id="16" name="Text 13"/>
          <p:cNvSpPr/>
          <p:nvPr/>
        </p:nvSpPr>
        <p:spPr>
          <a:xfrm>
            <a:off x="2706624" y="1783080"/>
            <a:ext cx="1581912" cy="429768"/>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crossing · late transit</a:t>
            </a:r>
            <a:endParaRPr lang="en-US" sz="1150" dirty="0"/>
          </a:p>
        </p:txBody>
      </p:sp>
      <p:sp>
        <p:nvSpPr>
          <p:cNvPr id="17" name="Shape 14"/>
          <p:cNvSpPr/>
          <p:nvPr/>
        </p:nvSpPr>
        <p:spPr>
          <a:xfrm>
            <a:off x="3227832" y="2350008"/>
            <a:ext cx="502920" cy="310896"/>
          </a:xfrm>
          <a:prstGeom prst="chevron">
            <a:avLst/>
          </a:prstGeom>
          <a:solidFill>
            <a:srgbClr val="C8D7E3"/>
          </a:solidFill>
          <a:ln w="12700">
            <a:solidFill>
              <a:srgbClr val="C8D7E3"/>
            </a:solidFill>
            <a:prstDash val="solid"/>
          </a:ln>
        </p:spPr>
      </p:sp>
      <p:sp>
        <p:nvSpPr>
          <p:cNvPr id="18" name="Shape 15"/>
          <p:cNvSpPr/>
          <p:nvPr/>
        </p:nvSpPr>
        <p:spPr>
          <a:xfrm>
            <a:off x="4626864" y="1417320"/>
            <a:ext cx="1874520" cy="868680"/>
          </a:xfrm>
          <a:prstGeom prst="roundRect">
            <a:avLst>
              <a:gd name="adj" fmla="val 8421"/>
            </a:avLst>
          </a:prstGeom>
          <a:solidFill>
            <a:srgbClr val="DDF3EC"/>
          </a:solidFill>
          <a:ln w="10160">
            <a:solidFill>
              <a:srgbClr val="2D936C"/>
            </a:solidFill>
            <a:prstDash val="solid"/>
          </a:ln>
        </p:spPr>
      </p:sp>
      <p:sp>
        <p:nvSpPr>
          <p:cNvPr id="19" name="Shape 16"/>
          <p:cNvSpPr/>
          <p:nvPr/>
        </p:nvSpPr>
        <p:spPr>
          <a:xfrm>
            <a:off x="4626864" y="1417320"/>
            <a:ext cx="73152" cy="868680"/>
          </a:xfrm>
          <a:prstGeom prst="rect">
            <a:avLst/>
          </a:prstGeom>
          <a:solidFill>
            <a:srgbClr val="2D936C"/>
          </a:solidFill>
          <a:ln w="12700">
            <a:solidFill>
              <a:srgbClr val="2D936C"/>
            </a:solidFill>
            <a:prstDash val="solid"/>
          </a:ln>
        </p:spPr>
      </p:sp>
      <p:sp>
        <p:nvSpPr>
          <p:cNvPr id="20" name="Text 17"/>
          <p:cNvSpPr/>
          <p:nvPr/>
        </p:nvSpPr>
        <p:spPr>
          <a:xfrm>
            <a:off x="4791456" y="1490472"/>
            <a:ext cx="15819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A4 · Situation</a:t>
            </a:r>
            <a:endParaRPr lang="en-US" sz="1300" dirty="0"/>
          </a:p>
        </p:txBody>
      </p:sp>
      <p:sp>
        <p:nvSpPr>
          <p:cNvPr id="21" name="Text 18"/>
          <p:cNvSpPr/>
          <p:nvPr/>
        </p:nvSpPr>
        <p:spPr>
          <a:xfrm>
            <a:off x="4791456" y="1783080"/>
            <a:ext cx="1581912" cy="429768"/>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forecast · anomaly</a:t>
            </a:r>
            <a:endParaRPr lang="en-US" sz="1150" dirty="0"/>
          </a:p>
        </p:txBody>
      </p:sp>
      <p:sp>
        <p:nvSpPr>
          <p:cNvPr id="22" name="Shape 19"/>
          <p:cNvSpPr/>
          <p:nvPr/>
        </p:nvSpPr>
        <p:spPr>
          <a:xfrm>
            <a:off x="5312664" y="2350008"/>
            <a:ext cx="502920" cy="310896"/>
          </a:xfrm>
          <a:prstGeom prst="chevron">
            <a:avLst/>
          </a:prstGeom>
          <a:solidFill>
            <a:srgbClr val="C8D7E3"/>
          </a:solidFill>
          <a:ln w="12700">
            <a:solidFill>
              <a:srgbClr val="C8D7E3"/>
            </a:solidFill>
            <a:prstDash val="solid"/>
          </a:ln>
        </p:spPr>
      </p:sp>
      <p:sp>
        <p:nvSpPr>
          <p:cNvPr id="23" name="Shape 20"/>
          <p:cNvSpPr/>
          <p:nvPr/>
        </p:nvSpPr>
        <p:spPr>
          <a:xfrm>
            <a:off x="6711696" y="1417320"/>
            <a:ext cx="1874520" cy="868680"/>
          </a:xfrm>
          <a:prstGeom prst="roundRect">
            <a:avLst>
              <a:gd name="adj" fmla="val 8421"/>
            </a:avLst>
          </a:prstGeom>
          <a:solidFill>
            <a:srgbClr val="DDEFF5"/>
          </a:solidFill>
          <a:ln w="10160">
            <a:solidFill>
              <a:srgbClr val="176B87"/>
            </a:solidFill>
            <a:prstDash val="solid"/>
          </a:ln>
        </p:spPr>
      </p:sp>
      <p:sp>
        <p:nvSpPr>
          <p:cNvPr id="24" name="Shape 21"/>
          <p:cNvSpPr/>
          <p:nvPr/>
        </p:nvSpPr>
        <p:spPr>
          <a:xfrm>
            <a:off x="6711696" y="1417320"/>
            <a:ext cx="73152" cy="868680"/>
          </a:xfrm>
          <a:prstGeom prst="rect">
            <a:avLst/>
          </a:prstGeom>
          <a:solidFill>
            <a:srgbClr val="176B87"/>
          </a:solidFill>
          <a:ln w="12700">
            <a:solidFill>
              <a:srgbClr val="176B87"/>
            </a:solidFill>
            <a:prstDash val="solid"/>
          </a:ln>
        </p:spPr>
      </p:sp>
      <p:sp>
        <p:nvSpPr>
          <p:cNvPr id="25" name="Text 22"/>
          <p:cNvSpPr/>
          <p:nvPr/>
        </p:nvSpPr>
        <p:spPr>
          <a:xfrm>
            <a:off x="6876288" y="1490472"/>
            <a:ext cx="158191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A5 · Sustainability</a:t>
            </a:r>
            <a:endParaRPr lang="en-US" sz="1300" dirty="0"/>
          </a:p>
        </p:txBody>
      </p:sp>
      <p:sp>
        <p:nvSpPr>
          <p:cNvPr id="26" name="Text 23"/>
          <p:cNvSpPr/>
          <p:nvPr/>
        </p:nvSpPr>
        <p:spPr>
          <a:xfrm>
            <a:off x="6876288" y="1783080"/>
            <a:ext cx="1581912" cy="429768"/>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emission-proxy advice</a:t>
            </a:r>
            <a:endParaRPr lang="en-US" sz="1150" dirty="0"/>
          </a:p>
        </p:txBody>
      </p:sp>
      <p:sp>
        <p:nvSpPr>
          <p:cNvPr id="27" name="Shape 24"/>
          <p:cNvSpPr/>
          <p:nvPr/>
        </p:nvSpPr>
        <p:spPr>
          <a:xfrm>
            <a:off x="7397496" y="2350008"/>
            <a:ext cx="502920" cy="310896"/>
          </a:xfrm>
          <a:prstGeom prst="chevron">
            <a:avLst/>
          </a:prstGeom>
          <a:solidFill>
            <a:srgbClr val="C8D7E3"/>
          </a:solidFill>
          <a:ln w="12700">
            <a:solidFill>
              <a:srgbClr val="C8D7E3"/>
            </a:solidFill>
            <a:prstDash val="solid"/>
          </a:ln>
        </p:spPr>
      </p:sp>
      <p:sp>
        <p:nvSpPr>
          <p:cNvPr id="28" name="Shape 25"/>
          <p:cNvSpPr/>
          <p:nvPr/>
        </p:nvSpPr>
        <p:spPr>
          <a:xfrm>
            <a:off x="457200" y="2788920"/>
            <a:ext cx="8138160" cy="658368"/>
          </a:xfrm>
          <a:prstGeom prst="roundRect">
            <a:avLst>
              <a:gd name="adj" fmla="val 11111"/>
            </a:avLst>
          </a:prstGeom>
          <a:solidFill>
            <a:srgbClr val="EEF5F8"/>
          </a:solidFill>
          <a:ln w="10160">
            <a:solidFill>
              <a:srgbClr val="168F8B"/>
            </a:solidFill>
            <a:prstDash val="solid"/>
          </a:ln>
        </p:spPr>
      </p:sp>
      <p:sp>
        <p:nvSpPr>
          <p:cNvPr id="29" name="Shape 26"/>
          <p:cNvSpPr/>
          <p:nvPr/>
        </p:nvSpPr>
        <p:spPr>
          <a:xfrm>
            <a:off x="457200" y="2788920"/>
            <a:ext cx="73152" cy="658368"/>
          </a:xfrm>
          <a:prstGeom prst="rect">
            <a:avLst/>
          </a:prstGeom>
          <a:solidFill>
            <a:srgbClr val="168F8B"/>
          </a:solidFill>
          <a:ln w="12700">
            <a:solidFill>
              <a:srgbClr val="168F8B"/>
            </a:solidFill>
            <a:prstDash val="solid"/>
          </a:ln>
        </p:spPr>
      </p:sp>
      <p:sp>
        <p:nvSpPr>
          <p:cNvPr id="30" name="Text 27"/>
          <p:cNvSpPr/>
          <p:nvPr/>
        </p:nvSpPr>
        <p:spPr>
          <a:xfrm>
            <a:off x="621792" y="2862072"/>
            <a:ext cx="784555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Typed message board</a:t>
            </a:r>
            <a:endParaRPr lang="en-US" sz="1300" dirty="0"/>
          </a:p>
        </p:txBody>
      </p:sp>
      <p:sp>
        <p:nvSpPr>
          <p:cNvPr id="31" name="Text 28"/>
          <p:cNvSpPr/>
          <p:nvPr/>
        </p:nvSpPr>
        <p:spPr>
          <a:xfrm>
            <a:off x="621792" y="3154680"/>
            <a:ext cx="7845552" cy="219456"/>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immutable · expiring · reason-coded</a:t>
            </a:r>
            <a:endParaRPr lang="en-US" sz="1300" dirty="0"/>
          </a:p>
        </p:txBody>
      </p:sp>
      <p:sp>
        <p:nvSpPr>
          <p:cNvPr id="32" name="Shape 29"/>
          <p:cNvSpPr/>
          <p:nvPr/>
        </p:nvSpPr>
        <p:spPr>
          <a:xfrm>
            <a:off x="4160520" y="3547872"/>
            <a:ext cx="566928" cy="310896"/>
          </a:xfrm>
          <a:prstGeom prst="chevron">
            <a:avLst/>
          </a:prstGeom>
          <a:solidFill>
            <a:srgbClr val="168F8B"/>
          </a:solidFill>
          <a:ln w="12700">
            <a:solidFill>
              <a:srgbClr val="168F8B"/>
            </a:solidFill>
            <a:prstDash val="solid"/>
          </a:ln>
        </p:spPr>
      </p:sp>
      <p:sp>
        <p:nvSpPr>
          <p:cNvPr id="33" name="Shape 30"/>
          <p:cNvSpPr/>
          <p:nvPr/>
        </p:nvSpPr>
        <p:spPr>
          <a:xfrm>
            <a:off x="2788920" y="4041648"/>
            <a:ext cx="3429000" cy="822960"/>
          </a:xfrm>
          <a:prstGeom prst="roundRect">
            <a:avLst>
              <a:gd name="adj" fmla="val 8889"/>
            </a:avLst>
          </a:prstGeom>
          <a:solidFill>
            <a:srgbClr val="FFF0D8"/>
          </a:solidFill>
          <a:ln w="10160">
            <a:solidFill>
              <a:srgbClr val="CF7B1B"/>
            </a:solidFill>
            <a:prstDash val="solid"/>
          </a:ln>
        </p:spPr>
      </p:sp>
      <p:sp>
        <p:nvSpPr>
          <p:cNvPr id="34" name="Shape 31"/>
          <p:cNvSpPr/>
          <p:nvPr/>
        </p:nvSpPr>
        <p:spPr>
          <a:xfrm>
            <a:off x="2788920" y="4041648"/>
            <a:ext cx="73152" cy="822960"/>
          </a:xfrm>
          <a:prstGeom prst="rect">
            <a:avLst/>
          </a:prstGeom>
          <a:solidFill>
            <a:srgbClr val="CF7B1B"/>
          </a:solidFill>
          <a:ln w="12700">
            <a:solidFill>
              <a:srgbClr val="CF7B1B"/>
            </a:solidFill>
            <a:prstDash val="solid"/>
          </a:ln>
        </p:spPr>
      </p:sp>
      <p:sp>
        <p:nvSpPr>
          <p:cNvPr id="35" name="Text 32"/>
          <p:cNvSpPr/>
          <p:nvPr/>
        </p:nvSpPr>
        <p:spPr>
          <a:xfrm>
            <a:off x="2953512" y="4114800"/>
            <a:ext cx="31363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A1 FLOW</a:t>
            </a:r>
            <a:endParaRPr lang="en-US" sz="1300" dirty="0"/>
          </a:p>
        </p:txBody>
      </p:sp>
      <p:sp>
        <p:nvSpPr>
          <p:cNvPr id="36" name="Text 33"/>
          <p:cNvSpPr/>
          <p:nvPr/>
        </p:nvSpPr>
        <p:spPr>
          <a:xfrm>
            <a:off x="2953512" y="4407408"/>
            <a:ext cx="3136392" cy="384048"/>
          </a:xfrm>
          <a:prstGeom prst="rect">
            <a:avLst/>
          </a:prstGeom>
          <a:noFill/>
          <a:ln/>
        </p:spPr>
        <p:txBody>
          <a:bodyPr wrap="square" lIns="762" tIns="762" rIns="762" bIns="762" rtlCol="0" anchor="t">
            <a:normAutofit/>
          </a:bodyPr>
          <a:lstStyle/>
          <a:p>
            <a:pPr indent="0" marL="0">
              <a:buNone/>
            </a:pPr>
            <a:r>
              <a:rPr lang="en-US" sz="1500" dirty="0">
                <a:solidFill>
                  <a:srgbClr val="162B3A"/>
                </a:solidFill>
                <a:latin typeface="Aptos" pitchFamily="34" charset="0"/>
                <a:ea typeface="Aptos" pitchFamily="34" charset="-122"/>
                <a:cs typeface="Aptos" pitchFamily="34" charset="-120"/>
              </a:rPr>
              <a:t>cooperative Max-Pressure + deterministic arbitration</a:t>
            </a:r>
            <a:endParaRPr lang="en-US" sz="1500" dirty="0"/>
          </a:p>
        </p:txBody>
      </p:sp>
      <p:sp>
        <p:nvSpPr>
          <p:cNvPr id="37" name="Shape 34"/>
          <p:cNvSpPr/>
          <p:nvPr/>
        </p:nvSpPr>
        <p:spPr>
          <a:xfrm>
            <a:off x="6382512" y="4297680"/>
            <a:ext cx="502920" cy="310896"/>
          </a:xfrm>
          <a:prstGeom prst="chevron">
            <a:avLst/>
          </a:prstGeom>
          <a:solidFill>
            <a:srgbClr val="CF7B1B"/>
          </a:solidFill>
          <a:ln w="12700">
            <a:solidFill>
              <a:srgbClr val="CF7B1B"/>
            </a:solidFill>
            <a:prstDash val="solid"/>
          </a:ln>
        </p:spPr>
      </p:sp>
      <p:sp>
        <p:nvSpPr>
          <p:cNvPr id="38" name="Shape 35"/>
          <p:cNvSpPr/>
          <p:nvPr/>
        </p:nvSpPr>
        <p:spPr>
          <a:xfrm>
            <a:off x="7040880" y="4041648"/>
            <a:ext cx="2057400" cy="822960"/>
          </a:xfrm>
          <a:prstGeom prst="roundRect">
            <a:avLst>
              <a:gd name="adj" fmla="val 8889"/>
            </a:avLst>
          </a:prstGeom>
          <a:solidFill>
            <a:srgbClr val="FBE4E4"/>
          </a:solidFill>
          <a:ln w="10160">
            <a:solidFill>
              <a:srgbClr val="B74444"/>
            </a:solidFill>
            <a:prstDash val="solid"/>
          </a:ln>
        </p:spPr>
      </p:sp>
      <p:sp>
        <p:nvSpPr>
          <p:cNvPr id="39" name="Shape 36"/>
          <p:cNvSpPr/>
          <p:nvPr/>
        </p:nvSpPr>
        <p:spPr>
          <a:xfrm>
            <a:off x="7040880" y="4041648"/>
            <a:ext cx="73152" cy="822960"/>
          </a:xfrm>
          <a:prstGeom prst="rect">
            <a:avLst/>
          </a:prstGeom>
          <a:solidFill>
            <a:srgbClr val="B74444"/>
          </a:solidFill>
          <a:ln w="12700">
            <a:solidFill>
              <a:srgbClr val="B74444"/>
            </a:solidFill>
            <a:prstDash val="solid"/>
          </a:ln>
        </p:spPr>
      </p:sp>
      <p:sp>
        <p:nvSpPr>
          <p:cNvPr id="40" name="Text 37"/>
          <p:cNvSpPr/>
          <p:nvPr/>
        </p:nvSpPr>
        <p:spPr>
          <a:xfrm>
            <a:off x="7205472" y="4114800"/>
            <a:ext cx="17647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Safety mask</a:t>
            </a:r>
            <a:endParaRPr lang="en-US" sz="1300" dirty="0"/>
          </a:p>
        </p:txBody>
      </p:sp>
      <p:sp>
        <p:nvSpPr>
          <p:cNvPr id="41" name="Text 38"/>
          <p:cNvSpPr/>
          <p:nvPr/>
        </p:nvSpPr>
        <p:spPr>
          <a:xfrm>
            <a:off x="7205472" y="4407408"/>
            <a:ext cx="1764792" cy="384048"/>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legal phase · clearance · capacity</a:t>
            </a:r>
            <a:endParaRPr lang="en-US" sz="1200" dirty="0"/>
          </a:p>
        </p:txBody>
      </p:sp>
      <p:sp>
        <p:nvSpPr>
          <p:cNvPr id="42" name="Shape 39"/>
          <p:cNvSpPr/>
          <p:nvPr/>
        </p:nvSpPr>
        <p:spPr>
          <a:xfrm>
            <a:off x="9235440" y="4297680"/>
            <a:ext cx="438912" cy="310896"/>
          </a:xfrm>
          <a:prstGeom prst="chevron">
            <a:avLst/>
          </a:prstGeom>
          <a:solidFill>
            <a:srgbClr val="B74444"/>
          </a:solidFill>
          <a:ln w="12700">
            <a:solidFill>
              <a:srgbClr val="B74444"/>
            </a:solidFill>
            <a:prstDash val="solid"/>
          </a:ln>
        </p:spPr>
      </p:sp>
      <p:sp>
        <p:nvSpPr>
          <p:cNvPr id="43" name="Shape 40"/>
          <p:cNvSpPr/>
          <p:nvPr/>
        </p:nvSpPr>
        <p:spPr>
          <a:xfrm>
            <a:off x="9784080" y="4041648"/>
            <a:ext cx="1920240" cy="822960"/>
          </a:xfrm>
          <a:prstGeom prst="roundRect">
            <a:avLst>
              <a:gd name="adj" fmla="val 8889"/>
            </a:avLst>
          </a:prstGeom>
          <a:solidFill>
            <a:srgbClr val="DDF3EC"/>
          </a:solidFill>
          <a:ln w="10160">
            <a:solidFill>
              <a:srgbClr val="2D936C"/>
            </a:solidFill>
            <a:prstDash val="solid"/>
          </a:ln>
        </p:spPr>
      </p:sp>
      <p:sp>
        <p:nvSpPr>
          <p:cNvPr id="44" name="Shape 41"/>
          <p:cNvSpPr/>
          <p:nvPr/>
        </p:nvSpPr>
        <p:spPr>
          <a:xfrm>
            <a:off x="9784080" y="4041648"/>
            <a:ext cx="73152" cy="822960"/>
          </a:xfrm>
          <a:prstGeom prst="rect">
            <a:avLst/>
          </a:prstGeom>
          <a:solidFill>
            <a:srgbClr val="2D936C"/>
          </a:solidFill>
          <a:ln w="12700">
            <a:solidFill>
              <a:srgbClr val="2D936C"/>
            </a:solidFill>
            <a:prstDash val="solid"/>
          </a:ln>
        </p:spPr>
      </p:sp>
      <p:sp>
        <p:nvSpPr>
          <p:cNvPr id="45" name="Text 42"/>
          <p:cNvSpPr/>
          <p:nvPr/>
        </p:nvSpPr>
        <p:spPr>
          <a:xfrm>
            <a:off x="9948672" y="4114800"/>
            <a:ext cx="162763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Executor → SUMO</a:t>
            </a:r>
            <a:endParaRPr lang="en-US" sz="1300" dirty="0"/>
          </a:p>
        </p:txBody>
      </p:sp>
      <p:sp>
        <p:nvSpPr>
          <p:cNvPr id="46" name="Text 43"/>
          <p:cNvSpPr/>
          <p:nvPr/>
        </p:nvSpPr>
        <p:spPr>
          <a:xfrm>
            <a:off x="9948672" y="4407408"/>
            <a:ext cx="1627632"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Only A1 writes signals</a:t>
            </a:r>
            <a:endParaRPr lang="en-US" sz="1300" dirty="0"/>
          </a:p>
        </p:txBody>
      </p:sp>
      <p:sp>
        <p:nvSpPr>
          <p:cNvPr id="47" name="Shape 44"/>
          <p:cNvSpPr/>
          <p:nvPr/>
        </p:nvSpPr>
        <p:spPr>
          <a:xfrm>
            <a:off x="457200" y="5321808"/>
            <a:ext cx="4709160" cy="658368"/>
          </a:xfrm>
          <a:prstGeom prst="roundRect">
            <a:avLst>
              <a:gd name="adj" fmla="val 11111"/>
            </a:avLst>
          </a:prstGeom>
          <a:solidFill>
            <a:srgbClr val="DDEFF5"/>
          </a:solidFill>
          <a:ln w="10160">
            <a:solidFill>
              <a:srgbClr val="176B87"/>
            </a:solidFill>
            <a:prstDash val="solid"/>
          </a:ln>
        </p:spPr>
      </p:sp>
      <p:sp>
        <p:nvSpPr>
          <p:cNvPr id="48" name="Shape 45"/>
          <p:cNvSpPr/>
          <p:nvPr/>
        </p:nvSpPr>
        <p:spPr>
          <a:xfrm>
            <a:off x="457200" y="5321808"/>
            <a:ext cx="73152" cy="658368"/>
          </a:xfrm>
          <a:prstGeom prst="rect">
            <a:avLst/>
          </a:prstGeom>
          <a:solidFill>
            <a:srgbClr val="176B87"/>
          </a:solidFill>
          <a:ln w="12700">
            <a:solidFill>
              <a:srgbClr val="176B87"/>
            </a:solidFill>
            <a:prstDash val="solid"/>
          </a:ln>
        </p:spPr>
      </p:sp>
      <p:sp>
        <p:nvSpPr>
          <p:cNvPr id="49" name="Text 46"/>
          <p:cNvSpPr/>
          <p:nvPr/>
        </p:nvSpPr>
        <p:spPr>
          <a:xfrm>
            <a:off x="621792" y="5394960"/>
            <a:ext cx="44165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Immutable evidence</a:t>
            </a:r>
            <a:endParaRPr lang="en-US" sz="1300" dirty="0"/>
          </a:p>
        </p:txBody>
      </p:sp>
      <p:sp>
        <p:nvSpPr>
          <p:cNvPr id="50" name="Text 47"/>
          <p:cNvSpPr/>
          <p:nvPr/>
        </p:nvSpPr>
        <p:spPr>
          <a:xfrm>
            <a:off x="621792" y="5687568"/>
            <a:ext cx="4416552" cy="21945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manifest · messages · decisions · trips · faults</a:t>
            </a:r>
            <a:endParaRPr lang="en-US" sz="1250" dirty="0"/>
          </a:p>
        </p:txBody>
      </p:sp>
      <p:sp>
        <p:nvSpPr>
          <p:cNvPr id="51" name="Shape 48"/>
          <p:cNvSpPr/>
          <p:nvPr/>
        </p:nvSpPr>
        <p:spPr>
          <a:xfrm>
            <a:off x="5321808" y="5504688"/>
            <a:ext cx="457200" cy="310896"/>
          </a:xfrm>
          <a:prstGeom prst="chevron">
            <a:avLst/>
          </a:prstGeom>
          <a:solidFill>
            <a:srgbClr val="176B87"/>
          </a:solidFill>
          <a:ln w="12700">
            <a:solidFill>
              <a:srgbClr val="176B87"/>
            </a:solidFill>
            <a:prstDash val="solid"/>
          </a:ln>
        </p:spPr>
      </p:sp>
      <p:sp>
        <p:nvSpPr>
          <p:cNvPr id="52" name="Shape 49"/>
          <p:cNvSpPr/>
          <p:nvPr/>
        </p:nvSpPr>
        <p:spPr>
          <a:xfrm>
            <a:off x="5925312" y="5321808"/>
            <a:ext cx="3337560" cy="658368"/>
          </a:xfrm>
          <a:prstGeom prst="roundRect">
            <a:avLst>
              <a:gd name="adj" fmla="val 11111"/>
            </a:avLst>
          </a:prstGeom>
          <a:solidFill>
            <a:srgbClr val="ECE8F8"/>
          </a:solidFill>
          <a:ln w="10160">
            <a:solidFill>
              <a:srgbClr val="6C5AA7"/>
            </a:solidFill>
            <a:prstDash val="solid"/>
          </a:ln>
        </p:spPr>
      </p:sp>
      <p:sp>
        <p:nvSpPr>
          <p:cNvPr id="53" name="Shape 50"/>
          <p:cNvSpPr/>
          <p:nvPr/>
        </p:nvSpPr>
        <p:spPr>
          <a:xfrm>
            <a:off x="5925312" y="5321808"/>
            <a:ext cx="73152" cy="658368"/>
          </a:xfrm>
          <a:prstGeom prst="rect">
            <a:avLst/>
          </a:prstGeom>
          <a:solidFill>
            <a:srgbClr val="6C5AA7"/>
          </a:solidFill>
          <a:ln w="12700">
            <a:solidFill>
              <a:srgbClr val="6C5AA7"/>
            </a:solidFill>
            <a:prstDash val="solid"/>
          </a:ln>
        </p:spPr>
      </p:sp>
      <p:sp>
        <p:nvSpPr>
          <p:cNvPr id="54" name="Text 51"/>
          <p:cNvSpPr/>
          <p:nvPr/>
        </p:nvSpPr>
        <p:spPr>
          <a:xfrm>
            <a:off x="6089904" y="5394960"/>
            <a:ext cx="3044952" cy="256032"/>
          </a:xfrm>
          <a:prstGeom prst="rect">
            <a:avLst/>
          </a:prstGeom>
          <a:noFill/>
          <a:ln/>
        </p:spPr>
        <p:txBody>
          <a:bodyPr wrap="square" lIns="762" tIns="762" rIns="762" bIns="762" rtlCol="0" anchor="ctr">
            <a:normAutofit/>
          </a:bodyPr>
          <a:lstStyle/>
          <a:p>
            <a:pPr indent="0" marL="0">
              <a:buNone/>
            </a:pPr>
            <a:r>
              <a:rPr lang="en-US" sz="1300" b="1" dirty="0">
                <a:solidFill>
                  <a:srgbClr val="6C5AA7"/>
                </a:solidFill>
                <a:latin typeface="Aptos" pitchFamily="34" charset="0"/>
                <a:ea typeface="Aptos" pitchFamily="34" charset="-122"/>
                <a:cs typeface="Aptos" pitchFamily="34" charset="-120"/>
              </a:rPr>
              <a:t>SYNAPSE NEVER ACTUATES</a:t>
            </a:r>
            <a:endParaRPr lang="en-US" sz="1300" dirty="0"/>
          </a:p>
        </p:txBody>
      </p:sp>
      <p:sp>
        <p:nvSpPr>
          <p:cNvPr id="55" name="Text 52"/>
          <p:cNvSpPr/>
          <p:nvPr/>
        </p:nvSpPr>
        <p:spPr>
          <a:xfrm>
            <a:off x="6089904" y="5687568"/>
            <a:ext cx="3044952" cy="219456"/>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reads immutable evidence only</a:t>
            </a:r>
            <a:endParaRPr lang="en-US" sz="1200" dirty="0"/>
          </a:p>
        </p:txBody>
      </p:sp>
      <p:sp>
        <p:nvSpPr>
          <p:cNvPr id="56" name="Text 53"/>
          <p:cNvSpPr/>
          <p:nvPr/>
        </p:nvSpPr>
        <p:spPr>
          <a:xfrm>
            <a:off x="9509760" y="5413248"/>
            <a:ext cx="2103120" cy="320040"/>
          </a:xfrm>
          <a:prstGeom prst="rect">
            <a:avLst/>
          </a:prstGeom>
          <a:noFill/>
          <a:ln/>
        </p:spPr>
        <p:txBody>
          <a:bodyPr wrap="square" lIns="762" tIns="762" rIns="762" bIns="762" rtlCol="0" anchor="ctr">
            <a:normAutofit/>
          </a:bodyPr>
          <a:lstStyle/>
          <a:p>
            <a:pPr algn="ctr" indent="0" marL="0">
              <a:buNone/>
            </a:pPr>
            <a:r>
              <a:rPr lang="en-US" sz="1100" b="1" dirty="0">
                <a:solidFill>
                  <a:srgbClr val="6C5AA7"/>
                </a:solidFill>
                <a:latin typeface="Aptos" pitchFamily="34" charset="0"/>
                <a:ea typeface="Aptos" pitchFamily="34" charset="-122"/>
                <a:cs typeface="Aptos" pitchFamily="34" charset="-120"/>
              </a:rPr>
              <a:t>Accepted boundary [C16]</a:t>
            </a:r>
            <a:endParaRPr lang="en-US" sz="1100" dirty="0"/>
          </a:p>
        </p:txBody>
      </p:sp>
      <p:sp>
        <p:nvSpPr>
          <p:cNvPr id="57" name="Text 54"/>
          <p:cNvSpPr/>
          <p:nvPr/>
        </p:nvSpPr>
        <p:spPr>
          <a:xfrm>
            <a:off x="594360" y="6144768"/>
            <a:ext cx="10972800" cy="256032"/>
          </a:xfrm>
          <a:prstGeom prst="rect">
            <a:avLst/>
          </a:prstGeom>
          <a:noFill/>
          <a:ln/>
        </p:spPr>
        <p:txBody>
          <a:bodyPr wrap="square" lIns="762" tIns="762" rIns="762" bIns="762" rtlCol="0" anchor="ctr">
            <a:normAutofit/>
          </a:bodyPr>
          <a:lstStyle/>
          <a:p>
            <a:pPr algn="ctr" indent="0" marL="0">
              <a:buNone/>
            </a:pPr>
            <a:r>
              <a:rPr lang="en-US" sz="1200" b="1" dirty="0">
                <a:solidFill>
                  <a:srgbClr val="0B2239"/>
                </a:solidFill>
                <a:latin typeface="Aptos" pitchFamily="34" charset="0"/>
                <a:ea typeface="Aptos" pitchFamily="34" charset="-122"/>
                <a:cs typeface="Aptos" pitchFamily="34" charset="-120"/>
              </a:rPr>
              <a:t>Recovery: Max-Pressure → actuated → fixed-time · optional DQN may only precede Max-Pressure</a:t>
            </a:r>
            <a:endParaRPr lang="en-US" sz="12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38912" y="256032"/>
            <a:ext cx="1399032"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32588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PROPOSED SOLUTION</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How the agents communicate</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They do not call each other in a tangled chain; they publish typed evidence and A1 answers requests.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1124712" y="1371600"/>
            <a:ext cx="621792" cy="621792"/>
          </a:xfrm>
          <a:prstGeom prst="ellipse">
            <a:avLst/>
          </a:prstGeom>
          <a:solidFill>
            <a:srgbClr val="168F8B"/>
          </a:solidFill>
          <a:ln w="12700">
            <a:solidFill>
              <a:srgbClr val="FFFFFF"/>
            </a:solidFill>
            <a:prstDash val="solid"/>
          </a:ln>
        </p:spPr>
      </p:sp>
      <p:sp>
        <p:nvSpPr>
          <p:cNvPr id="9" name="Text 6"/>
          <p:cNvSpPr/>
          <p:nvPr/>
        </p:nvSpPr>
        <p:spPr>
          <a:xfrm>
            <a:off x="1124712"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0" name="Shape 7"/>
          <p:cNvSpPr/>
          <p:nvPr/>
        </p:nvSpPr>
        <p:spPr>
          <a:xfrm>
            <a:off x="2432304" y="1536192"/>
            <a:ext cx="310896" cy="310896"/>
          </a:xfrm>
          <a:prstGeom prst="chevron">
            <a:avLst/>
          </a:prstGeom>
          <a:solidFill>
            <a:srgbClr val="C8D7E3"/>
          </a:solidFill>
          <a:ln w="12700">
            <a:solidFill>
              <a:srgbClr val="C8D7E3"/>
            </a:solidFill>
            <a:prstDash val="solid"/>
          </a:ln>
        </p:spPr>
      </p:sp>
      <p:sp>
        <p:nvSpPr>
          <p:cNvPr id="11" name="Text 8"/>
          <p:cNvSpPr/>
          <p:nvPr/>
        </p:nvSpPr>
        <p:spPr>
          <a:xfrm>
            <a:off x="438912"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168F8B"/>
                </a:solidFill>
                <a:latin typeface="Aptos" pitchFamily="34" charset="0"/>
                <a:ea typeface="Aptos" pitchFamily="34" charset="-122"/>
                <a:cs typeface="Aptos" pitchFamily="34" charset="-120"/>
              </a:rPr>
              <a:t>SPECIALIST</a:t>
            </a:r>
            <a:endParaRPr lang="en-US" sz="1200" dirty="0"/>
          </a:p>
        </p:txBody>
      </p:sp>
      <p:sp>
        <p:nvSpPr>
          <p:cNvPr id="12" name="Text 9"/>
          <p:cNvSpPr/>
          <p:nvPr/>
        </p:nvSpPr>
        <p:spPr>
          <a:xfrm>
            <a:off x="438912"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Build finite evidence</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A2/A3/A4/A5</a:t>
            </a:r>
            <a:endParaRPr lang="en-US" sz="1250" dirty="0"/>
          </a:p>
        </p:txBody>
      </p:sp>
      <p:sp>
        <p:nvSpPr>
          <p:cNvPr id="13" name="Shape 10"/>
          <p:cNvSpPr/>
          <p:nvPr/>
        </p:nvSpPr>
        <p:spPr>
          <a:xfrm>
            <a:off x="3483864" y="1371600"/>
            <a:ext cx="621792" cy="621792"/>
          </a:xfrm>
          <a:prstGeom prst="ellipse">
            <a:avLst/>
          </a:prstGeom>
          <a:solidFill>
            <a:srgbClr val="168F8B"/>
          </a:solidFill>
          <a:ln w="12700">
            <a:solidFill>
              <a:srgbClr val="FFFFFF"/>
            </a:solidFill>
            <a:prstDash val="solid"/>
          </a:ln>
        </p:spPr>
      </p:sp>
      <p:sp>
        <p:nvSpPr>
          <p:cNvPr id="14" name="Text 11"/>
          <p:cNvSpPr/>
          <p:nvPr/>
        </p:nvSpPr>
        <p:spPr>
          <a:xfrm>
            <a:off x="3483864"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5" name="Shape 12"/>
          <p:cNvSpPr/>
          <p:nvPr/>
        </p:nvSpPr>
        <p:spPr>
          <a:xfrm>
            <a:off x="4791456" y="1536192"/>
            <a:ext cx="310896" cy="310896"/>
          </a:xfrm>
          <a:prstGeom prst="chevron">
            <a:avLst/>
          </a:prstGeom>
          <a:solidFill>
            <a:srgbClr val="C8D7E3"/>
          </a:solidFill>
          <a:ln w="12700">
            <a:solidFill>
              <a:srgbClr val="C8D7E3"/>
            </a:solidFill>
            <a:prstDash val="solid"/>
          </a:ln>
        </p:spPr>
      </p:sp>
      <p:sp>
        <p:nvSpPr>
          <p:cNvPr id="16" name="Text 13"/>
          <p:cNvSpPr/>
          <p:nvPr/>
        </p:nvSpPr>
        <p:spPr>
          <a:xfrm>
            <a:off x="2798064"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168F8B"/>
                </a:solidFill>
                <a:latin typeface="Aptos" pitchFamily="34" charset="0"/>
                <a:ea typeface="Aptos" pitchFamily="34" charset="-122"/>
                <a:cs typeface="Aptos" pitchFamily="34" charset="-120"/>
              </a:rPr>
              <a:t>ENVELOPE</a:t>
            </a:r>
            <a:endParaRPr lang="en-US" sz="1200" dirty="0"/>
          </a:p>
        </p:txBody>
      </p:sp>
      <p:sp>
        <p:nvSpPr>
          <p:cNvPr id="17" name="Text 14"/>
          <p:cNvSpPr/>
          <p:nvPr/>
        </p:nvSpPr>
        <p:spPr>
          <a:xfrm>
            <a:off x="2798064"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IDs · time · expiry</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priority · provenance</a:t>
            </a:r>
            <a:endParaRPr lang="en-US" sz="1250" dirty="0"/>
          </a:p>
        </p:txBody>
      </p:sp>
      <p:sp>
        <p:nvSpPr>
          <p:cNvPr id="18" name="Shape 15"/>
          <p:cNvSpPr/>
          <p:nvPr/>
        </p:nvSpPr>
        <p:spPr>
          <a:xfrm>
            <a:off x="5843016" y="1371600"/>
            <a:ext cx="621792" cy="621792"/>
          </a:xfrm>
          <a:prstGeom prst="ellipse">
            <a:avLst/>
          </a:prstGeom>
          <a:solidFill>
            <a:srgbClr val="168F8B"/>
          </a:solidFill>
          <a:ln w="12700">
            <a:solidFill>
              <a:srgbClr val="FFFFFF"/>
            </a:solidFill>
            <a:prstDash val="solid"/>
          </a:ln>
        </p:spPr>
      </p:sp>
      <p:sp>
        <p:nvSpPr>
          <p:cNvPr id="19" name="Text 16"/>
          <p:cNvSpPr/>
          <p:nvPr/>
        </p:nvSpPr>
        <p:spPr>
          <a:xfrm>
            <a:off x="5843016"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0" name="Shape 17"/>
          <p:cNvSpPr/>
          <p:nvPr/>
        </p:nvSpPr>
        <p:spPr>
          <a:xfrm>
            <a:off x="7150608" y="1536192"/>
            <a:ext cx="310896" cy="310896"/>
          </a:xfrm>
          <a:prstGeom prst="chevron">
            <a:avLst/>
          </a:prstGeom>
          <a:solidFill>
            <a:srgbClr val="C8D7E3"/>
          </a:solidFill>
          <a:ln w="12700">
            <a:solidFill>
              <a:srgbClr val="C8D7E3"/>
            </a:solidFill>
            <a:prstDash val="solid"/>
          </a:ln>
        </p:spPr>
      </p:sp>
      <p:sp>
        <p:nvSpPr>
          <p:cNvPr id="21" name="Text 18"/>
          <p:cNvSpPr/>
          <p:nvPr/>
        </p:nvSpPr>
        <p:spPr>
          <a:xfrm>
            <a:off x="5157216"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168F8B"/>
                </a:solidFill>
                <a:latin typeface="Aptos" pitchFamily="34" charset="0"/>
                <a:ea typeface="Aptos" pitchFamily="34" charset="-122"/>
                <a:cs typeface="Aptos" pitchFamily="34" charset="-120"/>
              </a:rPr>
              <a:t>BOARD</a:t>
            </a:r>
            <a:endParaRPr lang="en-US" sz="1200" dirty="0"/>
          </a:p>
        </p:txBody>
      </p:sp>
      <p:sp>
        <p:nvSpPr>
          <p:cNvPr id="22" name="Text 19"/>
          <p:cNvSpPr/>
          <p:nvPr/>
        </p:nvSpPr>
        <p:spPr>
          <a:xfrm>
            <a:off x="5157216"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Validate · deduplicate</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ignore stale/invalid</a:t>
            </a:r>
            <a:endParaRPr lang="en-US" sz="1250" dirty="0"/>
          </a:p>
        </p:txBody>
      </p:sp>
      <p:sp>
        <p:nvSpPr>
          <p:cNvPr id="23" name="Shape 20"/>
          <p:cNvSpPr/>
          <p:nvPr/>
        </p:nvSpPr>
        <p:spPr>
          <a:xfrm>
            <a:off x="8202168" y="1371600"/>
            <a:ext cx="621792" cy="621792"/>
          </a:xfrm>
          <a:prstGeom prst="ellipse">
            <a:avLst/>
          </a:prstGeom>
          <a:solidFill>
            <a:srgbClr val="CF7B1B"/>
          </a:solidFill>
          <a:ln w="12700">
            <a:solidFill>
              <a:srgbClr val="FFFFFF"/>
            </a:solidFill>
            <a:prstDash val="solid"/>
          </a:ln>
        </p:spPr>
      </p:sp>
      <p:sp>
        <p:nvSpPr>
          <p:cNvPr id="24" name="Text 21"/>
          <p:cNvSpPr/>
          <p:nvPr/>
        </p:nvSpPr>
        <p:spPr>
          <a:xfrm>
            <a:off x="8202168"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5" name="Shape 22"/>
          <p:cNvSpPr/>
          <p:nvPr/>
        </p:nvSpPr>
        <p:spPr>
          <a:xfrm>
            <a:off x="9509760" y="1536192"/>
            <a:ext cx="310896" cy="310896"/>
          </a:xfrm>
          <a:prstGeom prst="chevron">
            <a:avLst/>
          </a:prstGeom>
          <a:solidFill>
            <a:srgbClr val="C8D7E3"/>
          </a:solidFill>
          <a:ln w="12700">
            <a:solidFill>
              <a:srgbClr val="C8D7E3"/>
            </a:solidFill>
            <a:prstDash val="solid"/>
          </a:ln>
        </p:spPr>
      </p:sp>
      <p:sp>
        <p:nvSpPr>
          <p:cNvPr id="26" name="Text 23"/>
          <p:cNvSpPr/>
          <p:nvPr/>
        </p:nvSpPr>
        <p:spPr>
          <a:xfrm>
            <a:off x="7516368"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CF7B1B"/>
                </a:solidFill>
                <a:latin typeface="Aptos" pitchFamily="34" charset="0"/>
                <a:ea typeface="Aptos" pitchFamily="34" charset="-122"/>
                <a:cs typeface="Aptos" pitchFamily="34" charset="-120"/>
              </a:rPr>
              <a:t>A1</a:t>
            </a:r>
            <a:endParaRPr lang="en-US" sz="1200" dirty="0"/>
          </a:p>
        </p:txBody>
      </p:sp>
      <p:sp>
        <p:nvSpPr>
          <p:cNvPr id="27" name="Text 24"/>
          <p:cNvSpPr/>
          <p:nvPr/>
        </p:nvSpPr>
        <p:spPr>
          <a:xfrm>
            <a:off x="7516368"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Filter · safety check</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rank deterministically</a:t>
            </a:r>
            <a:endParaRPr lang="en-US" sz="1250" dirty="0"/>
          </a:p>
        </p:txBody>
      </p:sp>
      <p:sp>
        <p:nvSpPr>
          <p:cNvPr id="28" name="Shape 25"/>
          <p:cNvSpPr/>
          <p:nvPr/>
        </p:nvSpPr>
        <p:spPr>
          <a:xfrm>
            <a:off x="10561320" y="1371600"/>
            <a:ext cx="621792" cy="621792"/>
          </a:xfrm>
          <a:prstGeom prst="ellipse">
            <a:avLst/>
          </a:prstGeom>
          <a:solidFill>
            <a:srgbClr val="168F8B"/>
          </a:solidFill>
          <a:ln w="12700">
            <a:solidFill>
              <a:srgbClr val="FFFFFF"/>
            </a:solidFill>
            <a:prstDash val="solid"/>
          </a:ln>
        </p:spPr>
      </p:sp>
      <p:sp>
        <p:nvSpPr>
          <p:cNvPr id="29" name="Text 26"/>
          <p:cNvSpPr/>
          <p:nvPr/>
        </p:nvSpPr>
        <p:spPr>
          <a:xfrm>
            <a:off x="10561320"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0" name="Text 27"/>
          <p:cNvSpPr/>
          <p:nvPr/>
        </p:nvSpPr>
        <p:spPr>
          <a:xfrm>
            <a:off x="9875520"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168F8B"/>
                </a:solidFill>
                <a:latin typeface="Aptos" pitchFamily="34" charset="0"/>
                <a:ea typeface="Aptos" pitchFamily="34" charset="-122"/>
                <a:cs typeface="Aptos" pitchFamily="34" charset="-120"/>
              </a:rPr>
              <a:t>REPLY + EVENT</a:t>
            </a:r>
            <a:endParaRPr lang="en-US" sz="1200" dirty="0"/>
          </a:p>
        </p:txBody>
      </p:sp>
      <p:sp>
        <p:nvSpPr>
          <p:cNvPr id="31" name="Text 28"/>
          <p:cNvSpPr/>
          <p:nvPr/>
        </p:nvSpPr>
        <p:spPr>
          <a:xfrm>
            <a:off x="9875520"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Accept/reject reason</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immutable join</a:t>
            </a:r>
            <a:endParaRPr lang="en-US" sz="1250" dirty="0"/>
          </a:p>
        </p:txBody>
      </p:sp>
      <p:sp>
        <p:nvSpPr>
          <p:cNvPr id="32" name="Shape 29"/>
          <p:cNvSpPr/>
          <p:nvPr/>
        </p:nvSpPr>
        <p:spPr>
          <a:xfrm>
            <a:off x="548640" y="3611880"/>
            <a:ext cx="11064240" cy="822960"/>
          </a:xfrm>
          <a:prstGeom prst="roundRect">
            <a:avLst>
              <a:gd name="adj" fmla="val 8889"/>
            </a:avLst>
          </a:prstGeom>
          <a:solidFill>
            <a:srgbClr val="DDEFF5"/>
          </a:solidFill>
          <a:ln w="10160">
            <a:solidFill>
              <a:srgbClr val="176B87"/>
            </a:solidFill>
            <a:prstDash val="solid"/>
          </a:ln>
        </p:spPr>
      </p:sp>
      <p:sp>
        <p:nvSpPr>
          <p:cNvPr id="33" name="Shape 30"/>
          <p:cNvSpPr/>
          <p:nvPr/>
        </p:nvSpPr>
        <p:spPr>
          <a:xfrm>
            <a:off x="548640" y="3611880"/>
            <a:ext cx="73152" cy="822960"/>
          </a:xfrm>
          <a:prstGeom prst="rect">
            <a:avLst/>
          </a:prstGeom>
          <a:solidFill>
            <a:srgbClr val="176B87"/>
          </a:solidFill>
          <a:ln w="12700">
            <a:solidFill>
              <a:srgbClr val="176B87"/>
            </a:solidFill>
            <a:prstDash val="solid"/>
          </a:ln>
        </p:spPr>
      </p:sp>
      <p:sp>
        <p:nvSpPr>
          <p:cNvPr id="34" name="Text 31"/>
          <p:cNvSpPr/>
          <p:nvPr/>
        </p:nvSpPr>
        <p:spPr>
          <a:xfrm>
            <a:off x="713232" y="3685032"/>
            <a:ext cx="1077163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Envelope identity</a:t>
            </a:r>
            <a:endParaRPr lang="en-US" sz="1300" dirty="0"/>
          </a:p>
        </p:txBody>
      </p:sp>
      <p:sp>
        <p:nvSpPr>
          <p:cNvPr id="35" name="Text 32"/>
          <p:cNvSpPr/>
          <p:nvPr/>
        </p:nvSpPr>
        <p:spPr>
          <a:xfrm>
            <a:off x="713232" y="3977640"/>
            <a:ext cx="10771632" cy="38404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run_id · scenario_hash · message_id · correlation_id · source · topic · simulation time · expires_at · priority · confidence · schema · payload · provenance</a:t>
            </a:r>
            <a:endParaRPr lang="en-US" sz="1350" dirty="0"/>
          </a:p>
        </p:txBody>
      </p:sp>
      <p:sp>
        <p:nvSpPr>
          <p:cNvPr id="36" name="Shape 33"/>
          <p:cNvSpPr/>
          <p:nvPr/>
        </p:nvSpPr>
        <p:spPr>
          <a:xfrm>
            <a:off x="548640" y="4709160"/>
            <a:ext cx="1673352" cy="274320"/>
          </a:xfrm>
          <a:prstGeom prst="roundRect">
            <a:avLst>
              <a:gd name="adj" fmla="val 26667"/>
            </a:avLst>
          </a:prstGeom>
          <a:solidFill>
            <a:srgbClr val="B74444"/>
          </a:solidFill>
          <a:ln w="12700">
            <a:solidFill>
              <a:srgbClr val="B74444"/>
            </a:solidFill>
            <a:prstDash val="solid"/>
          </a:ln>
        </p:spPr>
      </p:sp>
      <p:sp>
        <p:nvSpPr>
          <p:cNvPr id="37" name="Text 34"/>
          <p:cNvSpPr/>
          <p:nvPr/>
        </p:nvSpPr>
        <p:spPr>
          <a:xfrm>
            <a:off x="585216"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1 · active crossing</a:t>
            </a:r>
            <a:endParaRPr lang="en-US" sz="900" dirty="0"/>
          </a:p>
        </p:txBody>
      </p:sp>
      <p:sp>
        <p:nvSpPr>
          <p:cNvPr id="38" name="Shape 35"/>
          <p:cNvSpPr/>
          <p:nvPr/>
        </p:nvSpPr>
        <p:spPr>
          <a:xfrm>
            <a:off x="2395728" y="4709160"/>
            <a:ext cx="1673352" cy="274320"/>
          </a:xfrm>
          <a:prstGeom prst="roundRect">
            <a:avLst>
              <a:gd name="adj" fmla="val 26667"/>
            </a:avLst>
          </a:prstGeom>
          <a:solidFill>
            <a:srgbClr val="B74444"/>
          </a:solidFill>
          <a:ln w="12700">
            <a:solidFill>
              <a:srgbClr val="B74444"/>
            </a:solidFill>
            <a:prstDash val="solid"/>
          </a:ln>
        </p:spPr>
      </p:sp>
      <p:sp>
        <p:nvSpPr>
          <p:cNvPr id="39" name="Text 36"/>
          <p:cNvSpPr/>
          <p:nvPr/>
        </p:nvSpPr>
        <p:spPr>
          <a:xfrm>
            <a:off x="2432304"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2 · emergency</a:t>
            </a:r>
            <a:endParaRPr lang="en-US" sz="900" dirty="0"/>
          </a:p>
        </p:txBody>
      </p:sp>
      <p:sp>
        <p:nvSpPr>
          <p:cNvPr id="40" name="Shape 37"/>
          <p:cNvSpPr/>
          <p:nvPr/>
        </p:nvSpPr>
        <p:spPr>
          <a:xfrm>
            <a:off x="4242816" y="4709160"/>
            <a:ext cx="1673352" cy="274320"/>
          </a:xfrm>
          <a:prstGeom prst="roundRect">
            <a:avLst>
              <a:gd name="adj" fmla="val 26667"/>
            </a:avLst>
          </a:prstGeom>
          <a:solidFill>
            <a:srgbClr val="176B87"/>
          </a:solidFill>
          <a:ln w="12700">
            <a:solidFill>
              <a:srgbClr val="176B87"/>
            </a:solidFill>
            <a:prstDash val="solid"/>
          </a:ln>
        </p:spPr>
      </p:sp>
      <p:sp>
        <p:nvSpPr>
          <p:cNvPr id="41" name="Text 38"/>
          <p:cNvSpPr/>
          <p:nvPr/>
        </p:nvSpPr>
        <p:spPr>
          <a:xfrm>
            <a:off x="4279392"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3 · pedestrian deadline</a:t>
            </a:r>
            <a:endParaRPr lang="en-US" sz="900" dirty="0"/>
          </a:p>
        </p:txBody>
      </p:sp>
      <p:sp>
        <p:nvSpPr>
          <p:cNvPr id="42" name="Shape 39"/>
          <p:cNvSpPr/>
          <p:nvPr/>
        </p:nvSpPr>
        <p:spPr>
          <a:xfrm>
            <a:off x="6089904" y="4709160"/>
            <a:ext cx="1673352" cy="274320"/>
          </a:xfrm>
          <a:prstGeom prst="roundRect">
            <a:avLst>
              <a:gd name="adj" fmla="val 26667"/>
            </a:avLst>
          </a:prstGeom>
          <a:solidFill>
            <a:srgbClr val="176B87"/>
          </a:solidFill>
          <a:ln w="12700">
            <a:solidFill>
              <a:srgbClr val="176B87"/>
            </a:solidFill>
            <a:prstDash val="solid"/>
          </a:ln>
        </p:spPr>
      </p:sp>
      <p:sp>
        <p:nvSpPr>
          <p:cNvPr id="43" name="Text 40"/>
          <p:cNvSpPr/>
          <p:nvPr/>
        </p:nvSpPr>
        <p:spPr>
          <a:xfrm>
            <a:off x="6126480"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4 · conditional late transit</a:t>
            </a:r>
            <a:endParaRPr lang="en-US" sz="900" dirty="0"/>
          </a:p>
        </p:txBody>
      </p:sp>
      <p:sp>
        <p:nvSpPr>
          <p:cNvPr id="44" name="Shape 41"/>
          <p:cNvSpPr/>
          <p:nvPr/>
        </p:nvSpPr>
        <p:spPr>
          <a:xfrm>
            <a:off x="7936992" y="4709160"/>
            <a:ext cx="1673352" cy="274320"/>
          </a:xfrm>
          <a:prstGeom prst="roundRect">
            <a:avLst>
              <a:gd name="adj" fmla="val 26667"/>
            </a:avLst>
          </a:prstGeom>
          <a:solidFill>
            <a:srgbClr val="2D936C"/>
          </a:solidFill>
          <a:ln w="12700">
            <a:solidFill>
              <a:srgbClr val="2D936C"/>
            </a:solidFill>
            <a:prstDash val="solid"/>
          </a:ln>
        </p:spPr>
      </p:sp>
      <p:sp>
        <p:nvSpPr>
          <p:cNvPr id="45" name="Text 42"/>
          <p:cNvSpPr/>
          <p:nvPr/>
        </p:nvSpPr>
        <p:spPr>
          <a:xfrm>
            <a:off x="7973568"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5 · general flow</a:t>
            </a:r>
            <a:endParaRPr lang="en-US" sz="900" dirty="0"/>
          </a:p>
        </p:txBody>
      </p:sp>
      <p:sp>
        <p:nvSpPr>
          <p:cNvPr id="46" name="Shape 43"/>
          <p:cNvSpPr/>
          <p:nvPr/>
        </p:nvSpPr>
        <p:spPr>
          <a:xfrm>
            <a:off x="9784080" y="4709160"/>
            <a:ext cx="1673352" cy="274320"/>
          </a:xfrm>
          <a:prstGeom prst="roundRect">
            <a:avLst>
              <a:gd name="adj" fmla="val 26667"/>
            </a:avLst>
          </a:prstGeom>
          <a:solidFill>
            <a:srgbClr val="2D936C"/>
          </a:solidFill>
          <a:ln w="12700">
            <a:solidFill>
              <a:srgbClr val="2D936C"/>
            </a:solidFill>
            <a:prstDash val="solid"/>
          </a:ln>
        </p:spPr>
      </p:sp>
      <p:sp>
        <p:nvSpPr>
          <p:cNvPr id="47" name="Text 44"/>
          <p:cNvSpPr/>
          <p:nvPr/>
        </p:nvSpPr>
        <p:spPr>
          <a:xfrm>
            <a:off x="9820656"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6 · sustainability</a:t>
            </a:r>
            <a:endParaRPr lang="en-US" sz="900" dirty="0"/>
          </a:p>
        </p:txBody>
      </p:sp>
      <p:sp>
        <p:nvSpPr>
          <p:cNvPr id="48" name="Shape 45"/>
          <p:cNvSpPr/>
          <p:nvPr/>
        </p:nvSpPr>
        <p:spPr>
          <a:xfrm>
            <a:off x="822960" y="5257800"/>
            <a:ext cx="10543032" cy="658368"/>
          </a:xfrm>
          <a:prstGeom prst="roundRect">
            <a:avLst>
              <a:gd name="adj" fmla="val 11111"/>
            </a:avLst>
          </a:prstGeom>
          <a:solidFill>
            <a:srgbClr val="DDF3EC"/>
          </a:solidFill>
          <a:ln w="10160">
            <a:solidFill>
              <a:srgbClr val="2D936C"/>
            </a:solidFill>
            <a:prstDash val="solid"/>
          </a:ln>
        </p:spPr>
      </p:sp>
      <p:sp>
        <p:nvSpPr>
          <p:cNvPr id="49" name="Shape 46"/>
          <p:cNvSpPr/>
          <p:nvPr/>
        </p:nvSpPr>
        <p:spPr>
          <a:xfrm>
            <a:off x="822960" y="5257800"/>
            <a:ext cx="73152" cy="658368"/>
          </a:xfrm>
          <a:prstGeom prst="rect">
            <a:avLst/>
          </a:prstGeom>
          <a:solidFill>
            <a:srgbClr val="2D936C"/>
          </a:solidFill>
          <a:ln w="12700">
            <a:solidFill>
              <a:srgbClr val="2D936C"/>
            </a:solidFill>
            <a:prstDash val="solid"/>
          </a:ln>
        </p:spPr>
      </p:sp>
      <p:sp>
        <p:nvSpPr>
          <p:cNvPr id="50" name="Text 47"/>
          <p:cNvSpPr/>
          <p:nvPr/>
        </p:nvSpPr>
        <p:spPr>
          <a:xfrm>
            <a:off x="987552" y="5330952"/>
            <a:ext cx="10250424"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Failure rule</a:t>
            </a:r>
            <a:endParaRPr lang="en-US" sz="1300" dirty="0"/>
          </a:p>
        </p:txBody>
      </p:sp>
      <p:sp>
        <p:nvSpPr>
          <p:cNvPr id="51" name="Text 48"/>
          <p:cNvSpPr/>
          <p:nvPr/>
        </p:nvSpPr>
        <p:spPr>
          <a:xfrm>
            <a:off x="987552" y="5623560"/>
            <a:ext cx="10250424" cy="219456"/>
          </a:xfrm>
          <a:prstGeom prst="rect">
            <a:avLst/>
          </a:prstGeom>
          <a:noFill/>
          <a:ln/>
        </p:spPr>
        <p:txBody>
          <a:bodyPr wrap="square" lIns="762" tIns="762" rIns="762" bIns="762" rtlCol="0" anchor="t">
            <a:normAutofit/>
          </a:bodyPr>
          <a:lstStyle/>
          <a:p>
            <a:pPr indent="0" marL="0">
              <a:buNone/>
            </a:pPr>
            <a:r>
              <a:rPr lang="en-US" sz="1500" dirty="0">
                <a:solidFill>
                  <a:srgbClr val="162B3A"/>
                </a:solidFill>
                <a:latin typeface="Aptos" pitchFamily="34" charset="0"/>
                <a:ea typeface="Aptos" pitchFamily="34" charset="-122"/>
                <a:cs typeface="Aptos" pitchFamily="34" charset="-120"/>
              </a:rPr>
              <a:t>If the board is empty or unavailable, A1 continues legal local Max-Pressure control.</a:t>
            </a:r>
            <a:endParaRPr lang="en-US" sz="15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PROTOTYPE + TEST</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Simulation scenarios: from controlled science to a Tunis showcase</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Human-centred stories, deterministic fixtures and broader experiments have different evidence strength.</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02920" y="1371600"/>
            <a:ext cx="3657600" cy="1417320"/>
          </a:xfrm>
          <a:prstGeom prst="roundRect">
            <a:avLst>
              <a:gd name="adj" fmla="val 5161"/>
            </a:avLst>
          </a:prstGeom>
          <a:solidFill>
            <a:srgbClr val="DDEFF5"/>
          </a:solidFill>
          <a:ln w="10160">
            <a:solidFill>
              <a:srgbClr val="176B87"/>
            </a:solidFill>
            <a:prstDash val="solid"/>
          </a:ln>
        </p:spPr>
      </p:sp>
      <p:sp>
        <p:nvSpPr>
          <p:cNvPr id="9" name="Shape 6"/>
          <p:cNvSpPr/>
          <p:nvPr/>
        </p:nvSpPr>
        <p:spPr>
          <a:xfrm>
            <a:off x="502920" y="1371600"/>
            <a:ext cx="73152" cy="1417320"/>
          </a:xfrm>
          <a:prstGeom prst="rect">
            <a:avLst/>
          </a:prstGeom>
          <a:solidFill>
            <a:srgbClr val="176B87"/>
          </a:solidFill>
          <a:ln w="12700">
            <a:solidFill>
              <a:srgbClr val="176B87"/>
            </a:solidFill>
            <a:prstDash val="solid"/>
          </a:ln>
        </p:spPr>
      </p:sp>
      <p:sp>
        <p:nvSpPr>
          <p:cNvPr id="10" name="Text 7"/>
          <p:cNvSpPr/>
          <p:nvPr/>
        </p:nvSpPr>
        <p:spPr>
          <a:xfrm>
            <a:off x="667512" y="1444752"/>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CONTROLLED BASELINES</a:t>
            </a:r>
            <a:endParaRPr lang="en-US" sz="1300" dirty="0"/>
          </a:p>
        </p:txBody>
      </p:sp>
      <p:sp>
        <p:nvSpPr>
          <p:cNvPr id="11" name="Text 8"/>
          <p:cNvSpPr/>
          <p:nvPr/>
        </p:nvSpPr>
        <p:spPr>
          <a:xfrm>
            <a:off x="667512" y="1737360"/>
            <a:ext cx="3364992" cy="97840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Fixed-time · actuated · cooperative Max-Pressure</a:t>
            </a:r>
            <a:endParaRPr lang="en-US" sz="1350" dirty="0"/>
          </a:p>
          <a:p>
            <a:pPr indent="0" marL="0">
              <a:buNone/>
            </a:pPr>
            <a:r>
              <a:rPr lang="en-US" sz="1350" dirty="0">
                <a:solidFill>
                  <a:srgbClr val="162B3A"/>
                </a:solidFill>
                <a:latin typeface="Aptos" pitchFamily="34" charset="0"/>
                <a:ea typeface="Aptos" pitchFamily="34" charset="-122"/>
                <a:cs typeface="Aptos" pitchFamily="34" charset="-120"/>
              </a:rPr>
              <a:t>Matched scenario hashes and seeds</a:t>
            </a:r>
            <a:endParaRPr lang="en-US" sz="1350" dirty="0"/>
          </a:p>
        </p:txBody>
      </p:sp>
      <p:sp>
        <p:nvSpPr>
          <p:cNvPr id="12" name="Shape 9"/>
          <p:cNvSpPr/>
          <p:nvPr/>
        </p:nvSpPr>
        <p:spPr>
          <a:xfrm>
            <a:off x="4389120" y="1371600"/>
            <a:ext cx="3657600" cy="1417320"/>
          </a:xfrm>
          <a:prstGeom prst="roundRect">
            <a:avLst>
              <a:gd name="adj" fmla="val 5161"/>
            </a:avLst>
          </a:prstGeom>
          <a:solidFill>
            <a:srgbClr val="DDF3EC"/>
          </a:solidFill>
          <a:ln w="10160">
            <a:solidFill>
              <a:srgbClr val="168F8B"/>
            </a:solidFill>
            <a:prstDash val="solid"/>
          </a:ln>
        </p:spPr>
      </p:sp>
      <p:sp>
        <p:nvSpPr>
          <p:cNvPr id="13" name="Shape 10"/>
          <p:cNvSpPr/>
          <p:nvPr/>
        </p:nvSpPr>
        <p:spPr>
          <a:xfrm>
            <a:off x="4389120" y="1371600"/>
            <a:ext cx="73152" cy="1417320"/>
          </a:xfrm>
          <a:prstGeom prst="rect">
            <a:avLst/>
          </a:prstGeom>
          <a:solidFill>
            <a:srgbClr val="168F8B"/>
          </a:solidFill>
          <a:ln w="12700">
            <a:solidFill>
              <a:srgbClr val="168F8B"/>
            </a:solidFill>
            <a:prstDash val="solid"/>
          </a:ln>
        </p:spPr>
      </p:sp>
      <p:sp>
        <p:nvSpPr>
          <p:cNvPr id="14" name="Text 11"/>
          <p:cNvSpPr/>
          <p:nvPr/>
        </p:nvSpPr>
        <p:spPr>
          <a:xfrm>
            <a:off x="4553712" y="1444752"/>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COOPERATION FIXTURES</a:t>
            </a:r>
            <a:endParaRPr lang="en-US" sz="1300" dirty="0"/>
          </a:p>
        </p:txBody>
      </p:sp>
      <p:sp>
        <p:nvSpPr>
          <p:cNvPr id="15" name="Text 12"/>
          <p:cNvSpPr/>
          <p:nvPr/>
        </p:nvSpPr>
        <p:spPr>
          <a:xfrm>
            <a:off x="4553712" y="1737360"/>
            <a:ext cx="3364992" cy="97840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Active crossing vs emergency · two emergencies · blocked downstream · pedestrian deadline · early/late bus</a:t>
            </a:r>
            <a:endParaRPr lang="en-US" sz="1350" dirty="0"/>
          </a:p>
        </p:txBody>
      </p:sp>
      <p:sp>
        <p:nvSpPr>
          <p:cNvPr id="16" name="Shape 13"/>
          <p:cNvSpPr/>
          <p:nvPr/>
        </p:nvSpPr>
        <p:spPr>
          <a:xfrm>
            <a:off x="8275320" y="1371600"/>
            <a:ext cx="3657600" cy="1417320"/>
          </a:xfrm>
          <a:prstGeom prst="roundRect">
            <a:avLst>
              <a:gd name="adj" fmla="val 5161"/>
            </a:avLst>
          </a:prstGeom>
          <a:solidFill>
            <a:srgbClr val="FBE4E4"/>
          </a:solidFill>
          <a:ln w="10160">
            <a:solidFill>
              <a:srgbClr val="B74444"/>
            </a:solidFill>
            <a:prstDash val="solid"/>
          </a:ln>
        </p:spPr>
      </p:sp>
      <p:sp>
        <p:nvSpPr>
          <p:cNvPr id="17" name="Shape 14"/>
          <p:cNvSpPr/>
          <p:nvPr/>
        </p:nvSpPr>
        <p:spPr>
          <a:xfrm>
            <a:off x="8275320" y="1371600"/>
            <a:ext cx="73152" cy="1417320"/>
          </a:xfrm>
          <a:prstGeom prst="rect">
            <a:avLst/>
          </a:prstGeom>
          <a:solidFill>
            <a:srgbClr val="B74444"/>
          </a:solidFill>
          <a:ln w="12700">
            <a:solidFill>
              <a:srgbClr val="B74444"/>
            </a:solidFill>
            <a:prstDash val="solid"/>
          </a:ln>
        </p:spPr>
      </p:sp>
      <p:sp>
        <p:nvSpPr>
          <p:cNvPr id="18" name="Text 15"/>
          <p:cNvSpPr/>
          <p:nvPr/>
        </p:nvSpPr>
        <p:spPr>
          <a:xfrm>
            <a:off x="8439912" y="1444752"/>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FAILURE FIXTURES</a:t>
            </a:r>
            <a:endParaRPr lang="en-US" sz="1300" dirty="0"/>
          </a:p>
        </p:txBody>
      </p:sp>
      <p:sp>
        <p:nvSpPr>
          <p:cNvPr id="19" name="Text 16"/>
          <p:cNvSpPr/>
          <p:nvPr/>
        </p:nvSpPr>
        <p:spPr>
          <a:xfrm>
            <a:off x="8439912" y="1737360"/>
            <a:ext cx="3364992" cy="97840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Absence · loss · delay · duplicate · expiry · malformed · contradiction · silence · controller recovery · Synapse isolation</a:t>
            </a:r>
            <a:endParaRPr lang="en-US" sz="1350" dirty="0"/>
          </a:p>
        </p:txBody>
      </p:sp>
      <p:sp>
        <p:nvSpPr>
          <p:cNvPr id="20" name="Shape 17"/>
          <p:cNvSpPr/>
          <p:nvPr/>
        </p:nvSpPr>
        <p:spPr>
          <a:xfrm>
            <a:off x="594360" y="3154680"/>
            <a:ext cx="10972800" cy="1051560"/>
          </a:xfrm>
          <a:prstGeom prst="roundRect">
            <a:avLst>
              <a:gd name="adj" fmla="val 6957"/>
            </a:avLst>
          </a:prstGeom>
          <a:solidFill>
            <a:srgbClr val="0B2239"/>
          </a:solidFill>
          <a:ln w="10160">
            <a:solidFill>
              <a:srgbClr val="168F8B"/>
            </a:solidFill>
            <a:prstDash val="solid"/>
          </a:ln>
        </p:spPr>
      </p:sp>
      <p:sp>
        <p:nvSpPr>
          <p:cNvPr id="21" name="Shape 18"/>
          <p:cNvSpPr/>
          <p:nvPr/>
        </p:nvSpPr>
        <p:spPr>
          <a:xfrm>
            <a:off x="594360" y="3154680"/>
            <a:ext cx="73152" cy="1051560"/>
          </a:xfrm>
          <a:prstGeom prst="rect">
            <a:avLst/>
          </a:prstGeom>
          <a:solidFill>
            <a:srgbClr val="168F8B"/>
          </a:solidFill>
          <a:ln w="12700">
            <a:solidFill>
              <a:srgbClr val="168F8B"/>
            </a:solidFill>
            <a:prstDash val="solid"/>
          </a:ln>
        </p:spPr>
      </p:sp>
      <p:sp>
        <p:nvSpPr>
          <p:cNvPr id="22" name="Text 19"/>
          <p:cNvSpPr/>
          <p:nvPr/>
        </p:nvSpPr>
        <p:spPr>
          <a:xfrm>
            <a:off x="758952" y="3227832"/>
            <a:ext cx="1068019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Future Tunis showcase</a:t>
            </a:r>
            <a:endParaRPr lang="en-US" sz="1300" dirty="0"/>
          </a:p>
        </p:txBody>
      </p:sp>
      <p:sp>
        <p:nvSpPr>
          <p:cNvPr id="23" name="Text 20"/>
          <p:cNvSpPr/>
          <p:nvPr/>
        </p:nvSpPr>
        <p:spPr>
          <a:xfrm>
            <a:off x="758952" y="3520440"/>
            <a:ext cx="10680192" cy="612648"/>
          </a:xfrm>
          <a:prstGeom prst="rect">
            <a:avLst/>
          </a:prstGeom>
          <a:noFill/>
          <a:ln/>
        </p:spPr>
        <p:txBody>
          <a:bodyPr wrap="square" lIns="762" tIns="762" rIns="762" bIns="762" rtlCol="0" anchor="t">
            <a:normAutofit/>
          </a:bodyPr>
          <a:lstStyle/>
          <a:p>
            <a:pPr indent="0" marL="0">
              <a:buNone/>
            </a:pPr>
            <a:r>
              <a:rPr lang="en-US" sz="1600" dirty="0">
                <a:solidFill>
                  <a:srgbClr val="FFFFFF"/>
                </a:solidFill>
                <a:latin typeface="Aptos" pitchFamily="34" charset="0"/>
                <a:ea typeface="Aptos" pitchFamily="34" charset="-122"/>
                <a:cs typeface="Aptos" pitchFamily="34" charset="-120"/>
              </a:rPr>
              <a:t>OpenStreetMap geometry + official scheduled TRANSTU datasets. Dataset format must be verified. Road demand stays explicitly synthetic or calibrated until an observed source is verified. [C15]</a:t>
            </a:r>
            <a:endParaRPr lang="en-US" sz="1600" dirty="0"/>
          </a:p>
        </p:txBody>
      </p:sp>
      <p:sp>
        <p:nvSpPr>
          <p:cNvPr id="24" name="Shape 21"/>
          <p:cNvSpPr/>
          <p:nvPr/>
        </p:nvSpPr>
        <p:spPr>
          <a:xfrm>
            <a:off x="658368" y="4617720"/>
            <a:ext cx="2542032" cy="1005840"/>
          </a:xfrm>
          <a:prstGeom prst="roundRect">
            <a:avLst>
              <a:gd name="adj" fmla="val 7273"/>
            </a:avLst>
          </a:prstGeom>
          <a:solidFill>
            <a:srgbClr val="FFFFFF"/>
          </a:solidFill>
          <a:ln w="10160">
            <a:solidFill>
              <a:srgbClr val="C8D7E3"/>
            </a:solidFill>
            <a:prstDash val="solid"/>
          </a:ln>
        </p:spPr>
      </p:sp>
      <p:sp>
        <p:nvSpPr>
          <p:cNvPr id="25" name="Text 22"/>
          <p:cNvSpPr/>
          <p:nvPr/>
        </p:nvSpPr>
        <p:spPr>
          <a:xfrm>
            <a:off x="768096" y="4754880"/>
            <a:ext cx="2322576" cy="256032"/>
          </a:xfrm>
          <a:prstGeom prst="rect">
            <a:avLst/>
          </a:prstGeom>
          <a:noFill/>
          <a:ln/>
        </p:spPr>
        <p:txBody>
          <a:bodyPr wrap="square" lIns="762" tIns="762" rIns="762" bIns="762" rtlCol="0" anchor="ctr">
            <a:normAutofit/>
          </a:bodyPr>
          <a:lstStyle/>
          <a:p>
            <a:pPr algn="ctr" indent="0" marL="0">
              <a:buNone/>
            </a:pPr>
            <a:r>
              <a:rPr lang="en-US" sz="1100" b="1" dirty="0">
                <a:solidFill>
                  <a:srgbClr val="176B87"/>
                </a:solidFill>
                <a:latin typeface="Aptos" pitchFamily="34" charset="0"/>
                <a:ea typeface="Aptos" pitchFamily="34" charset="-122"/>
                <a:cs typeface="Aptos" pitchFamily="34" charset="-120"/>
              </a:rPr>
              <a:t>DESIGNED</a:t>
            </a:r>
            <a:endParaRPr lang="en-US" sz="1100" dirty="0"/>
          </a:p>
        </p:txBody>
      </p:sp>
      <p:sp>
        <p:nvSpPr>
          <p:cNvPr id="26" name="Text 23"/>
          <p:cNvSpPr/>
          <p:nvPr/>
        </p:nvSpPr>
        <p:spPr>
          <a:xfrm>
            <a:off x="768096" y="5102352"/>
            <a:ext cx="2322576" cy="256032"/>
          </a:xfrm>
          <a:prstGeom prst="rect">
            <a:avLst/>
          </a:prstGeom>
          <a:noFill/>
          <a:ln/>
        </p:spPr>
        <p:txBody>
          <a:bodyPr wrap="square" lIns="762" tIns="762" rIns="762" bIns="762" rtlCol="0" anchor="ctr">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persona story</a:t>
            </a:r>
            <a:endParaRPr lang="en-US" sz="1250" dirty="0"/>
          </a:p>
        </p:txBody>
      </p:sp>
      <p:sp>
        <p:nvSpPr>
          <p:cNvPr id="27" name="Shape 24"/>
          <p:cNvSpPr/>
          <p:nvPr/>
        </p:nvSpPr>
        <p:spPr>
          <a:xfrm>
            <a:off x="3474720" y="4617720"/>
            <a:ext cx="2542032" cy="1005840"/>
          </a:xfrm>
          <a:prstGeom prst="roundRect">
            <a:avLst>
              <a:gd name="adj" fmla="val 7273"/>
            </a:avLst>
          </a:prstGeom>
          <a:solidFill>
            <a:srgbClr val="FFFFFF"/>
          </a:solidFill>
          <a:ln w="10160">
            <a:solidFill>
              <a:srgbClr val="C8D7E3"/>
            </a:solidFill>
            <a:prstDash val="solid"/>
          </a:ln>
        </p:spPr>
      </p:sp>
      <p:sp>
        <p:nvSpPr>
          <p:cNvPr id="28" name="Text 25"/>
          <p:cNvSpPr/>
          <p:nvPr/>
        </p:nvSpPr>
        <p:spPr>
          <a:xfrm>
            <a:off x="3584448" y="4754880"/>
            <a:ext cx="2322576" cy="256032"/>
          </a:xfrm>
          <a:prstGeom prst="rect">
            <a:avLst/>
          </a:prstGeom>
          <a:noFill/>
          <a:ln/>
        </p:spPr>
        <p:txBody>
          <a:bodyPr wrap="square" lIns="762" tIns="762" rIns="762" bIns="762" rtlCol="0" anchor="ctr">
            <a:normAutofit/>
          </a:bodyPr>
          <a:lstStyle/>
          <a:p>
            <a:pPr algn="ctr" indent="0" marL="0">
              <a:buNone/>
            </a:pPr>
            <a:r>
              <a:rPr lang="en-US" sz="1100" b="1" dirty="0">
                <a:solidFill>
                  <a:srgbClr val="176B87"/>
                </a:solidFill>
                <a:latin typeface="Aptos" pitchFamily="34" charset="0"/>
                <a:ea typeface="Aptos" pitchFamily="34" charset="-122"/>
                <a:cs typeface="Aptos" pitchFamily="34" charset="-120"/>
              </a:rPr>
              <a:t>IMPLEMENTED</a:t>
            </a:r>
            <a:endParaRPr lang="en-US" sz="1100" dirty="0"/>
          </a:p>
        </p:txBody>
      </p:sp>
      <p:sp>
        <p:nvSpPr>
          <p:cNvPr id="29" name="Text 26"/>
          <p:cNvSpPr/>
          <p:nvPr/>
        </p:nvSpPr>
        <p:spPr>
          <a:xfrm>
            <a:off x="3584448" y="5102352"/>
            <a:ext cx="2322576" cy="256032"/>
          </a:xfrm>
          <a:prstGeom prst="rect">
            <a:avLst/>
          </a:prstGeom>
          <a:noFill/>
          <a:ln/>
        </p:spPr>
        <p:txBody>
          <a:bodyPr wrap="square" lIns="762" tIns="762" rIns="762" bIns="762" rtlCol="0" anchor="ctr">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code/fixture exists</a:t>
            </a:r>
            <a:endParaRPr lang="en-US" sz="1250" dirty="0"/>
          </a:p>
        </p:txBody>
      </p:sp>
      <p:sp>
        <p:nvSpPr>
          <p:cNvPr id="30" name="Shape 27"/>
          <p:cNvSpPr/>
          <p:nvPr/>
        </p:nvSpPr>
        <p:spPr>
          <a:xfrm>
            <a:off x="6291072" y="4617720"/>
            <a:ext cx="2542032" cy="1005840"/>
          </a:xfrm>
          <a:prstGeom prst="roundRect">
            <a:avLst>
              <a:gd name="adj" fmla="val 7273"/>
            </a:avLst>
          </a:prstGeom>
          <a:solidFill>
            <a:srgbClr val="FFFFFF"/>
          </a:solidFill>
          <a:ln w="10160">
            <a:solidFill>
              <a:srgbClr val="C8D7E3"/>
            </a:solidFill>
            <a:prstDash val="solid"/>
          </a:ln>
        </p:spPr>
      </p:sp>
      <p:sp>
        <p:nvSpPr>
          <p:cNvPr id="31" name="Text 28"/>
          <p:cNvSpPr/>
          <p:nvPr/>
        </p:nvSpPr>
        <p:spPr>
          <a:xfrm>
            <a:off x="6400800" y="4754880"/>
            <a:ext cx="2322576" cy="256032"/>
          </a:xfrm>
          <a:prstGeom prst="rect">
            <a:avLst/>
          </a:prstGeom>
          <a:noFill/>
          <a:ln/>
        </p:spPr>
        <p:txBody>
          <a:bodyPr wrap="square" lIns="762" tIns="762" rIns="762" bIns="762" rtlCol="0" anchor="ctr">
            <a:normAutofit/>
          </a:bodyPr>
          <a:lstStyle/>
          <a:p>
            <a:pPr algn="ctr" indent="0" marL="0">
              <a:buNone/>
            </a:pPr>
            <a:r>
              <a:rPr lang="en-US" sz="1100" b="1" dirty="0">
                <a:solidFill>
                  <a:srgbClr val="176B87"/>
                </a:solidFill>
                <a:latin typeface="Aptos" pitchFamily="34" charset="0"/>
                <a:ea typeface="Aptos" pitchFamily="34" charset="-122"/>
                <a:cs typeface="Aptos" pitchFamily="34" charset="-120"/>
              </a:rPr>
              <a:t>GATED</a:t>
            </a:r>
            <a:endParaRPr lang="en-US" sz="1100" dirty="0"/>
          </a:p>
        </p:txBody>
      </p:sp>
      <p:sp>
        <p:nvSpPr>
          <p:cNvPr id="32" name="Text 29"/>
          <p:cNvSpPr/>
          <p:nvPr/>
        </p:nvSpPr>
        <p:spPr>
          <a:xfrm>
            <a:off x="6400800" y="5102352"/>
            <a:ext cx="2322576" cy="256032"/>
          </a:xfrm>
          <a:prstGeom prst="rect">
            <a:avLst/>
          </a:prstGeom>
          <a:noFill/>
          <a:ln/>
        </p:spPr>
        <p:txBody>
          <a:bodyPr wrap="square" lIns="762" tIns="762" rIns="762" bIns="762" rtlCol="0" anchor="ctr">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contract tests pass</a:t>
            </a:r>
            <a:endParaRPr lang="en-US" sz="1250" dirty="0"/>
          </a:p>
        </p:txBody>
      </p:sp>
      <p:sp>
        <p:nvSpPr>
          <p:cNvPr id="33" name="Shape 30"/>
          <p:cNvSpPr/>
          <p:nvPr/>
        </p:nvSpPr>
        <p:spPr>
          <a:xfrm>
            <a:off x="9107424" y="4617720"/>
            <a:ext cx="2542032" cy="1005840"/>
          </a:xfrm>
          <a:prstGeom prst="roundRect">
            <a:avLst>
              <a:gd name="adj" fmla="val 7273"/>
            </a:avLst>
          </a:prstGeom>
          <a:solidFill>
            <a:srgbClr val="DDF3EC"/>
          </a:solidFill>
          <a:ln w="10160">
            <a:solidFill>
              <a:srgbClr val="2D936C"/>
            </a:solidFill>
            <a:prstDash val="solid"/>
          </a:ln>
        </p:spPr>
      </p:sp>
      <p:sp>
        <p:nvSpPr>
          <p:cNvPr id="34" name="Text 31"/>
          <p:cNvSpPr/>
          <p:nvPr/>
        </p:nvSpPr>
        <p:spPr>
          <a:xfrm>
            <a:off x="9217152" y="4754880"/>
            <a:ext cx="2322576" cy="256032"/>
          </a:xfrm>
          <a:prstGeom prst="rect">
            <a:avLst/>
          </a:prstGeom>
          <a:noFill/>
          <a:ln/>
        </p:spPr>
        <p:txBody>
          <a:bodyPr wrap="square" lIns="762" tIns="762" rIns="762" bIns="762" rtlCol="0" anchor="ctr">
            <a:normAutofit/>
          </a:bodyPr>
          <a:lstStyle/>
          <a:p>
            <a:pPr algn="ctr" indent="0" marL="0">
              <a:buNone/>
            </a:pPr>
            <a:r>
              <a:rPr lang="en-US" sz="1100" b="1" dirty="0">
                <a:solidFill>
                  <a:srgbClr val="2D936C"/>
                </a:solidFill>
                <a:latin typeface="Aptos" pitchFamily="34" charset="0"/>
                <a:ea typeface="Aptos" pitchFamily="34" charset="-122"/>
                <a:cs typeface="Aptos" pitchFamily="34" charset="-120"/>
              </a:rPr>
              <a:t>VERIFIED</a:t>
            </a:r>
            <a:endParaRPr lang="en-US" sz="1100" dirty="0"/>
          </a:p>
        </p:txBody>
      </p:sp>
      <p:sp>
        <p:nvSpPr>
          <p:cNvPr id="35" name="Text 32"/>
          <p:cNvSpPr/>
          <p:nvPr/>
        </p:nvSpPr>
        <p:spPr>
          <a:xfrm>
            <a:off x="9217152" y="5102352"/>
            <a:ext cx="2322576" cy="256032"/>
          </a:xfrm>
          <a:prstGeom prst="rect">
            <a:avLst/>
          </a:prstGeom>
          <a:noFill/>
          <a:ln/>
        </p:spPr>
        <p:txBody>
          <a:bodyPr wrap="square" lIns="762" tIns="762" rIns="762" bIns="762" rtlCol="0" anchor="ctr">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independent evidence review</a:t>
            </a:r>
            <a:endParaRPr lang="en-US" sz="1250" dirty="0"/>
          </a:p>
        </p:txBody>
      </p:sp>
      <p:sp>
        <p:nvSpPr>
          <p:cNvPr id="36" name="Text 33"/>
          <p:cNvSpPr/>
          <p:nvPr/>
        </p:nvSpPr>
        <p:spPr>
          <a:xfrm>
            <a:off x="640080" y="5870448"/>
            <a:ext cx="10881360" cy="274320"/>
          </a:xfrm>
          <a:prstGeom prst="rect">
            <a:avLst/>
          </a:prstGeom>
          <a:noFill/>
          <a:ln/>
        </p:spPr>
        <p:txBody>
          <a:bodyPr wrap="square" lIns="762" tIns="762" rIns="762" bIns="762" rtlCol="0" anchor="ctr">
            <a:normAutofit/>
          </a:bodyPr>
          <a:lstStyle/>
          <a:p>
            <a:pPr algn="ctr" indent="0" marL="0">
              <a:buNone/>
            </a:pPr>
            <a:r>
              <a:rPr lang="en-US" sz="1300" b="1" dirty="0">
                <a:solidFill>
                  <a:srgbClr val="CF7B1B"/>
                </a:solidFill>
                <a:latin typeface="Aptos" pitchFamily="34" charset="0"/>
                <a:ea typeface="Aptos" pitchFamily="34" charset="-122"/>
                <a:cs typeface="Aptos" pitchFamily="34" charset="-120"/>
              </a:rPr>
              <a:t>Never use these four words as synonyms.</a:t>
            </a:r>
            <a:endParaRPr lang="en-US" sz="13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DATA SCIENCE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Data collection: input → record → metric → claim</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Every conclusion must resolve to an immutable run and its evidence files.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66928" y="1490472"/>
            <a:ext cx="123444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603504" y="150418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INPUTS</a:t>
            </a:r>
            <a:endParaRPr lang="en-US" sz="900" dirty="0"/>
          </a:p>
        </p:txBody>
      </p:sp>
      <p:sp>
        <p:nvSpPr>
          <p:cNvPr id="10" name="Shape 7"/>
          <p:cNvSpPr/>
          <p:nvPr/>
        </p:nvSpPr>
        <p:spPr>
          <a:xfrm>
            <a:off x="1965960" y="1325880"/>
            <a:ext cx="9601200" cy="749808"/>
          </a:xfrm>
          <a:prstGeom prst="roundRect">
            <a:avLst>
              <a:gd name="adj" fmla="val 9756"/>
            </a:avLst>
          </a:prstGeom>
          <a:solidFill>
            <a:srgbClr val="EEF5F8"/>
          </a:solidFill>
          <a:ln w="10160">
            <a:solidFill>
              <a:srgbClr val="C8D7E3"/>
            </a:solidFill>
            <a:prstDash val="solid"/>
          </a:ln>
        </p:spPr>
      </p:sp>
      <p:sp>
        <p:nvSpPr>
          <p:cNvPr id="11" name="Text 8"/>
          <p:cNvSpPr/>
          <p:nvPr/>
        </p:nvSpPr>
        <p:spPr>
          <a:xfrm>
            <a:off x="2194560" y="1453896"/>
            <a:ext cx="9144000" cy="475488"/>
          </a:xfrm>
          <a:prstGeom prst="rect">
            <a:avLst/>
          </a:prstGeom>
          <a:noFill/>
          <a:ln/>
        </p:spPr>
        <p:txBody>
          <a:bodyPr wrap="square" lIns="762" tIns="762" rIns="762" bIns="762" rtlCol="0" anchor="ctr">
            <a:normAutofit/>
          </a:bodyPr>
          <a:lstStyle/>
          <a:p>
            <a:pPr indent="0" marL="0">
              <a:buNone/>
            </a:pPr>
            <a:r>
              <a:rPr lang="en-US" sz="1400" dirty="0">
                <a:solidFill>
                  <a:srgbClr val="162B3A"/>
                </a:solidFill>
                <a:latin typeface="Aptos" pitchFamily="34" charset="0"/>
                <a:ea typeface="Aptos" pitchFamily="34" charset="-122"/>
                <a:cs typeface="Aptos" pitchFamily="34" charset="-120"/>
              </a:rPr>
              <a:t>phase · elapsed time · queues · downstream capacity · route/ETA · crossing state · wait · lateness/headway</a:t>
            </a:r>
            <a:endParaRPr lang="en-US" sz="1400" dirty="0"/>
          </a:p>
        </p:txBody>
      </p:sp>
      <p:sp>
        <p:nvSpPr>
          <p:cNvPr id="12" name="Shape 9"/>
          <p:cNvSpPr/>
          <p:nvPr/>
        </p:nvSpPr>
        <p:spPr>
          <a:xfrm>
            <a:off x="566928" y="2496312"/>
            <a:ext cx="1234440" cy="274320"/>
          </a:xfrm>
          <a:prstGeom prst="roundRect">
            <a:avLst>
              <a:gd name="adj" fmla="val 26667"/>
            </a:avLst>
          </a:prstGeom>
          <a:solidFill>
            <a:srgbClr val="168F8B"/>
          </a:solidFill>
          <a:ln w="12700">
            <a:solidFill>
              <a:srgbClr val="168F8B"/>
            </a:solidFill>
            <a:prstDash val="solid"/>
          </a:ln>
        </p:spPr>
      </p:sp>
      <p:sp>
        <p:nvSpPr>
          <p:cNvPr id="13" name="Text 10"/>
          <p:cNvSpPr/>
          <p:nvPr/>
        </p:nvSpPr>
        <p:spPr>
          <a:xfrm>
            <a:off x="603504" y="251002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RECORDS</a:t>
            </a:r>
            <a:endParaRPr lang="en-US" sz="900" dirty="0"/>
          </a:p>
        </p:txBody>
      </p:sp>
      <p:sp>
        <p:nvSpPr>
          <p:cNvPr id="14" name="Shape 11"/>
          <p:cNvSpPr/>
          <p:nvPr/>
        </p:nvSpPr>
        <p:spPr>
          <a:xfrm>
            <a:off x="1965960" y="2331720"/>
            <a:ext cx="9601200" cy="749808"/>
          </a:xfrm>
          <a:prstGeom prst="roundRect">
            <a:avLst>
              <a:gd name="adj" fmla="val 9756"/>
            </a:avLst>
          </a:prstGeom>
          <a:solidFill>
            <a:srgbClr val="FFFFFF"/>
          </a:solidFill>
          <a:ln w="10160">
            <a:solidFill>
              <a:srgbClr val="C8D7E3"/>
            </a:solidFill>
            <a:prstDash val="solid"/>
          </a:ln>
        </p:spPr>
      </p:sp>
      <p:sp>
        <p:nvSpPr>
          <p:cNvPr id="15" name="Text 12"/>
          <p:cNvSpPr/>
          <p:nvPr/>
        </p:nvSpPr>
        <p:spPr>
          <a:xfrm>
            <a:off x="2194560" y="2459736"/>
            <a:ext cx="9144000" cy="475488"/>
          </a:xfrm>
          <a:prstGeom prst="rect">
            <a:avLst/>
          </a:prstGeom>
          <a:noFill/>
          <a:ln/>
        </p:spPr>
        <p:txBody>
          <a:bodyPr wrap="square" lIns="762" tIns="762" rIns="762" bIns="762" rtlCol="0" anchor="ctr">
            <a:normAutofit/>
          </a:bodyPr>
          <a:lstStyle/>
          <a:p>
            <a:pPr indent="0" marL="0">
              <a:buNone/>
            </a:pPr>
            <a:r>
              <a:rPr lang="en-US" sz="1400" dirty="0">
                <a:solidFill>
                  <a:srgbClr val="162B3A"/>
                </a:solidFill>
                <a:latin typeface="Aptos" pitchFamily="34" charset="0"/>
                <a:ea typeface="Aptos" pitchFamily="34" charset="-122"/>
                <a:cs typeface="Aptos" pitchFamily="34" charset="-120"/>
              </a:rPr>
              <a:t>run manifest · state · messages · decisions · trips · faults · transitions · KPIs</a:t>
            </a:r>
            <a:endParaRPr lang="en-US" sz="1400" dirty="0"/>
          </a:p>
        </p:txBody>
      </p:sp>
      <p:sp>
        <p:nvSpPr>
          <p:cNvPr id="16" name="Shape 13"/>
          <p:cNvSpPr/>
          <p:nvPr/>
        </p:nvSpPr>
        <p:spPr>
          <a:xfrm>
            <a:off x="566928" y="3502152"/>
            <a:ext cx="1234440" cy="274320"/>
          </a:xfrm>
          <a:prstGeom prst="roundRect">
            <a:avLst>
              <a:gd name="adj" fmla="val 26667"/>
            </a:avLst>
          </a:prstGeom>
          <a:solidFill>
            <a:srgbClr val="168F8B"/>
          </a:solidFill>
          <a:ln w="12700">
            <a:solidFill>
              <a:srgbClr val="168F8B"/>
            </a:solidFill>
            <a:prstDash val="solid"/>
          </a:ln>
        </p:spPr>
      </p:sp>
      <p:sp>
        <p:nvSpPr>
          <p:cNvPr id="17" name="Text 14"/>
          <p:cNvSpPr/>
          <p:nvPr/>
        </p:nvSpPr>
        <p:spPr>
          <a:xfrm>
            <a:off x="603504" y="351586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METRICS</a:t>
            </a:r>
            <a:endParaRPr lang="en-US" sz="900" dirty="0"/>
          </a:p>
        </p:txBody>
      </p:sp>
      <p:sp>
        <p:nvSpPr>
          <p:cNvPr id="18" name="Shape 15"/>
          <p:cNvSpPr/>
          <p:nvPr/>
        </p:nvSpPr>
        <p:spPr>
          <a:xfrm>
            <a:off x="1965960" y="3337560"/>
            <a:ext cx="9601200" cy="749808"/>
          </a:xfrm>
          <a:prstGeom prst="roundRect">
            <a:avLst>
              <a:gd name="adj" fmla="val 9756"/>
            </a:avLst>
          </a:prstGeom>
          <a:solidFill>
            <a:srgbClr val="EEF5F8"/>
          </a:solidFill>
          <a:ln w="10160">
            <a:solidFill>
              <a:srgbClr val="C8D7E3"/>
            </a:solidFill>
            <a:prstDash val="solid"/>
          </a:ln>
        </p:spPr>
      </p:sp>
      <p:sp>
        <p:nvSpPr>
          <p:cNvPr id="19" name="Text 16"/>
          <p:cNvSpPr/>
          <p:nvPr/>
        </p:nvSpPr>
        <p:spPr>
          <a:xfrm>
            <a:off x="2194560" y="3465576"/>
            <a:ext cx="9144000" cy="475488"/>
          </a:xfrm>
          <a:prstGeom prst="rect">
            <a:avLst/>
          </a:prstGeom>
          <a:noFill/>
          <a:ln/>
        </p:spPr>
        <p:txBody>
          <a:bodyPr wrap="square" lIns="762" tIns="762" rIns="762" bIns="762" rtlCol="0" anchor="ctr">
            <a:normAutofit/>
          </a:bodyPr>
          <a:lstStyle/>
          <a:p>
            <a:pPr indent="0" marL="0">
              <a:buNone/>
            </a:pPr>
            <a:r>
              <a:rPr lang="en-US" sz="1400" dirty="0">
                <a:solidFill>
                  <a:srgbClr val="162B3A"/>
                </a:solidFill>
                <a:latin typeface="Aptos" pitchFamily="34" charset="0"/>
                <a:ea typeface="Aptos" pitchFamily="34" charset="-122"/>
                <a:cs typeface="Aptos" pitchFamily="34" charset="-120"/>
              </a:rPr>
              <a:t>safety · completion · mean/P95/max tails · emergency + civilian effects · pedestrian wait · transit regularity · robustness</a:t>
            </a:r>
            <a:endParaRPr lang="en-US" sz="1400" dirty="0"/>
          </a:p>
        </p:txBody>
      </p:sp>
      <p:sp>
        <p:nvSpPr>
          <p:cNvPr id="20" name="Shape 17"/>
          <p:cNvSpPr/>
          <p:nvPr/>
        </p:nvSpPr>
        <p:spPr>
          <a:xfrm>
            <a:off x="566928" y="4507992"/>
            <a:ext cx="1234440" cy="274320"/>
          </a:xfrm>
          <a:prstGeom prst="roundRect">
            <a:avLst>
              <a:gd name="adj" fmla="val 26667"/>
            </a:avLst>
          </a:prstGeom>
          <a:solidFill>
            <a:srgbClr val="CF7B1B"/>
          </a:solidFill>
          <a:ln w="12700">
            <a:solidFill>
              <a:srgbClr val="CF7B1B"/>
            </a:solidFill>
            <a:prstDash val="solid"/>
          </a:ln>
        </p:spPr>
      </p:sp>
      <p:sp>
        <p:nvSpPr>
          <p:cNvPr id="21" name="Text 18"/>
          <p:cNvSpPr/>
          <p:nvPr/>
        </p:nvSpPr>
        <p:spPr>
          <a:xfrm>
            <a:off x="603504" y="452170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CLAIMS</a:t>
            </a:r>
            <a:endParaRPr lang="en-US" sz="900" dirty="0"/>
          </a:p>
        </p:txBody>
      </p:sp>
      <p:sp>
        <p:nvSpPr>
          <p:cNvPr id="22" name="Shape 19"/>
          <p:cNvSpPr/>
          <p:nvPr/>
        </p:nvSpPr>
        <p:spPr>
          <a:xfrm>
            <a:off x="1965960" y="4343400"/>
            <a:ext cx="9601200" cy="749808"/>
          </a:xfrm>
          <a:prstGeom prst="roundRect">
            <a:avLst>
              <a:gd name="adj" fmla="val 9756"/>
            </a:avLst>
          </a:prstGeom>
          <a:solidFill>
            <a:srgbClr val="FFFFFF"/>
          </a:solidFill>
          <a:ln w="10160">
            <a:solidFill>
              <a:srgbClr val="C8D7E3"/>
            </a:solidFill>
            <a:prstDash val="solid"/>
          </a:ln>
        </p:spPr>
      </p:sp>
      <p:sp>
        <p:nvSpPr>
          <p:cNvPr id="23" name="Text 20"/>
          <p:cNvSpPr/>
          <p:nvPr/>
        </p:nvSpPr>
        <p:spPr>
          <a:xfrm>
            <a:off x="2194560" y="4471416"/>
            <a:ext cx="9144000" cy="475488"/>
          </a:xfrm>
          <a:prstGeom prst="rect">
            <a:avLst/>
          </a:prstGeom>
          <a:noFill/>
          <a:ln/>
        </p:spPr>
        <p:txBody>
          <a:bodyPr wrap="square" lIns="762" tIns="762" rIns="762" bIns="762" rtlCol="0" anchor="ctr">
            <a:normAutofit/>
          </a:bodyPr>
          <a:lstStyle/>
          <a:p>
            <a:pPr indent="0" marL="0">
              <a:buNone/>
            </a:pPr>
            <a:r>
              <a:rPr lang="en-US" sz="1400" dirty="0">
                <a:solidFill>
                  <a:srgbClr val="162B3A"/>
                </a:solidFill>
                <a:latin typeface="Aptos" pitchFamily="34" charset="0"/>
                <a:ea typeface="Aptos" pitchFamily="34" charset="-122"/>
                <a:cs typeface="Aptos" pitchFamily="34" charset="-120"/>
              </a:rPr>
              <a:t>requirement · directional · exploratory · null/negative retained · unavailable is not imputed</a:t>
            </a:r>
            <a:endParaRPr lang="en-US" sz="1400" dirty="0"/>
          </a:p>
        </p:txBody>
      </p:sp>
      <p:sp>
        <p:nvSpPr>
          <p:cNvPr id="24" name="Shape 21"/>
          <p:cNvSpPr/>
          <p:nvPr/>
        </p:nvSpPr>
        <p:spPr>
          <a:xfrm>
            <a:off x="685800" y="5440680"/>
            <a:ext cx="10817352" cy="658368"/>
          </a:xfrm>
          <a:prstGeom prst="roundRect">
            <a:avLst>
              <a:gd name="adj" fmla="val 11111"/>
            </a:avLst>
          </a:prstGeom>
          <a:solidFill>
            <a:srgbClr val="0B2239"/>
          </a:solidFill>
          <a:ln w="10160">
            <a:solidFill>
              <a:srgbClr val="0B2239"/>
            </a:solidFill>
            <a:prstDash val="solid"/>
          </a:ln>
        </p:spPr>
      </p:sp>
      <p:sp>
        <p:nvSpPr>
          <p:cNvPr id="25" name="Text 22"/>
          <p:cNvSpPr/>
          <p:nvPr/>
        </p:nvSpPr>
        <p:spPr>
          <a:xfrm>
            <a:off x="868680" y="5559552"/>
            <a:ext cx="10451592" cy="365760"/>
          </a:xfrm>
          <a:prstGeom prst="rect">
            <a:avLst/>
          </a:prstGeom>
          <a:noFill/>
          <a:ln/>
        </p:spPr>
        <p:txBody>
          <a:bodyPr wrap="square" lIns="762" tIns="762" rIns="762" bIns="762" rtlCol="0" anchor="ctr">
            <a:normAutofit/>
          </a:bodyPr>
          <a:lstStyle/>
          <a:p>
            <a:pPr algn="ctr" indent="0" marL="0">
              <a:buNone/>
            </a:pPr>
            <a:r>
              <a:rPr lang="en-US" sz="1900" b="1" dirty="0">
                <a:solidFill>
                  <a:srgbClr val="FFFFFF"/>
                </a:solidFill>
                <a:latin typeface="Aptos" pitchFamily="34" charset="0"/>
                <a:ea typeface="Aptos" pitchFamily="34" charset="-122"/>
                <a:cs typeface="Aptos" pitchFamily="34" charset="-120"/>
              </a:rPr>
              <a:t>JOIN SPINE  ·  run_id  +  scenario_hash  +  event_id  +  message_id</a:t>
            </a:r>
            <a:endParaRPr lang="en-US" sz="1900" dirty="0"/>
          </a:p>
        </p:txBody>
      </p:sp>
      <p:sp>
        <p:nvSpPr>
          <p:cNvPr id="26" name="Text 23"/>
          <p:cNvSpPr/>
          <p:nvPr/>
        </p:nvSpPr>
        <p:spPr>
          <a:xfrm>
            <a:off x="685800" y="6181344"/>
            <a:ext cx="10817352" cy="219456"/>
          </a:xfrm>
          <a:prstGeom prst="rect">
            <a:avLst/>
          </a:prstGeom>
          <a:noFill/>
          <a:ln/>
        </p:spPr>
        <p:txBody>
          <a:bodyPr wrap="square" lIns="762" tIns="762" rIns="762" bIns="762" rtlCol="0" anchor="ctr">
            <a:normAutofit/>
          </a:bodyPr>
          <a:lstStyle/>
          <a:p>
            <a:pPr algn="ctr" indent="0" marL="0">
              <a:buNone/>
            </a:pPr>
            <a:r>
              <a:rPr lang="en-US" sz="1150" dirty="0">
                <a:solidFill>
                  <a:srgbClr val="B74444"/>
                </a:solidFill>
                <a:latin typeface="Aptos" pitchFamily="34" charset="0"/>
                <a:ea typeface="Aptos" pitchFamily="34" charset="-122"/>
                <a:cs typeface="Aptos" pitchFamily="34" charset="-120"/>
              </a:rPr>
              <a:t>Sustainability remains a modelled emission-proxy category; no residential-link ambient observations exist yet.</a:t>
            </a:r>
            <a:endParaRPr lang="en-US" sz="11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STATUS</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Current evidence status and honest limits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 presentation distinguishes verified invariants from unverified performance claims.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371600"/>
            <a:ext cx="5394960" cy="3337560"/>
          </a:xfrm>
          <a:prstGeom prst="roundRect">
            <a:avLst>
              <a:gd name="adj" fmla="val 2192"/>
            </a:avLst>
          </a:prstGeom>
          <a:solidFill>
            <a:srgbClr val="DDF3EC"/>
          </a:solidFill>
          <a:ln w="10160">
            <a:solidFill>
              <a:srgbClr val="2D936C"/>
            </a:solidFill>
            <a:prstDash val="solid"/>
          </a:ln>
        </p:spPr>
      </p:sp>
      <p:sp>
        <p:nvSpPr>
          <p:cNvPr id="9" name="Shape 6"/>
          <p:cNvSpPr/>
          <p:nvPr/>
        </p:nvSpPr>
        <p:spPr>
          <a:xfrm>
            <a:off x="594360" y="1371600"/>
            <a:ext cx="73152" cy="3337560"/>
          </a:xfrm>
          <a:prstGeom prst="rect">
            <a:avLst/>
          </a:prstGeom>
          <a:solidFill>
            <a:srgbClr val="2D936C"/>
          </a:solidFill>
          <a:ln w="12700">
            <a:solidFill>
              <a:srgbClr val="2D936C"/>
            </a:solidFill>
            <a:prstDash val="solid"/>
          </a:ln>
        </p:spPr>
      </p:sp>
      <p:sp>
        <p:nvSpPr>
          <p:cNvPr id="10" name="Text 7"/>
          <p:cNvSpPr/>
          <p:nvPr/>
        </p:nvSpPr>
        <p:spPr>
          <a:xfrm>
            <a:off x="758952" y="144475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VERIFIED NOW</a:t>
            </a:r>
            <a:endParaRPr lang="en-US" sz="1300" dirty="0"/>
          </a:p>
        </p:txBody>
      </p:sp>
      <p:sp>
        <p:nvSpPr>
          <p:cNvPr id="11" name="Text 8"/>
          <p:cNvSpPr/>
          <p:nvPr/>
        </p:nvSpPr>
        <p:spPr>
          <a:xfrm>
            <a:off x="758952" y="1737360"/>
            <a:ext cx="5102352" cy="2898648"/>
          </a:xfrm>
          <a:prstGeom prst="rect">
            <a:avLst/>
          </a:prstGeom>
          <a:noFill/>
          <a:ln/>
        </p:spPr>
        <p:txBody>
          <a:bodyPr wrap="square" lIns="762" tIns="762" rIns="762" bIns="762" rtlCol="0" anchor="t">
            <a:normAutofit/>
          </a:bodyPr>
          <a:lstStyle/>
          <a:p>
            <a:pPr indent="0" marL="0">
              <a:buNone/>
            </a:pPr>
            <a:r>
              <a:rPr lang="en-US" sz="1420" dirty="0">
                <a:solidFill>
                  <a:srgbClr val="162B3A"/>
                </a:solidFill>
                <a:latin typeface="Aptos" pitchFamily="34" charset="0"/>
                <a:ea typeface="Aptos" pitchFamily="34" charset="-122"/>
                <a:cs typeface="Aptos" pitchFamily="34" charset="-120"/>
              </a:rPr>
              <a:t>Rows 07 and 08 are verified.</a:t>
            </a:r>
            <a:endParaRPr lang="en-US" sz="1420" dirty="0"/>
          </a:p>
          <a:p>
            <a:pPr indent="0" marL="0">
              <a:buNone/>
            </a:pP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7 specialist requests → one decision + one reply each</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0 specialist signal writes; 0 clearance truncations</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8 fault classes → 8 legal local decisions</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Synapse states → identical action hashes</a:t>
            </a:r>
            <a:endParaRPr lang="en-US" sz="1420" dirty="0"/>
          </a:p>
          <a:p>
            <a:pPr indent="0" marL="0">
              <a:buNone/>
            </a:pP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[C17]</a:t>
            </a:r>
            <a:endParaRPr lang="en-US" sz="1420" dirty="0"/>
          </a:p>
        </p:txBody>
      </p:sp>
      <p:sp>
        <p:nvSpPr>
          <p:cNvPr id="12" name="Shape 9"/>
          <p:cNvSpPr/>
          <p:nvPr/>
        </p:nvSpPr>
        <p:spPr>
          <a:xfrm>
            <a:off x="6217920" y="1371600"/>
            <a:ext cx="5394960" cy="3337560"/>
          </a:xfrm>
          <a:prstGeom prst="roundRect">
            <a:avLst>
              <a:gd name="adj" fmla="val 2192"/>
            </a:avLst>
          </a:prstGeom>
          <a:solidFill>
            <a:srgbClr val="FFF0D8"/>
          </a:solidFill>
          <a:ln w="10160">
            <a:solidFill>
              <a:srgbClr val="CF7B1B"/>
            </a:solidFill>
            <a:prstDash val="solid"/>
          </a:ln>
        </p:spPr>
      </p:sp>
      <p:sp>
        <p:nvSpPr>
          <p:cNvPr id="13" name="Shape 10"/>
          <p:cNvSpPr/>
          <p:nvPr/>
        </p:nvSpPr>
        <p:spPr>
          <a:xfrm>
            <a:off x="6217920" y="1371600"/>
            <a:ext cx="73152" cy="3337560"/>
          </a:xfrm>
          <a:prstGeom prst="rect">
            <a:avLst/>
          </a:prstGeom>
          <a:solidFill>
            <a:srgbClr val="CF7B1B"/>
          </a:solidFill>
          <a:ln w="12700">
            <a:solidFill>
              <a:srgbClr val="CF7B1B"/>
            </a:solidFill>
            <a:prstDash val="solid"/>
          </a:ln>
        </p:spPr>
      </p:sp>
      <p:sp>
        <p:nvSpPr>
          <p:cNvPr id="14" name="Text 11"/>
          <p:cNvSpPr/>
          <p:nvPr/>
        </p:nvSpPr>
        <p:spPr>
          <a:xfrm>
            <a:off x="6382512" y="144475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NOT ESTABLISHED YET</a:t>
            </a:r>
            <a:endParaRPr lang="en-US" sz="1300" dirty="0"/>
          </a:p>
        </p:txBody>
      </p:sp>
      <p:sp>
        <p:nvSpPr>
          <p:cNvPr id="15" name="Text 12"/>
          <p:cNvSpPr/>
          <p:nvPr/>
        </p:nvSpPr>
        <p:spPr>
          <a:xfrm>
            <a:off x="6382512" y="1737360"/>
            <a:ext cx="5102352" cy="2898648"/>
          </a:xfrm>
          <a:prstGeom prst="rect">
            <a:avLst/>
          </a:prstGeom>
          <a:noFill/>
          <a:ln/>
        </p:spPr>
        <p:txBody>
          <a:bodyPr wrap="square" lIns="762" tIns="762" rIns="762" bIns="762" rtlCol="0" anchor="t">
            <a:normAutofit/>
          </a:bodyPr>
          <a:lstStyle/>
          <a:p>
            <a:pPr indent="0" marL="0">
              <a:buNone/>
            </a:pPr>
            <a:r>
              <a:rPr lang="en-US" sz="1420" dirty="0">
                <a:solidFill>
                  <a:srgbClr val="162B3A"/>
                </a:solidFill>
                <a:latin typeface="Aptos" pitchFamily="34" charset="0"/>
                <a:ea typeface="Aptos" pitchFamily="34" charset="-122"/>
                <a:cs typeface="Aptos" pitchFamily="34" charset="-120"/>
              </a:rPr>
              <a:t>• Row 09 is not verified</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Cooperative Max-Pressure traffic KPI superiority</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A4/A5 on/off value</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Residential-link sustainability outcomes</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Tunis network performance</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Multi-seed confidence intervals</a:t>
            </a:r>
            <a:endParaRPr lang="en-US" sz="1420" dirty="0"/>
          </a:p>
        </p:txBody>
      </p:sp>
      <p:sp>
        <p:nvSpPr>
          <p:cNvPr id="16" name="Shape 13"/>
          <p:cNvSpPr/>
          <p:nvPr/>
        </p:nvSpPr>
        <p:spPr>
          <a:xfrm>
            <a:off x="594360" y="4983480"/>
            <a:ext cx="11018520" cy="804672"/>
          </a:xfrm>
          <a:prstGeom prst="roundRect">
            <a:avLst>
              <a:gd name="adj" fmla="val 9091"/>
            </a:avLst>
          </a:prstGeom>
          <a:solidFill>
            <a:srgbClr val="FFFFFF"/>
          </a:solidFill>
          <a:ln w="10160">
            <a:solidFill>
              <a:srgbClr val="B74444"/>
            </a:solidFill>
            <a:prstDash val="solid"/>
          </a:ln>
        </p:spPr>
      </p:sp>
      <p:sp>
        <p:nvSpPr>
          <p:cNvPr id="17" name="Shape 14"/>
          <p:cNvSpPr/>
          <p:nvPr/>
        </p:nvSpPr>
        <p:spPr>
          <a:xfrm>
            <a:off x="594360" y="4983480"/>
            <a:ext cx="73152" cy="804672"/>
          </a:xfrm>
          <a:prstGeom prst="rect">
            <a:avLst/>
          </a:prstGeom>
          <a:solidFill>
            <a:srgbClr val="B74444"/>
          </a:solidFill>
          <a:ln w="12700">
            <a:solidFill>
              <a:srgbClr val="B74444"/>
            </a:solidFill>
            <a:prstDash val="solid"/>
          </a:ln>
        </p:spPr>
      </p:sp>
      <p:sp>
        <p:nvSpPr>
          <p:cNvPr id="18" name="Text 15"/>
          <p:cNvSpPr/>
          <p:nvPr/>
        </p:nvSpPr>
        <p:spPr>
          <a:xfrm>
            <a:off x="758952" y="5056632"/>
            <a:ext cx="1072591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Known platform boundary</a:t>
            </a:r>
            <a:endParaRPr lang="en-US" sz="1300" dirty="0"/>
          </a:p>
        </p:txBody>
      </p:sp>
      <p:sp>
        <p:nvSpPr>
          <p:cNvPr id="19" name="Text 16"/>
          <p:cNvSpPr/>
          <p:nvPr/>
        </p:nvSpPr>
        <p:spPr>
          <a:xfrm>
            <a:off x="758952" y="5349240"/>
            <a:ext cx="10725912" cy="365760"/>
          </a:xfrm>
          <a:prstGeom prst="rect">
            <a:avLst/>
          </a:prstGeom>
          <a:noFill/>
          <a:ln/>
        </p:spPr>
        <p:txBody>
          <a:bodyPr wrap="square" lIns="762" tIns="762" rIns="762" bIns="762" rtlCol="0" anchor="t">
            <a:normAutofit/>
          </a:bodyPr>
          <a:lstStyle/>
          <a:p>
            <a:pPr indent="0" marL="0">
              <a:buNone/>
            </a:pPr>
            <a:r>
              <a:rPr lang="en-US" sz="1450" dirty="0">
                <a:solidFill>
                  <a:srgbClr val="162B3A"/>
                </a:solidFill>
                <a:latin typeface="Aptos" pitchFamily="34" charset="0"/>
                <a:ea typeface="Aptos" pitchFamily="34" charset="-122"/>
                <a:cs typeface="Aptos" pitchFamily="34" charset="-120"/>
              </a:rPr>
              <a:t>Native Windows TraCI works. libsumo remains blocked by Windows application control; no libsumo throughput number is claimed.</a:t>
            </a:r>
            <a:endParaRPr lang="en-US" sz="1450" dirty="0"/>
          </a:p>
        </p:txBody>
      </p:sp>
      <p:sp>
        <p:nvSpPr>
          <p:cNvPr id="20" name="Text 17"/>
          <p:cNvSpPr/>
          <p:nvPr/>
        </p:nvSpPr>
        <p:spPr>
          <a:xfrm>
            <a:off x="731520" y="5989320"/>
            <a:ext cx="10744200" cy="274320"/>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Deterministic acceptance fixtures ≠ network-scale deployment estimates.</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SOURCES</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Resources: where the presentation comes from</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Full URLs and safe wording are stored in presentation-claim-ledger.json.</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48640" y="1463040"/>
            <a:ext cx="201168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585216" y="147675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COURSE + METHOD</a:t>
            </a:r>
            <a:endParaRPr lang="en-US" sz="900" dirty="0"/>
          </a:p>
        </p:txBody>
      </p:sp>
      <p:sp>
        <p:nvSpPr>
          <p:cNvPr id="10" name="Shape 7"/>
          <p:cNvSpPr/>
          <p:nvPr/>
        </p:nvSpPr>
        <p:spPr>
          <a:xfrm>
            <a:off x="2743200" y="1298448"/>
            <a:ext cx="7818120" cy="713232"/>
          </a:xfrm>
          <a:prstGeom prst="roundRect">
            <a:avLst>
              <a:gd name="adj" fmla="val 10256"/>
            </a:avLst>
          </a:prstGeom>
          <a:solidFill>
            <a:srgbClr val="EEF5F8"/>
          </a:solidFill>
          <a:ln w="10160">
            <a:solidFill>
              <a:srgbClr val="C8D7E3"/>
            </a:solidFill>
            <a:prstDash val="solid"/>
          </a:ln>
        </p:spPr>
      </p:sp>
      <p:sp>
        <p:nvSpPr>
          <p:cNvPr id="11" name="Text 8"/>
          <p:cNvSpPr/>
          <p:nvPr/>
        </p:nvSpPr>
        <p:spPr>
          <a:xfrm>
            <a:off x="2926080" y="140817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SUMO_forStudents.docx · course transcription · Design Thinking record</a:t>
            </a:r>
            <a:endParaRPr lang="en-US" sz="1350" dirty="0"/>
          </a:p>
        </p:txBody>
      </p:sp>
      <p:sp>
        <p:nvSpPr>
          <p:cNvPr id="12" name="Text 9"/>
          <p:cNvSpPr/>
          <p:nvPr/>
        </p:nvSpPr>
        <p:spPr>
          <a:xfrm>
            <a:off x="10698480" y="143560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[C01][C02]</a:t>
            </a:r>
            <a:endParaRPr lang="en-US" sz="1150" dirty="0"/>
          </a:p>
        </p:txBody>
      </p:sp>
      <p:sp>
        <p:nvSpPr>
          <p:cNvPr id="13" name="Shape 10"/>
          <p:cNvSpPr/>
          <p:nvPr/>
        </p:nvSpPr>
        <p:spPr>
          <a:xfrm>
            <a:off x="548640" y="2331720"/>
            <a:ext cx="2011680" cy="274320"/>
          </a:xfrm>
          <a:prstGeom prst="roundRect">
            <a:avLst>
              <a:gd name="adj" fmla="val 26667"/>
            </a:avLst>
          </a:prstGeom>
          <a:solidFill>
            <a:srgbClr val="168F8B"/>
          </a:solidFill>
          <a:ln w="12700">
            <a:solidFill>
              <a:srgbClr val="168F8B"/>
            </a:solidFill>
            <a:prstDash val="solid"/>
          </a:ln>
        </p:spPr>
      </p:sp>
      <p:sp>
        <p:nvSpPr>
          <p:cNvPr id="14" name="Text 11"/>
          <p:cNvSpPr/>
          <p:nvPr/>
        </p:nvSpPr>
        <p:spPr>
          <a:xfrm>
            <a:off x="585216" y="234543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PEOPLE + OPERATIONS</a:t>
            </a:r>
            <a:endParaRPr lang="en-US" sz="900" dirty="0"/>
          </a:p>
        </p:txBody>
      </p:sp>
      <p:sp>
        <p:nvSpPr>
          <p:cNvPr id="15" name="Shape 12"/>
          <p:cNvSpPr/>
          <p:nvPr/>
        </p:nvSpPr>
        <p:spPr>
          <a:xfrm>
            <a:off x="2743200" y="2167128"/>
            <a:ext cx="7818120" cy="713232"/>
          </a:xfrm>
          <a:prstGeom prst="roundRect">
            <a:avLst>
              <a:gd name="adj" fmla="val 10256"/>
            </a:avLst>
          </a:prstGeom>
          <a:solidFill>
            <a:srgbClr val="FFFFFF"/>
          </a:solidFill>
          <a:ln w="10160">
            <a:solidFill>
              <a:srgbClr val="C8D7E3"/>
            </a:solidFill>
            <a:prstDash val="solid"/>
          </a:ln>
        </p:spPr>
      </p:sp>
      <p:sp>
        <p:nvSpPr>
          <p:cNvPr id="16" name="Text 13"/>
          <p:cNvSpPr/>
          <p:nvPr/>
        </p:nvSpPr>
        <p:spPr>
          <a:xfrm>
            <a:off x="2926080" y="227685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Vallyon · MUTCD · DfT TAG · PLOS ONE · Nelson/Bullock · SCATS · Kingsley · FHWA</a:t>
            </a:r>
            <a:endParaRPr lang="en-US" sz="1350" dirty="0"/>
          </a:p>
        </p:txBody>
      </p:sp>
      <p:sp>
        <p:nvSpPr>
          <p:cNvPr id="17" name="Text 14"/>
          <p:cNvSpPr/>
          <p:nvPr/>
        </p:nvSpPr>
        <p:spPr>
          <a:xfrm>
            <a:off x="10698480" y="230428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[C03]–[C10]</a:t>
            </a:r>
            <a:endParaRPr lang="en-US" sz="1150" dirty="0"/>
          </a:p>
        </p:txBody>
      </p:sp>
      <p:sp>
        <p:nvSpPr>
          <p:cNvPr id="18" name="Shape 15"/>
          <p:cNvSpPr/>
          <p:nvPr/>
        </p:nvSpPr>
        <p:spPr>
          <a:xfrm>
            <a:off x="548640" y="3200400"/>
            <a:ext cx="2011680" cy="274320"/>
          </a:xfrm>
          <a:prstGeom prst="roundRect">
            <a:avLst>
              <a:gd name="adj" fmla="val 26667"/>
            </a:avLst>
          </a:prstGeom>
          <a:solidFill>
            <a:srgbClr val="168F8B"/>
          </a:solidFill>
          <a:ln w="12700">
            <a:solidFill>
              <a:srgbClr val="168F8B"/>
            </a:solidFill>
            <a:prstDash val="solid"/>
          </a:ln>
        </p:spPr>
      </p:sp>
      <p:sp>
        <p:nvSpPr>
          <p:cNvPr id="19" name="Text 16"/>
          <p:cNvSpPr/>
          <p:nvPr/>
        </p:nvSpPr>
        <p:spPr>
          <a:xfrm>
            <a:off x="585216" y="321411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TRAFFIC RESEARCH</a:t>
            </a:r>
            <a:endParaRPr lang="en-US" sz="900" dirty="0"/>
          </a:p>
        </p:txBody>
      </p:sp>
      <p:sp>
        <p:nvSpPr>
          <p:cNvPr id="20" name="Shape 17"/>
          <p:cNvSpPr/>
          <p:nvPr/>
        </p:nvSpPr>
        <p:spPr>
          <a:xfrm>
            <a:off x="2743200" y="3035808"/>
            <a:ext cx="7818120" cy="713232"/>
          </a:xfrm>
          <a:prstGeom prst="roundRect">
            <a:avLst>
              <a:gd name="adj" fmla="val 10256"/>
            </a:avLst>
          </a:prstGeom>
          <a:solidFill>
            <a:srgbClr val="EEF5F8"/>
          </a:solidFill>
          <a:ln w="10160">
            <a:solidFill>
              <a:srgbClr val="C8D7E3"/>
            </a:solidFill>
            <a:prstDash val="solid"/>
          </a:ln>
        </p:spPr>
      </p:sp>
      <p:sp>
        <p:nvSpPr>
          <p:cNvPr id="21" name="Text 18"/>
          <p:cNvSpPr/>
          <p:nvPr/>
        </p:nvSpPr>
        <p:spPr>
          <a:xfrm>
            <a:off x="2926080" y="314553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RESCO · T-REX · CoLLMLight · Finkelberg · official Eclipse SUMO documentation</a:t>
            </a:r>
            <a:endParaRPr lang="en-US" sz="1350" dirty="0"/>
          </a:p>
        </p:txBody>
      </p:sp>
      <p:sp>
        <p:nvSpPr>
          <p:cNvPr id="22" name="Text 19"/>
          <p:cNvSpPr/>
          <p:nvPr/>
        </p:nvSpPr>
        <p:spPr>
          <a:xfrm>
            <a:off x="10698480" y="317296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[C11]–[C14]</a:t>
            </a:r>
            <a:endParaRPr lang="en-US" sz="1150" dirty="0"/>
          </a:p>
        </p:txBody>
      </p:sp>
      <p:sp>
        <p:nvSpPr>
          <p:cNvPr id="23" name="Shape 20"/>
          <p:cNvSpPr/>
          <p:nvPr/>
        </p:nvSpPr>
        <p:spPr>
          <a:xfrm>
            <a:off x="548640" y="4069080"/>
            <a:ext cx="2011680" cy="274320"/>
          </a:xfrm>
          <a:prstGeom prst="roundRect">
            <a:avLst>
              <a:gd name="adj" fmla="val 26667"/>
            </a:avLst>
          </a:prstGeom>
          <a:solidFill>
            <a:srgbClr val="168F8B"/>
          </a:solidFill>
          <a:ln w="12700">
            <a:solidFill>
              <a:srgbClr val="168F8B"/>
            </a:solidFill>
            <a:prstDash val="solid"/>
          </a:ln>
        </p:spPr>
      </p:sp>
      <p:sp>
        <p:nvSpPr>
          <p:cNvPr id="24" name="Text 21"/>
          <p:cNvSpPr/>
          <p:nvPr/>
        </p:nvSpPr>
        <p:spPr>
          <a:xfrm>
            <a:off x="585216" y="408279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TUNIS DATA</a:t>
            </a:r>
            <a:endParaRPr lang="en-US" sz="900" dirty="0"/>
          </a:p>
        </p:txBody>
      </p:sp>
      <p:sp>
        <p:nvSpPr>
          <p:cNvPr id="25" name="Shape 22"/>
          <p:cNvSpPr/>
          <p:nvPr/>
        </p:nvSpPr>
        <p:spPr>
          <a:xfrm>
            <a:off x="2743200" y="3904488"/>
            <a:ext cx="7818120" cy="713232"/>
          </a:xfrm>
          <a:prstGeom prst="roundRect">
            <a:avLst>
              <a:gd name="adj" fmla="val 10256"/>
            </a:avLst>
          </a:prstGeom>
          <a:solidFill>
            <a:srgbClr val="FFFFFF"/>
          </a:solidFill>
          <a:ln w="10160">
            <a:solidFill>
              <a:srgbClr val="C8D7E3"/>
            </a:solidFill>
            <a:prstDash val="solid"/>
          </a:ln>
        </p:spPr>
      </p:sp>
      <p:sp>
        <p:nvSpPr>
          <p:cNvPr id="26" name="Text 23"/>
          <p:cNvSpPr/>
          <p:nvPr/>
        </p:nvSpPr>
        <p:spPr>
          <a:xfrm>
            <a:off x="2926080" y="401421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OpenStreetMap · Tunisia Ministry of Transport open-data portal · scheduled TRANSTU datasets</a:t>
            </a:r>
            <a:endParaRPr lang="en-US" sz="1350" dirty="0"/>
          </a:p>
        </p:txBody>
      </p:sp>
      <p:sp>
        <p:nvSpPr>
          <p:cNvPr id="27" name="Text 24"/>
          <p:cNvSpPr/>
          <p:nvPr/>
        </p:nvSpPr>
        <p:spPr>
          <a:xfrm>
            <a:off x="10698480" y="404164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[C15]</a:t>
            </a:r>
            <a:endParaRPr lang="en-US" sz="1150" dirty="0"/>
          </a:p>
        </p:txBody>
      </p:sp>
      <p:sp>
        <p:nvSpPr>
          <p:cNvPr id="28" name="Shape 25"/>
          <p:cNvSpPr/>
          <p:nvPr/>
        </p:nvSpPr>
        <p:spPr>
          <a:xfrm>
            <a:off x="548640" y="4937760"/>
            <a:ext cx="2011680" cy="274320"/>
          </a:xfrm>
          <a:prstGeom prst="roundRect">
            <a:avLst>
              <a:gd name="adj" fmla="val 26667"/>
            </a:avLst>
          </a:prstGeom>
          <a:solidFill>
            <a:srgbClr val="CF7B1B"/>
          </a:solidFill>
          <a:ln w="12700">
            <a:solidFill>
              <a:srgbClr val="CF7B1B"/>
            </a:solidFill>
            <a:prstDash val="solid"/>
          </a:ln>
        </p:spPr>
      </p:sp>
      <p:sp>
        <p:nvSpPr>
          <p:cNvPr id="29" name="Text 26"/>
          <p:cNvSpPr/>
          <p:nvPr/>
        </p:nvSpPr>
        <p:spPr>
          <a:xfrm>
            <a:off x="585216" y="495147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PROJECT AUTHORITY</a:t>
            </a:r>
            <a:endParaRPr lang="en-US" sz="900" dirty="0"/>
          </a:p>
        </p:txBody>
      </p:sp>
      <p:sp>
        <p:nvSpPr>
          <p:cNvPr id="30" name="Shape 27"/>
          <p:cNvSpPr/>
          <p:nvPr/>
        </p:nvSpPr>
        <p:spPr>
          <a:xfrm>
            <a:off x="2743200" y="4773168"/>
            <a:ext cx="7818120" cy="713232"/>
          </a:xfrm>
          <a:prstGeom prst="roundRect">
            <a:avLst>
              <a:gd name="adj" fmla="val 10256"/>
            </a:avLst>
          </a:prstGeom>
          <a:solidFill>
            <a:srgbClr val="EEF5F8"/>
          </a:solidFill>
          <a:ln w="10160">
            <a:solidFill>
              <a:srgbClr val="C8D7E3"/>
            </a:solidFill>
            <a:prstDash val="solid"/>
          </a:ln>
        </p:spPr>
      </p:sp>
      <p:sp>
        <p:nvSpPr>
          <p:cNvPr id="31" name="Text 28"/>
          <p:cNvSpPr/>
          <p:nvPr/>
        </p:nvSpPr>
        <p:spPr>
          <a:xfrm>
            <a:off x="2926080" y="488289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ADR-0001 · requirements/design · row contracts, artifacts and tests</a:t>
            </a:r>
            <a:endParaRPr lang="en-US" sz="1350" dirty="0"/>
          </a:p>
        </p:txBody>
      </p:sp>
      <p:sp>
        <p:nvSpPr>
          <p:cNvPr id="32" name="Text 29"/>
          <p:cNvSpPr/>
          <p:nvPr/>
        </p:nvSpPr>
        <p:spPr>
          <a:xfrm>
            <a:off x="10698480" y="491032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[C16][C17]</a:t>
            </a:r>
            <a:endParaRPr lang="en-US" sz="1150" dirty="0"/>
          </a:p>
        </p:txBody>
      </p:sp>
      <p:sp>
        <p:nvSpPr>
          <p:cNvPr id="33" name="Shape 30"/>
          <p:cNvSpPr/>
          <p:nvPr/>
        </p:nvSpPr>
        <p:spPr>
          <a:xfrm>
            <a:off x="685800" y="5669280"/>
            <a:ext cx="10835640" cy="566928"/>
          </a:xfrm>
          <a:prstGeom prst="roundRect">
            <a:avLst>
              <a:gd name="adj" fmla="val 12903"/>
            </a:avLst>
          </a:prstGeom>
          <a:solidFill>
            <a:srgbClr val="0B2239"/>
          </a:solidFill>
          <a:ln w="10160">
            <a:solidFill>
              <a:srgbClr val="168F8B"/>
            </a:solidFill>
            <a:prstDash val="solid"/>
          </a:ln>
        </p:spPr>
      </p:sp>
      <p:sp>
        <p:nvSpPr>
          <p:cNvPr id="34" name="Shape 31"/>
          <p:cNvSpPr/>
          <p:nvPr/>
        </p:nvSpPr>
        <p:spPr>
          <a:xfrm>
            <a:off x="685800" y="5669280"/>
            <a:ext cx="73152" cy="566928"/>
          </a:xfrm>
          <a:prstGeom prst="rect">
            <a:avLst/>
          </a:prstGeom>
          <a:solidFill>
            <a:srgbClr val="168F8B"/>
          </a:solidFill>
          <a:ln w="12700">
            <a:solidFill>
              <a:srgbClr val="168F8B"/>
            </a:solidFill>
            <a:prstDash val="solid"/>
          </a:ln>
        </p:spPr>
      </p:sp>
      <p:sp>
        <p:nvSpPr>
          <p:cNvPr id="35" name="Text 32"/>
          <p:cNvSpPr/>
          <p:nvPr/>
        </p:nvSpPr>
        <p:spPr>
          <a:xfrm>
            <a:off x="850392" y="5742432"/>
            <a:ext cx="1054303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Citation rule</a:t>
            </a:r>
            <a:endParaRPr lang="en-US" sz="1300" dirty="0"/>
          </a:p>
        </p:txBody>
      </p:sp>
      <p:sp>
        <p:nvSpPr>
          <p:cNvPr id="36" name="Text 33"/>
          <p:cNvSpPr/>
          <p:nvPr/>
        </p:nvSpPr>
        <p:spPr>
          <a:xfrm>
            <a:off x="850392" y="6035040"/>
            <a:ext cx="10543032" cy="128016"/>
          </a:xfrm>
          <a:prstGeom prst="rect">
            <a:avLst/>
          </a:prstGeom>
          <a:noFill/>
          <a:ln/>
        </p:spPr>
        <p:txBody>
          <a:bodyPr wrap="square" lIns="762" tIns="762" rIns="762" bIns="762" rtlCol="0" anchor="t">
            <a:normAutofit/>
          </a:bodyPr>
          <a:lstStyle/>
          <a:p>
            <a:pPr indent="0" marL="0">
              <a:buNone/>
            </a:pPr>
            <a:r>
              <a:rPr lang="en-US" sz="1400" dirty="0">
                <a:solidFill>
                  <a:srgbClr val="FFFFFF"/>
                </a:solidFill>
                <a:latin typeface="Aptos" pitchFamily="34" charset="0"/>
                <a:ea typeface="Aptos" pitchFamily="34" charset="-122"/>
                <a:cs typeface="Aptos" pitchFamily="34" charset="-120"/>
              </a:rPr>
              <a:t>Literature explains why a need matters. Only CoFlow-5 artifacts and tests can establish what CoFlow-5 did.</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AUDIT APPENDIX</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Appendix: corrections applied to older material</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 new deck does not silently copy stale reports or generated slides.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30352" y="1298448"/>
            <a:ext cx="5394960" cy="493776"/>
          </a:xfrm>
          <a:prstGeom prst="roundRect">
            <a:avLst/>
          </a:prstGeom>
          <a:solidFill>
            <a:srgbClr val="B74444"/>
          </a:solidFill>
          <a:ln w="10160">
            <a:solidFill>
              <a:srgbClr val="B74444"/>
            </a:solidFill>
            <a:prstDash val="solid"/>
          </a:ln>
        </p:spPr>
      </p:sp>
      <p:sp>
        <p:nvSpPr>
          <p:cNvPr id="9" name="Shape 6"/>
          <p:cNvSpPr/>
          <p:nvPr/>
        </p:nvSpPr>
        <p:spPr>
          <a:xfrm>
            <a:off x="6144768" y="1298448"/>
            <a:ext cx="5513832" cy="493776"/>
          </a:xfrm>
          <a:prstGeom prst="roundRect">
            <a:avLst/>
          </a:prstGeom>
          <a:solidFill>
            <a:srgbClr val="2D936C"/>
          </a:solidFill>
          <a:ln w="10160">
            <a:solidFill>
              <a:srgbClr val="2D936C"/>
            </a:solidFill>
            <a:prstDash val="solid"/>
          </a:ln>
        </p:spPr>
      </p:sp>
      <p:sp>
        <p:nvSpPr>
          <p:cNvPr id="10" name="Text 7"/>
          <p:cNvSpPr/>
          <p:nvPr/>
        </p:nvSpPr>
        <p:spPr>
          <a:xfrm>
            <a:off x="685800" y="1362456"/>
            <a:ext cx="5074920" cy="347472"/>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OLD / UNSAFE</a:t>
            </a:r>
            <a:endParaRPr lang="en-US" sz="1100" dirty="0"/>
          </a:p>
        </p:txBody>
      </p:sp>
      <p:sp>
        <p:nvSpPr>
          <p:cNvPr id="11" name="Text 8"/>
          <p:cNvSpPr/>
          <p:nvPr/>
        </p:nvSpPr>
        <p:spPr>
          <a:xfrm>
            <a:off x="6309360" y="1362456"/>
            <a:ext cx="5184648" cy="347472"/>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CURRENT / SAFE</a:t>
            </a:r>
            <a:endParaRPr lang="en-US" sz="1100" dirty="0"/>
          </a:p>
        </p:txBody>
      </p:sp>
      <p:sp>
        <p:nvSpPr>
          <p:cNvPr id="12" name="Shape 9"/>
          <p:cNvSpPr/>
          <p:nvPr/>
        </p:nvSpPr>
        <p:spPr>
          <a:xfrm>
            <a:off x="530352" y="1901952"/>
            <a:ext cx="5394960" cy="493776"/>
          </a:xfrm>
          <a:prstGeom prst="roundRect">
            <a:avLst/>
          </a:prstGeom>
          <a:solidFill>
            <a:srgbClr val="FBE4E4"/>
          </a:solidFill>
          <a:ln w="10160">
            <a:solidFill>
              <a:srgbClr val="C8D7E3"/>
            </a:solidFill>
            <a:prstDash val="solid"/>
          </a:ln>
        </p:spPr>
      </p:sp>
      <p:sp>
        <p:nvSpPr>
          <p:cNvPr id="13" name="Shape 10"/>
          <p:cNvSpPr/>
          <p:nvPr/>
        </p:nvSpPr>
        <p:spPr>
          <a:xfrm>
            <a:off x="6144768" y="1901952"/>
            <a:ext cx="5513832" cy="493776"/>
          </a:xfrm>
          <a:prstGeom prst="roundRect">
            <a:avLst/>
          </a:prstGeom>
          <a:solidFill>
            <a:srgbClr val="DDF3EC"/>
          </a:solidFill>
          <a:ln w="10160">
            <a:solidFill>
              <a:srgbClr val="C8D7E3"/>
            </a:solidFill>
            <a:prstDash val="solid"/>
          </a:ln>
        </p:spPr>
      </p:sp>
      <p:sp>
        <p:nvSpPr>
          <p:cNvPr id="14" name="Text 11"/>
          <p:cNvSpPr/>
          <p:nvPr/>
        </p:nvSpPr>
        <p:spPr>
          <a:xfrm>
            <a:off x="685800" y="1965960"/>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Older deck overstated every evidence row</a:t>
            </a:r>
            <a:endParaRPr lang="en-US" sz="1250" dirty="0"/>
          </a:p>
        </p:txBody>
      </p:sp>
      <p:sp>
        <p:nvSpPr>
          <p:cNvPr id="15" name="Text 12"/>
          <p:cNvSpPr/>
          <p:nvPr/>
        </p:nvSpPr>
        <p:spPr>
          <a:xfrm>
            <a:off x="6309360" y="1965960"/>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32-row mixed-source register, audited by source type</a:t>
            </a:r>
            <a:endParaRPr lang="en-US" sz="1250" dirty="0"/>
          </a:p>
        </p:txBody>
      </p:sp>
      <p:sp>
        <p:nvSpPr>
          <p:cNvPr id="16" name="Shape 13"/>
          <p:cNvSpPr/>
          <p:nvPr/>
        </p:nvSpPr>
        <p:spPr>
          <a:xfrm>
            <a:off x="530352" y="2505456"/>
            <a:ext cx="5394960" cy="493776"/>
          </a:xfrm>
          <a:prstGeom prst="roundRect">
            <a:avLst/>
          </a:prstGeom>
          <a:solidFill>
            <a:srgbClr val="FFFFFF"/>
          </a:solidFill>
          <a:ln w="10160">
            <a:solidFill>
              <a:srgbClr val="C8D7E3"/>
            </a:solidFill>
            <a:prstDash val="solid"/>
          </a:ln>
        </p:spPr>
      </p:sp>
      <p:sp>
        <p:nvSpPr>
          <p:cNvPr id="17" name="Shape 14"/>
          <p:cNvSpPr/>
          <p:nvPr/>
        </p:nvSpPr>
        <p:spPr>
          <a:xfrm>
            <a:off x="6144768" y="2505456"/>
            <a:ext cx="5513832" cy="493776"/>
          </a:xfrm>
          <a:prstGeom prst="roundRect">
            <a:avLst/>
          </a:prstGeom>
          <a:solidFill>
            <a:srgbClr val="FFFFFF"/>
          </a:solidFill>
          <a:ln w="10160">
            <a:solidFill>
              <a:srgbClr val="C8D7E3"/>
            </a:solidFill>
            <a:prstDash val="solid"/>
          </a:ln>
        </p:spPr>
      </p:sp>
      <p:sp>
        <p:nvSpPr>
          <p:cNvPr id="18" name="Text 15"/>
          <p:cNvSpPr/>
          <p:nvPr/>
        </p:nvSpPr>
        <p:spPr>
          <a:xfrm>
            <a:off x="685800" y="2569464"/>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Older deck used the wrong school-proximity percentage</a:t>
            </a:r>
            <a:endParaRPr lang="en-US" sz="1250" dirty="0"/>
          </a:p>
        </p:txBody>
      </p:sp>
      <p:sp>
        <p:nvSpPr>
          <p:cNvPr id="19" name="Text 16"/>
          <p:cNvSpPr/>
          <p:nvPr/>
        </p:nvSpPr>
        <p:spPr>
          <a:xfrm>
            <a:off x="6309360" y="2569464"/>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6.4M / 12.5% of the studied US population (2005–2006)</a:t>
            </a:r>
            <a:endParaRPr lang="en-US" sz="1250" dirty="0"/>
          </a:p>
        </p:txBody>
      </p:sp>
      <p:sp>
        <p:nvSpPr>
          <p:cNvPr id="20" name="Shape 17"/>
          <p:cNvSpPr/>
          <p:nvPr/>
        </p:nvSpPr>
        <p:spPr>
          <a:xfrm>
            <a:off x="530352" y="3108960"/>
            <a:ext cx="5394960" cy="493776"/>
          </a:xfrm>
          <a:prstGeom prst="roundRect">
            <a:avLst/>
          </a:prstGeom>
          <a:solidFill>
            <a:srgbClr val="FBE4E4"/>
          </a:solidFill>
          <a:ln w="10160">
            <a:solidFill>
              <a:srgbClr val="C8D7E3"/>
            </a:solidFill>
            <a:prstDash val="solid"/>
          </a:ln>
        </p:spPr>
      </p:sp>
      <p:sp>
        <p:nvSpPr>
          <p:cNvPr id="21" name="Shape 18"/>
          <p:cNvSpPr/>
          <p:nvPr/>
        </p:nvSpPr>
        <p:spPr>
          <a:xfrm>
            <a:off x="6144768" y="3108960"/>
            <a:ext cx="5513832" cy="493776"/>
          </a:xfrm>
          <a:prstGeom prst="roundRect">
            <a:avLst/>
          </a:prstGeom>
          <a:solidFill>
            <a:srgbClr val="DDF3EC"/>
          </a:solidFill>
          <a:ln w="10160">
            <a:solidFill>
              <a:srgbClr val="C8D7E3"/>
            </a:solidFill>
            <a:prstDash val="solid"/>
          </a:ln>
        </p:spPr>
      </p:sp>
      <p:sp>
        <p:nvSpPr>
          <p:cNvPr id="22" name="Text 19"/>
          <p:cNvSpPr/>
          <p:nvPr/>
        </p:nvSpPr>
        <p:spPr>
          <a:xfrm>
            <a:off x="685800" y="3172968"/>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“7% survival lost per minute”</a:t>
            </a:r>
            <a:endParaRPr lang="en-US" sz="1250" dirty="0"/>
          </a:p>
        </p:txBody>
      </p:sp>
      <p:sp>
        <p:nvSpPr>
          <p:cNvPr id="23" name="Text 20"/>
          <p:cNvSpPr/>
          <p:nvPr/>
        </p:nvSpPr>
        <p:spPr>
          <a:xfrm>
            <a:off x="6309360" y="3172968"/>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7% lower adjusted odds per additional ALS-response minute in one cohort</a:t>
            </a:r>
            <a:endParaRPr lang="en-US" sz="1250" dirty="0"/>
          </a:p>
        </p:txBody>
      </p:sp>
      <p:sp>
        <p:nvSpPr>
          <p:cNvPr id="24" name="Shape 21"/>
          <p:cNvSpPr/>
          <p:nvPr/>
        </p:nvSpPr>
        <p:spPr>
          <a:xfrm>
            <a:off x="530352" y="3712464"/>
            <a:ext cx="5394960" cy="493776"/>
          </a:xfrm>
          <a:prstGeom prst="roundRect">
            <a:avLst/>
          </a:prstGeom>
          <a:solidFill>
            <a:srgbClr val="FFFFFF"/>
          </a:solidFill>
          <a:ln w="10160">
            <a:solidFill>
              <a:srgbClr val="C8D7E3"/>
            </a:solidFill>
            <a:prstDash val="solid"/>
          </a:ln>
        </p:spPr>
      </p:sp>
      <p:sp>
        <p:nvSpPr>
          <p:cNvPr id="25" name="Shape 22"/>
          <p:cNvSpPr/>
          <p:nvPr/>
        </p:nvSpPr>
        <p:spPr>
          <a:xfrm>
            <a:off x="6144768" y="3712464"/>
            <a:ext cx="5513832" cy="493776"/>
          </a:xfrm>
          <a:prstGeom prst="roundRect">
            <a:avLst/>
          </a:prstGeom>
          <a:solidFill>
            <a:srgbClr val="FFFFFF"/>
          </a:solidFill>
          <a:ln w="10160">
            <a:solidFill>
              <a:srgbClr val="C8D7E3"/>
            </a:solidFill>
            <a:prstDash val="solid"/>
          </a:ln>
        </p:spPr>
      </p:sp>
      <p:sp>
        <p:nvSpPr>
          <p:cNvPr id="26" name="Text 23"/>
          <p:cNvSpPr/>
          <p:nvPr/>
        </p:nvSpPr>
        <p:spPr>
          <a:xfrm>
            <a:off x="685800" y="3776472"/>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Shared-policy DQN as core A1</a:t>
            </a:r>
            <a:endParaRPr lang="en-US" sz="1250" dirty="0"/>
          </a:p>
        </p:txBody>
      </p:sp>
      <p:sp>
        <p:nvSpPr>
          <p:cNvPr id="27" name="Text 24"/>
          <p:cNvSpPr/>
          <p:nvPr/>
        </p:nvSpPr>
        <p:spPr>
          <a:xfrm>
            <a:off x="6309360" y="3776472"/>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Cooperative Max-Pressure required; DQN optional</a:t>
            </a:r>
            <a:endParaRPr lang="en-US" sz="1250" dirty="0"/>
          </a:p>
        </p:txBody>
      </p:sp>
      <p:sp>
        <p:nvSpPr>
          <p:cNvPr id="28" name="Shape 25"/>
          <p:cNvSpPr/>
          <p:nvPr/>
        </p:nvSpPr>
        <p:spPr>
          <a:xfrm>
            <a:off x="530352" y="4315968"/>
            <a:ext cx="5394960" cy="493776"/>
          </a:xfrm>
          <a:prstGeom prst="roundRect">
            <a:avLst/>
          </a:prstGeom>
          <a:solidFill>
            <a:srgbClr val="FBE4E4"/>
          </a:solidFill>
          <a:ln w="10160">
            <a:solidFill>
              <a:srgbClr val="C8D7E3"/>
            </a:solidFill>
            <a:prstDash val="solid"/>
          </a:ln>
        </p:spPr>
      </p:sp>
      <p:sp>
        <p:nvSpPr>
          <p:cNvPr id="29" name="Shape 26"/>
          <p:cNvSpPr/>
          <p:nvPr/>
        </p:nvSpPr>
        <p:spPr>
          <a:xfrm>
            <a:off x="6144768" y="4315968"/>
            <a:ext cx="5513832" cy="493776"/>
          </a:xfrm>
          <a:prstGeom prst="roundRect">
            <a:avLst/>
          </a:prstGeom>
          <a:solidFill>
            <a:srgbClr val="DDF3EC"/>
          </a:solidFill>
          <a:ln w="10160">
            <a:solidFill>
              <a:srgbClr val="C8D7E3"/>
            </a:solidFill>
            <a:prstDash val="solid"/>
          </a:ln>
        </p:spPr>
      </p:sp>
      <p:sp>
        <p:nvSpPr>
          <p:cNvPr id="30" name="Text 27"/>
          <p:cNvSpPr/>
          <p:nvPr/>
        </p:nvSpPr>
        <p:spPr>
          <a:xfrm>
            <a:off x="685800" y="4379976"/>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Policy-led recovery ladder</a:t>
            </a:r>
            <a:endParaRPr lang="en-US" sz="1250" dirty="0"/>
          </a:p>
        </p:txBody>
      </p:sp>
      <p:sp>
        <p:nvSpPr>
          <p:cNvPr id="31" name="Text 28"/>
          <p:cNvSpPr/>
          <p:nvPr/>
        </p:nvSpPr>
        <p:spPr>
          <a:xfrm>
            <a:off x="6309360" y="4379976"/>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Max-Pressure → actuated → fixed-time</a:t>
            </a:r>
            <a:endParaRPr lang="en-US" sz="1250" dirty="0"/>
          </a:p>
        </p:txBody>
      </p:sp>
      <p:sp>
        <p:nvSpPr>
          <p:cNvPr id="32" name="Shape 29"/>
          <p:cNvSpPr/>
          <p:nvPr/>
        </p:nvSpPr>
        <p:spPr>
          <a:xfrm>
            <a:off x="530352" y="4919472"/>
            <a:ext cx="5394960" cy="493776"/>
          </a:xfrm>
          <a:prstGeom prst="roundRect">
            <a:avLst/>
          </a:prstGeom>
          <a:solidFill>
            <a:srgbClr val="FFFFFF"/>
          </a:solidFill>
          <a:ln w="10160">
            <a:solidFill>
              <a:srgbClr val="C8D7E3"/>
            </a:solidFill>
            <a:prstDash val="solid"/>
          </a:ln>
        </p:spPr>
      </p:sp>
      <p:sp>
        <p:nvSpPr>
          <p:cNvPr id="33" name="Shape 30"/>
          <p:cNvSpPr/>
          <p:nvPr/>
        </p:nvSpPr>
        <p:spPr>
          <a:xfrm>
            <a:off x="6144768" y="4919472"/>
            <a:ext cx="5513832" cy="493776"/>
          </a:xfrm>
          <a:prstGeom prst="roundRect">
            <a:avLst/>
          </a:prstGeom>
          <a:solidFill>
            <a:srgbClr val="FFFFFF"/>
          </a:solidFill>
          <a:ln w="10160">
            <a:solidFill>
              <a:srgbClr val="C8D7E3"/>
            </a:solidFill>
            <a:prstDash val="solid"/>
          </a:ln>
        </p:spPr>
      </p:sp>
      <p:sp>
        <p:nvSpPr>
          <p:cNvPr id="34" name="Text 31"/>
          <p:cNvSpPr/>
          <p:nvPr/>
        </p:nvSpPr>
        <p:spPr>
          <a:xfrm>
            <a:off x="685800" y="4983480"/>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Prototype/Test labelled only planned</a:t>
            </a:r>
            <a:endParaRPr lang="en-US" sz="1250" dirty="0"/>
          </a:p>
        </p:txBody>
      </p:sp>
      <p:sp>
        <p:nvSpPr>
          <p:cNvPr id="35" name="Text 32"/>
          <p:cNvSpPr/>
          <p:nvPr/>
        </p:nvSpPr>
        <p:spPr>
          <a:xfrm>
            <a:off x="6309360" y="4983480"/>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Use current gates and verification certificates</a:t>
            </a:r>
            <a:endParaRPr lang="en-US" sz="1250" dirty="0"/>
          </a:p>
        </p:txBody>
      </p:sp>
      <p:sp>
        <p:nvSpPr>
          <p:cNvPr id="36" name="Shape 33"/>
          <p:cNvSpPr/>
          <p:nvPr/>
        </p:nvSpPr>
        <p:spPr>
          <a:xfrm>
            <a:off x="530352" y="5522976"/>
            <a:ext cx="5394960" cy="493776"/>
          </a:xfrm>
          <a:prstGeom prst="roundRect">
            <a:avLst/>
          </a:prstGeom>
          <a:solidFill>
            <a:srgbClr val="FBE4E4"/>
          </a:solidFill>
          <a:ln w="10160">
            <a:solidFill>
              <a:srgbClr val="C8D7E3"/>
            </a:solidFill>
            <a:prstDash val="solid"/>
          </a:ln>
        </p:spPr>
      </p:sp>
      <p:sp>
        <p:nvSpPr>
          <p:cNvPr id="37" name="Shape 34"/>
          <p:cNvSpPr/>
          <p:nvPr/>
        </p:nvSpPr>
        <p:spPr>
          <a:xfrm>
            <a:off x="6144768" y="5522976"/>
            <a:ext cx="5513832" cy="493776"/>
          </a:xfrm>
          <a:prstGeom prst="roundRect">
            <a:avLst/>
          </a:prstGeom>
          <a:solidFill>
            <a:srgbClr val="DDF3EC"/>
          </a:solidFill>
          <a:ln w="10160">
            <a:solidFill>
              <a:srgbClr val="C8D7E3"/>
            </a:solidFill>
            <a:prstDash val="solid"/>
          </a:ln>
        </p:spPr>
      </p:sp>
      <p:sp>
        <p:nvSpPr>
          <p:cNvPr id="38" name="Text 35"/>
          <p:cNvSpPr/>
          <p:nvPr/>
        </p:nvSpPr>
        <p:spPr>
          <a:xfrm>
            <a:off x="685800" y="5586984"/>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Tunis GTFS/live demand assumed</a:t>
            </a:r>
            <a:endParaRPr lang="en-US" sz="1250" dirty="0"/>
          </a:p>
        </p:txBody>
      </p:sp>
      <p:sp>
        <p:nvSpPr>
          <p:cNvPr id="39" name="Text 36"/>
          <p:cNvSpPr/>
          <p:nvPr/>
        </p:nvSpPr>
        <p:spPr>
          <a:xfrm>
            <a:off x="6309360" y="5586984"/>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Verify dataset format; road demand synthetic or calibrated</a:t>
            </a:r>
            <a:endParaRPr lang="en-US" sz="1250" dirty="0"/>
          </a:p>
        </p:txBody>
      </p:sp>
      <p:sp>
        <p:nvSpPr>
          <p:cNvPr id="40" name="Text 37"/>
          <p:cNvSpPr/>
          <p:nvPr/>
        </p:nvSpPr>
        <p:spPr>
          <a:xfrm>
            <a:off x="640080" y="6144768"/>
            <a:ext cx="10908792" cy="237744"/>
          </a:xfrm>
          <a:prstGeom prst="rect">
            <a:avLst/>
          </a:prstGeom>
          <a:noFill/>
          <a:ln/>
        </p:spPr>
        <p:txBody>
          <a:bodyPr wrap="square" lIns="762" tIns="762" rIns="762" bIns="762" rtlCol="0" anchor="ctr">
            <a:normAutofit/>
          </a:bodyPr>
          <a:lstStyle/>
          <a:p>
            <a:pPr algn="ctr" indent="0" marL="0">
              <a:buNone/>
            </a:pPr>
            <a:r>
              <a:rPr lang="en-US" sz="1300" b="1" dirty="0">
                <a:solidFill>
                  <a:srgbClr val="0B2239"/>
                </a:solidFill>
                <a:latin typeface="Aptos" pitchFamily="34" charset="0"/>
                <a:ea typeface="Aptos" pitchFamily="34" charset="-122"/>
                <a:cs typeface="Aptos" pitchFamily="34" charset="-120"/>
              </a:rPr>
              <a:t>These corrections protect the professor from attractive but unsupported claims.</a:t>
            </a:r>
            <a:endParaRPr lang="en-US" sz="13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2239"/>
        </a:solidFill>
      </p:bgPr>
    </p:bg>
    <p:spTree>
      <p:nvGrpSpPr>
        <p:cNvPr id="1" name=""/>
        <p:cNvGrpSpPr/>
        <p:nvPr/>
      </p:nvGrpSpPr>
      <p:grpSpPr>
        <a:xfrm>
          <a:off x="0" y="0"/>
          <a:ext cx="0" cy="0"/>
          <a:chOff x="0" y="0"/>
          <a:chExt cx="0" cy="0"/>
        </a:xfrm>
      </p:grpSpPr>
      <p:sp>
        <p:nvSpPr>
          <p:cNvPr id="2" name="Shape 0"/>
          <p:cNvSpPr/>
          <p:nvPr/>
        </p:nvSpPr>
        <p:spPr>
          <a:xfrm>
            <a:off x="640080" y="502920"/>
            <a:ext cx="100584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676656" y="516636"/>
            <a:ext cx="9326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CLOSE</a:t>
            </a:r>
            <a:endParaRPr lang="en-US" sz="900" dirty="0"/>
          </a:p>
        </p:txBody>
      </p:sp>
      <p:sp>
        <p:nvSpPr>
          <p:cNvPr id="4" name="Text 2"/>
          <p:cNvSpPr/>
          <p:nvPr/>
        </p:nvSpPr>
        <p:spPr>
          <a:xfrm>
            <a:off x="640080" y="1188720"/>
            <a:ext cx="10881360" cy="685800"/>
          </a:xfrm>
          <a:prstGeom prst="rect">
            <a:avLst/>
          </a:prstGeom>
          <a:noFill/>
          <a:ln/>
        </p:spPr>
        <p:txBody>
          <a:bodyPr wrap="square" lIns="762" tIns="762" rIns="762" bIns="762" rtlCol="0" anchor="ctr">
            <a:normAutofit/>
          </a:bodyPr>
          <a:lstStyle/>
          <a:p>
            <a:pPr algn="ctr" indent="0" marL="0">
              <a:buNone/>
            </a:pPr>
            <a:r>
              <a:rPr lang="en-US" sz="3400" b="1" dirty="0">
                <a:solidFill>
                  <a:srgbClr val="FFFFFF"/>
                </a:solidFill>
                <a:latin typeface="Aptos Display" pitchFamily="34" charset="0"/>
                <a:ea typeface="Aptos Display" pitchFamily="34" charset="-122"/>
                <a:cs typeface="Aptos Display" pitchFamily="34" charset="-120"/>
              </a:rPr>
              <a:t>People → evidence → problem → ideas → safe architecture</a:t>
            </a:r>
            <a:endParaRPr lang="en-US" sz="3400" dirty="0"/>
          </a:p>
        </p:txBody>
      </p:sp>
      <p:sp>
        <p:nvSpPr>
          <p:cNvPr id="5" name="Shape 3"/>
          <p:cNvSpPr/>
          <p:nvPr/>
        </p:nvSpPr>
        <p:spPr>
          <a:xfrm>
            <a:off x="658368" y="2240280"/>
            <a:ext cx="2542032" cy="1325880"/>
          </a:xfrm>
          <a:prstGeom prst="roundRect">
            <a:avLst>
              <a:gd name="adj" fmla="val 5517"/>
            </a:avLst>
          </a:prstGeom>
          <a:solidFill>
            <a:srgbClr val="123552"/>
          </a:solidFill>
          <a:ln w="10160">
            <a:solidFill>
              <a:srgbClr val="335D76"/>
            </a:solidFill>
            <a:prstDash val="solid"/>
          </a:ln>
        </p:spPr>
      </p:sp>
      <p:sp>
        <p:nvSpPr>
          <p:cNvPr id="6" name="Text 4"/>
          <p:cNvSpPr/>
          <p:nvPr/>
        </p:nvSpPr>
        <p:spPr>
          <a:xfrm>
            <a:off x="768096" y="2450592"/>
            <a:ext cx="2322576" cy="329184"/>
          </a:xfrm>
          <a:prstGeom prst="rect">
            <a:avLst/>
          </a:prstGeom>
          <a:noFill/>
          <a:ln/>
        </p:spPr>
        <p:txBody>
          <a:bodyPr wrap="square" lIns="762" tIns="762" rIns="762" bIns="762" rtlCol="0" anchor="ctr">
            <a:normAutofit/>
          </a:bodyPr>
          <a:lstStyle/>
          <a:p>
            <a:pPr algn="ctr" indent="0" marL="0">
              <a:buNone/>
            </a:pPr>
            <a:r>
              <a:rPr lang="en-US" sz="1600" b="1" dirty="0">
                <a:solidFill>
                  <a:srgbClr val="70D5CF"/>
                </a:solidFill>
                <a:latin typeface="Aptos" pitchFamily="34" charset="0"/>
                <a:ea typeface="Aptos" pitchFamily="34" charset="-122"/>
                <a:cs typeface="Aptos" pitchFamily="34" charset="-120"/>
              </a:rPr>
              <a:t>8 PERSONAS</a:t>
            </a:r>
            <a:endParaRPr lang="en-US" sz="1600" dirty="0"/>
          </a:p>
        </p:txBody>
      </p:sp>
      <p:sp>
        <p:nvSpPr>
          <p:cNvPr id="7" name="Text 5"/>
          <p:cNvSpPr/>
          <p:nvPr/>
        </p:nvSpPr>
        <p:spPr>
          <a:xfrm>
            <a:off x="768096" y="2880360"/>
            <a:ext cx="2322576" cy="384048"/>
          </a:xfrm>
          <a:prstGeom prst="rect">
            <a:avLst/>
          </a:prstGeom>
          <a:noFill/>
          <a:ln/>
        </p:spPr>
        <p:txBody>
          <a:bodyPr wrap="square" lIns="762" tIns="762" rIns="762" bIns="762" rtlCol="0" anchor="ctr">
            <a:normAutofit/>
          </a:bodyPr>
          <a:lstStyle/>
          <a:p>
            <a:pPr algn="ctr" indent="0" marL="0">
              <a:buNone/>
            </a:pPr>
            <a:r>
              <a:rPr lang="en-US" sz="1350" dirty="0">
                <a:solidFill>
                  <a:srgbClr val="FFFFFF"/>
                </a:solidFill>
                <a:latin typeface="Aptos" pitchFamily="34" charset="0"/>
                <a:ea typeface="Aptos" pitchFamily="34" charset="-122"/>
                <a:cs typeface="Aptos" pitchFamily="34" charset="-120"/>
              </a:rPr>
              <a:t>Traffic is not only cars</a:t>
            </a:r>
            <a:endParaRPr lang="en-US" sz="1350" dirty="0"/>
          </a:p>
        </p:txBody>
      </p:sp>
      <p:sp>
        <p:nvSpPr>
          <p:cNvPr id="8" name="Shape 6"/>
          <p:cNvSpPr/>
          <p:nvPr/>
        </p:nvSpPr>
        <p:spPr>
          <a:xfrm>
            <a:off x="3447288" y="2240280"/>
            <a:ext cx="2542032" cy="1325880"/>
          </a:xfrm>
          <a:prstGeom prst="roundRect">
            <a:avLst>
              <a:gd name="adj" fmla="val 5517"/>
            </a:avLst>
          </a:prstGeom>
          <a:solidFill>
            <a:srgbClr val="123552"/>
          </a:solidFill>
          <a:ln w="10160">
            <a:solidFill>
              <a:srgbClr val="335D76"/>
            </a:solidFill>
            <a:prstDash val="solid"/>
          </a:ln>
        </p:spPr>
      </p:sp>
      <p:sp>
        <p:nvSpPr>
          <p:cNvPr id="9" name="Text 7"/>
          <p:cNvSpPr/>
          <p:nvPr/>
        </p:nvSpPr>
        <p:spPr>
          <a:xfrm>
            <a:off x="3557016" y="2450592"/>
            <a:ext cx="2322576" cy="329184"/>
          </a:xfrm>
          <a:prstGeom prst="rect">
            <a:avLst/>
          </a:prstGeom>
          <a:noFill/>
          <a:ln/>
        </p:spPr>
        <p:txBody>
          <a:bodyPr wrap="square" lIns="762" tIns="762" rIns="762" bIns="762" rtlCol="0" anchor="ctr">
            <a:normAutofit/>
          </a:bodyPr>
          <a:lstStyle/>
          <a:p>
            <a:pPr algn="ctr" indent="0" marL="0">
              <a:buNone/>
            </a:pPr>
            <a:r>
              <a:rPr lang="en-US" sz="1600" b="1" dirty="0">
                <a:solidFill>
                  <a:srgbClr val="70D5CF"/>
                </a:solidFill>
                <a:latin typeface="Aptos" pitchFamily="34" charset="0"/>
                <a:ea typeface="Aptos" pitchFamily="34" charset="-122"/>
                <a:cs typeface="Aptos" pitchFamily="34" charset="-120"/>
              </a:rPr>
              <a:t>5 AGENTS</a:t>
            </a:r>
            <a:endParaRPr lang="en-US" sz="1600" dirty="0"/>
          </a:p>
        </p:txBody>
      </p:sp>
      <p:sp>
        <p:nvSpPr>
          <p:cNvPr id="10" name="Text 8"/>
          <p:cNvSpPr/>
          <p:nvPr/>
        </p:nvSpPr>
        <p:spPr>
          <a:xfrm>
            <a:off x="3557016" y="2880360"/>
            <a:ext cx="2322576" cy="384048"/>
          </a:xfrm>
          <a:prstGeom prst="rect">
            <a:avLst/>
          </a:prstGeom>
          <a:noFill/>
          <a:ln/>
        </p:spPr>
        <p:txBody>
          <a:bodyPr wrap="square" lIns="762" tIns="762" rIns="762" bIns="762" rtlCol="0" anchor="ctr">
            <a:normAutofit/>
          </a:bodyPr>
          <a:lstStyle/>
          <a:p>
            <a:pPr algn="ctr" indent="0" marL="0">
              <a:buNone/>
            </a:pPr>
            <a:r>
              <a:rPr lang="en-US" sz="1350" dirty="0">
                <a:solidFill>
                  <a:srgbClr val="FFFFFF"/>
                </a:solidFill>
                <a:latin typeface="Aptos" pitchFamily="34" charset="0"/>
                <a:ea typeface="Aptos" pitchFamily="34" charset="-122"/>
                <a:cs typeface="Aptos" pitchFamily="34" charset="-120"/>
              </a:rPr>
              <a:t>Specialists advise</a:t>
            </a:r>
            <a:endParaRPr lang="en-US" sz="1350" dirty="0"/>
          </a:p>
        </p:txBody>
      </p:sp>
      <p:sp>
        <p:nvSpPr>
          <p:cNvPr id="11" name="Shape 9"/>
          <p:cNvSpPr/>
          <p:nvPr/>
        </p:nvSpPr>
        <p:spPr>
          <a:xfrm>
            <a:off x="6236208" y="2240280"/>
            <a:ext cx="2542032" cy="1325880"/>
          </a:xfrm>
          <a:prstGeom prst="roundRect">
            <a:avLst>
              <a:gd name="adj" fmla="val 5517"/>
            </a:avLst>
          </a:prstGeom>
          <a:solidFill>
            <a:srgbClr val="123552"/>
          </a:solidFill>
          <a:ln w="10160">
            <a:solidFill>
              <a:srgbClr val="335D76"/>
            </a:solidFill>
            <a:prstDash val="solid"/>
          </a:ln>
        </p:spPr>
      </p:sp>
      <p:sp>
        <p:nvSpPr>
          <p:cNvPr id="12" name="Text 10"/>
          <p:cNvSpPr/>
          <p:nvPr/>
        </p:nvSpPr>
        <p:spPr>
          <a:xfrm>
            <a:off x="6345936" y="2450592"/>
            <a:ext cx="2322576" cy="329184"/>
          </a:xfrm>
          <a:prstGeom prst="rect">
            <a:avLst/>
          </a:prstGeom>
          <a:noFill/>
          <a:ln/>
        </p:spPr>
        <p:txBody>
          <a:bodyPr wrap="square" lIns="762" tIns="762" rIns="762" bIns="762" rtlCol="0" anchor="ctr">
            <a:normAutofit/>
          </a:bodyPr>
          <a:lstStyle/>
          <a:p>
            <a:pPr algn="ctr" indent="0" marL="0">
              <a:buNone/>
            </a:pPr>
            <a:r>
              <a:rPr lang="en-US" sz="1600" b="1" dirty="0">
                <a:solidFill>
                  <a:srgbClr val="70D5CF"/>
                </a:solidFill>
                <a:latin typeface="Aptos" pitchFamily="34" charset="0"/>
                <a:ea typeface="Aptos" pitchFamily="34" charset="-122"/>
                <a:cs typeface="Aptos" pitchFamily="34" charset="-120"/>
              </a:rPr>
              <a:t>1 WRITER</a:t>
            </a:r>
            <a:endParaRPr lang="en-US" sz="1600" dirty="0"/>
          </a:p>
        </p:txBody>
      </p:sp>
      <p:sp>
        <p:nvSpPr>
          <p:cNvPr id="13" name="Text 11"/>
          <p:cNvSpPr/>
          <p:nvPr/>
        </p:nvSpPr>
        <p:spPr>
          <a:xfrm>
            <a:off x="6345936" y="2880360"/>
            <a:ext cx="2322576" cy="384048"/>
          </a:xfrm>
          <a:prstGeom prst="rect">
            <a:avLst/>
          </a:prstGeom>
          <a:noFill/>
          <a:ln/>
        </p:spPr>
        <p:txBody>
          <a:bodyPr wrap="square" lIns="762" tIns="762" rIns="762" bIns="762" rtlCol="0" anchor="ctr">
            <a:normAutofit/>
          </a:bodyPr>
          <a:lstStyle/>
          <a:p>
            <a:pPr algn="ctr" indent="0" marL="0">
              <a:buNone/>
            </a:pPr>
            <a:r>
              <a:rPr lang="en-US" sz="1350" dirty="0">
                <a:solidFill>
                  <a:srgbClr val="FFFFFF"/>
                </a:solidFill>
                <a:latin typeface="Aptos" pitchFamily="34" charset="0"/>
                <a:ea typeface="Aptos" pitchFamily="34" charset="-122"/>
                <a:cs typeface="Aptos" pitchFamily="34" charset="-120"/>
              </a:rPr>
              <a:t>A1 alone may actuate</a:t>
            </a:r>
            <a:endParaRPr lang="en-US" sz="1350" dirty="0"/>
          </a:p>
        </p:txBody>
      </p:sp>
      <p:sp>
        <p:nvSpPr>
          <p:cNvPr id="14" name="Shape 12"/>
          <p:cNvSpPr/>
          <p:nvPr/>
        </p:nvSpPr>
        <p:spPr>
          <a:xfrm>
            <a:off x="9025128" y="2240280"/>
            <a:ext cx="2542032" cy="1325880"/>
          </a:xfrm>
          <a:prstGeom prst="roundRect">
            <a:avLst>
              <a:gd name="adj" fmla="val 5517"/>
            </a:avLst>
          </a:prstGeom>
          <a:solidFill>
            <a:srgbClr val="123552"/>
          </a:solidFill>
          <a:ln w="10160">
            <a:solidFill>
              <a:srgbClr val="335D76"/>
            </a:solidFill>
            <a:prstDash val="solid"/>
          </a:ln>
        </p:spPr>
      </p:sp>
      <p:sp>
        <p:nvSpPr>
          <p:cNvPr id="15" name="Text 13"/>
          <p:cNvSpPr/>
          <p:nvPr/>
        </p:nvSpPr>
        <p:spPr>
          <a:xfrm>
            <a:off x="9134856" y="2450592"/>
            <a:ext cx="2322576" cy="329184"/>
          </a:xfrm>
          <a:prstGeom prst="rect">
            <a:avLst/>
          </a:prstGeom>
          <a:noFill/>
          <a:ln/>
        </p:spPr>
        <p:txBody>
          <a:bodyPr wrap="square" lIns="762" tIns="762" rIns="762" bIns="762" rtlCol="0" anchor="ctr">
            <a:normAutofit/>
          </a:bodyPr>
          <a:lstStyle/>
          <a:p>
            <a:pPr algn="ctr" indent="0" marL="0">
              <a:buNone/>
            </a:pPr>
            <a:r>
              <a:rPr lang="en-US" sz="1600" b="1" dirty="0">
                <a:solidFill>
                  <a:srgbClr val="70D5CF"/>
                </a:solidFill>
                <a:latin typeface="Aptos" pitchFamily="34" charset="0"/>
                <a:ea typeface="Aptos" pitchFamily="34" charset="-122"/>
                <a:cs typeface="Aptos" pitchFamily="34" charset="-120"/>
              </a:rPr>
              <a:t>3 FALLBACK MODES</a:t>
            </a:r>
            <a:endParaRPr lang="en-US" sz="1600" dirty="0"/>
          </a:p>
        </p:txBody>
      </p:sp>
      <p:sp>
        <p:nvSpPr>
          <p:cNvPr id="16" name="Text 14"/>
          <p:cNvSpPr/>
          <p:nvPr/>
        </p:nvSpPr>
        <p:spPr>
          <a:xfrm>
            <a:off x="9134856" y="2880360"/>
            <a:ext cx="2322576" cy="384048"/>
          </a:xfrm>
          <a:prstGeom prst="rect">
            <a:avLst/>
          </a:prstGeom>
          <a:noFill/>
          <a:ln/>
        </p:spPr>
        <p:txBody>
          <a:bodyPr wrap="square" lIns="762" tIns="762" rIns="762" bIns="762" rtlCol="0" anchor="ctr">
            <a:normAutofit/>
          </a:bodyPr>
          <a:lstStyle/>
          <a:p>
            <a:pPr algn="ctr" indent="0" marL="0">
              <a:buNone/>
            </a:pPr>
            <a:r>
              <a:rPr lang="en-US" sz="1350" dirty="0">
                <a:solidFill>
                  <a:srgbClr val="FFFFFF"/>
                </a:solidFill>
                <a:latin typeface="Aptos" pitchFamily="34" charset="0"/>
                <a:ea typeface="Aptos" pitchFamily="34" charset="-122"/>
                <a:cs typeface="Aptos" pitchFamily="34" charset="-120"/>
              </a:rPr>
              <a:t>Max-Pressure → actuated → fixed-time</a:t>
            </a:r>
            <a:endParaRPr lang="en-US" sz="1350" dirty="0"/>
          </a:p>
        </p:txBody>
      </p:sp>
      <p:sp>
        <p:nvSpPr>
          <p:cNvPr id="17" name="Shape 15"/>
          <p:cNvSpPr/>
          <p:nvPr/>
        </p:nvSpPr>
        <p:spPr>
          <a:xfrm>
            <a:off x="1005840" y="4069080"/>
            <a:ext cx="10177272" cy="1078992"/>
          </a:xfrm>
          <a:prstGeom prst="roundRect">
            <a:avLst>
              <a:gd name="adj" fmla="val 6780"/>
            </a:avLst>
          </a:prstGeom>
          <a:solidFill>
            <a:srgbClr val="173E57"/>
          </a:solidFill>
          <a:ln w="10160">
            <a:solidFill>
              <a:srgbClr val="168F8B"/>
            </a:solidFill>
            <a:prstDash val="solid"/>
          </a:ln>
        </p:spPr>
      </p:sp>
      <p:sp>
        <p:nvSpPr>
          <p:cNvPr id="18" name="Text 16"/>
          <p:cNvSpPr/>
          <p:nvPr/>
        </p:nvSpPr>
        <p:spPr>
          <a:xfrm>
            <a:off x="1280160" y="4315968"/>
            <a:ext cx="9628632" cy="566928"/>
          </a:xfrm>
          <a:prstGeom prst="rect">
            <a:avLst/>
          </a:prstGeom>
          <a:noFill/>
          <a:ln/>
        </p:spPr>
        <p:txBody>
          <a:bodyPr wrap="square" lIns="762" tIns="762" rIns="762" bIns="762"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Our contribution is not an LLM traffic controller. It is a testable decision architecture with explicit authority, safety, evidence and failure behavior.</a:t>
            </a:r>
            <a:endParaRPr lang="en-US" sz="2100" dirty="0"/>
          </a:p>
        </p:txBody>
      </p:sp>
      <p:sp>
        <p:nvSpPr>
          <p:cNvPr id="19" name="Text 17"/>
          <p:cNvSpPr/>
          <p:nvPr/>
        </p:nvSpPr>
        <p:spPr>
          <a:xfrm>
            <a:off x="822960" y="5623560"/>
            <a:ext cx="10543032" cy="384048"/>
          </a:xfrm>
          <a:prstGeom prst="rect">
            <a:avLst/>
          </a:prstGeom>
          <a:noFill/>
          <a:ln/>
        </p:spPr>
        <p:txBody>
          <a:bodyPr wrap="square" lIns="762" tIns="762" rIns="762" bIns="762" rtlCol="0" anchor="ctr">
            <a:normAutofit/>
          </a:bodyPr>
          <a:lstStyle/>
          <a:p>
            <a:pPr algn="ctr" indent="0" marL="0">
              <a:buNone/>
            </a:pPr>
            <a:r>
              <a:rPr lang="en-US" sz="1600" i="1" dirty="0">
                <a:solidFill>
                  <a:srgbClr val="9ADCE2"/>
                </a:solidFill>
                <a:latin typeface="Aptos" pitchFamily="34" charset="0"/>
                <a:ea typeface="Aptos" pitchFamily="34" charset="-122"/>
                <a:cs typeface="Aptos" pitchFamily="34" charset="-120"/>
              </a:rPr>
              <a:t>Next research question: do the proposed specialist benefits survive matched experiments without hiding costs?</a:t>
            </a:r>
            <a:endParaRPr lang="en-US" sz="1600" dirty="0"/>
          </a:p>
        </p:txBody>
      </p:sp>
      <p:sp>
        <p:nvSpPr>
          <p:cNvPr id="20" name="Text 18"/>
          <p:cNvSpPr/>
          <p:nvPr/>
        </p:nvSpPr>
        <p:spPr>
          <a:xfrm>
            <a:off x="822960" y="6199632"/>
            <a:ext cx="10543032" cy="365760"/>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ESPRIT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CoFlow-5 Synapse — Professor Presentation</dc:title>
  <dc:subject>Design Thinking and proposed reliable multi-agent traffic solution</dc:subject>
  <dc:creator>CoFlow-5 Synapse · ESPRIT 4DS</dc:creator>
  <cp:lastModifiedBy>CoFlow-5 Synapse · ESPRIT 4DS</cp:lastModifiedBy>
  <cp:revision>1</cp:revision>
  <dcterms:created xsi:type="dcterms:W3CDTF">2026-09-22T17:00:35Z</dcterms:created>
  <dcterms:modified xsi:type="dcterms:W3CDTF">2026-09-22T17:00:35Z</dcterms:modified>
</cp:coreProperties>
</file>