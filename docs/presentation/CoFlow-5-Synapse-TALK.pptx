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faces. Say: traffic is not an average car. These are illustrations of research-informed personas, not stakeholder interviews.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course question once. Then say the course expects a prototype, different conditions, a baseline comparison, and honest strengths and limitations. [C01]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Empathize, Define and Ideate explain why the solution exists. Prototype and Test create evidence. Old narrative status labels do not decide completion.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one-word needs. Do not read biographies. Full evidence-backed cards are in the separate persona companion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Amara is the example persona. Her statement is a design synthesis, not an interview quote. Literature motivates the need; it is not our result. [C03][C04]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this story in 20 seconds. A person already crossing finishes. Then emergency priority is considered only if downstream space exists. A late bus needs evidence. Every decision records who paid. [C16]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rejected technical framing with the human-centred problem. Then read the How-might-we question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ideation logic: diverge, challenge assumptions, then compare. Numerical matrix scores are team judgements, not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A1 has a path to the safety mask and executor. A2 to A5 advise. Synapse reads immutable evidence and has no actuation path. [C16]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request. The board validates identity and expiry. A1 safety-checks and ranks. One immutable reply and decision event close the round. If the board is empty, local Max-Pressure continues.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three evidence layers: baseline traffic outcomes, cooperation decisions, and resilience under failure. Each produces joined records instead of a screenshot-only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07 through 10c are gated evidence slices. On matched seed 37, fixed-time completed 71/84 trips, actuated 84/84, and cooperative Max-Pressure 70/84. P95 wait was 33, 16, and 25 seconds. This mixed result establishes no winner or superiority. A4/A5 value remains unestablished. [C17]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Tunis is a future data showcase, not deployment evidence. OpenStreetMap geometry and official scheduled TRANSTU datasets may be used; dataset format must be checked and road demand remains synthetic or calibrated. [C15]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in one sentence: CoFlow-5 is not an LLM traffic controller. It is a testable decision architecture where people define the requirements, A1 alone acts, and evidence decides what we may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pic>
        <p:nvPicPr>
          <p:cNvPr id="4" name="Image 0" descr="C:\Users\dell\Downloads\sumo\docs\presentation\personas\p1-ama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3962" cy="6858000"/>
          </a:xfrm>
          <a:prstGeom prst="rect">
            <a:avLst/>
          </a:prstGeom>
        </p:spPr>
      </p:pic>
      <p:pic>
        <p:nvPicPr>
          <p:cNvPr id="5" name="Image 1" descr="C:\Users\dell\Downloads\sumo\docs\presentation\personas\p2-davi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23962" y="0"/>
            <a:ext cx="1523962" cy="6858000"/>
          </a:xfrm>
          <a:prstGeom prst="rect">
            <a:avLst/>
          </a:prstGeom>
        </p:spPr>
      </p:pic>
      <p:pic>
        <p:nvPicPr>
          <p:cNvPr id="6" name="Image 2" descr="C:\Users\dell\Downloads\sumo\docs\presentation\personas\p3-chid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047924" y="0"/>
            <a:ext cx="1523962" cy="6858000"/>
          </a:xfrm>
          <a:prstGeom prst="rect">
            <a:avLst/>
          </a:prstGeom>
        </p:spPr>
      </p:pic>
      <p:pic>
        <p:nvPicPr>
          <p:cNvPr id="7" name="Image 3" descr="C:\Users\dell\Downloads\sumo\docs\presentation\personas\p4-ros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1886" y="0"/>
            <a:ext cx="1523962" cy="6858000"/>
          </a:xfrm>
          <a:prstGeom prst="rect">
            <a:avLst/>
          </a:prstGeom>
        </p:spPr>
      </p:pic>
      <p:pic>
        <p:nvPicPr>
          <p:cNvPr id="8" name="Image 4" descr="C:\Users\dell\Downloads\sumo\docs\presentation\personas\p5-marcu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95848" y="0"/>
            <a:ext cx="1523962" cy="6858000"/>
          </a:xfrm>
          <a:prstGeom prst="rect">
            <a:avLst/>
          </a:prstGeom>
        </p:spPr>
      </p:pic>
      <p:pic>
        <p:nvPicPr>
          <p:cNvPr id="9" name="Image 5" descr="C:\Users\dell\Downloads\sumo\docs\presentation\personas\p6-yuki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619810" y="0"/>
            <a:ext cx="1523962" cy="6858000"/>
          </a:xfrm>
          <a:prstGeom prst="rect">
            <a:avLst/>
          </a:prstGeom>
        </p:spPr>
      </p:pic>
      <p:pic>
        <p:nvPicPr>
          <p:cNvPr id="10" name="Image 6" descr="C:\Users\dell\Downloads\sumo\docs\presentation\personas\p7-maria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143771" y="0"/>
            <a:ext cx="1523962" cy="6858000"/>
          </a:xfrm>
          <a:prstGeom prst="rect">
            <a:avLst/>
          </a:prstGeom>
        </p:spPr>
      </p:pic>
      <p:pic>
        <p:nvPicPr>
          <p:cNvPr id="11" name="Image 7" descr="C:\Users\dell\Downloads\sumo\docs\presentation\personas\p8-omar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667733" y="0"/>
            <a:ext cx="1523962" cy="6858000"/>
          </a:xfrm>
          <a:prstGeom prst="rect">
            <a:avLst/>
          </a:prstGeom>
        </p:spPr>
      </p:pic>
      <p:sp>
        <p:nvSpPr>
          <p:cNvPr id="1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2B">
              <a:alpha val="66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13" name="Text 2"/>
          <p:cNvSpPr/>
          <p:nvPr/>
        </p:nvSpPr>
        <p:spPr>
          <a:xfrm>
            <a:off x="640080" y="1325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ESPRIT · 4DS · DESIGN THINKING</a:t>
            </a:r>
            <a:endParaRPr lang="en-US" sz="1000" dirty="0"/>
          </a:p>
        </p:txBody>
      </p:sp>
      <p:sp>
        <p:nvSpPr>
          <p:cNvPr id="14" name="Text 3"/>
          <p:cNvSpPr/>
          <p:nvPr/>
        </p:nvSpPr>
        <p:spPr>
          <a:xfrm>
            <a:off x="594360" y="1828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light should see a person.</a:t>
            </a:r>
            <a:endParaRPr lang="en-US" sz="4200" dirty="0"/>
          </a:p>
        </p:txBody>
      </p:sp>
      <p:sp>
        <p:nvSpPr>
          <p:cNvPr id="15" name="Text 4"/>
          <p:cNvSpPr/>
          <p:nvPr/>
        </p:nvSpPr>
        <p:spPr>
          <a:xfrm>
            <a:off x="64008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CoFlow-5 Synapse</a:t>
            </a:r>
            <a:endParaRPr lang="en-US" sz="2300" dirty="0"/>
          </a:p>
        </p:txBody>
      </p:sp>
      <p:sp>
        <p:nvSpPr>
          <p:cNvPr id="16" name="Text 5"/>
          <p:cNvSpPr/>
          <p:nvPr/>
        </p:nvSpPr>
        <p:spPr>
          <a:xfrm>
            <a:off x="64008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personas  ·  5 agents  ·  1 signal writer</a:t>
            </a:r>
            <a:endParaRPr lang="en-US" sz="1900" dirty="0"/>
          </a:p>
        </p:txBody>
      </p:sp>
      <p:sp>
        <p:nvSpPr>
          <p:cNvPr id="17" name="Text 6"/>
          <p:cNvSpPr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Illustrations—not interviews. [C02]</a:t>
            </a:r>
            <a:endParaRPr lang="en-US" sz="1200" dirty="0"/>
          </a:p>
        </p:txBody>
      </p:sp>
    </p:spTree>
  </p:cSld>
  <p:transition spd="slow" advClick="1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CHALLENGE · [C01]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“build AI.”  Prove a better decision.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731520" y="1783080"/>
            <a:ext cx="10744200" cy="11430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993392"/>
            <a:ext cx="10104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might we use data and intelligent agents to make urban traffic more efficient, adaptive and sustainable?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85800" y="365760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9136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31596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547872" y="365760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85032" y="39136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85032" y="431596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409944" y="365760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47104" y="39136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47104" y="431596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272016" y="365760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09176" y="39136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409176" y="431596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visible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matters more than technological complexity.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CoFlow-5 · evidence before claims</a:t>
            </a:r>
            <a:endParaRPr lang="en-US" sz="850" dirty="0"/>
          </a:p>
        </p:txBody>
      </p:sp>
    </p:spTree>
  </p:cSld>
  <p:transition spd="slow" advClick="1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THINKING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People → problem → options → evidence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1170432" y="1874520"/>
            <a:ext cx="822960" cy="822960"/>
          </a:xfrm>
          <a:prstGeom prst="ellipse">
            <a:avLst/>
          </a:prstGeom>
          <a:solidFill>
            <a:srgbClr val="F2A44C"/>
          </a:solidFill>
          <a:ln w="12700">
            <a:solidFill>
              <a:srgbClr val="F2A4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70432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496312" y="2103120"/>
            <a:ext cx="365760" cy="384048"/>
          </a:xfrm>
          <a:prstGeom prst="chevron">
            <a:avLst/>
          </a:prstGeom>
          <a:solidFill>
            <a:srgbClr val="285064"/>
          </a:solidFill>
          <a:ln w="12700">
            <a:solidFill>
              <a:srgbClr val="28506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9260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EMPATHIZE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3649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people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502152" y="1874520"/>
            <a:ext cx="822960" cy="822960"/>
          </a:xfrm>
          <a:prstGeom prst="ellipse">
            <a:avLst/>
          </a:prstGeom>
          <a:solidFill>
            <a:srgbClr val="45B8D1"/>
          </a:solidFill>
          <a:ln w="12700">
            <a:solidFill>
              <a:srgbClr val="45B8D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02152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828032" y="2103120"/>
            <a:ext cx="365760" cy="384048"/>
          </a:xfrm>
          <a:prstGeom prst="chevron">
            <a:avLst/>
          </a:prstGeom>
          <a:solidFill>
            <a:srgbClr val="285064"/>
          </a:solidFill>
          <a:ln w="12700">
            <a:solidFill>
              <a:srgbClr val="28506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34640" y="29260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834640" y="33649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problem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833872" y="1874520"/>
            <a:ext cx="822960" cy="822960"/>
          </a:xfrm>
          <a:prstGeom prst="ellipse">
            <a:avLst/>
          </a:prstGeom>
          <a:solidFill>
            <a:srgbClr val="A892E8"/>
          </a:solidFill>
          <a:ln w="12700">
            <a:solidFill>
              <a:srgbClr val="A892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33872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159752" y="2103120"/>
            <a:ext cx="365760" cy="384048"/>
          </a:xfrm>
          <a:prstGeom prst="chevron">
            <a:avLst/>
          </a:prstGeom>
          <a:solidFill>
            <a:srgbClr val="285064"/>
          </a:solidFill>
          <a:ln w="12700">
            <a:solidFill>
              <a:srgbClr val="28506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29260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9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IDEATE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66360" y="33649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options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165592" y="1874520"/>
            <a:ext cx="822960" cy="822960"/>
          </a:xfrm>
          <a:prstGeom prst="ellipse">
            <a:avLst/>
          </a:prstGeom>
          <a:solidFill>
            <a:srgbClr val="54C38A"/>
          </a:solidFill>
          <a:ln w="12700">
            <a:solidFill>
              <a:srgbClr val="54C3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65592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9491472" y="2103120"/>
            <a:ext cx="365760" cy="384048"/>
          </a:xfrm>
          <a:prstGeom prst="chevron">
            <a:avLst/>
          </a:prstGeom>
          <a:solidFill>
            <a:srgbClr val="285064"/>
          </a:solidFill>
          <a:ln w="12700">
            <a:solidFill>
              <a:srgbClr val="28506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0" y="29260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498080" y="33649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system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0497312" y="1874520"/>
            <a:ext cx="822960" cy="822960"/>
          </a:xfrm>
          <a:prstGeom prst="ellipse">
            <a:avLst/>
          </a:prstGeom>
          <a:solidFill>
            <a:srgbClr val="E56E72"/>
          </a:solidFill>
          <a:ln w="12700">
            <a:solidFill>
              <a:srgbClr val="E56E7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497312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829800" y="29260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829800" y="33649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proof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914400" y="4709160"/>
            <a:ext cx="10332720" cy="960120"/>
          </a:xfrm>
          <a:prstGeom prst="roundRect">
            <a:avLst>
              <a:gd name="adj" fmla="val 9524"/>
            </a:avLst>
          </a:prstGeom>
          <a:solidFill>
            <a:srgbClr val="102C3E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34440" y="4956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did not start with an LLM. We started with who could be helped—or harmed.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Research-informed personas · not interview-validated [C02]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CoFlow-5 · evidence before claims</a:t>
            </a:r>
            <a:endParaRPr lang="en-US" sz="850" dirty="0"/>
          </a:p>
        </p:txBody>
      </p:sp>
    </p:spTree>
  </p:cSld>
  <p:transition spd="slow" advClick="1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EMPATHIZE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street. Eight human needs.</a:t>
            </a:r>
            <a:endParaRPr lang="en-US" sz="3400" dirty="0"/>
          </a:p>
        </p:txBody>
      </p:sp>
      <p:pic>
        <p:nvPicPr>
          <p:cNvPr id="6" name="Image 0" descr="C:\Users\dell\Downloads\sumo\docs\presentation\personas\p1-ama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600200"/>
            <a:ext cx="1353312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4343400"/>
            <a:ext cx="1353312" cy="960120"/>
          </a:xfrm>
          <a:prstGeom prst="rect">
            <a:avLst/>
          </a:prstGeom>
          <a:solidFill>
            <a:srgbClr val="123246"/>
          </a:solidFill>
          <a:ln w="12700">
            <a:solidFill>
              <a:srgbClr val="12324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44805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74320" y="4892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Amara</a:t>
            </a:r>
            <a:endParaRPr lang="en-US" sz="1100" dirty="0"/>
          </a:p>
        </p:txBody>
      </p:sp>
      <p:pic>
        <p:nvPicPr>
          <p:cNvPr id="10" name="Image 1" descr="C:\Users\dell\Downloads\sumo\docs\presentation\personas\p2-davi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55648" y="1600200"/>
            <a:ext cx="1353312" cy="3383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755648" y="4343400"/>
            <a:ext cx="1353312" cy="960120"/>
          </a:xfrm>
          <a:prstGeom prst="rect">
            <a:avLst/>
          </a:prstGeom>
          <a:solidFill>
            <a:srgbClr val="123246"/>
          </a:solidFill>
          <a:ln w="12700">
            <a:solidFill>
              <a:srgbClr val="12324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755648" y="44805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755648" y="4892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David</a:t>
            </a:r>
            <a:endParaRPr lang="en-US" sz="1100" dirty="0"/>
          </a:p>
        </p:txBody>
      </p:sp>
      <p:pic>
        <p:nvPicPr>
          <p:cNvPr id="14" name="Image 2" descr="C:\Users\dell\Downloads\sumo\docs\presentation\personas\p3-chid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36976" y="1600200"/>
            <a:ext cx="1353312" cy="33832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236976" y="4343400"/>
            <a:ext cx="1353312" cy="960120"/>
          </a:xfrm>
          <a:prstGeom prst="rect">
            <a:avLst/>
          </a:prstGeom>
          <a:solidFill>
            <a:srgbClr val="123246"/>
          </a:solidFill>
          <a:ln w="12700">
            <a:solidFill>
              <a:srgbClr val="123246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3236976" y="44805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3236976" y="4892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Chidi</a:t>
            </a:r>
            <a:endParaRPr lang="en-US" sz="1100" dirty="0"/>
          </a:p>
        </p:txBody>
      </p:sp>
      <p:pic>
        <p:nvPicPr>
          <p:cNvPr id="18" name="Image 3" descr="C:\Users\dell\Downloads\sumo\docs\presentation\personas\p4-ros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18304" y="1600200"/>
            <a:ext cx="1353312" cy="33832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718304" y="4343400"/>
            <a:ext cx="1353312" cy="960120"/>
          </a:xfrm>
          <a:prstGeom prst="rect">
            <a:avLst/>
          </a:prstGeom>
          <a:solidFill>
            <a:srgbClr val="123246"/>
          </a:solidFill>
          <a:ln w="12700">
            <a:solidFill>
              <a:srgbClr val="123246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718304" y="44805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718304" y="4892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Rosa</a:t>
            </a:r>
            <a:endParaRPr lang="en-US" sz="1100" dirty="0"/>
          </a:p>
        </p:txBody>
      </p:sp>
      <p:pic>
        <p:nvPicPr>
          <p:cNvPr id="22" name="Image 4" descr="C:\Users\dell\Downloads\sumo\docs\presentation\personas\p5-marcu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99632" y="1600200"/>
            <a:ext cx="1353312" cy="33832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199632" y="4343400"/>
            <a:ext cx="1353312" cy="960120"/>
          </a:xfrm>
          <a:prstGeom prst="rect">
            <a:avLst/>
          </a:prstGeom>
          <a:solidFill>
            <a:srgbClr val="123246"/>
          </a:solidFill>
          <a:ln w="12700">
            <a:solidFill>
              <a:srgbClr val="123246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199632" y="44805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6199632" y="4892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Marcus</a:t>
            </a:r>
            <a:endParaRPr lang="en-US" sz="1100" dirty="0"/>
          </a:p>
        </p:txBody>
      </p:sp>
      <p:pic>
        <p:nvPicPr>
          <p:cNvPr id="26" name="Image 5" descr="C:\Users\dell\Downloads\sumo\docs\presentation\personas\p6-yuki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680960" y="1600200"/>
            <a:ext cx="1353312" cy="338328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680960" y="4343400"/>
            <a:ext cx="1353312" cy="960120"/>
          </a:xfrm>
          <a:prstGeom prst="rect">
            <a:avLst/>
          </a:prstGeom>
          <a:solidFill>
            <a:srgbClr val="123246"/>
          </a:solidFill>
          <a:ln w="12700">
            <a:solidFill>
              <a:srgbClr val="123246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7680960" y="44805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7680960" y="4892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Yuki</a:t>
            </a:r>
            <a:endParaRPr lang="en-US" sz="1100" dirty="0"/>
          </a:p>
        </p:txBody>
      </p:sp>
      <p:pic>
        <p:nvPicPr>
          <p:cNvPr id="30" name="Image 6" descr="C:\Users\dell\Downloads\sumo\docs\presentation\personas\p7-maria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162288" y="1600200"/>
            <a:ext cx="1353312" cy="338328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9162288" y="4343400"/>
            <a:ext cx="1353312" cy="960120"/>
          </a:xfrm>
          <a:prstGeom prst="rect">
            <a:avLst/>
          </a:prstGeom>
          <a:solidFill>
            <a:srgbClr val="123246"/>
          </a:solidFill>
          <a:ln w="12700">
            <a:solidFill>
              <a:srgbClr val="123246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9162288" y="44805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9162288" y="4892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Maria</a:t>
            </a:r>
            <a:endParaRPr lang="en-US" sz="1100" dirty="0"/>
          </a:p>
        </p:txBody>
      </p:sp>
      <p:pic>
        <p:nvPicPr>
          <p:cNvPr id="34" name="Image 7" descr="C:\Users\dell\Downloads\sumo\docs\presentation\personas\p8-omar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643616" y="1600200"/>
            <a:ext cx="1353312" cy="3383280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10643616" y="4343400"/>
            <a:ext cx="1353312" cy="960120"/>
          </a:xfrm>
          <a:prstGeom prst="rect">
            <a:avLst/>
          </a:prstGeom>
          <a:solidFill>
            <a:srgbClr val="123246"/>
          </a:solidFill>
          <a:ln w="12700">
            <a:solidFill>
              <a:srgbClr val="123246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10643616" y="44805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10643616" y="4892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Omar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502920" y="57424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Amara · David · Chidi · Rosa · Marcus · Yuki · Maria · Omar</a:t>
            </a:r>
            <a:endParaRPr lang="en-US" sz="1600" dirty="0"/>
          </a:p>
        </p:txBody>
      </p:sp>
      <p:sp>
        <p:nvSpPr>
          <p:cNvPr id="39" name="Text 28"/>
          <p:cNvSpPr/>
          <p:nvPr/>
        </p:nvSpPr>
        <p:spPr>
          <a:xfrm>
            <a:off x="502920" y="61264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persona cards: CoFlow-5-Persona-Cards.pptx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CoFlow-5 · evidence before claims</a:t>
            </a:r>
            <a:endParaRPr lang="en-US" sz="850" dirty="0"/>
          </a:p>
        </p:txBody>
      </p:sp>
    </p:spTree>
  </p:cSld>
  <p:transition spd="slow" advClick="1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pic>
        <p:nvPicPr>
          <p:cNvPr id="4" name="Image 0" descr="C:\Users\dell\Downloads\sumo\docs\presentation\personas\p1-ama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623560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5074920"/>
            <a:ext cx="5623560" cy="1783080"/>
          </a:xfrm>
          <a:prstGeom prst="rect">
            <a:avLst/>
          </a:prstGeom>
          <a:solidFill>
            <a:srgbClr val="081B2B">
              <a:alpha val="92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65760" y="5230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· AMARA · 74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65760" y="61722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 real stakeholder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080760" y="1005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PERSONA, ONE CONSEQUENCE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94360" y="14173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light assumes someone faster.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6080760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269480" y="2880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the crossing.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080760" y="3703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269480" y="35844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 get green while she is still on it.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080760" y="4800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perceived wait ≈2× in one study [C03] · clearance guidance ≈1.07 m/s [C04]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080760" y="5715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Measure: mean / P95 / max wait + zero clearance truncations</a:t>
            </a:r>
            <a:endParaRPr lang="en-US" sz="1500" dirty="0"/>
          </a:p>
        </p:txBody>
      </p:sp>
    </p:spTree>
  </p:cSld>
  <p:transition spd="slow" advClick="1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pic>
        <p:nvPicPr>
          <p:cNvPr id="4" name="Image 0" descr="C:\Users\dell\Downloads\sumo\docs\presentation\personas\p1-ama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0"/>
            <a:ext cx="3794760" cy="48920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" y="4160520"/>
            <a:ext cx="3794760" cy="731520"/>
          </a:xfrm>
          <a:prstGeom prst="rect">
            <a:avLst/>
          </a:prstGeom>
          <a:solidFill>
            <a:srgbClr val="081B2B">
              <a:alpha val="90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4261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11480" y="45262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 crossing</a:t>
            </a:r>
            <a:endParaRPr lang="en-US" sz="1700" dirty="0"/>
          </a:p>
        </p:txBody>
      </p:sp>
      <p:pic>
        <p:nvPicPr>
          <p:cNvPr id="8" name="Image 1" descr="C:\Users\dell\Downloads\sumo\docs\presentation\personas\p5-marcu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0"/>
            <a:ext cx="3794760" cy="48920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06240" y="4160520"/>
            <a:ext cx="3794760" cy="731520"/>
          </a:xfrm>
          <a:prstGeom prst="rect">
            <a:avLst/>
          </a:prstGeom>
          <a:solidFill>
            <a:srgbClr val="081B2B">
              <a:alpha val="90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343400" y="4261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MARCUS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343400" y="45262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ambulance coming</a:t>
            </a:r>
            <a:endParaRPr lang="en-US" sz="1700" dirty="0"/>
          </a:p>
        </p:txBody>
      </p:sp>
      <p:pic>
        <p:nvPicPr>
          <p:cNvPr id="12" name="Image 2" descr="C:\Users\dell\Downloads\sumo\docs\presentation\personas\p3-chid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0"/>
            <a:ext cx="3794760" cy="48920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138160" y="4160520"/>
            <a:ext cx="3794760" cy="731520"/>
          </a:xfrm>
          <a:prstGeom prst="rect">
            <a:avLst/>
          </a:prstGeom>
          <a:solidFill>
            <a:srgbClr val="081B2B">
              <a:alpha val="90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75320" y="4261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CHIDI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275320" y="45262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bus waiting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594360" y="5138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should the light serve first?</a:t>
            </a:r>
            <a:endParaRPr lang="en-US" sz="3200" dirty="0"/>
          </a:p>
        </p:txBody>
      </p:sp>
      <p:sp>
        <p:nvSpPr>
          <p:cNvPr id="17" name="Text 11"/>
          <p:cNvSpPr/>
          <p:nvPr/>
        </p:nvSpPr>
        <p:spPr>
          <a:xfrm>
            <a:off x="594360" y="592531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→ emergency → pedestrian deadline → late transit → flow → sustainability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street · competing needs · visible trade-offs</a:t>
            </a:r>
            <a:endParaRPr lang="en-US" sz="850" dirty="0"/>
          </a:p>
        </p:txBody>
      </p:sp>
    </p:spTree>
  </p:cSld>
  <p:transition spd="slow" advClick="1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is not average delay.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311F2A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3957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“Build five AI agents and reduce mean car delay.”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15382F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HUMAN-CENTRED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960" y="235915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people—and show the trade-off when their needs conflict.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82296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HMW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4645152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might we improve traffic for every person—not only the average car—while staying auditable and safe when things fail?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CoFlow-5 · evidence before claims</a:t>
            </a:r>
            <a:endParaRPr lang="en-US" sz="850" dirty="0"/>
          </a:p>
        </p:txBody>
      </p:sp>
    </p:spTree>
  </p:cSld>
  <p:transition spd="slow" advClick="1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IDEATE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 widely. Cut ruthlessly.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0574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BRAINWRITE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· local · rule-based · learned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62272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90872" y="20574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90872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IDEA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90872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drives · every agent writes · every bus wins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84464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13064" y="20574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13064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SCAMPER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513064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 authority: specialists ask, one acts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" y="4343400"/>
            <a:ext cx="10561320" cy="1143000"/>
          </a:xfrm>
          <a:prstGeom prst="roundRect">
            <a:avLst>
              <a:gd name="adj" fmla="val 8000"/>
            </a:avLst>
          </a:prstGeom>
          <a:solidFill>
            <a:srgbClr val="15382F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4553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331720" y="44988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Cooperative Max-Pressure + one writer + typed advisers + deterministic safety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097280" y="5102352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Rejected: LLM control · five writers · mandatory RL · best-episode reporting  [C11][C16]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CoFlow-5 · evidence before claims</a:t>
            </a:r>
            <a:endParaRPr lang="en-US" sz="850" dirty="0"/>
          </a:p>
        </p:txBody>
      </p:sp>
    </p:spTree>
  </p:cSld>
  <p:transition spd="slow" advClick="1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 · [C16]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agents. One pair of hands.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438912" y="1828800"/>
            <a:ext cx="2148840" cy="2011680"/>
          </a:xfrm>
          <a:prstGeom prst="roundRect">
            <a:avLst>
              <a:gd name="adj" fmla="val 4545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2084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76072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76072" y="3246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70632" y="1828800"/>
            <a:ext cx="2148840" cy="2011680"/>
          </a:xfrm>
          <a:prstGeom prst="roundRect">
            <a:avLst>
              <a:gd name="adj" fmla="val 4545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70632" y="2084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907792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 / bus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907792" y="3246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02352" y="1828800"/>
            <a:ext cx="2148840" cy="2011680"/>
          </a:xfrm>
          <a:prstGeom prst="roundRect">
            <a:avLst>
              <a:gd name="adj" fmla="val 4545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02352" y="2084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239512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239512" y="3246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34072" y="1828800"/>
            <a:ext cx="2148840" cy="2011680"/>
          </a:xfrm>
          <a:prstGeom prst="roundRect">
            <a:avLst>
              <a:gd name="adj" fmla="val 4545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4072" y="2084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A5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571232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Sustainability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571232" y="3246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765792" y="1828800"/>
            <a:ext cx="2148840" cy="2011680"/>
          </a:xfrm>
          <a:prstGeom prst="roundRect">
            <a:avLst>
              <a:gd name="adj" fmla="val 4545"/>
            </a:avLst>
          </a:prstGeom>
          <a:solidFill>
            <a:srgbClr val="184B44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65792" y="2084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902952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902952" y="3246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303520" y="4251960"/>
            <a:ext cx="548640" cy="384048"/>
          </a:xfrm>
          <a:prstGeom prst="chevron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17520" y="42245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typed, expiring messages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989320" y="402336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72200" y="4251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MASK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613648" y="4251960"/>
            <a:ext cx="502920" cy="384048"/>
          </a:xfrm>
          <a:prstGeom prst="chevron">
            <a:avLst/>
          </a:prstGeom>
          <a:solidFill>
            <a:srgbClr val="F2A44C"/>
          </a:solidFill>
          <a:ln w="12700">
            <a:solidFill>
              <a:srgbClr val="F2A44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253728" y="40233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15382F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372600" y="42519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EXECUTOR → SUMO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4008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A1 writes signals.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640080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A89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Synapse never actuates.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64008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Recovery: Max-Pressure → actuated → fixed-time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CoFlow-5 · evidence before claims</a:t>
            </a:r>
            <a:endParaRPr lang="en-US" sz="850" dirty="0"/>
          </a:p>
        </p:txBody>
      </p:sp>
    </p:spTree>
  </p:cSld>
  <p:transition spd="slow" advClick="1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→ check → decide → explain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1508760" y="1828800"/>
            <a:ext cx="658368" cy="658368"/>
          </a:xfrm>
          <a:prstGeom prst="ellipse">
            <a:avLst/>
          </a:prstGeom>
          <a:solidFill>
            <a:srgbClr val="35C8B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08760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990088" y="1984248"/>
            <a:ext cx="347472" cy="384048"/>
          </a:xfrm>
          <a:prstGeom prst="chevron">
            <a:avLst/>
          </a:prstGeom>
          <a:solidFill>
            <a:srgbClr val="285064"/>
          </a:solidFill>
          <a:ln w="12700">
            <a:solidFill>
              <a:srgbClr val="28506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 / A3 request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79976" y="1828800"/>
            <a:ext cx="658368" cy="658368"/>
          </a:xfrm>
          <a:prstGeom prst="ellipse">
            <a:avLst/>
          </a:prstGeom>
          <a:solidFill>
            <a:srgbClr val="35C8B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79976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861304" y="1984248"/>
            <a:ext cx="347472" cy="384048"/>
          </a:xfrm>
          <a:prstGeom prst="chevron">
            <a:avLst/>
          </a:prstGeom>
          <a:solidFill>
            <a:srgbClr val="285064"/>
          </a:solidFill>
          <a:ln w="12700">
            <a:solidFill>
              <a:srgbClr val="28506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65576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465576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TTL · identity · capacity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251192" y="1828800"/>
            <a:ext cx="658368" cy="658368"/>
          </a:xfrm>
          <a:prstGeom prst="ellipse">
            <a:avLst/>
          </a:prstGeom>
          <a:solidFill>
            <a:srgbClr val="F2A4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51192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732520" y="1984248"/>
            <a:ext cx="347472" cy="384048"/>
          </a:xfrm>
          <a:prstGeom prst="chevron">
            <a:avLst/>
          </a:prstGeom>
          <a:solidFill>
            <a:srgbClr val="285064"/>
          </a:solidFill>
          <a:ln w="12700">
            <a:solidFill>
              <a:srgbClr val="28506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36792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336792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 + safety mask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0122408" y="1828800"/>
            <a:ext cx="658368" cy="658368"/>
          </a:xfrm>
          <a:prstGeom prst="ellipse">
            <a:avLst/>
          </a:prstGeom>
          <a:solidFill>
            <a:srgbClr val="35C8B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122408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208008" y="2788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REPLY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208008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yes/no + reason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14400" y="4251960"/>
            <a:ext cx="10332720" cy="822960"/>
          </a:xfrm>
          <a:prstGeom prst="roundRect">
            <a:avLst>
              <a:gd name="adj" fmla="val 11111"/>
            </a:avLst>
          </a:prstGeom>
          <a:solidFill>
            <a:srgbClr val="102C3E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88720" y="44988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run_id  ·  scenario_hash  ·  event_id  ·  message_id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 board? A1 still runs.  Synapse failure? Light actions stay unchanged.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CoFlow-5 · evidence before claims</a:t>
            </a:r>
            <a:endParaRPr lang="en-US" sz="850" dirty="0"/>
          </a:p>
        </p:txBody>
      </p:sp>
    </p:spTree>
  </p:cSld>
  <p:transition spd="slow" advClick="1">
    <p:fade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 + DATA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questions. Three evidence packs.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116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fixed-time · actuated · Max-Pressure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1330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trips · waits · tails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0" y="178308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20116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617720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COOPERATION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17720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crossing · emergency · late bus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17720" y="41330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 · decisions · KPIs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83880" y="178308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0" y="20116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412480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412480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· stale · controller · Synapse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12480" y="41330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faults · recovery · action hash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" y="53949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hidden exclusions: unfinished trips, faults, nulls and externalities stay visible.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1520" y="58521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spine: manifest → state/messages → decisions/trips/faults → KPIs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CoFlow-5 · evidence before claims</a:t>
            </a:r>
            <a:endParaRPr lang="en-US" sz="850" dirty="0"/>
          </a:p>
        </p:txBody>
      </p:sp>
    </p:spTree>
  </p:cSld>
  <p:transition spd="slow" advClick="1">
    <p:fade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NOW · [C17]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Proven behavior ≠ proven performance.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9933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09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4871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orphans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115 records joined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173736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9933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10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17720" y="24871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2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4617720" y="31546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A5 accepted / rejected advice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0" y="173736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19933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10B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0" y="24871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/ 84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8412480" y="31546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Max-Pressure trips completed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680" y="4251960"/>
            <a:ext cx="10469880" cy="1234440"/>
          </a:xfrm>
          <a:prstGeom prst="roundRect">
            <a:avLst>
              <a:gd name="adj" fmla="val 7407"/>
            </a:avLst>
          </a:prstGeom>
          <a:solidFill>
            <a:srgbClr val="322A1F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3000" y="44805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STILL MISSING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3000" y="4864608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multi-seed inference  ·  A4/A5 value ablations  ·  stakeholder validation  ·  Tunis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1520" y="58064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07, 08 and 09 plus 10, 10b and 10c are gated.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CoFlow-5 · evidence before claims</a:t>
            </a:r>
            <a:endParaRPr lang="en-US" sz="850" dirty="0"/>
          </a:p>
        </p:txBody>
      </p:sp>
    </p:spTree>
  </p:cSld>
  <p:transition spd="slow" advClick="1">
    <p:fade/>
  </p:transition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TUNIS + RESOURCES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story. Controlled claims.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5029200" cy="3520440"/>
          </a:xfrm>
          <a:prstGeom prst="roundRect">
            <a:avLst>
              <a:gd name="adj" fmla="val 2597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0574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TUNIS SHOWCASE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6517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OpenStreetMap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60120" y="3154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official scheduled TRANSTU data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3977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demand: synthetic or calibrated—not observed.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[C15]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1737360"/>
            <a:ext cx="5532120" cy="3520440"/>
          </a:xfrm>
          <a:prstGeom prst="roundRect">
            <a:avLst>
              <a:gd name="adj" fmla="val 2597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0574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SPINE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2651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Course + method  [C01][C02]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55080" y="32186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People + operations  [C03]–[C10]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55080" y="37856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Traffic research  [C11]–[C14]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55080" y="435254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Project authority + evidence  [C16][C17]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" y="55961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32-row mixed-source evidence register · full URLs in presentation-claim-ledger.json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" y="60167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lives-saved claim · no ambient air claim · no best-episode headline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CoFlow-5 · evidence before claims</a:t>
            </a:r>
            <a:endParaRPr lang="en-US" sz="850" dirty="0"/>
          </a:p>
        </p:txBody>
      </p:sp>
    </p:spTree>
  </p:cSld>
  <p:transition spd="slow" advClick="1">
    <p:fade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5C8BC"/>
          </a:solidFill>
          <a:ln w="12700">
            <a:solidFill>
              <a:srgbClr val="35C8BC"/>
            </a:solidFill>
            <a:prstDash val="solid"/>
          </a:ln>
        </p:spPr>
      </p:sp>
      <p:pic>
        <p:nvPicPr>
          <p:cNvPr id="4" name="Image 0" descr="C:\Users\dell\Downloads\sumo\docs\presentation\personas\p1-ama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523962" cy="6858000"/>
          </a:xfrm>
          <a:prstGeom prst="rect">
            <a:avLst/>
          </a:prstGeom>
        </p:spPr>
      </p:pic>
      <p:pic>
        <p:nvPicPr>
          <p:cNvPr id="5" name="Image 1" descr="C:\Users\dell\Downloads\sumo\docs\presentation\personas\p2-davi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23962" y="0"/>
            <a:ext cx="1523962" cy="6858000"/>
          </a:xfrm>
          <a:prstGeom prst="rect">
            <a:avLst/>
          </a:prstGeom>
        </p:spPr>
      </p:pic>
      <p:pic>
        <p:nvPicPr>
          <p:cNvPr id="6" name="Image 2" descr="C:\Users\dell\Downloads\sumo\docs\presentation\personas\p3-chid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047924" y="0"/>
            <a:ext cx="1523962" cy="6858000"/>
          </a:xfrm>
          <a:prstGeom prst="rect">
            <a:avLst/>
          </a:prstGeom>
        </p:spPr>
      </p:pic>
      <p:pic>
        <p:nvPicPr>
          <p:cNvPr id="7" name="Image 3" descr="C:\Users\dell\Downloads\sumo\docs\presentation\personas\p4-ros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1886" y="0"/>
            <a:ext cx="1523962" cy="6858000"/>
          </a:xfrm>
          <a:prstGeom prst="rect">
            <a:avLst/>
          </a:prstGeom>
        </p:spPr>
      </p:pic>
      <p:pic>
        <p:nvPicPr>
          <p:cNvPr id="8" name="Image 4" descr="C:\Users\dell\Downloads\sumo\docs\presentation\personas\p5-marcu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95848" y="0"/>
            <a:ext cx="1523962" cy="6858000"/>
          </a:xfrm>
          <a:prstGeom prst="rect">
            <a:avLst/>
          </a:prstGeom>
        </p:spPr>
      </p:pic>
      <p:pic>
        <p:nvPicPr>
          <p:cNvPr id="9" name="Image 5" descr="C:\Users\dell\Downloads\sumo\docs\presentation\personas\p6-yuki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619810" y="0"/>
            <a:ext cx="1523962" cy="6858000"/>
          </a:xfrm>
          <a:prstGeom prst="rect">
            <a:avLst/>
          </a:prstGeom>
        </p:spPr>
      </p:pic>
      <p:pic>
        <p:nvPicPr>
          <p:cNvPr id="10" name="Image 6" descr="C:\Users\dell\Downloads\sumo\docs\presentation\personas\p7-maria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143771" y="0"/>
            <a:ext cx="1523962" cy="6858000"/>
          </a:xfrm>
          <a:prstGeom prst="rect">
            <a:avLst/>
          </a:prstGeom>
        </p:spPr>
      </p:pic>
      <p:pic>
        <p:nvPicPr>
          <p:cNvPr id="11" name="Image 7" descr="C:\Users\dell\Downloads\sumo\docs\presentation\personas\p8-omar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667733" y="0"/>
            <a:ext cx="1523962" cy="6858000"/>
          </a:xfrm>
          <a:prstGeom prst="rect">
            <a:avLst/>
          </a:prstGeom>
        </p:spPr>
      </p:pic>
      <p:sp>
        <p:nvSpPr>
          <p:cNvPr id="12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2B">
              <a:alpha val="70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13" name="Text 2"/>
          <p:cNvSpPr/>
          <p:nvPr/>
        </p:nvSpPr>
        <p:spPr>
          <a:xfrm>
            <a:off x="594360" y="2057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People. Evidence. One writer.</a:t>
            </a:r>
            <a:endParaRPr lang="en-US" sz="4200" dirty="0"/>
          </a:p>
        </p:txBody>
      </p:sp>
      <p:sp>
        <p:nvSpPr>
          <p:cNvPr id="14" name="Text 3"/>
          <p:cNvSpPr/>
          <p:nvPr/>
        </p:nvSpPr>
        <p:spPr>
          <a:xfrm>
            <a:off x="640080" y="324612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 LLM traffic controller.</a:t>
            </a:r>
            <a:endParaRPr lang="en-US" sz="2400" dirty="0"/>
          </a:p>
        </p:txBody>
      </p:sp>
      <p:sp>
        <p:nvSpPr>
          <p:cNvPr id="15" name="Text 4"/>
          <p:cNvSpPr/>
          <p:nvPr/>
        </p:nvSpPr>
        <p:spPr>
          <a:xfrm>
            <a:off x="640080" y="3886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testable decision architecture for urban traffic simulation.</a:t>
            </a:r>
            <a:endParaRPr lang="en-US" sz="2000" dirty="0"/>
          </a:p>
        </p:txBody>
      </p:sp>
      <p:sp>
        <p:nvSpPr>
          <p:cNvPr id="16" name="Text 5"/>
          <p:cNvSpPr/>
          <p:nvPr/>
        </p:nvSpPr>
        <p:spPr>
          <a:xfrm>
            <a:off x="640080" y="56235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3000" dirty="0"/>
          </a:p>
        </p:txBody>
      </p:sp>
    </p:spTree>
  </p:cSld>
  <p:transition spd="slow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CoFlow-5 Synapse — Short Professor Talk</dc:title>
  <dc:subject>Visual Design Thinking story and proposed solution</dc:subject>
  <dc:creator>CoFlow-5 Synapse · ESPRIT 4DS</dc:creator>
  <cp:lastModifiedBy>CoFlow-5 Synapse · ESPRIT 4DS</cp:lastModifiedBy>
  <cp:revision>1</cp:revision>
  <dcterms:created xsi:type="dcterms:W3CDTF">2026-09-22T19:43:38Z</dcterms:created>
  <dcterms:modified xsi:type="dcterms:W3CDTF">2026-09-22T19:43:38Z</dcterms:modified>
</cp:coreProperties>
</file>