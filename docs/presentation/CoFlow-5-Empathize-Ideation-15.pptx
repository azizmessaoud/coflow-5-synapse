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to Fedi Baccar. Team from ADR-0002. Claim: the system evaluates a constrained incident response in simulation and keeps a record of each decision. It does not prevent accidents in Tunisia.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 signal change hits the person still crossing, the unfinished trip, the bus gap, and the people who must read a refusal, a full exit, or a stale sensor. No public adaptive-signal network in Tunis was found. This slide does not claim the project prevents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groups named by a source. Ages and jobs on the persona cards are design readings, not interviews. Motorcyclists were 32% of 2023 deaths in the investment case. They are affected. This arc does not give them 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WHO country profile; WHO/UNIATF investment case quoting ONSR; La Presse briefing of ONSR, 17 Jan 2025; TRANSTU activity report 2018; harness/work/10c-evidence-page seed 37. Interviews, questionnaires, and ride-alongs were not collected. Tunis governorate 2024, same La Presse article: 953 crashes, 136 deaths. Not one intersection. Seed 37: fixed-time 71/84, mean wait 13.17 s, P95 33 s; actuated 84/84, 10.35 s, P95 16 s; cooperative Max-Pressure 70/84, 14.21 s, P95 25 s. Classroom watch is seed 53, not this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finding limits the claim. Finding 3 is seed 37 only. Finding 4: no public adaptive network found, and 2018 ridership is not today’s headway. Cause classes from the same La Presse briefing, not a model of our junction: inattention about 42% of crashes, speeding about 14% of crashes and about 30% of deaths, unsafe pedestrian crossing about 8% of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readings, not interviews. Statements are syntheses, not quotes. Portraits are illustrations. Pedestrians were 28% of 2023 deaths in the investment case. The 2024 strategy names older people and people with disabilities. Clearance guidance is about 1.07 m/s. Occupants carry most of the health cost in that case. Appraisal guidance uses 0.4 as a reliability ratio. On seed 37, unfinished trips stayed in the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readings, not interviews. Statements are syntheses, not quotes. Portraits are illustrations. TRANSTU reported 187.4 million paying passengers in 2018. That is not this year’s headway. Appraisal guidance values waiting time above time on the bus. ONSR compiles the national crash record. SCATS documents monitoring and audit trails. That is an analogy, not a Tunis control room we 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readings, not interviews. Statements are syntheses, not quotes. Portraits are illustrations. Civil Protection answers these calls. Preemption can add delay elsewhere. A Taipei minute figure is cited as foreign. Not lives saved. The detector has classes. An anomaly does not name a cause. A 25–30% congestion share is a US citation, not a map of these junctions.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pains, and expectations taken from the six cards. Not from an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is refined from the needs table. It is not “reduce deaths in Tunisia.” The six How Might We questions were written from that table. They were not collected in a workshop with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one idea per persona need, written beside the source, then kept or refused. Not SCAMPER. Not mind mapping. Not a workshop with users. Six kept. Nine refused: six beside a persona, plus three that failed for everyone. Refused ideas stay on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filters. An idea that failed any one of them was dropped. Six passed. Nine failed and stay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concept: advisers request, A1 alone writes through the safety mask and the signal executor, Synapse explains with a citation or abstains and never reaches TraCI. Recovery after emergency priority: Max-Pressure, then actuated, then fixed-time. This evaluates incident response in simulation. It does not prevent accidents in Tunisia.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the validation asks to see, one row per persona: evidence, pain, the idea we kept, and the behaviour in the selected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once more. Claim only the simulation record. Name what is still missing: interviews, and more than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3" name="Text 0"/>
          <p:cNvSpPr/>
          <p:nvPr/>
        </p:nvSpPr>
        <p:spPr>
          <a:xfrm>
            <a:off x="502920" y="384048"/>
            <a:ext cx="8412480" cy="274320"/>
          </a:xfrm>
          <a:prstGeom prst="rect">
            <a:avLst/>
          </a:prstGeom>
          <a:noFill/>
          <a:ln/>
        </p:spPr>
        <p:txBody>
          <a:bodyPr wrap="square" lIns="0" tIns="0" rIns="0" bIns="0" rtlCol="0" anchor="t"/>
          <a:lstStyle/>
          <a:p>
            <a:pPr indent="0" marL="0">
              <a:buNone/>
            </a:pPr>
            <a:r>
              <a:rPr lang="en-US" sz="1300" b="1" spc="120" kern="0" dirty="0">
                <a:solidFill>
                  <a:srgbClr val="E8A33D"/>
                </a:solidFill>
                <a:latin typeface="Aptos" pitchFamily="34" charset="0"/>
                <a:ea typeface="Aptos" pitchFamily="34" charset="-122"/>
                <a:cs typeface="Aptos" pitchFamily="34" charset="-120"/>
              </a:rPr>
              <a:t>ESPRIT 4DS  ·  DESIGN THINKING VALIDATION</a:t>
            </a:r>
            <a:endParaRPr lang="en-US" sz="1300" dirty="0"/>
          </a:p>
        </p:txBody>
      </p:sp>
      <p:sp>
        <p:nvSpPr>
          <p:cNvPr id="4" name="Text 1"/>
          <p:cNvSpPr/>
          <p:nvPr/>
        </p:nvSpPr>
        <p:spPr>
          <a:xfrm>
            <a:off x="475488" y="1691640"/>
            <a:ext cx="8595360" cy="777240"/>
          </a:xfrm>
          <a:prstGeom prst="rect">
            <a:avLst/>
          </a:prstGeom>
          <a:noFill/>
          <a:ln/>
        </p:spPr>
        <p:txBody>
          <a:bodyPr wrap="square" lIns="0" tIns="0" rIns="0" bIns="0" rtlCol="0" anchor="t"/>
          <a:lstStyle/>
          <a:p>
            <a:pPr indent="0" marL="0">
              <a:buNone/>
            </a:pPr>
            <a:r>
              <a:rPr lang="en-US" sz="4800" b="1" dirty="0">
                <a:solidFill>
                  <a:srgbClr val="F4F1EA"/>
                </a:solidFill>
                <a:latin typeface="Aptos Display" pitchFamily="34" charset="0"/>
                <a:ea typeface="Aptos Display" pitchFamily="34" charset="-122"/>
                <a:cs typeface="Aptos Display" pitchFamily="34" charset="-120"/>
              </a:rPr>
              <a:t>CoFlow-5 Synapse</a:t>
            </a:r>
            <a:endParaRPr lang="en-US" sz="4800" dirty="0"/>
          </a:p>
        </p:txBody>
      </p:sp>
      <p:sp>
        <p:nvSpPr>
          <p:cNvPr id="5" name="Text 2"/>
          <p:cNvSpPr/>
          <p:nvPr/>
        </p:nvSpPr>
        <p:spPr>
          <a:xfrm>
            <a:off x="502920" y="2560320"/>
            <a:ext cx="7863840" cy="777240"/>
          </a:xfrm>
          <a:prstGeom prst="rect">
            <a:avLst/>
          </a:prstGeom>
          <a:noFill/>
          <a:ln/>
        </p:spPr>
        <p:txBody>
          <a:bodyPr wrap="square" lIns="0" tIns="0" rIns="0" bIns="0" rtlCol="0" anchor="t"/>
          <a:lstStyle/>
          <a:p>
            <a:pPr indent="0" marL="0">
              <a:buNone/>
            </a:pPr>
            <a:r>
              <a:rPr lang="en-US" sz="1800" dirty="0">
                <a:solidFill>
                  <a:srgbClr val="C9D3D8"/>
                </a:solidFill>
                <a:latin typeface="Aptos" pitchFamily="34" charset="0"/>
                <a:ea typeface="Aptos" pitchFamily="34" charset="-122"/>
                <a:cs typeface="Aptos" pitchFamily="34" charset="-120"/>
              </a:rPr>
              <a:t>Empathize and Ideation for a simulated, auditable traffic-signal controller in incident response.</a:t>
            </a:r>
            <a:endParaRPr lang="en-US" sz="1800" dirty="0"/>
          </a:p>
        </p:txBody>
      </p:sp>
      <p:sp>
        <p:nvSpPr>
          <p:cNvPr id="6" name="Text 3"/>
          <p:cNvSpPr/>
          <p:nvPr/>
        </p:nvSpPr>
        <p:spPr>
          <a:xfrm>
            <a:off x="502920" y="4709160"/>
            <a:ext cx="7772400" cy="292608"/>
          </a:xfrm>
          <a:prstGeom prst="rect">
            <a:avLst/>
          </a:prstGeom>
          <a:noFill/>
          <a:ln/>
        </p:spPr>
        <p:txBody>
          <a:bodyPr wrap="square" lIns="0" tIns="0" rIns="0" bIns="0" rtlCol="0" anchor="t"/>
          <a:lstStyle/>
          <a:p>
            <a:pPr indent="0" marL="0">
              <a:buNone/>
            </a:pPr>
            <a:r>
              <a:rPr lang="en-US" sz="1600" dirty="0">
                <a:solidFill>
                  <a:srgbClr val="F4F1EA"/>
                </a:solidFill>
                <a:latin typeface="Aptos" pitchFamily="34" charset="0"/>
                <a:ea typeface="Aptos" pitchFamily="34" charset="-122"/>
                <a:cs typeface="Aptos" pitchFamily="34" charset="-120"/>
              </a:rPr>
              <a:t>Presented to Fedi Baccar</a:t>
            </a:r>
            <a:endParaRPr lang="en-US" sz="1600" dirty="0"/>
          </a:p>
        </p:txBody>
      </p:sp>
      <p:sp>
        <p:nvSpPr>
          <p:cNvPr id="7" name="Text 4"/>
          <p:cNvSpPr/>
          <p:nvPr/>
        </p:nvSpPr>
        <p:spPr>
          <a:xfrm>
            <a:off x="502920" y="5074920"/>
            <a:ext cx="8046720" cy="256032"/>
          </a:xfrm>
          <a:prstGeom prst="rect">
            <a:avLst/>
          </a:prstGeom>
          <a:noFill/>
          <a:ln/>
        </p:spPr>
        <p:txBody>
          <a:bodyPr wrap="square" lIns="0" tIns="0" rIns="0" bIns="0" rtlCol="0" anchor="t"/>
          <a:lstStyle/>
          <a:p>
            <a:pPr indent="0" marL="0">
              <a:buNone/>
            </a:pPr>
            <a:r>
              <a:rPr lang="en-US" sz="1400" dirty="0">
                <a:solidFill>
                  <a:srgbClr val="C9D3D8"/>
                </a:solidFill>
                <a:latin typeface="Aptos" pitchFamily="34" charset="0"/>
                <a:ea typeface="Aptos" pitchFamily="34" charset="-122"/>
                <a:cs typeface="Aptos" pitchFamily="34" charset="-120"/>
              </a:rPr>
              <a:t>Aziz Messaoud  ·  Eya Laourine  ·  Fares Ben Kacem</a:t>
            </a:r>
            <a:endParaRPr lang="en-US" sz="1400" dirty="0"/>
          </a:p>
        </p:txBody>
      </p:sp>
      <p:sp>
        <p:nvSpPr>
          <p:cNvPr id="8" name="Text 5"/>
          <p:cNvSpPr/>
          <p:nvPr/>
        </p:nvSpPr>
        <p:spPr>
          <a:xfrm>
            <a:off x="502920" y="5376672"/>
            <a:ext cx="8412480" cy="256032"/>
          </a:xfrm>
          <a:prstGeom prst="rect">
            <a:avLst/>
          </a:prstGeom>
          <a:noFill/>
          <a:ln/>
        </p:spPr>
        <p:txBody>
          <a:bodyPr wrap="square" lIns="0" tIns="0" rIns="0" bIns="0" rtlCol="0" anchor="t"/>
          <a:lstStyle/>
          <a:p>
            <a:pPr indent="0" marL="0">
              <a:buNone/>
            </a:pPr>
            <a:r>
              <a:rPr lang="en-US" sz="1400" dirty="0">
                <a:solidFill>
                  <a:srgbClr val="C9D3D8"/>
                </a:solidFill>
                <a:latin typeface="Aptos" pitchFamily="34" charset="0"/>
                <a:ea typeface="Aptos" pitchFamily="34" charset="-122"/>
                <a:cs typeface="Aptos" pitchFamily="34" charset="-120"/>
              </a:rPr>
              <a:t>Mohamed Aymen Hamzaoui  ·  Oumayma Saddouri  ·  Ranim Ben Salem</a:t>
            </a:r>
            <a:endParaRPr lang="en-US" sz="1400" dirty="0"/>
          </a:p>
        </p:txBody>
      </p:sp>
      <p:sp>
        <p:nvSpPr>
          <p:cNvPr id="9" name="Text 6"/>
          <p:cNvSpPr/>
          <p:nvPr/>
        </p:nvSpPr>
        <p:spPr>
          <a:xfrm>
            <a:off x="502920" y="5742432"/>
            <a:ext cx="3657600" cy="256032"/>
          </a:xfrm>
          <a:prstGeom prst="rect">
            <a:avLst/>
          </a:prstGeom>
          <a:noFill/>
          <a:ln/>
        </p:spPr>
        <p:txBody>
          <a:bodyPr wrap="square" lIns="0" tIns="0" rIns="0" bIns="0" rtlCol="0" anchor="t"/>
          <a:lstStyle/>
          <a:p>
            <a:pPr indent="0" marL="0">
              <a:buNone/>
            </a:pPr>
            <a:r>
              <a:rPr lang="en-US" sz="1400" dirty="0">
                <a:solidFill>
                  <a:srgbClr val="E8A33D"/>
                </a:solidFill>
                <a:latin typeface="Aptos" pitchFamily="34" charset="0"/>
                <a:ea typeface="Aptos" pitchFamily="34" charset="-122"/>
                <a:cs typeface="Aptos" pitchFamily="34" charset="-120"/>
              </a:rPr>
              <a:t>September 2026</a:t>
            </a:r>
            <a:endParaRPr lang="en-US" sz="1400" dirty="0"/>
          </a:p>
        </p:txBody>
      </p:sp>
      <p:sp>
        <p:nvSpPr>
          <p:cNvPr id="10" name="Text 7"/>
          <p:cNvSpPr/>
          <p:nvPr/>
        </p:nvSpPr>
        <p:spPr>
          <a:xfrm>
            <a:off x="502920" y="6309360"/>
            <a:ext cx="9326880" cy="256032"/>
          </a:xfrm>
          <a:prstGeom prst="rect">
            <a:avLst/>
          </a:prstGeom>
          <a:noFill/>
          <a:ln/>
        </p:spPr>
        <p:txBody>
          <a:bodyPr wrap="square" lIns="0" tIns="0" rIns="0" bIns="0" rtlCol="0" anchor="t"/>
          <a:lstStyle/>
          <a:p>
            <a:pPr indent="0" marL="0">
              <a:buNone/>
            </a:pPr>
            <a:r>
              <a:rPr lang="en-US" sz="1300" dirty="0">
                <a:solidFill>
                  <a:srgbClr val="8AA0AD"/>
                </a:solidFill>
                <a:latin typeface="Aptos" pitchFamily="34" charset="0"/>
                <a:ea typeface="Aptos" pitchFamily="34" charset="-122"/>
                <a:cs typeface="Aptos" pitchFamily="34" charset="-120"/>
              </a:rPr>
              <a:t>Research  →  Evidence  →  Personas  →  Needs  →  Problem  →  Ideas  →  Solution</a:t>
            </a:r>
            <a:endParaRPr lang="en-US" sz="1300" dirty="0"/>
          </a:p>
        </p:txBody>
      </p:sp>
      <p:sp>
        <p:nvSpPr>
          <p:cNvPr id="11" name="Shape 8"/>
          <p:cNvSpPr/>
          <p:nvPr/>
        </p:nvSpPr>
        <p:spPr>
          <a:xfrm>
            <a:off x="10195560" y="1234440"/>
            <a:ext cx="1170432" cy="3246120"/>
          </a:xfrm>
          <a:prstGeom prst="roundRect">
            <a:avLst>
              <a:gd name="adj" fmla="val 48438"/>
            </a:avLst>
          </a:prstGeom>
          <a:solidFill>
            <a:srgbClr val="1C2E3C"/>
          </a:solidFill>
          <a:ln w="12700">
            <a:solidFill>
              <a:srgbClr val="1C2E3C"/>
            </a:solidFill>
            <a:prstDash val="solid"/>
          </a:ln>
        </p:spPr>
      </p:sp>
      <p:sp>
        <p:nvSpPr>
          <p:cNvPr id="12" name="Shape 9"/>
          <p:cNvSpPr/>
          <p:nvPr/>
        </p:nvSpPr>
        <p:spPr>
          <a:xfrm>
            <a:off x="10479024" y="1481328"/>
            <a:ext cx="603504" cy="603504"/>
          </a:xfrm>
          <a:prstGeom prst="ellipse">
            <a:avLst/>
          </a:prstGeom>
          <a:solidFill>
            <a:srgbClr val="3E4E5A"/>
          </a:solidFill>
          <a:ln w="12700">
            <a:solidFill>
              <a:srgbClr val="3E4E5A"/>
            </a:solidFill>
            <a:prstDash val="solid"/>
          </a:ln>
        </p:spPr>
      </p:sp>
      <p:sp>
        <p:nvSpPr>
          <p:cNvPr id="13" name="Shape 10"/>
          <p:cNvSpPr/>
          <p:nvPr/>
        </p:nvSpPr>
        <p:spPr>
          <a:xfrm>
            <a:off x="10479024" y="2331720"/>
            <a:ext cx="603504" cy="603504"/>
          </a:xfrm>
          <a:prstGeom prst="ellipse">
            <a:avLst/>
          </a:prstGeom>
          <a:solidFill>
            <a:srgbClr val="E8A33D"/>
          </a:solidFill>
          <a:ln w="12700">
            <a:solidFill>
              <a:srgbClr val="E8A33D"/>
            </a:solidFill>
            <a:prstDash val="solid"/>
          </a:ln>
        </p:spPr>
      </p:sp>
      <p:sp>
        <p:nvSpPr>
          <p:cNvPr id="14" name="Shape 11"/>
          <p:cNvSpPr/>
          <p:nvPr/>
        </p:nvSpPr>
        <p:spPr>
          <a:xfrm>
            <a:off x="10479024" y="3182112"/>
            <a:ext cx="603504" cy="603504"/>
          </a:xfrm>
          <a:prstGeom prst="ellipse">
            <a:avLst/>
          </a:prstGeom>
          <a:solidFill>
            <a:srgbClr val="3E4E5A"/>
          </a:solidFill>
          <a:ln w="12700">
            <a:solidFill>
              <a:srgbClr val="3E4E5A"/>
            </a:solidFill>
            <a:prstDash val="solid"/>
          </a:ln>
        </p:spPr>
      </p:sp>
      <p:sp>
        <p:nvSpPr>
          <p:cNvPr id="15" name="Shape 12"/>
          <p:cNvSpPr/>
          <p:nvPr/>
        </p:nvSpPr>
        <p:spPr>
          <a:xfrm>
            <a:off x="10643616" y="4480560"/>
            <a:ext cx="274320" cy="640080"/>
          </a:xfrm>
          <a:prstGeom prst="rect">
            <a:avLst/>
          </a:prstGeom>
          <a:solidFill>
            <a:srgbClr val="1C2E3C"/>
          </a:solidFill>
          <a:ln w="12700">
            <a:solidFill>
              <a:srgbClr val="1C2E3C"/>
            </a:solidFill>
            <a:prstDash val="solid"/>
          </a:ln>
        </p:spPr>
      </p:sp>
      <p:sp>
        <p:nvSpPr>
          <p:cNvPr id="16" name="Text 13"/>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A0AD"/>
                </a:solidFill>
                <a:latin typeface="Aptos" pitchFamily="34" charset="0"/>
                <a:ea typeface="Aptos" pitchFamily="34" charset="-122"/>
                <a:cs typeface="Aptos" pitchFamily="34" charset="-120"/>
              </a:rPr>
              <a:t>01</a:t>
            </a:r>
            <a:endParaRPr lang="en-US" sz="1200" dirty="0"/>
          </a:p>
        </p:txBody>
      </p:sp>
    </p:spTree>
  </p:cSld>
  <p:transition spd="slow" advClick="1">
    <p:fade/>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1  ·  PROBLEM CONTEXT</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One signal decision hits several people at once</a:t>
            </a:r>
            <a:endParaRPr lang="en-US" sz="2800" dirty="0"/>
          </a:p>
        </p:txBody>
      </p:sp>
      <p:sp>
        <p:nvSpPr>
          <p:cNvPr id="5" name="Shape 2"/>
          <p:cNvSpPr/>
          <p:nvPr/>
        </p:nvSpPr>
        <p:spPr>
          <a:xfrm>
            <a:off x="384048" y="1353312"/>
            <a:ext cx="5742432" cy="2304288"/>
          </a:xfrm>
          <a:prstGeom prst="roundRect">
            <a:avLst>
              <a:gd name="adj" fmla="val 3175"/>
            </a:avLst>
          </a:prstGeom>
          <a:solidFill>
            <a:srgbClr val="FBFAF6"/>
          </a:solidFill>
          <a:ln w="12700">
            <a:solidFill>
              <a:srgbClr val="E4DFD6"/>
            </a:solidFill>
            <a:prstDash val="solid"/>
          </a:ln>
        </p:spPr>
      </p:sp>
      <p:sp>
        <p:nvSpPr>
          <p:cNvPr id="6" name="Text 3"/>
          <p:cNvSpPr/>
          <p:nvPr/>
        </p:nvSpPr>
        <p:spPr>
          <a:xfrm>
            <a:off x="603504" y="1517904"/>
            <a:ext cx="5303520" cy="256032"/>
          </a:xfrm>
          <a:prstGeom prst="rect">
            <a:avLst/>
          </a:prstGeom>
          <a:noFill/>
          <a:ln/>
        </p:spPr>
        <p:txBody>
          <a:bodyPr wrap="square" lIns="0" tIns="0" rIns="0" bIns="0" rtlCol="0" anchor="t"/>
          <a:lstStyle/>
          <a:p>
            <a:pPr indent="0" marL="0">
              <a:buNone/>
            </a:pPr>
            <a:r>
              <a:rPr lang="en-US" sz="1300" b="1" spc="60" kern="0" dirty="0">
                <a:solidFill>
                  <a:srgbClr val="1F6B72"/>
                </a:solidFill>
                <a:latin typeface="Aptos" pitchFamily="34" charset="0"/>
                <a:ea typeface="Aptos" pitchFamily="34" charset="-122"/>
                <a:cs typeface="Aptos" pitchFamily="34" charset="-120"/>
              </a:rPr>
              <a:t>→   AMARA</a:t>
            </a:r>
            <a:endParaRPr lang="en-US" sz="1300" dirty="0"/>
          </a:p>
        </p:txBody>
      </p:sp>
      <p:sp>
        <p:nvSpPr>
          <p:cNvPr id="7" name="Text 4"/>
          <p:cNvSpPr/>
          <p:nvPr/>
        </p:nvSpPr>
        <p:spPr>
          <a:xfrm>
            <a:off x="603504" y="1828800"/>
            <a:ext cx="5303520" cy="713232"/>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A light changes while someone</a:t>
            </a:r>
            <a:endParaRPr lang="en-US" sz="1600" dirty="0"/>
          </a:p>
          <a:p>
            <a:pPr indent="0" marL="0">
              <a:buNone/>
            </a:pPr>
            <a:r>
              <a:rPr lang="en-US" sz="1600" b="1" dirty="0">
                <a:solidFill>
                  <a:srgbClr val="16222C"/>
                </a:solidFill>
                <a:latin typeface="Aptos" pitchFamily="34" charset="0"/>
                <a:ea typeface="Aptos" pitchFamily="34" charset="-122"/>
                <a:cs typeface="Aptos" pitchFamily="34" charset="-120"/>
              </a:rPr>
              <a:t>is still crossing.</a:t>
            </a:r>
            <a:endParaRPr lang="en-US" sz="1600" dirty="0"/>
          </a:p>
        </p:txBody>
      </p:sp>
      <p:sp>
        <p:nvSpPr>
          <p:cNvPr id="8" name="Text 5"/>
          <p:cNvSpPr/>
          <p:nvPr/>
        </p:nvSpPr>
        <p:spPr>
          <a:xfrm>
            <a:off x="603504" y="2615184"/>
            <a:ext cx="5303520" cy="868680"/>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Pedestrians were 28% of 2023 deaths in the WHO investment case quoting ONSR. The 2024 strategy names older people and people with disabilities.</a:t>
            </a:r>
            <a:endParaRPr lang="en-US" sz="1400" dirty="0"/>
          </a:p>
        </p:txBody>
      </p:sp>
      <p:sp>
        <p:nvSpPr>
          <p:cNvPr id="9" name="Shape 6"/>
          <p:cNvSpPr/>
          <p:nvPr/>
        </p:nvSpPr>
        <p:spPr>
          <a:xfrm>
            <a:off x="6291072" y="1353312"/>
            <a:ext cx="5742432" cy="2304288"/>
          </a:xfrm>
          <a:prstGeom prst="roundRect">
            <a:avLst>
              <a:gd name="adj" fmla="val 3175"/>
            </a:avLst>
          </a:prstGeom>
          <a:solidFill>
            <a:srgbClr val="FBFAF6"/>
          </a:solidFill>
          <a:ln w="12700">
            <a:solidFill>
              <a:srgbClr val="E4DFD6"/>
            </a:solidFill>
            <a:prstDash val="solid"/>
          </a:ln>
        </p:spPr>
      </p:sp>
      <p:sp>
        <p:nvSpPr>
          <p:cNvPr id="10" name="Text 7"/>
          <p:cNvSpPr/>
          <p:nvPr/>
        </p:nvSpPr>
        <p:spPr>
          <a:xfrm>
            <a:off x="6510528" y="1517904"/>
            <a:ext cx="5303520" cy="256032"/>
          </a:xfrm>
          <a:prstGeom prst="rect">
            <a:avLst/>
          </a:prstGeom>
          <a:noFill/>
          <a:ln/>
        </p:spPr>
        <p:txBody>
          <a:bodyPr wrap="square" lIns="0" tIns="0" rIns="0" bIns="0" rtlCol="0" anchor="t"/>
          <a:lstStyle/>
          <a:p>
            <a:pPr indent="0" marL="0">
              <a:buNone/>
            </a:pPr>
            <a:r>
              <a:rPr lang="en-US" sz="1300" b="1" spc="60" kern="0" dirty="0">
                <a:solidFill>
                  <a:srgbClr val="1F6B72"/>
                </a:solidFill>
                <a:latin typeface="Aptos" pitchFamily="34" charset="0"/>
                <a:ea typeface="Aptos" pitchFamily="34" charset="-122"/>
                <a:cs typeface="Aptos" pitchFamily="34" charset="-120"/>
              </a:rPr>
              <a:t>→   DAVID</a:t>
            </a:r>
            <a:endParaRPr lang="en-US" sz="1300" dirty="0"/>
          </a:p>
        </p:txBody>
      </p:sp>
      <p:sp>
        <p:nvSpPr>
          <p:cNvPr id="11" name="Text 8"/>
          <p:cNvSpPr/>
          <p:nvPr/>
        </p:nvSpPr>
        <p:spPr>
          <a:xfrm>
            <a:off x="6510528" y="1828800"/>
            <a:ext cx="5303520" cy="713232"/>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A better average can hide a trip</a:t>
            </a:r>
            <a:endParaRPr lang="en-US" sz="1600" dirty="0"/>
          </a:p>
          <a:p>
            <a:pPr indent="0" marL="0">
              <a:buNone/>
            </a:pPr>
            <a:r>
              <a:rPr lang="en-US" sz="1600" b="1" dirty="0">
                <a:solidFill>
                  <a:srgbClr val="16222C"/>
                </a:solidFill>
                <a:latin typeface="Aptos" pitchFamily="34" charset="0"/>
                <a:ea typeface="Aptos" pitchFamily="34" charset="-122"/>
                <a:cs typeface="Aptos" pitchFamily="34" charset="-120"/>
              </a:rPr>
              <a:t>that never finishes.</a:t>
            </a:r>
            <a:endParaRPr lang="en-US" sz="1600" dirty="0"/>
          </a:p>
        </p:txBody>
      </p:sp>
      <p:sp>
        <p:nvSpPr>
          <p:cNvPr id="12" name="Text 9"/>
          <p:cNvSpPr/>
          <p:nvPr/>
        </p:nvSpPr>
        <p:spPr>
          <a:xfrm>
            <a:off x="6510528" y="2615184"/>
            <a:ext cx="5303520" cy="868680"/>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Vehicle occupants carry most of the health cost in the same investment case.</a:t>
            </a:r>
            <a:endParaRPr lang="en-US" sz="1400" dirty="0"/>
          </a:p>
        </p:txBody>
      </p:sp>
      <p:sp>
        <p:nvSpPr>
          <p:cNvPr id="13" name="Shape 10"/>
          <p:cNvSpPr/>
          <p:nvPr/>
        </p:nvSpPr>
        <p:spPr>
          <a:xfrm>
            <a:off x="384048" y="3803904"/>
            <a:ext cx="5742432" cy="2304288"/>
          </a:xfrm>
          <a:prstGeom prst="roundRect">
            <a:avLst>
              <a:gd name="adj" fmla="val 3175"/>
            </a:avLst>
          </a:prstGeom>
          <a:solidFill>
            <a:srgbClr val="FBFAF6"/>
          </a:solidFill>
          <a:ln w="12700">
            <a:solidFill>
              <a:srgbClr val="E4DFD6"/>
            </a:solidFill>
            <a:prstDash val="solid"/>
          </a:ln>
        </p:spPr>
      </p:sp>
      <p:sp>
        <p:nvSpPr>
          <p:cNvPr id="14" name="Text 11"/>
          <p:cNvSpPr/>
          <p:nvPr/>
        </p:nvSpPr>
        <p:spPr>
          <a:xfrm>
            <a:off x="603504" y="3968496"/>
            <a:ext cx="5303520" cy="256032"/>
          </a:xfrm>
          <a:prstGeom prst="rect">
            <a:avLst/>
          </a:prstGeom>
          <a:noFill/>
          <a:ln/>
        </p:spPr>
        <p:txBody>
          <a:bodyPr wrap="square" lIns="0" tIns="0" rIns="0" bIns="0" rtlCol="0" anchor="t"/>
          <a:lstStyle/>
          <a:p>
            <a:pPr indent="0" marL="0">
              <a:buNone/>
            </a:pPr>
            <a:r>
              <a:rPr lang="en-US" sz="1300" b="1" spc="60" kern="0" dirty="0">
                <a:solidFill>
                  <a:srgbClr val="1F6B72"/>
                </a:solidFill>
                <a:latin typeface="Aptos" pitchFamily="34" charset="0"/>
                <a:ea typeface="Aptos" pitchFamily="34" charset="-122"/>
                <a:cs typeface="Aptos" pitchFamily="34" charset="-120"/>
              </a:rPr>
              <a:t>→   CHIDI</a:t>
            </a:r>
            <a:endParaRPr lang="en-US" sz="1300" dirty="0"/>
          </a:p>
        </p:txBody>
      </p:sp>
      <p:sp>
        <p:nvSpPr>
          <p:cNvPr id="15" name="Text 12"/>
          <p:cNvSpPr/>
          <p:nvPr/>
        </p:nvSpPr>
        <p:spPr>
          <a:xfrm>
            <a:off x="603504" y="4279392"/>
            <a:ext cx="5303520" cy="713232"/>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Buses bunch. An early bus</a:t>
            </a:r>
            <a:endParaRPr lang="en-US" sz="1600" dirty="0"/>
          </a:p>
          <a:p>
            <a:pPr indent="0" marL="0">
              <a:buNone/>
            </a:pPr>
            <a:r>
              <a:rPr lang="en-US" sz="1600" b="1" dirty="0">
                <a:solidFill>
                  <a:srgbClr val="16222C"/>
                </a:solidFill>
                <a:latin typeface="Aptos" pitchFamily="34" charset="0"/>
                <a:ea typeface="Aptos" pitchFamily="34" charset="-122"/>
                <a:cs typeface="Aptos" pitchFamily="34" charset="-120"/>
              </a:rPr>
              <a:t>is then treated as urgent.</a:t>
            </a:r>
            <a:endParaRPr lang="en-US" sz="1600" dirty="0"/>
          </a:p>
        </p:txBody>
      </p:sp>
      <p:sp>
        <p:nvSpPr>
          <p:cNvPr id="16" name="Text 13"/>
          <p:cNvSpPr/>
          <p:nvPr/>
        </p:nvSpPr>
        <p:spPr>
          <a:xfrm>
            <a:off x="603504" y="5065776"/>
            <a:ext cx="5303520" cy="868680"/>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TRANSTU reported 187.4 million paying passengers in 2018. That is not this year’s headway.</a:t>
            </a:r>
            <a:endParaRPr lang="en-US" sz="1400" dirty="0"/>
          </a:p>
        </p:txBody>
      </p:sp>
      <p:sp>
        <p:nvSpPr>
          <p:cNvPr id="17" name="Shape 14"/>
          <p:cNvSpPr/>
          <p:nvPr/>
        </p:nvSpPr>
        <p:spPr>
          <a:xfrm>
            <a:off x="6291072" y="3803904"/>
            <a:ext cx="5742432" cy="2304288"/>
          </a:xfrm>
          <a:prstGeom prst="roundRect">
            <a:avLst>
              <a:gd name="adj" fmla="val 3175"/>
            </a:avLst>
          </a:prstGeom>
          <a:solidFill>
            <a:srgbClr val="FBFAF6"/>
          </a:solidFill>
          <a:ln w="12700">
            <a:solidFill>
              <a:srgbClr val="E4DFD6"/>
            </a:solidFill>
            <a:prstDash val="solid"/>
          </a:ln>
        </p:spPr>
      </p:sp>
      <p:sp>
        <p:nvSpPr>
          <p:cNvPr id="18" name="Text 15"/>
          <p:cNvSpPr/>
          <p:nvPr/>
        </p:nvSpPr>
        <p:spPr>
          <a:xfrm>
            <a:off x="6510528" y="3968496"/>
            <a:ext cx="5303520" cy="256032"/>
          </a:xfrm>
          <a:prstGeom prst="rect">
            <a:avLst/>
          </a:prstGeom>
          <a:noFill/>
          <a:ln/>
        </p:spPr>
        <p:txBody>
          <a:bodyPr wrap="square" lIns="0" tIns="0" rIns="0" bIns="0" rtlCol="0" anchor="t"/>
          <a:lstStyle/>
          <a:p>
            <a:pPr indent="0" marL="0">
              <a:buNone/>
            </a:pPr>
            <a:r>
              <a:rPr lang="en-US" sz="1300" b="1" spc="60" kern="0" dirty="0">
                <a:solidFill>
                  <a:srgbClr val="1F6B72"/>
                </a:solidFill>
                <a:latin typeface="Aptos" pitchFamily="34" charset="0"/>
                <a:ea typeface="Aptos" pitchFamily="34" charset="-122"/>
                <a:cs typeface="Aptos" pitchFamily="34" charset="-120"/>
              </a:rPr>
              <a:t>→   ROSA  ·  MARCUS  ·  OMAR</a:t>
            </a:r>
            <a:endParaRPr lang="en-US" sz="1300" dirty="0"/>
          </a:p>
        </p:txBody>
      </p:sp>
      <p:sp>
        <p:nvSpPr>
          <p:cNvPr id="19" name="Text 16"/>
          <p:cNvSpPr/>
          <p:nvPr/>
        </p:nvSpPr>
        <p:spPr>
          <a:xfrm>
            <a:off x="6510528" y="4279392"/>
            <a:ext cx="5303520" cy="713232"/>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A refusal, a full exit, or a stale</a:t>
            </a:r>
            <a:endParaRPr lang="en-US" sz="1600" dirty="0"/>
          </a:p>
          <a:p>
            <a:pPr indent="0" marL="0">
              <a:buNone/>
            </a:pPr>
            <a:r>
              <a:rPr lang="en-US" sz="1600" b="1" dirty="0">
                <a:solidFill>
                  <a:srgbClr val="16222C"/>
                </a:solidFill>
                <a:latin typeface="Aptos" pitchFamily="34" charset="0"/>
                <a:ea typeface="Aptos" pitchFamily="34" charset="-122"/>
                <a:cs typeface="Aptos" pitchFamily="34" charset="-120"/>
              </a:rPr>
              <a:t>sensor can look like nothing.</a:t>
            </a:r>
            <a:endParaRPr lang="en-US" sz="1600" dirty="0"/>
          </a:p>
        </p:txBody>
      </p:sp>
      <p:sp>
        <p:nvSpPr>
          <p:cNvPr id="20" name="Text 17"/>
          <p:cNvSpPr/>
          <p:nvPr/>
        </p:nvSpPr>
        <p:spPr>
          <a:xfrm>
            <a:off x="6510528" y="5065776"/>
            <a:ext cx="5303520" cy="868680"/>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The report reader, the crew, and the duty officer each need a record they can check.</a:t>
            </a:r>
            <a:endParaRPr lang="en-US" sz="1400" dirty="0"/>
          </a:p>
        </p:txBody>
      </p:sp>
      <p:sp>
        <p:nvSpPr>
          <p:cNvPr id="21" name="Text 18"/>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No public adaptive-signal network in Tunis was found.</a:t>
            </a:r>
            <a:endParaRPr lang="en-US" sz="1200" dirty="0"/>
          </a:p>
        </p:txBody>
      </p:sp>
      <p:sp>
        <p:nvSpPr>
          <p:cNvPr id="22" name="Text 19"/>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02</a:t>
            </a:r>
            <a:endParaRPr lang="en-US" sz="1200" dirty="0"/>
          </a:p>
        </p:txBody>
      </p:sp>
    </p:spTree>
  </p:cSld>
  <p:transition spd="slow" advClick="1">
    <p:fade/>
  </p:transition>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2  ·  TARGET USERS</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Six groups. Each one is named by a source.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84048" y="1335024"/>
          <a:ext cx="11430000" cy="4937760"/>
        </p:xfrm>
        <a:graphic>
          <a:graphicData uri="http://schemas.openxmlformats.org/drawingml/2006/table">
            <a:tbl>
              <a:tblPr/>
              <a:tblGrid>
                <a:gridCol w="4709160"/>
                <a:gridCol w="4892040"/>
                <a:gridCol w="1828800"/>
              </a:tblGrid>
              <a:tr h="705394">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Who is affected</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What the source says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Persona</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r>
              <a:tr h="705394">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Pedestrians, including older people and people with disabilities</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28% of 2023 deaths. Named in the 2024 strategy.</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Amara</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05394">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Occupants of motor vehicles</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Most of the health cost in the same case.</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David</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05394">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TRANSTU passengers in Greater Tunis</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187.4 million paying passengers in 2018.</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Chidi</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05394">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Readers of the crash and incident record</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ONSR compiles the national record. One reader.</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Rosa</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05394">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Road emergency crews</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Civil Protection answers the calls. We did not ride along.</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Marcus</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05394">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The person who must trust the alert</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residual is not a cause.</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Omar</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bl>
          </a:graphicData>
        </a:graphic>
      </p:graphicFrame>
      <p:sp>
        <p:nvSpPr>
          <p:cNvPr id="6" name="Text 2"/>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Motorcyclists were 32% of those deaths. They are affected. They are not a persona here.</a:t>
            </a:r>
            <a:endParaRPr lang="en-US" sz="1200" dirty="0"/>
          </a:p>
        </p:txBody>
      </p:sp>
      <p:sp>
        <p:nvSpPr>
          <p:cNvPr id="7" name="Text 3"/>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03</a:t>
            </a:r>
            <a:endParaRPr lang="en-US" sz="1200" dirty="0"/>
          </a:p>
        </p:txBody>
      </p:sp>
    </p:spTree>
  </p:cSld>
  <p:transition spd="slow" advClick="1">
    <p:fade/>
  </p:transition>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3  ·  USER RESEARCH AND EVIDENCE</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What we used, and what we did not collect.</a:t>
            </a:r>
            <a:endParaRPr lang="en-US" sz="2800" dirty="0"/>
          </a:p>
        </p:txBody>
      </p:sp>
      <p:sp>
        <p:nvSpPr>
          <p:cNvPr id="5" name="Shape 2"/>
          <p:cNvSpPr/>
          <p:nvPr/>
        </p:nvSpPr>
        <p:spPr>
          <a:xfrm>
            <a:off x="384048" y="1335024"/>
            <a:ext cx="5806440" cy="731520"/>
          </a:xfrm>
          <a:prstGeom prst="roundRect">
            <a:avLst>
              <a:gd name="adj" fmla="val 10000"/>
            </a:avLst>
          </a:prstGeom>
          <a:solidFill>
            <a:srgbClr val="FBFAF6"/>
          </a:solidFill>
          <a:ln w="12700">
            <a:solidFill>
              <a:srgbClr val="E4DFD6"/>
            </a:solidFill>
            <a:prstDash val="solid"/>
          </a:ln>
        </p:spPr>
      </p:sp>
      <p:sp>
        <p:nvSpPr>
          <p:cNvPr id="6" name="Text 3"/>
          <p:cNvSpPr/>
          <p:nvPr/>
        </p:nvSpPr>
        <p:spPr>
          <a:xfrm>
            <a:off x="548640" y="1426464"/>
            <a:ext cx="2103120" cy="256032"/>
          </a:xfrm>
          <a:prstGeom prst="rect">
            <a:avLst/>
          </a:prstGeom>
          <a:noFill/>
          <a:ln/>
        </p:spPr>
        <p:txBody>
          <a:bodyPr wrap="square" lIns="0" tIns="0" rIns="0" bIns="0" rtlCol="0" anchor="t"/>
          <a:lstStyle/>
          <a:p>
            <a:pPr indent="0" marL="0">
              <a:buNone/>
            </a:pPr>
            <a:r>
              <a:rPr lang="en-US" sz="1400" b="1" dirty="0">
                <a:solidFill>
                  <a:srgbClr val="16222C"/>
                </a:solidFill>
                <a:latin typeface="Aptos" pitchFamily="34" charset="0"/>
                <a:ea typeface="Aptos" pitchFamily="34" charset="-122"/>
                <a:cs typeface="Aptos" pitchFamily="34" charset="-120"/>
              </a:rPr>
              <a:t>Interviews</a:t>
            </a:r>
            <a:endParaRPr lang="en-US" sz="1400" dirty="0"/>
          </a:p>
        </p:txBody>
      </p:sp>
      <p:sp>
        <p:nvSpPr>
          <p:cNvPr id="7" name="Text 4"/>
          <p:cNvSpPr/>
          <p:nvPr/>
        </p:nvSpPr>
        <p:spPr>
          <a:xfrm>
            <a:off x="2651760" y="1426464"/>
            <a:ext cx="3291840" cy="256032"/>
          </a:xfrm>
          <a:prstGeom prst="rect">
            <a:avLst/>
          </a:prstGeom>
          <a:noFill/>
          <a:ln/>
        </p:spPr>
        <p:txBody>
          <a:bodyPr wrap="square" lIns="0" tIns="0" rIns="0" bIns="0" rtlCol="0" anchor="t"/>
          <a:lstStyle/>
          <a:p>
            <a:pPr indent="0" marL="0">
              <a:buNone/>
            </a:pPr>
            <a:r>
              <a:rPr lang="en-US" sz="1300" b="1" dirty="0">
                <a:solidFill>
                  <a:srgbClr val="9A4E28"/>
                </a:solidFill>
                <a:latin typeface="Aptos" pitchFamily="34" charset="0"/>
                <a:ea typeface="Aptos" pitchFamily="34" charset="-122"/>
                <a:cs typeface="Aptos" pitchFamily="34" charset="-120"/>
              </a:rPr>
              <a:t>Not collected</a:t>
            </a:r>
            <a:endParaRPr lang="en-US" sz="1300" dirty="0"/>
          </a:p>
        </p:txBody>
      </p:sp>
      <p:sp>
        <p:nvSpPr>
          <p:cNvPr id="8" name="Text 5"/>
          <p:cNvSpPr/>
          <p:nvPr/>
        </p:nvSpPr>
        <p:spPr>
          <a:xfrm>
            <a:off x="548640" y="1700784"/>
            <a:ext cx="5440680" cy="274320"/>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Nothing. No quote.</a:t>
            </a:r>
            <a:endParaRPr lang="en-US" sz="1300" dirty="0"/>
          </a:p>
        </p:txBody>
      </p:sp>
      <p:sp>
        <p:nvSpPr>
          <p:cNvPr id="9" name="Shape 6"/>
          <p:cNvSpPr/>
          <p:nvPr/>
        </p:nvSpPr>
        <p:spPr>
          <a:xfrm>
            <a:off x="384048" y="2139696"/>
            <a:ext cx="5806440" cy="731520"/>
          </a:xfrm>
          <a:prstGeom prst="roundRect">
            <a:avLst>
              <a:gd name="adj" fmla="val 10000"/>
            </a:avLst>
          </a:prstGeom>
          <a:solidFill>
            <a:srgbClr val="FBFAF6"/>
          </a:solidFill>
          <a:ln w="12700">
            <a:solidFill>
              <a:srgbClr val="E4DFD6"/>
            </a:solidFill>
            <a:prstDash val="solid"/>
          </a:ln>
        </p:spPr>
      </p:sp>
      <p:sp>
        <p:nvSpPr>
          <p:cNvPr id="10" name="Text 7"/>
          <p:cNvSpPr/>
          <p:nvPr/>
        </p:nvSpPr>
        <p:spPr>
          <a:xfrm>
            <a:off x="548640" y="2231136"/>
            <a:ext cx="2103120" cy="256032"/>
          </a:xfrm>
          <a:prstGeom prst="rect">
            <a:avLst/>
          </a:prstGeom>
          <a:noFill/>
          <a:ln/>
        </p:spPr>
        <p:txBody>
          <a:bodyPr wrap="square" lIns="0" tIns="0" rIns="0" bIns="0" rtlCol="0" anchor="t"/>
          <a:lstStyle/>
          <a:p>
            <a:pPr indent="0" marL="0">
              <a:buNone/>
            </a:pPr>
            <a:r>
              <a:rPr lang="en-US" sz="1400" b="1" dirty="0">
                <a:solidFill>
                  <a:srgbClr val="16222C"/>
                </a:solidFill>
                <a:latin typeface="Aptos" pitchFamily="34" charset="0"/>
                <a:ea typeface="Aptos" pitchFamily="34" charset="-122"/>
                <a:cs typeface="Aptos" pitchFamily="34" charset="-120"/>
              </a:rPr>
              <a:t>Questionnaires</a:t>
            </a:r>
            <a:endParaRPr lang="en-US" sz="1400" dirty="0"/>
          </a:p>
        </p:txBody>
      </p:sp>
      <p:sp>
        <p:nvSpPr>
          <p:cNvPr id="11" name="Text 8"/>
          <p:cNvSpPr/>
          <p:nvPr/>
        </p:nvSpPr>
        <p:spPr>
          <a:xfrm>
            <a:off x="2651760" y="2231136"/>
            <a:ext cx="3291840" cy="256032"/>
          </a:xfrm>
          <a:prstGeom prst="rect">
            <a:avLst/>
          </a:prstGeom>
          <a:noFill/>
          <a:ln/>
        </p:spPr>
        <p:txBody>
          <a:bodyPr wrap="square" lIns="0" tIns="0" rIns="0" bIns="0" rtlCol="0" anchor="t"/>
          <a:lstStyle/>
          <a:p>
            <a:pPr indent="0" marL="0">
              <a:buNone/>
            </a:pPr>
            <a:r>
              <a:rPr lang="en-US" sz="1300" b="1" dirty="0">
                <a:solidFill>
                  <a:srgbClr val="9A4E28"/>
                </a:solidFill>
                <a:latin typeface="Aptos" pitchFamily="34" charset="0"/>
                <a:ea typeface="Aptos" pitchFamily="34" charset="-122"/>
                <a:cs typeface="Aptos" pitchFamily="34" charset="-120"/>
              </a:rPr>
              <a:t>Not collected</a:t>
            </a:r>
            <a:endParaRPr lang="en-US" sz="1300" dirty="0"/>
          </a:p>
        </p:txBody>
      </p:sp>
      <p:sp>
        <p:nvSpPr>
          <p:cNvPr id="12" name="Text 9"/>
          <p:cNvSpPr/>
          <p:nvPr/>
        </p:nvSpPr>
        <p:spPr>
          <a:xfrm>
            <a:off x="548640" y="2505456"/>
            <a:ext cx="5440680" cy="274320"/>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Nothing. No percentage from us.</a:t>
            </a:r>
            <a:endParaRPr lang="en-US" sz="1300" dirty="0"/>
          </a:p>
        </p:txBody>
      </p:sp>
      <p:sp>
        <p:nvSpPr>
          <p:cNvPr id="13" name="Shape 10"/>
          <p:cNvSpPr/>
          <p:nvPr/>
        </p:nvSpPr>
        <p:spPr>
          <a:xfrm>
            <a:off x="384048" y="2944368"/>
            <a:ext cx="5806440" cy="731520"/>
          </a:xfrm>
          <a:prstGeom prst="roundRect">
            <a:avLst>
              <a:gd name="adj" fmla="val 10000"/>
            </a:avLst>
          </a:prstGeom>
          <a:solidFill>
            <a:srgbClr val="FBFAF6"/>
          </a:solidFill>
          <a:ln w="12700">
            <a:solidFill>
              <a:srgbClr val="E4DFD6"/>
            </a:solidFill>
            <a:prstDash val="solid"/>
          </a:ln>
        </p:spPr>
      </p:sp>
      <p:sp>
        <p:nvSpPr>
          <p:cNvPr id="14" name="Text 11"/>
          <p:cNvSpPr/>
          <p:nvPr/>
        </p:nvSpPr>
        <p:spPr>
          <a:xfrm>
            <a:off x="548640" y="3035808"/>
            <a:ext cx="2103120" cy="256032"/>
          </a:xfrm>
          <a:prstGeom prst="rect">
            <a:avLst/>
          </a:prstGeom>
          <a:noFill/>
          <a:ln/>
        </p:spPr>
        <p:txBody>
          <a:bodyPr wrap="square" lIns="0" tIns="0" rIns="0" bIns="0" rtlCol="0" anchor="t"/>
          <a:lstStyle/>
          <a:p>
            <a:pPr indent="0" marL="0">
              <a:buNone/>
            </a:pPr>
            <a:r>
              <a:rPr lang="en-US" sz="1400" b="1" dirty="0">
                <a:solidFill>
                  <a:srgbClr val="16222C"/>
                </a:solidFill>
                <a:latin typeface="Aptos" pitchFamily="34" charset="0"/>
                <a:ea typeface="Aptos" pitchFamily="34" charset="-122"/>
                <a:cs typeface="Aptos" pitchFamily="34" charset="-120"/>
              </a:rPr>
              <a:t>Observation</a:t>
            </a:r>
            <a:endParaRPr lang="en-US" sz="1400" dirty="0"/>
          </a:p>
        </p:txBody>
      </p:sp>
      <p:sp>
        <p:nvSpPr>
          <p:cNvPr id="15" name="Text 12"/>
          <p:cNvSpPr/>
          <p:nvPr/>
        </p:nvSpPr>
        <p:spPr>
          <a:xfrm>
            <a:off x="2651760" y="3035808"/>
            <a:ext cx="3291840" cy="256032"/>
          </a:xfrm>
          <a:prstGeom prst="rect">
            <a:avLst/>
          </a:prstGeom>
          <a:noFill/>
          <a:ln/>
        </p:spPr>
        <p:txBody>
          <a:bodyPr wrap="square" lIns="0" tIns="0" rIns="0" bIns="0" rtlCol="0" anchor="t"/>
          <a:lstStyle/>
          <a:p>
            <a:pPr indent="0" marL="0">
              <a:buNone/>
            </a:pPr>
            <a:r>
              <a:rPr lang="en-US" sz="1300" b="1" dirty="0">
                <a:solidFill>
                  <a:srgbClr val="9A4E28"/>
                </a:solidFill>
                <a:latin typeface="Aptos" pitchFamily="34" charset="0"/>
                <a:ea typeface="Aptos" pitchFamily="34" charset="-122"/>
                <a:cs typeface="Aptos" pitchFamily="34" charset="-120"/>
              </a:rPr>
              <a:t>Not done</a:t>
            </a:r>
            <a:endParaRPr lang="en-US" sz="1300" dirty="0"/>
          </a:p>
        </p:txBody>
      </p:sp>
      <p:sp>
        <p:nvSpPr>
          <p:cNvPr id="16" name="Text 13"/>
          <p:cNvSpPr/>
          <p:nvPr/>
        </p:nvSpPr>
        <p:spPr>
          <a:xfrm>
            <a:off x="548640" y="3310128"/>
            <a:ext cx="5440680" cy="274320"/>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Nothing about a crew or one crossing.</a:t>
            </a:r>
            <a:endParaRPr lang="en-US" sz="1300" dirty="0"/>
          </a:p>
        </p:txBody>
      </p:sp>
      <p:sp>
        <p:nvSpPr>
          <p:cNvPr id="17" name="Shape 14"/>
          <p:cNvSpPr/>
          <p:nvPr/>
        </p:nvSpPr>
        <p:spPr>
          <a:xfrm>
            <a:off x="384048" y="3749040"/>
            <a:ext cx="5806440" cy="731520"/>
          </a:xfrm>
          <a:prstGeom prst="roundRect">
            <a:avLst>
              <a:gd name="adj" fmla="val 10000"/>
            </a:avLst>
          </a:prstGeom>
          <a:solidFill>
            <a:srgbClr val="FBFAF6"/>
          </a:solidFill>
          <a:ln w="12700">
            <a:solidFill>
              <a:srgbClr val="E4DFD6"/>
            </a:solidFill>
            <a:prstDash val="solid"/>
          </a:ln>
        </p:spPr>
      </p:sp>
      <p:sp>
        <p:nvSpPr>
          <p:cNvPr id="18" name="Text 15"/>
          <p:cNvSpPr/>
          <p:nvPr/>
        </p:nvSpPr>
        <p:spPr>
          <a:xfrm>
            <a:off x="548640" y="3840480"/>
            <a:ext cx="2103120" cy="256032"/>
          </a:xfrm>
          <a:prstGeom prst="rect">
            <a:avLst/>
          </a:prstGeom>
          <a:noFill/>
          <a:ln/>
        </p:spPr>
        <p:txBody>
          <a:bodyPr wrap="square" lIns="0" tIns="0" rIns="0" bIns="0" rtlCol="0" anchor="t"/>
          <a:lstStyle/>
          <a:p>
            <a:pPr indent="0" marL="0">
              <a:buNone/>
            </a:pPr>
            <a:r>
              <a:rPr lang="en-US" sz="1400" b="1" dirty="0">
                <a:solidFill>
                  <a:srgbClr val="16222C"/>
                </a:solidFill>
                <a:latin typeface="Aptos" pitchFamily="34" charset="0"/>
                <a:ea typeface="Aptos" pitchFamily="34" charset="-122"/>
                <a:cs typeface="Aptos" pitchFamily="34" charset="-120"/>
              </a:rPr>
              <a:t>Existing data</a:t>
            </a:r>
            <a:endParaRPr lang="en-US" sz="1400" dirty="0"/>
          </a:p>
        </p:txBody>
      </p:sp>
      <p:sp>
        <p:nvSpPr>
          <p:cNvPr id="19" name="Text 16"/>
          <p:cNvSpPr/>
          <p:nvPr/>
        </p:nvSpPr>
        <p:spPr>
          <a:xfrm>
            <a:off x="2651760" y="3840480"/>
            <a:ext cx="3291840" cy="256032"/>
          </a:xfrm>
          <a:prstGeom prst="rect">
            <a:avLst/>
          </a:prstGeom>
          <a:noFill/>
          <a:ln/>
        </p:spPr>
        <p:txBody>
          <a:bodyPr wrap="square" lIns="0" tIns="0" rIns="0" bIns="0" rtlCol="0" anchor="t"/>
          <a:lstStyle/>
          <a:p>
            <a:pPr indent="0" marL="0">
              <a:buNone/>
            </a:pPr>
            <a:r>
              <a:rPr lang="en-US" sz="1300" b="1" dirty="0">
                <a:solidFill>
                  <a:srgbClr val="1F6B72"/>
                </a:solidFill>
                <a:latin typeface="Aptos" pitchFamily="34" charset="0"/>
                <a:ea typeface="Aptos" pitchFamily="34" charset="-122"/>
                <a:cs typeface="Aptos" pitchFamily="34" charset="-120"/>
              </a:rPr>
              <a:t>Used</a:t>
            </a:r>
            <a:endParaRPr lang="en-US" sz="1300" dirty="0"/>
          </a:p>
        </p:txBody>
      </p:sp>
      <p:sp>
        <p:nvSpPr>
          <p:cNvPr id="20" name="Text 17"/>
          <p:cNvSpPr/>
          <p:nvPr/>
        </p:nvSpPr>
        <p:spPr>
          <a:xfrm>
            <a:off x="548640" y="4114800"/>
            <a:ext cx="5440680" cy="274320"/>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WHO, the investment case, La Presse, TRANSTU 2018.</a:t>
            </a:r>
            <a:endParaRPr lang="en-US" sz="1300" dirty="0"/>
          </a:p>
        </p:txBody>
      </p:sp>
      <p:sp>
        <p:nvSpPr>
          <p:cNvPr id="21" name="Shape 18"/>
          <p:cNvSpPr/>
          <p:nvPr/>
        </p:nvSpPr>
        <p:spPr>
          <a:xfrm>
            <a:off x="384048" y="4553712"/>
            <a:ext cx="5806440" cy="731520"/>
          </a:xfrm>
          <a:prstGeom prst="roundRect">
            <a:avLst>
              <a:gd name="adj" fmla="val 10000"/>
            </a:avLst>
          </a:prstGeom>
          <a:solidFill>
            <a:srgbClr val="FBFAF6"/>
          </a:solidFill>
          <a:ln w="12700">
            <a:solidFill>
              <a:srgbClr val="E4DFD6"/>
            </a:solidFill>
            <a:prstDash val="solid"/>
          </a:ln>
        </p:spPr>
      </p:sp>
      <p:sp>
        <p:nvSpPr>
          <p:cNvPr id="22" name="Text 19"/>
          <p:cNvSpPr/>
          <p:nvPr/>
        </p:nvSpPr>
        <p:spPr>
          <a:xfrm>
            <a:off x="548640" y="4645152"/>
            <a:ext cx="2103120" cy="256032"/>
          </a:xfrm>
          <a:prstGeom prst="rect">
            <a:avLst/>
          </a:prstGeom>
          <a:noFill/>
          <a:ln/>
        </p:spPr>
        <p:txBody>
          <a:bodyPr wrap="square" lIns="0" tIns="0" rIns="0" bIns="0" rtlCol="0" anchor="t"/>
          <a:lstStyle/>
          <a:p>
            <a:pPr indent="0" marL="0">
              <a:buNone/>
            </a:pPr>
            <a:r>
              <a:rPr lang="en-US" sz="1400" b="1" dirty="0">
                <a:solidFill>
                  <a:srgbClr val="16222C"/>
                </a:solidFill>
                <a:latin typeface="Aptos" pitchFamily="34" charset="0"/>
                <a:ea typeface="Aptos" pitchFamily="34" charset="-122"/>
                <a:cs typeface="Aptos" pitchFamily="34" charset="-120"/>
              </a:rPr>
              <a:t>Literature</a:t>
            </a:r>
            <a:endParaRPr lang="en-US" sz="1400" dirty="0"/>
          </a:p>
        </p:txBody>
      </p:sp>
      <p:sp>
        <p:nvSpPr>
          <p:cNvPr id="23" name="Text 20"/>
          <p:cNvSpPr/>
          <p:nvPr/>
        </p:nvSpPr>
        <p:spPr>
          <a:xfrm>
            <a:off x="2651760" y="4645152"/>
            <a:ext cx="3291840" cy="256032"/>
          </a:xfrm>
          <a:prstGeom prst="rect">
            <a:avLst/>
          </a:prstGeom>
          <a:noFill/>
          <a:ln/>
        </p:spPr>
        <p:txBody>
          <a:bodyPr wrap="square" lIns="0" tIns="0" rIns="0" bIns="0" rtlCol="0" anchor="t"/>
          <a:lstStyle/>
          <a:p>
            <a:pPr indent="0" marL="0">
              <a:buNone/>
            </a:pPr>
            <a:r>
              <a:rPr lang="en-US" sz="1300" b="1" dirty="0">
                <a:solidFill>
                  <a:srgbClr val="1F6B72"/>
                </a:solidFill>
                <a:latin typeface="Aptos" pitchFamily="34" charset="0"/>
                <a:ea typeface="Aptos" pitchFamily="34" charset="-122"/>
                <a:cs typeface="Aptos" pitchFamily="34" charset="-120"/>
              </a:rPr>
              <a:t>Used</a:t>
            </a:r>
            <a:endParaRPr lang="en-US" sz="1300" dirty="0"/>
          </a:p>
        </p:txBody>
      </p:sp>
      <p:sp>
        <p:nvSpPr>
          <p:cNvPr id="24" name="Text 21"/>
          <p:cNvSpPr/>
          <p:nvPr/>
        </p:nvSpPr>
        <p:spPr>
          <a:xfrm>
            <a:off x="548640" y="4919472"/>
            <a:ext cx="5440680" cy="274320"/>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Clearance, reliability, an audit-trail analogy.</a:t>
            </a:r>
            <a:endParaRPr lang="en-US" sz="1300" dirty="0"/>
          </a:p>
        </p:txBody>
      </p:sp>
      <p:sp>
        <p:nvSpPr>
          <p:cNvPr id="25" name="Shape 22"/>
          <p:cNvSpPr/>
          <p:nvPr/>
        </p:nvSpPr>
        <p:spPr>
          <a:xfrm>
            <a:off x="384048" y="5358384"/>
            <a:ext cx="5806440" cy="731520"/>
          </a:xfrm>
          <a:prstGeom prst="roundRect">
            <a:avLst>
              <a:gd name="adj" fmla="val 10000"/>
            </a:avLst>
          </a:prstGeom>
          <a:solidFill>
            <a:srgbClr val="FBFAF6"/>
          </a:solidFill>
          <a:ln w="12700">
            <a:solidFill>
              <a:srgbClr val="E4DFD6"/>
            </a:solidFill>
            <a:prstDash val="solid"/>
          </a:ln>
        </p:spPr>
      </p:sp>
      <p:sp>
        <p:nvSpPr>
          <p:cNvPr id="26" name="Text 23"/>
          <p:cNvSpPr/>
          <p:nvPr/>
        </p:nvSpPr>
        <p:spPr>
          <a:xfrm>
            <a:off x="548640" y="5449824"/>
            <a:ext cx="2103120" cy="256032"/>
          </a:xfrm>
          <a:prstGeom prst="rect">
            <a:avLst/>
          </a:prstGeom>
          <a:noFill/>
          <a:ln/>
        </p:spPr>
        <p:txBody>
          <a:bodyPr wrap="square" lIns="0" tIns="0" rIns="0" bIns="0" rtlCol="0" anchor="t"/>
          <a:lstStyle/>
          <a:p>
            <a:pPr indent="0" marL="0">
              <a:buNone/>
            </a:pPr>
            <a:r>
              <a:rPr lang="en-US" sz="1400" b="1" dirty="0">
                <a:solidFill>
                  <a:srgbClr val="16222C"/>
                </a:solidFill>
                <a:latin typeface="Aptos" pitchFamily="34" charset="0"/>
                <a:ea typeface="Aptos" pitchFamily="34" charset="-122"/>
                <a:cs typeface="Aptos" pitchFamily="34" charset="-120"/>
              </a:rPr>
              <a:t>Simulation</a:t>
            </a:r>
            <a:endParaRPr lang="en-US" sz="1400" dirty="0"/>
          </a:p>
        </p:txBody>
      </p:sp>
      <p:sp>
        <p:nvSpPr>
          <p:cNvPr id="27" name="Text 24"/>
          <p:cNvSpPr/>
          <p:nvPr/>
        </p:nvSpPr>
        <p:spPr>
          <a:xfrm>
            <a:off x="2651760" y="5449824"/>
            <a:ext cx="3291840" cy="256032"/>
          </a:xfrm>
          <a:prstGeom prst="rect">
            <a:avLst/>
          </a:prstGeom>
          <a:noFill/>
          <a:ln/>
        </p:spPr>
        <p:txBody>
          <a:bodyPr wrap="square" lIns="0" tIns="0" rIns="0" bIns="0" rtlCol="0" anchor="t"/>
          <a:lstStyle/>
          <a:p>
            <a:pPr indent="0" marL="0">
              <a:buNone/>
            </a:pPr>
            <a:r>
              <a:rPr lang="en-US" sz="1300" b="1" dirty="0">
                <a:solidFill>
                  <a:srgbClr val="1F6B72"/>
                </a:solidFill>
                <a:latin typeface="Aptos" pitchFamily="34" charset="0"/>
                <a:ea typeface="Aptos" pitchFamily="34" charset="-122"/>
                <a:cs typeface="Aptos" pitchFamily="34" charset="-120"/>
              </a:rPr>
              <a:t>One seed</a:t>
            </a:r>
            <a:endParaRPr lang="en-US" sz="1300" dirty="0"/>
          </a:p>
        </p:txBody>
      </p:sp>
      <p:sp>
        <p:nvSpPr>
          <p:cNvPr id="28" name="Text 25"/>
          <p:cNvSpPr/>
          <p:nvPr/>
        </p:nvSpPr>
        <p:spPr>
          <a:xfrm>
            <a:off x="548640" y="5724144"/>
            <a:ext cx="5440680" cy="274320"/>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Mixed. No winner. Not a Tunis result.</a:t>
            </a:r>
            <a:endParaRPr lang="en-US" sz="1300" dirty="0"/>
          </a:p>
        </p:txBody>
      </p:sp>
      <p:sp>
        <p:nvSpPr>
          <p:cNvPr id="29" name="Shape 26"/>
          <p:cNvSpPr/>
          <p:nvPr/>
        </p:nvSpPr>
        <p:spPr>
          <a:xfrm>
            <a:off x="6355080" y="1335024"/>
            <a:ext cx="5440680" cy="1554480"/>
          </a:xfrm>
          <a:prstGeom prst="roundRect">
            <a:avLst>
              <a:gd name="adj" fmla="val 4706"/>
            </a:avLst>
          </a:prstGeom>
          <a:solidFill>
            <a:srgbClr val="14202B"/>
          </a:solidFill>
          <a:ln w="12700">
            <a:solidFill>
              <a:srgbClr val="E4DFD6"/>
            </a:solidFill>
            <a:prstDash val="solid"/>
          </a:ln>
        </p:spPr>
      </p:sp>
      <p:sp>
        <p:nvSpPr>
          <p:cNvPr id="30" name="Text 27"/>
          <p:cNvSpPr/>
          <p:nvPr/>
        </p:nvSpPr>
        <p:spPr>
          <a:xfrm>
            <a:off x="6537960" y="1444752"/>
            <a:ext cx="5074920" cy="713232"/>
          </a:xfrm>
          <a:prstGeom prst="rect">
            <a:avLst/>
          </a:prstGeom>
          <a:noFill/>
          <a:ln/>
        </p:spPr>
        <p:txBody>
          <a:bodyPr wrap="square" lIns="0" tIns="0" rIns="0" bIns="0" rtlCol="0" anchor="t"/>
          <a:lstStyle/>
          <a:p>
            <a:pPr indent="0" marL="0">
              <a:buNone/>
            </a:pPr>
            <a:r>
              <a:rPr lang="en-US" sz="4000" b="1" dirty="0">
                <a:solidFill>
                  <a:srgbClr val="E8A33D"/>
                </a:solidFill>
                <a:latin typeface="Aptos Display" pitchFamily="34" charset="0"/>
                <a:ea typeface="Aptos Display" pitchFamily="34" charset="-122"/>
                <a:cs typeface="Aptos Display" pitchFamily="34" charset="-120"/>
              </a:rPr>
              <a:t>5,796</a:t>
            </a:r>
            <a:endParaRPr lang="en-US" sz="4000" dirty="0"/>
          </a:p>
        </p:txBody>
      </p:sp>
      <p:sp>
        <p:nvSpPr>
          <p:cNvPr id="31" name="Text 28"/>
          <p:cNvSpPr/>
          <p:nvPr/>
        </p:nvSpPr>
        <p:spPr>
          <a:xfrm>
            <a:off x="6565392" y="2194560"/>
            <a:ext cx="5029200" cy="256032"/>
          </a:xfrm>
          <a:prstGeom prst="rect">
            <a:avLst/>
          </a:prstGeom>
          <a:noFill/>
          <a:ln/>
        </p:spPr>
        <p:txBody>
          <a:bodyPr wrap="square" lIns="0" tIns="0" rIns="0" bIns="0" rtlCol="0" anchor="t"/>
          <a:lstStyle/>
          <a:p>
            <a:pPr indent="0" marL="0">
              <a:buNone/>
            </a:pPr>
            <a:r>
              <a:rPr lang="en-US" sz="1400" b="1" dirty="0">
                <a:solidFill>
                  <a:srgbClr val="F4F1EA"/>
                </a:solidFill>
                <a:latin typeface="Aptos" pitchFamily="34" charset="0"/>
                <a:ea typeface="Aptos" pitchFamily="34" charset="-122"/>
                <a:cs typeface="Aptos" pitchFamily="34" charset="-120"/>
              </a:rPr>
              <a:t>crashes in 2023, in both accounts</a:t>
            </a:r>
            <a:endParaRPr lang="en-US" sz="1400" dirty="0"/>
          </a:p>
        </p:txBody>
      </p:sp>
      <p:sp>
        <p:nvSpPr>
          <p:cNvPr id="32" name="Text 29"/>
          <p:cNvSpPr/>
          <p:nvPr/>
        </p:nvSpPr>
        <p:spPr>
          <a:xfrm>
            <a:off x="6565392" y="2468880"/>
            <a:ext cx="5029200" cy="256032"/>
          </a:xfrm>
          <a:prstGeom prst="rect">
            <a:avLst/>
          </a:prstGeom>
          <a:noFill/>
          <a:ln/>
        </p:spPr>
        <p:txBody>
          <a:bodyPr wrap="square" lIns="0" tIns="0" rIns="0" bIns="0" rtlCol="0" anchor="t"/>
          <a:lstStyle/>
          <a:p>
            <a:pPr indent="0" marL="0">
              <a:buNone/>
            </a:pPr>
            <a:r>
              <a:rPr lang="en-US" sz="1300" dirty="0">
                <a:solidFill>
                  <a:srgbClr val="C9D3D8"/>
                </a:solidFill>
                <a:latin typeface="Aptos" pitchFamily="34" charset="0"/>
                <a:ea typeface="Aptos" pitchFamily="34" charset="-122"/>
                <a:cs typeface="Aptos" pitchFamily="34" charset="-120"/>
              </a:rPr>
              <a:t>The crash total matches. The death total does not.</a:t>
            </a:r>
            <a:endParaRPr lang="en-US" sz="1300" dirty="0"/>
          </a:p>
        </p:txBody>
      </p:sp>
      <p:sp>
        <p:nvSpPr>
          <p:cNvPr id="33" name="Shape 30"/>
          <p:cNvSpPr/>
          <p:nvPr/>
        </p:nvSpPr>
        <p:spPr>
          <a:xfrm>
            <a:off x="6355080" y="2999232"/>
            <a:ext cx="2651760" cy="1417320"/>
          </a:xfrm>
          <a:prstGeom prst="roundRect">
            <a:avLst>
              <a:gd name="adj" fmla="val 5161"/>
            </a:avLst>
          </a:prstGeom>
          <a:solidFill>
            <a:srgbClr val="FBFAF6"/>
          </a:solidFill>
          <a:ln w="12700">
            <a:solidFill>
              <a:srgbClr val="E4DFD6"/>
            </a:solidFill>
            <a:prstDash val="solid"/>
          </a:ln>
        </p:spPr>
      </p:sp>
      <p:sp>
        <p:nvSpPr>
          <p:cNvPr id="34" name="Text 31"/>
          <p:cNvSpPr/>
          <p:nvPr/>
        </p:nvSpPr>
        <p:spPr>
          <a:xfrm>
            <a:off x="6492240" y="3108960"/>
            <a:ext cx="2377440" cy="530352"/>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2,273</a:t>
            </a:r>
            <a:endParaRPr lang="en-US" sz="2800" dirty="0"/>
          </a:p>
        </p:txBody>
      </p:sp>
      <p:sp>
        <p:nvSpPr>
          <p:cNvPr id="35" name="Text 32"/>
          <p:cNvSpPr/>
          <p:nvPr/>
        </p:nvSpPr>
        <p:spPr>
          <a:xfrm>
            <a:off x="6492240" y="3703320"/>
            <a:ext cx="2377440" cy="566928"/>
          </a:xfrm>
          <a:prstGeom prst="rect">
            <a:avLst/>
          </a:prstGeom>
          <a:noFill/>
          <a:ln/>
        </p:spPr>
        <p:txBody>
          <a:bodyPr wrap="square" lIns="0" tIns="0" rIns="0" bIns="0" rtlCol="0" anchor="t"/>
          <a:lstStyle/>
          <a:p>
            <a:pPr indent="0" marL="0">
              <a:buNone/>
            </a:pPr>
            <a:r>
              <a:rPr lang="en-US" sz="1200" dirty="0">
                <a:solidFill>
                  <a:srgbClr val="5E6A70"/>
                </a:solidFill>
                <a:latin typeface="Aptos" pitchFamily="34" charset="0"/>
                <a:ea typeface="Aptos" pitchFamily="34" charset="-122"/>
                <a:cs typeface="Aptos" pitchFamily="34" charset="-120"/>
              </a:rPr>
              <a:t>deaths, and 7,909 injuries. Investment case, quoting ONSR.</a:t>
            </a:r>
            <a:endParaRPr lang="en-US" sz="1200" dirty="0"/>
          </a:p>
        </p:txBody>
      </p:sp>
      <p:sp>
        <p:nvSpPr>
          <p:cNvPr id="36" name="Shape 33"/>
          <p:cNvSpPr/>
          <p:nvPr/>
        </p:nvSpPr>
        <p:spPr>
          <a:xfrm>
            <a:off x="9144000" y="2999232"/>
            <a:ext cx="2651760" cy="1417320"/>
          </a:xfrm>
          <a:prstGeom prst="roundRect">
            <a:avLst>
              <a:gd name="adj" fmla="val 5161"/>
            </a:avLst>
          </a:prstGeom>
          <a:solidFill>
            <a:srgbClr val="FBFAF6"/>
          </a:solidFill>
          <a:ln w="12700">
            <a:solidFill>
              <a:srgbClr val="E4DFD6"/>
            </a:solidFill>
            <a:prstDash val="solid"/>
          </a:ln>
        </p:spPr>
      </p:sp>
      <p:sp>
        <p:nvSpPr>
          <p:cNvPr id="37" name="Text 34"/>
          <p:cNvSpPr/>
          <p:nvPr/>
        </p:nvSpPr>
        <p:spPr>
          <a:xfrm>
            <a:off x="9281160" y="3108960"/>
            <a:ext cx="2377440" cy="530352"/>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1,216</a:t>
            </a:r>
            <a:endParaRPr lang="en-US" sz="2800" dirty="0"/>
          </a:p>
        </p:txBody>
      </p:sp>
      <p:sp>
        <p:nvSpPr>
          <p:cNvPr id="38" name="Text 35"/>
          <p:cNvSpPr/>
          <p:nvPr/>
        </p:nvSpPr>
        <p:spPr>
          <a:xfrm>
            <a:off x="9281160" y="3703320"/>
            <a:ext cx="2377440" cy="566928"/>
          </a:xfrm>
          <a:prstGeom prst="rect">
            <a:avLst/>
          </a:prstGeom>
          <a:noFill/>
          <a:ln/>
        </p:spPr>
        <p:txBody>
          <a:bodyPr wrap="square" lIns="0" tIns="0" rIns="0" bIns="0" rtlCol="0" anchor="t"/>
          <a:lstStyle/>
          <a:p>
            <a:pPr indent="0" marL="0">
              <a:buNone/>
            </a:pPr>
            <a:r>
              <a:rPr lang="en-US" sz="1200" dirty="0">
                <a:solidFill>
                  <a:srgbClr val="5E6A70"/>
                </a:solidFill>
                <a:latin typeface="Aptos" pitchFamily="34" charset="0"/>
                <a:ea typeface="Aptos" pitchFamily="34" charset="-122"/>
                <a:cs typeface="Aptos" pitchFamily="34" charset="-120"/>
              </a:rPr>
              <a:t>deaths. La Presse briefing of ONSR, 17 Jan 2025.</a:t>
            </a:r>
            <a:endParaRPr lang="en-US" sz="1200" dirty="0"/>
          </a:p>
        </p:txBody>
      </p:sp>
      <p:sp>
        <p:nvSpPr>
          <p:cNvPr id="39" name="Shape 36"/>
          <p:cNvSpPr/>
          <p:nvPr/>
        </p:nvSpPr>
        <p:spPr>
          <a:xfrm>
            <a:off x="6355080" y="4590288"/>
            <a:ext cx="64008" cy="658368"/>
          </a:xfrm>
          <a:prstGeom prst="rect">
            <a:avLst/>
          </a:prstGeom>
          <a:solidFill>
            <a:srgbClr val="1F6B72"/>
          </a:solidFill>
          <a:ln w="12700">
            <a:solidFill>
              <a:srgbClr val="1F6B72"/>
            </a:solidFill>
            <a:prstDash val="solid"/>
          </a:ln>
        </p:spPr>
      </p:sp>
      <p:sp>
        <p:nvSpPr>
          <p:cNvPr id="40" name="Text 37"/>
          <p:cNvSpPr/>
          <p:nvPr/>
        </p:nvSpPr>
        <p:spPr>
          <a:xfrm>
            <a:off x="6565392" y="4572000"/>
            <a:ext cx="5120640" cy="292608"/>
          </a:xfrm>
          <a:prstGeom prst="rect">
            <a:avLst/>
          </a:prstGeom>
          <a:noFill/>
          <a:ln/>
        </p:spPr>
        <p:txBody>
          <a:bodyPr wrap="square" lIns="0" tIns="0" rIns="0" bIns="0" rtlCol="0" anchor="t"/>
          <a:lstStyle/>
          <a:p>
            <a:pPr indent="0" marL="0">
              <a:buNone/>
            </a:pPr>
            <a:r>
              <a:rPr lang="en-US" sz="1500" b="1" dirty="0">
                <a:solidFill>
                  <a:srgbClr val="16222C"/>
                </a:solidFill>
                <a:latin typeface="Aptos" pitchFamily="34" charset="0"/>
                <a:ea typeface="Aptos" pitchFamily="34" charset="-122"/>
                <a:cs typeface="Aptos" pitchFamily="34" charset="-120"/>
              </a:rPr>
              <a:t>We show both. We do not average them.</a:t>
            </a:r>
            <a:endParaRPr lang="en-US" sz="1500" dirty="0"/>
          </a:p>
        </p:txBody>
      </p:sp>
      <p:sp>
        <p:nvSpPr>
          <p:cNvPr id="41" name="Text 38"/>
          <p:cNvSpPr/>
          <p:nvPr/>
        </p:nvSpPr>
        <p:spPr>
          <a:xfrm>
            <a:off x="6565392" y="4882896"/>
            <a:ext cx="5120640" cy="29260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A single number would hide a gap of 1,057 deaths.</a:t>
            </a:r>
            <a:endParaRPr lang="en-US" sz="1300" dirty="0"/>
          </a:p>
        </p:txBody>
      </p:sp>
      <p:sp>
        <p:nvSpPr>
          <p:cNvPr id="42" name="Shape 39"/>
          <p:cNvSpPr/>
          <p:nvPr/>
        </p:nvSpPr>
        <p:spPr>
          <a:xfrm>
            <a:off x="6355080" y="5394960"/>
            <a:ext cx="5440680" cy="932688"/>
          </a:xfrm>
          <a:prstGeom prst="roundRect">
            <a:avLst>
              <a:gd name="adj" fmla="val 7843"/>
            </a:avLst>
          </a:prstGeom>
          <a:solidFill>
            <a:srgbClr val="FBFAF6"/>
          </a:solidFill>
          <a:ln w="12700">
            <a:solidFill>
              <a:srgbClr val="E4DFD6"/>
            </a:solidFill>
            <a:prstDash val="solid"/>
          </a:ln>
        </p:spPr>
      </p:sp>
      <p:sp>
        <p:nvSpPr>
          <p:cNvPr id="43" name="Text 40"/>
          <p:cNvSpPr/>
          <p:nvPr/>
        </p:nvSpPr>
        <p:spPr>
          <a:xfrm>
            <a:off x="6510528" y="5486400"/>
            <a:ext cx="5120640" cy="201168"/>
          </a:xfrm>
          <a:prstGeom prst="rect">
            <a:avLst/>
          </a:prstGeom>
          <a:noFill/>
          <a:ln/>
        </p:spPr>
        <p:txBody>
          <a:bodyPr wrap="square" lIns="0" tIns="0" rIns="0" bIns="0" rtlCol="0" anchor="t"/>
          <a:lstStyle/>
          <a:p>
            <a:pPr indent="0" marL="0">
              <a:buNone/>
            </a:pPr>
            <a:r>
              <a:rPr lang="en-US" sz="1100" b="1" spc="50" kern="0" dirty="0">
                <a:solidFill>
                  <a:srgbClr val="1F6B72"/>
                </a:solidFill>
                <a:latin typeface="Aptos" pitchFamily="34" charset="0"/>
                <a:ea typeface="Aptos" pitchFamily="34" charset="-122"/>
                <a:cs typeface="Aptos" pitchFamily="34" charset="-120"/>
              </a:rPr>
              <a:t>SEED 37  ·  ONE MATCHED RUN</a:t>
            </a:r>
            <a:endParaRPr lang="en-US" sz="1100" dirty="0"/>
          </a:p>
        </p:txBody>
      </p:sp>
      <p:sp>
        <p:nvSpPr>
          <p:cNvPr id="44" name="Text 41"/>
          <p:cNvSpPr/>
          <p:nvPr/>
        </p:nvSpPr>
        <p:spPr>
          <a:xfrm>
            <a:off x="6510528" y="5705856"/>
            <a:ext cx="5120640" cy="237744"/>
          </a:xfrm>
          <a:prstGeom prst="rect">
            <a:avLst/>
          </a:prstGeom>
          <a:noFill/>
          <a:ln/>
        </p:spPr>
        <p:txBody>
          <a:bodyPr wrap="square" lIns="0" tIns="0" rIns="0" bIns="0" rtlCol="0" anchor="t"/>
          <a:lstStyle/>
          <a:p>
            <a:pPr indent="0" marL="0">
              <a:buNone/>
            </a:pPr>
            <a:r>
              <a:rPr lang="en-US" sz="1300" b="1" dirty="0">
                <a:solidFill>
                  <a:srgbClr val="16222C"/>
                </a:solidFill>
                <a:latin typeface="Aptos" pitchFamily="34" charset="0"/>
                <a:ea typeface="Aptos" pitchFamily="34" charset="-122"/>
                <a:cs typeface="Aptos" pitchFamily="34" charset="-120"/>
              </a:rPr>
              <a:t>Fixed 71/84   ·   Actuated 84/84   ·   Max-Pressure 70/84</a:t>
            </a:r>
            <a:endParaRPr lang="en-US" sz="1300" dirty="0"/>
          </a:p>
        </p:txBody>
      </p:sp>
      <p:sp>
        <p:nvSpPr>
          <p:cNvPr id="45" name="Text 42"/>
          <p:cNvSpPr/>
          <p:nvPr/>
        </p:nvSpPr>
        <p:spPr>
          <a:xfrm>
            <a:off x="6510528" y="5961888"/>
            <a:ext cx="5120640" cy="237744"/>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Unfinished trips stayed in. Mixed. No winner.</a:t>
            </a:r>
            <a:endParaRPr lang="en-US" sz="1300" dirty="0"/>
          </a:p>
        </p:txBody>
      </p:sp>
      <p:sp>
        <p:nvSpPr>
          <p:cNvPr id="46" name="Text 43"/>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Primary research is the gap we name first.</a:t>
            </a:r>
            <a:endParaRPr lang="en-US" sz="1200" dirty="0"/>
          </a:p>
        </p:txBody>
      </p:sp>
      <p:sp>
        <p:nvSpPr>
          <p:cNvPr id="47" name="Text 44"/>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04</a:t>
            </a:r>
            <a:endParaRPr lang="en-US" sz="1200" dirty="0"/>
          </a:p>
        </p:txBody>
      </p:sp>
    </p:spTree>
  </p:cSld>
  <p:transition spd="slow" advClick="1">
    <p:fade/>
  </p:transition>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4  ·  KEY FINDINGS</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Five findings we can defend.</a:t>
            </a:r>
            <a:endParaRPr lang="en-US" sz="2800" dirty="0"/>
          </a:p>
        </p:txBody>
      </p:sp>
      <p:sp>
        <p:nvSpPr>
          <p:cNvPr id="5" name="Shape 2"/>
          <p:cNvSpPr/>
          <p:nvPr/>
        </p:nvSpPr>
        <p:spPr>
          <a:xfrm>
            <a:off x="384048" y="1335024"/>
            <a:ext cx="11430000" cy="896112"/>
          </a:xfrm>
          <a:prstGeom prst="roundRect">
            <a:avLst>
              <a:gd name="adj" fmla="val 8163"/>
            </a:avLst>
          </a:prstGeom>
          <a:solidFill>
            <a:srgbClr val="FBFAF6"/>
          </a:solidFill>
          <a:ln w="12700">
            <a:solidFill>
              <a:srgbClr val="E4DFD6"/>
            </a:solidFill>
            <a:prstDash val="solid"/>
          </a:ln>
        </p:spPr>
      </p:sp>
      <p:sp>
        <p:nvSpPr>
          <p:cNvPr id="6" name="Text 3"/>
          <p:cNvSpPr/>
          <p:nvPr/>
        </p:nvSpPr>
        <p:spPr>
          <a:xfrm>
            <a:off x="566928" y="1536192"/>
            <a:ext cx="411480" cy="457200"/>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1</a:t>
            </a:r>
            <a:endParaRPr lang="en-US" sz="2200" dirty="0"/>
          </a:p>
        </p:txBody>
      </p:sp>
      <p:sp>
        <p:nvSpPr>
          <p:cNvPr id="7" name="Text 4"/>
          <p:cNvSpPr/>
          <p:nvPr/>
        </p:nvSpPr>
        <p:spPr>
          <a:xfrm>
            <a:off x="1143000" y="1463040"/>
            <a:ext cx="10424160" cy="310896"/>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The people harmed are named in the counts.</a:t>
            </a:r>
            <a:endParaRPr lang="en-US" sz="1600" dirty="0"/>
          </a:p>
        </p:txBody>
      </p:sp>
      <p:sp>
        <p:nvSpPr>
          <p:cNvPr id="8" name="Text 5"/>
          <p:cNvSpPr/>
          <p:nvPr/>
        </p:nvSpPr>
        <p:spPr>
          <a:xfrm>
            <a:off x="1143000" y="1792224"/>
            <a:ext cx="10424160" cy="329184"/>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Pedestrians, occupants, and public-transport passengers. The 2024 strategy also names older people and people with disabilities.</a:t>
            </a:r>
            <a:endParaRPr lang="en-US" sz="1400" dirty="0"/>
          </a:p>
        </p:txBody>
      </p:sp>
      <p:sp>
        <p:nvSpPr>
          <p:cNvPr id="9" name="Shape 6"/>
          <p:cNvSpPr/>
          <p:nvPr/>
        </p:nvSpPr>
        <p:spPr>
          <a:xfrm>
            <a:off x="384048" y="2322576"/>
            <a:ext cx="11430000" cy="896112"/>
          </a:xfrm>
          <a:prstGeom prst="roundRect">
            <a:avLst>
              <a:gd name="adj" fmla="val 8163"/>
            </a:avLst>
          </a:prstGeom>
          <a:solidFill>
            <a:srgbClr val="FBFAF6"/>
          </a:solidFill>
          <a:ln w="12700">
            <a:solidFill>
              <a:srgbClr val="E4DFD6"/>
            </a:solidFill>
            <a:prstDash val="solid"/>
          </a:ln>
        </p:spPr>
      </p:sp>
      <p:sp>
        <p:nvSpPr>
          <p:cNvPr id="10" name="Text 7"/>
          <p:cNvSpPr/>
          <p:nvPr/>
        </p:nvSpPr>
        <p:spPr>
          <a:xfrm>
            <a:off x="566928" y="2523744"/>
            <a:ext cx="411480" cy="457200"/>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2</a:t>
            </a:r>
            <a:endParaRPr lang="en-US" sz="2200" dirty="0"/>
          </a:p>
        </p:txBody>
      </p:sp>
      <p:sp>
        <p:nvSpPr>
          <p:cNvPr id="11" name="Text 8"/>
          <p:cNvSpPr/>
          <p:nvPr/>
        </p:nvSpPr>
        <p:spPr>
          <a:xfrm>
            <a:off x="1143000" y="2450592"/>
            <a:ext cx="10424160" cy="310896"/>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2023 has two death totals beside one crash total.</a:t>
            </a:r>
            <a:endParaRPr lang="en-US" sz="1600" dirty="0"/>
          </a:p>
        </p:txBody>
      </p:sp>
      <p:sp>
        <p:nvSpPr>
          <p:cNvPr id="12" name="Text 9"/>
          <p:cNvSpPr/>
          <p:nvPr/>
        </p:nvSpPr>
        <p:spPr>
          <a:xfrm>
            <a:off x="1143000" y="2779776"/>
            <a:ext cx="10424160" cy="329184"/>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2,273 and 1,216, with the same 5,796 crashes. A single death number would hide that.</a:t>
            </a:r>
            <a:endParaRPr lang="en-US" sz="1400" dirty="0"/>
          </a:p>
        </p:txBody>
      </p:sp>
      <p:sp>
        <p:nvSpPr>
          <p:cNvPr id="13" name="Shape 10"/>
          <p:cNvSpPr/>
          <p:nvPr/>
        </p:nvSpPr>
        <p:spPr>
          <a:xfrm>
            <a:off x="384048" y="3310128"/>
            <a:ext cx="11430000" cy="896112"/>
          </a:xfrm>
          <a:prstGeom prst="roundRect">
            <a:avLst>
              <a:gd name="adj" fmla="val 8163"/>
            </a:avLst>
          </a:prstGeom>
          <a:solidFill>
            <a:srgbClr val="FBFAF6"/>
          </a:solidFill>
          <a:ln w="12700">
            <a:solidFill>
              <a:srgbClr val="E4DFD6"/>
            </a:solidFill>
            <a:prstDash val="solid"/>
          </a:ln>
        </p:spPr>
      </p:sp>
      <p:sp>
        <p:nvSpPr>
          <p:cNvPr id="14" name="Text 11"/>
          <p:cNvSpPr/>
          <p:nvPr/>
        </p:nvSpPr>
        <p:spPr>
          <a:xfrm>
            <a:off x="566928" y="3511296"/>
            <a:ext cx="411480" cy="457200"/>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3</a:t>
            </a:r>
            <a:endParaRPr lang="en-US" sz="2200" dirty="0"/>
          </a:p>
        </p:txBody>
      </p:sp>
      <p:sp>
        <p:nvSpPr>
          <p:cNvPr id="15" name="Text 12"/>
          <p:cNvSpPr/>
          <p:nvPr/>
        </p:nvSpPr>
        <p:spPr>
          <a:xfrm>
            <a:off x="1143000" y="3438144"/>
            <a:ext cx="10424160" cy="310896"/>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A mean can improve while trips stay unfinished.</a:t>
            </a:r>
            <a:endParaRPr lang="en-US" sz="1600" dirty="0"/>
          </a:p>
        </p:txBody>
      </p:sp>
      <p:sp>
        <p:nvSpPr>
          <p:cNvPr id="16" name="Text 13"/>
          <p:cNvSpPr/>
          <p:nvPr/>
        </p:nvSpPr>
        <p:spPr>
          <a:xfrm>
            <a:off x="1143000" y="3767328"/>
            <a:ext cx="10424160" cy="329184"/>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On seed 37, actuated finished more trips. Cooperative Max-Pressure did not win.</a:t>
            </a:r>
            <a:endParaRPr lang="en-US" sz="1400" dirty="0"/>
          </a:p>
        </p:txBody>
      </p:sp>
      <p:sp>
        <p:nvSpPr>
          <p:cNvPr id="17" name="Shape 14"/>
          <p:cNvSpPr/>
          <p:nvPr/>
        </p:nvSpPr>
        <p:spPr>
          <a:xfrm>
            <a:off x="384048" y="4297680"/>
            <a:ext cx="11430000" cy="896112"/>
          </a:xfrm>
          <a:prstGeom prst="roundRect">
            <a:avLst>
              <a:gd name="adj" fmla="val 8163"/>
            </a:avLst>
          </a:prstGeom>
          <a:solidFill>
            <a:srgbClr val="FBFAF6"/>
          </a:solidFill>
          <a:ln w="12700">
            <a:solidFill>
              <a:srgbClr val="E4DFD6"/>
            </a:solidFill>
            <a:prstDash val="solid"/>
          </a:ln>
        </p:spPr>
      </p:sp>
      <p:sp>
        <p:nvSpPr>
          <p:cNvPr id="18" name="Text 15"/>
          <p:cNvSpPr/>
          <p:nvPr/>
        </p:nvSpPr>
        <p:spPr>
          <a:xfrm>
            <a:off x="566928" y="4498848"/>
            <a:ext cx="411480" cy="457200"/>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4</a:t>
            </a:r>
            <a:endParaRPr lang="en-US" sz="2200" dirty="0"/>
          </a:p>
        </p:txBody>
      </p:sp>
      <p:sp>
        <p:nvSpPr>
          <p:cNvPr id="19" name="Text 16"/>
          <p:cNvSpPr/>
          <p:nvPr/>
        </p:nvSpPr>
        <p:spPr>
          <a:xfrm>
            <a:off x="1143000" y="4425696"/>
            <a:ext cx="10424160" cy="310896"/>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We do not have a live Tunis signal network, or today’s bus gap.</a:t>
            </a:r>
            <a:endParaRPr lang="en-US" sz="1600" dirty="0"/>
          </a:p>
        </p:txBody>
      </p:sp>
      <p:sp>
        <p:nvSpPr>
          <p:cNvPr id="20" name="Text 17"/>
          <p:cNvSpPr/>
          <p:nvPr/>
        </p:nvSpPr>
        <p:spPr>
          <a:xfrm>
            <a:off x="1143000" y="4754880"/>
            <a:ext cx="10424160" cy="329184"/>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No public adaptive-signal network was found. A 2018 passenger total is not a headway.</a:t>
            </a:r>
            <a:endParaRPr lang="en-US" sz="1400" dirty="0"/>
          </a:p>
        </p:txBody>
      </p:sp>
      <p:sp>
        <p:nvSpPr>
          <p:cNvPr id="21" name="Shape 18"/>
          <p:cNvSpPr/>
          <p:nvPr/>
        </p:nvSpPr>
        <p:spPr>
          <a:xfrm>
            <a:off x="384048" y="5285232"/>
            <a:ext cx="11430000" cy="896112"/>
          </a:xfrm>
          <a:prstGeom prst="roundRect">
            <a:avLst>
              <a:gd name="adj" fmla="val 8163"/>
            </a:avLst>
          </a:prstGeom>
          <a:solidFill>
            <a:srgbClr val="FBFAF6"/>
          </a:solidFill>
          <a:ln w="12700">
            <a:solidFill>
              <a:srgbClr val="E4DFD6"/>
            </a:solidFill>
            <a:prstDash val="solid"/>
          </a:ln>
        </p:spPr>
      </p:sp>
      <p:sp>
        <p:nvSpPr>
          <p:cNvPr id="22" name="Text 19"/>
          <p:cNvSpPr/>
          <p:nvPr/>
        </p:nvSpPr>
        <p:spPr>
          <a:xfrm>
            <a:off x="566928" y="5486400"/>
            <a:ext cx="411480" cy="457200"/>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5</a:t>
            </a:r>
            <a:endParaRPr lang="en-US" sz="2200" dirty="0"/>
          </a:p>
        </p:txBody>
      </p:sp>
      <p:sp>
        <p:nvSpPr>
          <p:cNvPr id="23" name="Text 20"/>
          <p:cNvSpPr/>
          <p:nvPr/>
        </p:nvSpPr>
        <p:spPr>
          <a:xfrm>
            <a:off x="1143000" y="5413248"/>
            <a:ext cx="10424160" cy="310896"/>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An alert can go beyond the evidence.</a:t>
            </a:r>
            <a:endParaRPr lang="en-US" sz="1600" dirty="0"/>
          </a:p>
        </p:txBody>
      </p:sp>
      <p:sp>
        <p:nvSpPr>
          <p:cNvPr id="24" name="Text 21"/>
          <p:cNvSpPr/>
          <p:nvPr/>
        </p:nvSpPr>
        <p:spPr>
          <a:xfrm>
            <a:off x="1143000" y="5742432"/>
            <a:ext cx="10424160" cy="329184"/>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Naming a cause, or showing a stale sensor as healthy, would do that.</a:t>
            </a:r>
            <a:endParaRPr lang="en-US" sz="1400" dirty="0"/>
          </a:p>
        </p:txBody>
      </p:sp>
      <p:sp>
        <p:nvSpPr>
          <p:cNvPr id="25" name="Text 22"/>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These are limits on what the solution may say.</a:t>
            </a:r>
            <a:endParaRPr lang="en-US" sz="1200" dirty="0"/>
          </a:p>
        </p:txBody>
      </p:sp>
      <p:sp>
        <p:nvSpPr>
          <p:cNvPr id="26" name="Text 23"/>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05</a:t>
            </a:r>
            <a:endParaRPr lang="en-US" sz="1200" dirty="0"/>
          </a:p>
        </p:txBody>
      </p:sp>
    </p:spTree>
  </p:cSld>
  <p:transition spd="slow" advClick="1">
    <p:fade/>
  </p:transition>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5  ·  PERSONAS  ·  AMARA AND DAVID</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The crossing, and the trip that may not finish.</a:t>
            </a:r>
            <a:endParaRPr lang="en-US" sz="2800" dirty="0"/>
          </a:p>
        </p:txBody>
      </p:sp>
      <p:sp>
        <p:nvSpPr>
          <p:cNvPr id="5" name="Shape 2"/>
          <p:cNvSpPr/>
          <p:nvPr/>
        </p:nvSpPr>
        <p:spPr>
          <a:xfrm>
            <a:off x="365760" y="1280160"/>
            <a:ext cx="5650992" cy="5047488"/>
          </a:xfrm>
          <a:prstGeom prst="roundRect">
            <a:avLst>
              <a:gd name="adj" fmla="val 1449"/>
            </a:avLst>
          </a:prstGeom>
          <a:solidFill>
            <a:srgbClr val="FBFAF6"/>
          </a:solidFill>
          <a:ln w="12700">
            <a:solidFill>
              <a:srgbClr val="E4DFD6"/>
            </a:solidFill>
            <a:prstDash val="solid"/>
          </a:ln>
        </p:spPr>
      </p:sp>
      <p:pic>
        <p:nvPicPr>
          <p:cNvPr id="6" name="Image 0" descr="C:\Users\dell\Downloads\sumo\docs\presentation\personas\p1-amara.png">    </p:cNvPr>
          <p:cNvPicPr>
            <a:picLocks noChangeAspect="1"/>
          </p:cNvPicPr>
          <p:nvPr/>
        </p:nvPicPr>
        <p:blipFill>
          <a:blip r:embed="rId1"/>
          <a:srcRect l="0" r="0" t="0" b="0"/>
          <a:stretch/>
        </p:blipFill>
        <p:spPr>
          <a:xfrm>
            <a:off x="530352" y="1463040"/>
            <a:ext cx="1847088" cy="2459736"/>
          </a:xfrm>
          <a:prstGeom prst="rect">
            <a:avLst/>
          </a:prstGeom>
        </p:spPr>
      </p:pic>
      <p:sp>
        <p:nvSpPr>
          <p:cNvPr id="7" name="Shape 3"/>
          <p:cNvSpPr/>
          <p:nvPr/>
        </p:nvSpPr>
        <p:spPr>
          <a:xfrm>
            <a:off x="2560320" y="1536192"/>
            <a:ext cx="54864" cy="566928"/>
          </a:xfrm>
          <a:prstGeom prst="rect">
            <a:avLst/>
          </a:prstGeom>
          <a:solidFill>
            <a:srgbClr val="1F6B72"/>
          </a:solidFill>
          <a:ln w="12700">
            <a:solidFill>
              <a:srgbClr val="1F6B72"/>
            </a:solidFill>
            <a:prstDash val="solid"/>
          </a:ln>
        </p:spPr>
      </p:sp>
      <p:sp>
        <p:nvSpPr>
          <p:cNvPr id="8" name="Text 4"/>
          <p:cNvSpPr/>
          <p:nvPr/>
        </p:nvSpPr>
        <p:spPr>
          <a:xfrm>
            <a:off x="2724912" y="1481328"/>
            <a:ext cx="3108960" cy="329184"/>
          </a:xfrm>
          <a:prstGeom prst="rect">
            <a:avLst/>
          </a:prstGeom>
          <a:noFill/>
          <a:ln/>
        </p:spPr>
        <p:txBody>
          <a:bodyPr wrap="square" lIns="0" tIns="0" rIns="0" bIns="0" rtlCol="0" anchor="t"/>
          <a:lstStyle/>
          <a:p>
            <a:pPr indent="0" marL="0">
              <a:buNone/>
            </a:pPr>
            <a:r>
              <a:rPr lang="en-US" sz="2000" b="1" dirty="0">
                <a:solidFill>
                  <a:srgbClr val="16222C"/>
                </a:solidFill>
                <a:latin typeface="Aptos Display" pitchFamily="34" charset="0"/>
                <a:ea typeface="Aptos Display" pitchFamily="34" charset="-122"/>
                <a:cs typeface="Aptos Display" pitchFamily="34" charset="-120"/>
              </a:rPr>
              <a:t>Amara, 74</a:t>
            </a:r>
            <a:endParaRPr lang="en-US" sz="2000" dirty="0"/>
          </a:p>
        </p:txBody>
      </p:sp>
      <p:sp>
        <p:nvSpPr>
          <p:cNvPr id="9" name="Text 5"/>
          <p:cNvSpPr/>
          <p:nvPr/>
        </p:nvSpPr>
        <p:spPr>
          <a:xfrm>
            <a:off x="2724912" y="1828800"/>
            <a:ext cx="3108960" cy="47548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Retired pedestrian. Uses a cane.</a:t>
            </a:r>
            <a:endParaRPr lang="en-US" sz="1300" dirty="0"/>
          </a:p>
        </p:txBody>
      </p:sp>
      <p:sp>
        <p:nvSpPr>
          <p:cNvPr id="10" name="Text 6"/>
          <p:cNvSpPr/>
          <p:nvPr/>
        </p:nvSpPr>
        <p:spPr>
          <a:xfrm>
            <a:off x="2724912" y="2359152"/>
            <a:ext cx="3108960" cy="1325880"/>
          </a:xfrm>
          <a:prstGeom prst="rect">
            <a:avLst/>
          </a:prstGeom>
          <a:noFill/>
          <a:ln/>
        </p:spPr>
        <p:txBody>
          <a:bodyPr wrap="square" lIns="0" tIns="0" rIns="0" bIns="0" rtlCol="0" anchor="t"/>
          <a:lstStyle/>
          <a:p>
            <a:pPr indent="0" marL="0">
              <a:buNone/>
            </a:pPr>
            <a:r>
              <a:rPr lang="en-US" sz="1400" i="1" dirty="0">
                <a:solidFill>
                  <a:srgbClr val="16222C"/>
                </a:solidFill>
                <a:latin typeface="Aptos" pitchFamily="34" charset="0"/>
                <a:ea typeface="Aptos" pitchFamily="34" charset="-122"/>
                <a:cs typeface="Aptos" pitchFamily="34" charset="-120"/>
              </a:rPr>
              <a:t>“I need enough time to finish crossing, even when traffic is busy.”</a:t>
            </a:r>
            <a:endParaRPr lang="en-US" sz="1400" dirty="0"/>
          </a:p>
        </p:txBody>
      </p:sp>
      <p:sp>
        <p:nvSpPr>
          <p:cNvPr id="11" name="Text 7"/>
          <p:cNvSpPr/>
          <p:nvPr/>
        </p:nvSpPr>
        <p:spPr>
          <a:xfrm>
            <a:off x="566928" y="4096512"/>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NEED</a:t>
            </a:r>
            <a:endParaRPr lang="en-US" sz="1100" dirty="0"/>
          </a:p>
        </p:txBody>
      </p:sp>
      <p:sp>
        <p:nvSpPr>
          <p:cNvPr id="12" name="Text 8"/>
          <p:cNvSpPr/>
          <p:nvPr/>
        </p:nvSpPr>
        <p:spPr>
          <a:xfrm>
            <a:off x="566928" y="4279392"/>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Enough time to finish, and a shorter wait.</a:t>
            </a:r>
            <a:endParaRPr lang="en-US" sz="1300" dirty="0"/>
          </a:p>
        </p:txBody>
      </p:sp>
      <p:sp>
        <p:nvSpPr>
          <p:cNvPr id="13" name="Text 9"/>
          <p:cNvSpPr/>
          <p:nvPr/>
        </p:nvSpPr>
        <p:spPr>
          <a:xfrm>
            <a:off x="566928" y="4809744"/>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PAIN</a:t>
            </a:r>
            <a:endParaRPr lang="en-US" sz="1100" dirty="0"/>
          </a:p>
        </p:txBody>
      </p:sp>
      <p:sp>
        <p:nvSpPr>
          <p:cNvPr id="14" name="Text 10"/>
          <p:cNvSpPr/>
          <p:nvPr/>
        </p:nvSpPr>
        <p:spPr>
          <a:xfrm>
            <a:off x="566928" y="4992624"/>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Cars get green while she is still crossing.</a:t>
            </a:r>
            <a:endParaRPr lang="en-US" sz="1300" dirty="0"/>
          </a:p>
        </p:txBody>
      </p:sp>
      <p:sp>
        <p:nvSpPr>
          <p:cNvPr id="15" name="Text 11"/>
          <p:cNvSpPr/>
          <p:nvPr/>
        </p:nvSpPr>
        <p:spPr>
          <a:xfrm>
            <a:off x="566928" y="5522976"/>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BASED ON</a:t>
            </a:r>
            <a:endParaRPr lang="en-US" sz="1100" dirty="0"/>
          </a:p>
        </p:txBody>
      </p:sp>
      <p:sp>
        <p:nvSpPr>
          <p:cNvPr id="16" name="Text 12"/>
          <p:cNvSpPr/>
          <p:nvPr/>
        </p:nvSpPr>
        <p:spPr>
          <a:xfrm>
            <a:off x="566928" y="5705856"/>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Pedestrians were 28% of 2023 deaths in the investment case. The 2024 strategy names older people and people with disabilities. Clearance guidance is about 1.07 m/s.</a:t>
            </a:r>
            <a:endParaRPr lang="en-US" sz="1300" dirty="0"/>
          </a:p>
        </p:txBody>
      </p:sp>
      <p:sp>
        <p:nvSpPr>
          <p:cNvPr id="17" name="Shape 13"/>
          <p:cNvSpPr/>
          <p:nvPr/>
        </p:nvSpPr>
        <p:spPr>
          <a:xfrm>
            <a:off x="6163056" y="1280160"/>
            <a:ext cx="5650992" cy="5047488"/>
          </a:xfrm>
          <a:prstGeom prst="roundRect">
            <a:avLst>
              <a:gd name="adj" fmla="val 1449"/>
            </a:avLst>
          </a:prstGeom>
          <a:solidFill>
            <a:srgbClr val="FBFAF6"/>
          </a:solidFill>
          <a:ln w="12700">
            <a:solidFill>
              <a:srgbClr val="E4DFD6"/>
            </a:solidFill>
            <a:prstDash val="solid"/>
          </a:ln>
        </p:spPr>
      </p:sp>
      <p:pic>
        <p:nvPicPr>
          <p:cNvPr id="18" name="Image 1" descr="C:\Users\dell\Downloads\sumo\docs\presentation\personas\p2-david.png">    </p:cNvPr>
          <p:cNvPicPr>
            <a:picLocks noChangeAspect="1"/>
          </p:cNvPicPr>
          <p:nvPr/>
        </p:nvPicPr>
        <p:blipFill>
          <a:blip r:embed="rId2"/>
          <a:srcRect l="0" r="0" t="0" b="0"/>
          <a:stretch/>
        </p:blipFill>
        <p:spPr>
          <a:xfrm>
            <a:off x="6327648" y="1463040"/>
            <a:ext cx="1847088" cy="2459736"/>
          </a:xfrm>
          <a:prstGeom prst="rect">
            <a:avLst/>
          </a:prstGeom>
        </p:spPr>
      </p:pic>
      <p:sp>
        <p:nvSpPr>
          <p:cNvPr id="19" name="Shape 14"/>
          <p:cNvSpPr/>
          <p:nvPr/>
        </p:nvSpPr>
        <p:spPr>
          <a:xfrm>
            <a:off x="8357616" y="1536192"/>
            <a:ext cx="54864" cy="566928"/>
          </a:xfrm>
          <a:prstGeom prst="rect">
            <a:avLst/>
          </a:prstGeom>
          <a:solidFill>
            <a:srgbClr val="1F6B72"/>
          </a:solidFill>
          <a:ln w="12700">
            <a:solidFill>
              <a:srgbClr val="1F6B72"/>
            </a:solidFill>
            <a:prstDash val="solid"/>
          </a:ln>
        </p:spPr>
      </p:sp>
      <p:sp>
        <p:nvSpPr>
          <p:cNvPr id="20" name="Text 15"/>
          <p:cNvSpPr/>
          <p:nvPr/>
        </p:nvSpPr>
        <p:spPr>
          <a:xfrm>
            <a:off x="8522208" y="1481328"/>
            <a:ext cx="3108960" cy="329184"/>
          </a:xfrm>
          <a:prstGeom prst="rect">
            <a:avLst/>
          </a:prstGeom>
          <a:noFill/>
          <a:ln/>
        </p:spPr>
        <p:txBody>
          <a:bodyPr wrap="square" lIns="0" tIns="0" rIns="0" bIns="0" rtlCol="0" anchor="t"/>
          <a:lstStyle/>
          <a:p>
            <a:pPr indent="0" marL="0">
              <a:buNone/>
            </a:pPr>
            <a:r>
              <a:rPr lang="en-US" sz="2000" b="1" dirty="0">
                <a:solidFill>
                  <a:srgbClr val="16222C"/>
                </a:solidFill>
                <a:latin typeface="Aptos Display" pitchFamily="34" charset="0"/>
                <a:ea typeface="Aptos Display" pitchFamily="34" charset="-122"/>
                <a:cs typeface="Aptos Display" pitchFamily="34" charset="-120"/>
              </a:rPr>
              <a:t>David, 41</a:t>
            </a:r>
            <a:endParaRPr lang="en-US" sz="2000" dirty="0"/>
          </a:p>
        </p:txBody>
      </p:sp>
      <p:sp>
        <p:nvSpPr>
          <p:cNvPr id="21" name="Text 16"/>
          <p:cNvSpPr/>
          <p:nvPr/>
        </p:nvSpPr>
        <p:spPr>
          <a:xfrm>
            <a:off x="8522208" y="1828800"/>
            <a:ext cx="3108960" cy="47548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Delivery-van driver.</a:t>
            </a:r>
            <a:endParaRPr lang="en-US" sz="1300" dirty="0"/>
          </a:p>
        </p:txBody>
      </p:sp>
      <p:sp>
        <p:nvSpPr>
          <p:cNvPr id="22" name="Text 17"/>
          <p:cNvSpPr/>
          <p:nvPr/>
        </p:nvSpPr>
        <p:spPr>
          <a:xfrm>
            <a:off x="8522208" y="2359152"/>
            <a:ext cx="3108960" cy="1325880"/>
          </a:xfrm>
          <a:prstGeom prst="rect">
            <a:avLst/>
          </a:prstGeom>
          <a:noFill/>
          <a:ln/>
        </p:spPr>
        <p:txBody>
          <a:bodyPr wrap="square" lIns="0" tIns="0" rIns="0" bIns="0" rtlCol="0" anchor="t"/>
          <a:lstStyle/>
          <a:p>
            <a:pPr indent="0" marL="0">
              <a:buNone/>
            </a:pPr>
            <a:r>
              <a:rPr lang="en-US" sz="1400" i="1" dirty="0">
                <a:solidFill>
                  <a:srgbClr val="16222C"/>
                </a:solidFill>
                <a:latin typeface="Aptos" pitchFamily="34" charset="0"/>
                <a:ea typeface="Aptos" pitchFamily="34" charset="-122"/>
                <a:cs typeface="Aptos" pitchFamily="34" charset="-120"/>
              </a:rPr>
              <a:t>“I can plan around a longer trip if I know how long it will actually take.”</a:t>
            </a:r>
            <a:endParaRPr lang="en-US" sz="1400" dirty="0"/>
          </a:p>
        </p:txBody>
      </p:sp>
      <p:sp>
        <p:nvSpPr>
          <p:cNvPr id="23" name="Text 18"/>
          <p:cNvSpPr/>
          <p:nvPr/>
        </p:nvSpPr>
        <p:spPr>
          <a:xfrm>
            <a:off x="6364224" y="4096512"/>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NEED</a:t>
            </a:r>
            <a:endParaRPr lang="en-US" sz="1100" dirty="0"/>
          </a:p>
        </p:txBody>
      </p:sp>
      <p:sp>
        <p:nvSpPr>
          <p:cNvPr id="24" name="Text 19"/>
          <p:cNvSpPr/>
          <p:nvPr/>
        </p:nvSpPr>
        <p:spPr>
          <a:xfrm>
            <a:off x="6364224" y="4279392"/>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The real duration, including the trip that does not finish.</a:t>
            </a:r>
            <a:endParaRPr lang="en-US" sz="1300" dirty="0"/>
          </a:p>
        </p:txBody>
      </p:sp>
      <p:sp>
        <p:nvSpPr>
          <p:cNvPr id="25" name="Text 20"/>
          <p:cNvSpPr/>
          <p:nvPr/>
        </p:nvSpPr>
        <p:spPr>
          <a:xfrm>
            <a:off x="6364224" y="4809744"/>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PAIN</a:t>
            </a:r>
            <a:endParaRPr lang="en-US" sz="1100" dirty="0"/>
          </a:p>
        </p:txBody>
      </p:sp>
      <p:sp>
        <p:nvSpPr>
          <p:cNvPr id="26" name="Text 21"/>
          <p:cNvSpPr/>
          <p:nvPr/>
        </p:nvSpPr>
        <p:spPr>
          <a:xfrm>
            <a:off x="6364224" y="4992624"/>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A better mean hides unfinished or extreme trips.</a:t>
            </a:r>
            <a:endParaRPr lang="en-US" sz="1300" dirty="0"/>
          </a:p>
        </p:txBody>
      </p:sp>
      <p:sp>
        <p:nvSpPr>
          <p:cNvPr id="27" name="Text 22"/>
          <p:cNvSpPr/>
          <p:nvPr/>
        </p:nvSpPr>
        <p:spPr>
          <a:xfrm>
            <a:off x="6364224" y="5522976"/>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BASED ON</a:t>
            </a:r>
            <a:endParaRPr lang="en-US" sz="1100" dirty="0"/>
          </a:p>
        </p:txBody>
      </p:sp>
      <p:sp>
        <p:nvSpPr>
          <p:cNvPr id="28" name="Text 23"/>
          <p:cNvSpPr/>
          <p:nvPr/>
        </p:nvSpPr>
        <p:spPr>
          <a:xfrm>
            <a:off x="6364224" y="5705856"/>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Occupants carry most of the health cost in that case. Appraisal guidance uses 0.4 as a reliability ratio. On seed 37, unfinished trips stayed in the count.</a:t>
            </a:r>
            <a:endParaRPr lang="en-US" sz="1300" dirty="0"/>
          </a:p>
        </p:txBody>
      </p:sp>
      <p:sp>
        <p:nvSpPr>
          <p:cNvPr id="29" name="Text 24"/>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Design readings, not interviews. Photos are illustrations.</a:t>
            </a:r>
            <a:endParaRPr lang="en-US" sz="1200" dirty="0"/>
          </a:p>
        </p:txBody>
      </p:sp>
      <p:sp>
        <p:nvSpPr>
          <p:cNvPr id="30" name="Text 25"/>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06</a:t>
            </a:r>
            <a:endParaRPr lang="en-US" sz="1200" dirty="0"/>
          </a:p>
        </p:txBody>
      </p:sp>
    </p:spTree>
  </p:cSld>
  <p:transition spd="slow" advClick="1">
    <p:fade/>
  </p:transition>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5  ·  PERSONAS  ·  CHIDI AND ROSA</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The bus gap, and the reader of the refusal.</a:t>
            </a:r>
            <a:endParaRPr lang="en-US" sz="2800" dirty="0"/>
          </a:p>
        </p:txBody>
      </p:sp>
      <p:sp>
        <p:nvSpPr>
          <p:cNvPr id="5" name="Shape 2"/>
          <p:cNvSpPr/>
          <p:nvPr/>
        </p:nvSpPr>
        <p:spPr>
          <a:xfrm>
            <a:off x="365760" y="1280160"/>
            <a:ext cx="5650992" cy="5047488"/>
          </a:xfrm>
          <a:prstGeom prst="roundRect">
            <a:avLst>
              <a:gd name="adj" fmla="val 1449"/>
            </a:avLst>
          </a:prstGeom>
          <a:solidFill>
            <a:srgbClr val="FBFAF6"/>
          </a:solidFill>
          <a:ln w="12700">
            <a:solidFill>
              <a:srgbClr val="E4DFD6"/>
            </a:solidFill>
            <a:prstDash val="solid"/>
          </a:ln>
        </p:spPr>
      </p:sp>
      <p:pic>
        <p:nvPicPr>
          <p:cNvPr id="6" name="Image 0" descr="C:\Users\dell\Downloads\sumo\docs\presentation\personas\p3-chidi.png">    </p:cNvPr>
          <p:cNvPicPr>
            <a:picLocks noChangeAspect="1"/>
          </p:cNvPicPr>
          <p:nvPr/>
        </p:nvPicPr>
        <p:blipFill>
          <a:blip r:embed="rId1"/>
          <a:srcRect l="0" r="0" t="0" b="0"/>
          <a:stretch/>
        </p:blipFill>
        <p:spPr>
          <a:xfrm>
            <a:off x="530352" y="1463040"/>
            <a:ext cx="1847088" cy="2459736"/>
          </a:xfrm>
          <a:prstGeom prst="rect">
            <a:avLst/>
          </a:prstGeom>
        </p:spPr>
      </p:pic>
      <p:sp>
        <p:nvSpPr>
          <p:cNvPr id="7" name="Shape 3"/>
          <p:cNvSpPr/>
          <p:nvPr/>
        </p:nvSpPr>
        <p:spPr>
          <a:xfrm>
            <a:off x="2560320" y="1536192"/>
            <a:ext cx="54864" cy="566928"/>
          </a:xfrm>
          <a:prstGeom prst="rect">
            <a:avLst/>
          </a:prstGeom>
          <a:solidFill>
            <a:srgbClr val="1F6B72"/>
          </a:solidFill>
          <a:ln w="12700">
            <a:solidFill>
              <a:srgbClr val="1F6B72"/>
            </a:solidFill>
            <a:prstDash val="solid"/>
          </a:ln>
        </p:spPr>
      </p:sp>
      <p:sp>
        <p:nvSpPr>
          <p:cNvPr id="8" name="Text 4"/>
          <p:cNvSpPr/>
          <p:nvPr/>
        </p:nvSpPr>
        <p:spPr>
          <a:xfrm>
            <a:off x="2724912" y="1481328"/>
            <a:ext cx="3108960" cy="329184"/>
          </a:xfrm>
          <a:prstGeom prst="rect">
            <a:avLst/>
          </a:prstGeom>
          <a:noFill/>
          <a:ln/>
        </p:spPr>
        <p:txBody>
          <a:bodyPr wrap="square" lIns="0" tIns="0" rIns="0" bIns="0" rtlCol="0" anchor="t"/>
          <a:lstStyle/>
          <a:p>
            <a:pPr indent="0" marL="0">
              <a:buNone/>
            </a:pPr>
            <a:r>
              <a:rPr lang="en-US" sz="2000" b="1" dirty="0">
                <a:solidFill>
                  <a:srgbClr val="16222C"/>
                </a:solidFill>
                <a:latin typeface="Aptos Display" pitchFamily="34" charset="0"/>
                <a:ea typeface="Aptos Display" pitchFamily="34" charset="-122"/>
                <a:cs typeface="Aptos Display" pitchFamily="34" charset="-120"/>
              </a:rPr>
              <a:t>Chidi, 27</a:t>
            </a:r>
            <a:endParaRPr lang="en-US" sz="2000" dirty="0"/>
          </a:p>
        </p:txBody>
      </p:sp>
      <p:sp>
        <p:nvSpPr>
          <p:cNvPr id="9" name="Text 5"/>
          <p:cNvSpPr/>
          <p:nvPr/>
        </p:nvSpPr>
        <p:spPr>
          <a:xfrm>
            <a:off x="2724912" y="1828800"/>
            <a:ext cx="3108960" cy="47548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Frequent bus passenger.</a:t>
            </a:r>
            <a:endParaRPr lang="en-US" sz="1300" dirty="0"/>
          </a:p>
        </p:txBody>
      </p:sp>
      <p:sp>
        <p:nvSpPr>
          <p:cNvPr id="10" name="Text 6"/>
          <p:cNvSpPr/>
          <p:nvPr/>
        </p:nvSpPr>
        <p:spPr>
          <a:xfrm>
            <a:off x="2724912" y="2359152"/>
            <a:ext cx="3108960" cy="1325880"/>
          </a:xfrm>
          <a:prstGeom prst="rect">
            <a:avLst/>
          </a:prstGeom>
          <a:noFill/>
          <a:ln/>
        </p:spPr>
        <p:txBody>
          <a:bodyPr wrap="square" lIns="0" tIns="0" rIns="0" bIns="0" rtlCol="0" anchor="t"/>
          <a:lstStyle/>
          <a:p>
            <a:pPr indent="0" marL="0">
              <a:buNone/>
            </a:pPr>
            <a:r>
              <a:rPr lang="en-US" sz="1400" i="1" dirty="0">
                <a:solidFill>
                  <a:srgbClr val="16222C"/>
                </a:solidFill>
                <a:latin typeface="Aptos" pitchFamily="34" charset="0"/>
                <a:ea typeface="Aptos" pitchFamily="34" charset="-122"/>
                <a:cs typeface="Aptos" pitchFamily="34" charset="-120"/>
              </a:rPr>
              <a:t>“Buses should arrive regularly, not three at once after a long wait.”</a:t>
            </a:r>
            <a:endParaRPr lang="en-US" sz="1400" dirty="0"/>
          </a:p>
        </p:txBody>
      </p:sp>
      <p:sp>
        <p:nvSpPr>
          <p:cNvPr id="11" name="Text 7"/>
          <p:cNvSpPr/>
          <p:nvPr/>
        </p:nvSpPr>
        <p:spPr>
          <a:xfrm>
            <a:off x="566928" y="4096512"/>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NEED</a:t>
            </a:r>
            <a:endParaRPr lang="en-US" sz="1100" dirty="0"/>
          </a:p>
        </p:txBody>
      </p:sp>
      <p:sp>
        <p:nvSpPr>
          <p:cNvPr id="12" name="Text 8"/>
          <p:cNvSpPr/>
          <p:nvPr/>
        </p:nvSpPr>
        <p:spPr>
          <a:xfrm>
            <a:off x="566928" y="4279392"/>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Priority only for a late bus or a large gap.</a:t>
            </a:r>
            <a:endParaRPr lang="en-US" sz="1300" dirty="0"/>
          </a:p>
        </p:txBody>
      </p:sp>
      <p:sp>
        <p:nvSpPr>
          <p:cNvPr id="13" name="Text 9"/>
          <p:cNvSpPr/>
          <p:nvPr/>
        </p:nvSpPr>
        <p:spPr>
          <a:xfrm>
            <a:off x="566928" y="4809744"/>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PAIN</a:t>
            </a:r>
            <a:endParaRPr lang="en-US" sz="1100" dirty="0"/>
          </a:p>
        </p:txBody>
      </p:sp>
      <p:sp>
        <p:nvSpPr>
          <p:cNvPr id="14" name="Text 10"/>
          <p:cNvSpPr/>
          <p:nvPr/>
        </p:nvSpPr>
        <p:spPr>
          <a:xfrm>
            <a:off x="566928" y="4992624"/>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Three buses arrive together after one long gap.</a:t>
            </a:r>
            <a:endParaRPr lang="en-US" sz="1300" dirty="0"/>
          </a:p>
        </p:txBody>
      </p:sp>
      <p:sp>
        <p:nvSpPr>
          <p:cNvPr id="15" name="Text 11"/>
          <p:cNvSpPr/>
          <p:nvPr/>
        </p:nvSpPr>
        <p:spPr>
          <a:xfrm>
            <a:off x="566928" y="5522976"/>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BASED ON</a:t>
            </a:r>
            <a:endParaRPr lang="en-US" sz="1100" dirty="0"/>
          </a:p>
        </p:txBody>
      </p:sp>
      <p:sp>
        <p:nvSpPr>
          <p:cNvPr id="16" name="Text 12"/>
          <p:cNvSpPr/>
          <p:nvPr/>
        </p:nvSpPr>
        <p:spPr>
          <a:xfrm>
            <a:off x="566928" y="5705856"/>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TRANSTU reported 187.4 million paying passengers in 2018. That is not this year’s headway. Appraisal guidance values waiting time above time on the bus.</a:t>
            </a:r>
            <a:endParaRPr lang="en-US" sz="1300" dirty="0"/>
          </a:p>
        </p:txBody>
      </p:sp>
      <p:sp>
        <p:nvSpPr>
          <p:cNvPr id="17" name="Shape 13"/>
          <p:cNvSpPr/>
          <p:nvPr/>
        </p:nvSpPr>
        <p:spPr>
          <a:xfrm>
            <a:off x="6163056" y="1280160"/>
            <a:ext cx="5650992" cy="5047488"/>
          </a:xfrm>
          <a:prstGeom prst="roundRect">
            <a:avLst>
              <a:gd name="adj" fmla="val 1449"/>
            </a:avLst>
          </a:prstGeom>
          <a:solidFill>
            <a:srgbClr val="FBFAF6"/>
          </a:solidFill>
          <a:ln w="12700">
            <a:solidFill>
              <a:srgbClr val="E4DFD6"/>
            </a:solidFill>
            <a:prstDash val="solid"/>
          </a:ln>
        </p:spPr>
      </p:sp>
      <p:pic>
        <p:nvPicPr>
          <p:cNvPr id="18" name="Image 1" descr="C:\Users\dell\Downloads\sumo\docs\presentation\personas\p4-rosa.png">    </p:cNvPr>
          <p:cNvPicPr>
            <a:picLocks noChangeAspect="1"/>
          </p:cNvPicPr>
          <p:nvPr/>
        </p:nvPicPr>
        <p:blipFill>
          <a:blip r:embed="rId2"/>
          <a:srcRect l="0" r="0" t="0" b="0"/>
          <a:stretch/>
        </p:blipFill>
        <p:spPr>
          <a:xfrm>
            <a:off x="6327648" y="1463040"/>
            <a:ext cx="1847088" cy="2459736"/>
          </a:xfrm>
          <a:prstGeom prst="rect">
            <a:avLst/>
          </a:prstGeom>
        </p:spPr>
      </p:pic>
      <p:sp>
        <p:nvSpPr>
          <p:cNvPr id="19" name="Shape 14"/>
          <p:cNvSpPr/>
          <p:nvPr/>
        </p:nvSpPr>
        <p:spPr>
          <a:xfrm>
            <a:off x="8357616" y="1536192"/>
            <a:ext cx="54864" cy="566928"/>
          </a:xfrm>
          <a:prstGeom prst="rect">
            <a:avLst/>
          </a:prstGeom>
          <a:solidFill>
            <a:srgbClr val="1F6B72"/>
          </a:solidFill>
          <a:ln w="12700">
            <a:solidFill>
              <a:srgbClr val="1F6B72"/>
            </a:solidFill>
            <a:prstDash val="solid"/>
          </a:ln>
        </p:spPr>
      </p:sp>
      <p:sp>
        <p:nvSpPr>
          <p:cNvPr id="20" name="Text 15"/>
          <p:cNvSpPr/>
          <p:nvPr/>
        </p:nvSpPr>
        <p:spPr>
          <a:xfrm>
            <a:off x="8522208" y="1481328"/>
            <a:ext cx="3108960" cy="329184"/>
          </a:xfrm>
          <a:prstGeom prst="rect">
            <a:avLst/>
          </a:prstGeom>
          <a:noFill/>
          <a:ln/>
        </p:spPr>
        <p:txBody>
          <a:bodyPr wrap="square" lIns="0" tIns="0" rIns="0" bIns="0" rtlCol="0" anchor="t"/>
          <a:lstStyle/>
          <a:p>
            <a:pPr indent="0" marL="0">
              <a:buNone/>
            </a:pPr>
            <a:r>
              <a:rPr lang="en-US" sz="2000" b="1" dirty="0">
                <a:solidFill>
                  <a:srgbClr val="16222C"/>
                </a:solidFill>
                <a:latin typeface="Aptos Display" pitchFamily="34" charset="0"/>
                <a:ea typeface="Aptos Display" pitchFamily="34" charset="-122"/>
                <a:cs typeface="Aptos Display" pitchFamily="34" charset="-120"/>
              </a:rPr>
              <a:t>Rosa, 52</a:t>
            </a:r>
            <a:endParaRPr lang="en-US" sz="2000" dirty="0"/>
          </a:p>
        </p:txBody>
      </p:sp>
      <p:sp>
        <p:nvSpPr>
          <p:cNvPr id="21" name="Text 16"/>
          <p:cNvSpPr/>
          <p:nvPr/>
        </p:nvSpPr>
        <p:spPr>
          <a:xfrm>
            <a:off x="8522208" y="1828800"/>
            <a:ext cx="3108960" cy="47548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Incident-report reader. She never changes the light.</a:t>
            </a:r>
            <a:endParaRPr lang="en-US" sz="1300" dirty="0"/>
          </a:p>
        </p:txBody>
      </p:sp>
      <p:sp>
        <p:nvSpPr>
          <p:cNvPr id="22" name="Text 17"/>
          <p:cNvSpPr/>
          <p:nvPr/>
        </p:nvSpPr>
        <p:spPr>
          <a:xfrm>
            <a:off x="8522208" y="2359152"/>
            <a:ext cx="3108960" cy="1325880"/>
          </a:xfrm>
          <a:prstGeom prst="rect">
            <a:avLst/>
          </a:prstGeom>
          <a:noFill/>
          <a:ln/>
        </p:spPr>
        <p:txBody>
          <a:bodyPr wrap="square" lIns="0" tIns="0" rIns="0" bIns="0" rtlCol="0" anchor="t"/>
          <a:lstStyle/>
          <a:p>
            <a:pPr indent="0" marL="0">
              <a:buNone/>
            </a:pPr>
            <a:r>
              <a:rPr lang="en-US" sz="1400" i="1" dirty="0">
                <a:solidFill>
                  <a:srgbClr val="16222C"/>
                </a:solidFill>
                <a:latin typeface="Aptos" pitchFamily="34" charset="0"/>
                <a:ea typeface="Aptos" pitchFamily="34" charset="-122"/>
                <a:cs typeface="Aptos" pitchFamily="34" charset="-120"/>
              </a:rPr>
              <a:t>“Show me why priority was granted or denied, and let me respond safely.”</a:t>
            </a:r>
            <a:endParaRPr lang="en-US" sz="1400" dirty="0"/>
          </a:p>
        </p:txBody>
      </p:sp>
      <p:sp>
        <p:nvSpPr>
          <p:cNvPr id="23" name="Text 18"/>
          <p:cNvSpPr/>
          <p:nvPr/>
        </p:nvSpPr>
        <p:spPr>
          <a:xfrm>
            <a:off x="6364224" y="4096512"/>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NEED</a:t>
            </a:r>
            <a:endParaRPr lang="en-US" sz="1100" dirty="0"/>
          </a:p>
        </p:txBody>
      </p:sp>
      <p:sp>
        <p:nvSpPr>
          <p:cNvPr id="24" name="Text 19"/>
          <p:cNvSpPr/>
          <p:nvPr/>
        </p:nvSpPr>
        <p:spPr>
          <a:xfrm>
            <a:off x="6364224" y="4279392"/>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A reason code, and a record she can read later.</a:t>
            </a:r>
            <a:endParaRPr lang="en-US" sz="1300" dirty="0"/>
          </a:p>
        </p:txBody>
      </p:sp>
      <p:sp>
        <p:nvSpPr>
          <p:cNvPr id="25" name="Text 20"/>
          <p:cNvSpPr/>
          <p:nvPr/>
        </p:nvSpPr>
        <p:spPr>
          <a:xfrm>
            <a:off x="6364224" y="4809744"/>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PAIN</a:t>
            </a:r>
            <a:endParaRPr lang="en-US" sz="1100" dirty="0"/>
          </a:p>
        </p:txBody>
      </p:sp>
      <p:sp>
        <p:nvSpPr>
          <p:cNvPr id="26" name="Text 21"/>
          <p:cNvSpPr/>
          <p:nvPr/>
        </p:nvSpPr>
        <p:spPr>
          <a:xfrm>
            <a:off x="6364224" y="4992624"/>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A refusal with no history.</a:t>
            </a:r>
            <a:endParaRPr lang="en-US" sz="1300" dirty="0"/>
          </a:p>
        </p:txBody>
      </p:sp>
      <p:sp>
        <p:nvSpPr>
          <p:cNvPr id="27" name="Text 22"/>
          <p:cNvSpPr/>
          <p:nvPr/>
        </p:nvSpPr>
        <p:spPr>
          <a:xfrm>
            <a:off x="6364224" y="5522976"/>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BASED ON</a:t>
            </a:r>
            <a:endParaRPr lang="en-US" sz="1100" dirty="0"/>
          </a:p>
        </p:txBody>
      </p:sp>
      <p:sp>
        <p:nvSpPr>
          <p:cNvPr id="28" name="Text 23"/>
          <p:cNvSpPr/>
          <p:nvPr/>
        </p:nvSpPr>
        <p:spPr>
          <a:xfrm>
            <a:off x="6364224" y="5705856"/>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ONSR compiles the national crash record. SCATS documents monitoring and audit trails. That is an analogy, not a Tunis control room we visited.</a:t>
            </a:r>
            <a:endParaRPr lang="en-US" sz="1300" dirty="0"/>
          </a:p>
        </p:txBody>
      </p:sp>
      <p:sp>
        <p:nvSpPr>
          <p:cNvPr id="29" name="Text 24"/>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Design readings, not interviews. Photos are illustrations.</a:t>
            </a:r>
            <a:endParaRPr lang="en-US" sz="1200" dirty="0"/>
          </a:p>
        </p:txBody>
      </p:sp>
      <p:sp>
        <p:nvSpPr>
          <p:cNvPr id="30" name="Text 25"/>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07</a:t>
            </a:r>
            <a:endParaRPr lang="en-US" sz="1200" dirty="0"/>
          </a:p>
        </p:txBody>
      </p:sp>
    </p:spTree>
  </p:cSld>
  <p:transition spd="slow" advClick="1">
    <p:fade/>
  </p:transition>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5  ·  PERSONAS  ·  MARCUS AND OMAR</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The crew at a full exit, and the officer who must trust the data.</a:t>
            </a:r>
            <a:endParaRPr lang="en-US" sz="2800" dirty="0"/>
          </a:p>
        </p:txBody>
      </p:sp>
      <p:sp>
        <p:nvSpPr>
          <p:cNvPr id="5" name="Shape 2"/>
          <p:cNvSpPr/>
          <p:nvPr/>
        </p:nvSpPr>
        <p:spPr>
          <a:xfrm>
            <a:off x="365760" y="1280160"/>
            <a:ext cx="5650992" cy="5047488"/>
          </a:xfrm>
          <a:prstGeom prst="roundRect">
            <a:avLst>
              <a:gd name="adj" fmla="val 1449"/>
            </a:avLst>
          </a:prstGeom>
          <a:solidFill>
            <a:srgbClr val="FBFAF6"/>
          </a:solidFill>
          <a:ln w="12700">
            <a:solidFill>
              <a:srgbClr val="E4DFD6"/>
            </a:solidFill>
            <a:prstDash val="solid"/>
          </a:ln>
        </p:spPr>
      </p:sp>
      <p:pic>
        <p:nvPicPr>
          <p:cNvPr id="6" name="Image 0" descr="C:\Users\dell\Downloads\sumo\docs\presentation\personas\p5-marcus.png">    </p:cNvPr>
          <p:cNvPicPr>
            <a:picLocks noChangeAspect="1"/>
          </p:cNvPicPr>
          <p:nvPr/>
        </p:nvPicPr>
        <p:blipFill>
          <a:blip r:embed="rId1"/>
          <a:srcRect l="0" r="0" t="0" b="0"/>
          <a:stretch/>
        </p:blipFill>
        <p:spPr>
          <a:xfrm>
            <a:off x="530352" y="1463040"/>
            <a:ext cx="1847088" cy="2459736"/>
          </a:xfrm>
          <a:prstGeom prst="rect">
            <a:avLst/>
          </a:prstGeom>
        </p:spPr>
      </p:pic>
      <p:sp>
        <p:nvSpPr>
          <p:cNvPr id="7" name="Shape 3"/>
          <p:cNvSpPr/>
          <p:nvPr/>
        </p:nvSpPr>
        <p:spPr>
          <a:xfrm>
            <a:off x="2560320" y="1536192"/>
            <a:ext cx="54864" cy="566928"/>
          </a:xfrm>
          <a:prstGeom prst="rect">
            <a:avLst/>
          </a:prstGeom>
          <a:solidFill>
            <a:srgbClr val="1F6B72"/>
          </a:solidFill>
          <a:ln w="12700">
            <a:solidFill>
              <a:srgbClr val="1F6B72"/>
            </a:solidFill>
            <a:prstDash val="solid"/>
          </a:ln>
        </p:spPr>
      </p:sp>
      <p:sp>
        <p:nvSpPr>
          <p:cNvPr id="8" name="Text 4"/>
          <p:cNvSpPr/>
          <p:nvPr/>
        </p:nvSpPr>
        <p:spPr>
          <a:xfrm>
            <a:off x="2724912" y="1481328"/>
            <a:ext cx="3108960" cy="329184"/>
          </a:xfrm>
          <a:prstGeom prst="rect">
            <a:avLst/>
          </a:prstGeom>
          <a:noFill/>
          <a:ln/>
        </p:spPr>
        <p:txBody>
          <a:bodyPr wrap="square" lIns="0" tIns="0" rIns="0" bIns="0" rtlCol="0" anchor="t"/>
          <a:lstStyle/>
          <a:p>
            <a:pPr indent="0" marL="0">
              <a:buNone/>
            </a:pPr>
            <a:r>
              <a:rPr lang="en-US" sz="2000" b="1" dirty="0">
                <a:solidFill>
                  <a:srgbClr val="16222C"/>
                </a:solidFill>
                <a:latin typeface="Aptos Display" pitchFamily="34" charset="0"/>
                <a:ea typeface="Aptos Display" pitchFamily="34" charset="-122"/>
                <a:cs typeface="Aptos Display" pitchFamily="34" charset="-120"/>
              </a:rPr>
              <a:t>Marcus, 34</a:t>
            </a:r>
            <a:endParaRPr lang="en-US" sz="2000" dirty="0"/>
          </a:p>
        </p:txBody>
      </p:sp>
      <p:sp>
        <p:nvSpPr>
          <p:cNvPr id="9" name="Text 5"/>
          <p:cNvSpPr/>
          <p:nvPr/>
        </p:nvSpPr>
        <p:spPr>
          <a:xfrm>
            <a:off x="2724912" y="1828800"/>
            <a:ext cx="3108960" cy="47548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Urban ambulance crew. We did not ride with one.</a:t>
            </a:r>
            <a:endParaRPr lang="en-US" sz="1300" dirty="0"/>
          </a:p>
        </p:txBody>
      </p:sp>
      <p:sp>
        <p:nvSpPr>
          <p:cNvPr id="10" name="Text 6"/>
          <p:cNvSpPr/>
          <p:nvPr/>
        </p:nvSpPr>
        <p:spPr>
          <a:xfrm>
            <a:off x="2724912" y="2359152"/>
            <a:ext cx="3108960" cy="1325880"/>
          </a:xfrm>
          <a:prstGeom prst="rect">
            <a:avLst/>
          </a:prstGeom>
          <a:noFill/>
          <a:ln/>
        </p:spPr>
        <p:txBody>
          <a:bodyPr wrap="square" lIns="0" tIns="0" rIns="0" bIns="0" rtlCol="0" anchor="t"/>
          <a:lstStyle/>
          <a:p>
            <a:pPr indent="0" marL="0">
              <a:buNone/>
            </a:pPr>
            <a:r>
              <a:rPr lang="en-US" sz="1400" i="1" dirty="0">
                <a:solidFill>
                  <a:srgbClr val="16222C"/>
                </a:solidFill>
                <a:latin typeface="Aptos" pitchFamily="34" charset="0"/>
                <a:ea typeface="Aptos" pitchFamily="34" charset="-122"/>
                <a:cs typeface="Aptos" pitchFamily="34" charset="-120"/>
              </a:rPr>
              <a:t>“Get us through safely, and make sure traffic recovers after we pass.”</a:t>
            </a:r>
            <a:endParaRPr lang="en-US" sz="1400" dirty="0"/>
          </a:p>
        </p:txBody>
      </p:sp>
      <p:sp>
        <p:nvSpPr>
          <p:cNvPr id="11" name="Text 7"/>
          <p:cNvSpPr/>
          <p:nvPr/>
        </p:nvSpPr>
        <p:spPr>
          <a:xfrm>
            <a:off x="566928" y="4096512"/>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NEED</a:t>
            </a:r>
            <a:endParaRPr lang="en-US" sz="1100" dirty="0"/>
          </a:p>
        </p:txBody>
      </p:sp>
      <p:sp>
        <p:nvSpPr>
          <p:cNvPr id="12" name="Text 8"/>
          <p:cNvSpPr/>
          <p:nvPr/>
        </p:nvSpPr>
        <p:spPr>
          <a:xfrm>
            <a:off x="566928" y="4279392"/>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A checked exit, then recovery. Delay to others is logged.</a:t>
            </a:r>
            <a:endParaRPr lang="en-US" sz="1300" dirty="0"/>
          </a:p>
        </p:txBody>
      </p:sp>
      <p:sp>
        <p:nvSpPr>
          <p:cNvPr id="13" name="Text 9"/>
          <p:cNvSpPr/>
          <p:nvPr/>
        </p:nvSpPr>
        <p:spPr>
          <a:xfrm>
            <a:off x="566928" y="4809744"/>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PAIN</a:t>
            </a:r>
            <a:endParaRPr lang="en-US" sz="1100" dirty="0"/>
          </a:p>
        </p:txBody>
      </p:sp>
      <p:sp>
        <p:nvSpPr>
          <p:cNvPr id="14" name="Text 10"/>
          <p:cNvSpPr/>
          <p:nvPr/>
        </p:nvSpPr>
        <p:spPr>
          <a:xfrm>
            <a:off x="566928" y="4992624"/>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A green light into a full exit only moves the queue.</a:t>
            </a:r>
            <a:endParaRPr lang="en-US" sz="1300" dirty="0"/>
          </a:p>
        </p:txBody>
      </p:sp>
      <p:sp>
        <p:nvSpPr>
          <p:cNvPr id="15" name="Text 11"/>
          <p:cNvSpPr/>
          <p:nvPr/>
        </p:nvSpPr>
        <p:spPr>
          <a:xfrm>
            <a:off x="566928" y="5522976"/>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BASED ON</a:t>
            </a:r>
            <a:endParaRPr lang="en-US" sz="1100" dirty="0"/>
          </a:p>
        </p:txBody>
      </p:sp>
      <p:sp>
        <p:nvSpPr>
          <p:cNvPr id="16" name="Text 12"/>
          <p:cNvSpPr/>
          <p:nvPr/>
        </p:nvSpPr>
        <p:spPr>
          <a:xfrm>
            <a:off x="566928" y="5705856"/>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Civil Protection answers these calls. Preemption can add delay elsewhere. A Taipei minute figure is cited as foreign. Not lives saved.</a:t>
            </a:r>
            <a:endParaRPr lang="en-US" sz="1300" dirty="0"/>
          </a:p>
        </p:txBody>
      </p:sp>
      <p:sp>
        <p:nvSpPr>
          <p:cNvPr id="17" name="Shape 13"/>
          <p:cNvSpPr/>
          <p:nvPr/>
        </p:nvSpPr>
        <p:spPr>
          <a:xfrm>
            <a:off x="6163056" y="1280160"/>
            <a:ext cx="5650992" cy="5047488"/>
          </a:xfrm>
          <a:prstGeom prst="roundRect">
            <a:avLst>
              <a:gd name="adj" fmla="val 1449"/>
            </a:avLst>
          </a:prstGeom>
          <a:solidFill>
            <a:srgbClr val="FBFAF6"/>
          </a:solidFill>
          <a:ln w="12700">
            <a:solidFill>
              <a:srgbClr val="E4DFD6"/>
            </a:solidFill>
            <a:prstDash val="solid"/>
          </a:ln>
        </p:spPr>
      </p:sp>
      <p:pic>
        <p:nvPicPr>
          <p:cNvPr id="18" name="Image 1" descr="C:\Users\dell\Downloads\sumo\docs\presentation\personas\p8-omar.png">    </p:cNvPr>
          <p:cNvPicPr>
            <a:picLocks noChangeAspect="1"/>
          </p:cNvPicPr>
          <p:nvPr/>
        </p:nvPicPr>
        <p:blipFill>
          <a:blip r:embed="rId2"/>
          <a:srcRect l="0" r="0" t="0" b="0"/>
          <a:stretch/>
        </p:blipFill>
        <p:spPr>
          <a:xfrm>
            <a:off x="6327648" y="1463040"/>
            <a:ext cx="1847088" cy="2459736"/>
          </a:xfrm>
          <a:prstGeom prst="rect">
            <a:avLst/>
          </a:prstGeom>
        </p:spPr>
      </p:pic>
      <p:sp>
        <p:nvSpPr>
          <p:cNvPr id="19" name="Shape 14"/>
          <p:cNvSpPr/>
          <p:nvPr/>
        </p:nvSpPr>
        <p:spPr>
          <a:xfrm>
            <a:off x="8357616" y="1536192"/>
            <a:ext cx="54864" cy="566928"/>
          </a:xfrm>
          <a:prstGeom prst="rect">
            <a:avLst/>
          </a:prstGeom>
          <a:solidFill>
            <a:srgbClr val="1F6B72"/>
          </a:solidFill>
          <a:ln w="12700">
            <a:solidFill>
              <a:srgbClr val="1F6B72"/>
            </a:solidFill>
            <a:prstDash val="solid"/>
          </a:ln>
        </p:spPr>
      </p:sp>
      <p:sp>
        <p:nvSpPr>
          <p:cNvPr id="20" name="Text 15"/>
          <p:cNvSpPr/>
          <p:nvPr/>
        </p:nvSpPr>
        <p:spPr>
          <a:xfrm>
            <a:off x="8522208" y="1481328"/>
            <a:ext cx="3108960" cy="329184"/>
          </a:xfrm>
          <a:prstGeom prst="rect">
            <a:avLst/>
          </a:prstGeom>
          <a:noFill/>
          <a:ln/>
        </p:spPr>
        <p:txBody>
          <a:bodyPr wrap="square" lIns="0" tIns="0" rIns="0" bIns="0" rtlCol="0" anchor="t"/>
          <a:lstStyle/>
          <a:p>
            <a:pPr indent="0" marL="0">
              <a:buNone/>
            </a:pPr>
            <a:r>
              <a:rPr lang="en-US" sz="2000" b="1" dirty="0">
                <a:solidFill>
                  <a:srgbClr val="16222C"/>
                </a:solidFill>
                <a:latin typeface="Aptos Display" pitchFamily="34" charset="0"/>
                <a:ea typeface="Aptos Display" pitchFamily="34" charset="-122"/>
                <a:cs typeface="Aptos Display" pitchFamily="34" charset="-120"/>
              </a:rPr>
              <a:t>Omar, 55</a:t>
            </a:r>
            <a:endParaRPr lang="en-US" sz="2000" dirty="0"/>
          </a:p>
        </p:txBody>
      </p:sp>
      <p:sp>
        <p:nvSpPr>
          <p:cNvPr id="21" name="Text 16"/>
          <p:cNvSpPr/>
          <p:nvPr/>
        </p:nvSpPr>
        <p:spPr>
          <a:xfrm>
            <a:off x="8522208" y="1828800"/>
            <a:ext cx="3108960" cy="475488"/>
          </a:xfrm>
          <a:prstGeom prst="rect">
            <a:avLst/>
          </a:prstGeom>
          <a:noFill/>
          <a:ln/>
        </p:spPr>
        <p:txBody>
          <a:bodyPr wrap="square" lIns="0" tIns="0" rIns="0" bIns="0" rtlCol="0" anchor="t"/>
          <a:lstStyle/>
          <a:p>
            <a:pPr indent="0" marL="0">
              <a:buNone/>
            </a:pPr>
            <a:r>
              <a:rPr lang="en-US" sz="1300" dirty="0">
                <a:solidFill>
                  <a:srgbClr val="5E6A70"/>
                </a:solidFill>
                <a:latin typeface="Aptos" pitchFamily="34" charset="0"/>
                <a:ea typeface="Aptos" pitchFamily="34" charset="-122"/>
                <a:cs typeface="Aptos" pitchFamily="34" charset="-120"/>
              </a:rPr>
              <a:t>Network duty officer.</a:t>
            </a:r>
            <a:endParaRPr lang="en-US" sz="1300" dirty="0"/>
          </a:p>
        </p:txBody>
      </p:sp>
      <p:sp>
        <p:nvSpPr>
          <p:cNvPr id="22" name="Text 17"/>
          <p:cNvSpPr/>
          <p:nvPr/>
        </p:nvSpPr>
        <p:spPr>
          <a:xfrm>
            <a:off x="8522208" y="2359152"/>
            <a:ext cx="3108960" cy="1325880"/>
          </a:xfrm>
          <a:prstGeom prst="rect">
            <a:avLst/>
          </a:prstGeom>
          <a:noFill/>
          <a:ln/>
        </p:spPr>
        <p:txBody>
          <a:bodyPr wrap="square" lIns="0" tIns="0" rIns="0" bIns="0" rtlCol="0" anchor="t"/>
          <a:lstStyle/>
          <a:p>
            <a:pPr indent="0" marL="0">
              <a:buNone/>
            </a:pPr>
            <a:r>
              <a:rPr lang="en-US" sz="1400" i="1" dirty="0">
                <a:solidFill>
                  <a:srgbClr val="16222C"/>
                </a:solidFill>
                <a:latin typeface="Aptos" pitchFamily="34" charset="0"/>
                <a:ea typeface="Aptos" pitchFamily="34" charset="-122"/>
                <a:cs typeface="Aptos" pitchFamily="34" charset="-120"/>
              </a:rPr>
              <a:t>“Tell me what is wrong, why you think so, and whether I can still trust the data.”</a:t>
            </a:r>
            <a:endParaRPr lang="en-US" sz="1400" dirty="0"/>
          </a:p>
        </p:txBody>
      </p:sp>
      <p:sp>
        <p:nvSpPr>
          <p:cNvPr id="23" name="Text 18"/>
          <p:cNvSpPr/>
          <p:nvPr/>
        </p:nvSpPr>
        <p:spPr>
          <a:xfrm>
            <a:off x="6364224" y="4096512"/>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NEED</a:t>
            </a:r>
            <a:endParaRPr lang="en-US" sz="1100" dirty="0"/>
          </a:p>
        </p:txBody>
      </p:sp>
      <p:sp>
        <p:nvSpPr>
          <p:cNvPr id="24" name="Text 19"/>
          <p:cNvSpPr/>
          <p:nvPr/>
        </p:nvSpPr>
        <p:spPr>
          <a:xfrm>
            <a:off x="6364224" y="4279392"/>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The class, the confidence, and the freshness.</a:t>
            </a:r>
            <a:endParaRPr lang="en-US" sz="1300" dirty="0"/>
          </a:p>
        </p:txBody>
      </p:sp>
      <p:sp>
        <p:nvSpPr>
          <p:cNvPr id="25" name="Text 20"/>
          <p:cNvSpPr/>
          <p:nvPr/>
        </p:nvSpPr>
        <p:spPr>
          <a:xfrm>
            <a:off x="6364224" y="4809744"/>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PAIN</a:t>
            </a:r>
            <a:endParaRPr lang="en-US" sz="1100" dirty="0"/>
          </a:p>
        </p:txBody>
      </p:sp>
      <p:sp>
        <p:nvSpPr>
          <p:cNvPr id="26" name="Text 21"/>
          <p:cNvSpPr/>
          <p:nvPr/>
        </p:nvSpPr>
        <p:spPr>
          <a:xfrm>
            <a:off x="6364224" y="4992624"/>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A guessed cause, or a frozen screen that looks healthy.</a:t>
            </a:r>
            <a:endParaRPr lang="en-US" sz="1300" dirty="0"/>
          </a:p>
        </p:txBody>
      </p:sp>
      <p:sp>
        <p:nvSpPr>
          <p:cNvPr id="27" name="Text 22"/>
          <p:cNvSpPr/>
          <p:nvPr/>
        </p:nvSpPr>
        <p:spPr>
          <a:xfrm>
            <a:off x="6364224" y="5522976"/>
            <a:ext cx="5248656" cy="182880"/>
          </a:xfrm>
          <a:prstGeom prst="rect">
            <a:avLst/>
          </a:prstGeom>
          <a:noFill/>
          <a:ln/>
        </p:spPr>
        <p:txBody>
          <a:bodyPr wrap="square" lIns="0" tIns="0" rIns="0" bIns="0" rtlCol="0" anchor="t"/>
          <a:lstStyle/>
          <a:p>
            <a:pPr indent="0" marL="0">
              <a:buNone/>
            </a:pPr>
            <a:r>
              <a:rPr lang="en-US" sz="1100" b="1" spc="60" kern="0" dirty="0">
                <a:solidFill>
                  <a:srgbClr val="1F6B72"/>
                </a:solidFill>
                <a:latin typeface="Aptos" pitchFamily="34" charset="0"/>
                <a:ea typeface="Aptos" pitchFamily="34" charset="-122"/>
                <a:cs typeface="Aptos" pitchFamily="34" charset="-120"/>
              </a:rPr>
              <a:t>BASED ON</a:t>
            </a:r>
            <a:endParaRPr lang="en-US" sz="1100" dirty="0"/>
          </a:p>
        </p:txBody>
      </p:sp>
      <p:sp>
        <p:nvSpPr>
          <p:cNvPr id="28" name="Text 23"/>
          <p:cNvSpPr/>
          <p:nvPr/>
        </p:nvSpPr>
        <p:spPr>
          <a:xfrm>
            <a:off x="6364224" y="5705856"/>
            <a:ext cx="5248656" cy="493776"/>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The detector has classes. An anomaly does not name a cause. A 25–30% congestion share is a US citation, not a map of these junctions.</a:t>
            </a:r>
            <a:endParaRPr lang="en-US" sz="1300" dirty="0"/>
          </a:p>
        </p:txBody>
      </p:sp>
      <p:sp>
        <p:nvSpPr>
          <p:cNvPr id="29" name="Text 24"/>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Design readings, not interviews. Photos are illustrations.</a:t>
            </a:r>
            <a:endParaRPr lang="en-US" sz="1200" dirty="0"/>
          </a:p>
        </p:txBody>
      </p:sp>
      <p:sp>
        <p:nvSpPr>
          <p:cNvPr id="30" name="Text 25"/>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08</a:t>
            </a:r>
            <a:endParaRPr lang="en-US" sz="1200" dirty="0"/>
          </a:p>
        </p:txBody>
      </p:sp>
    </p:spTree>
  </p:cSld>
  <p:transition spd="slow" advClick="1">
    <p:fade/>
  </p:transition>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EMPATHIZE  ·  6  ·  NEEDS AND PAIN POINTS</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Six needs. Six pains. Six expectations.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84048" y="1353312"/>
          <a:ext cx="11430000" cy="4892040"/>
        </p:xfrm>
        <a:graphic>
          <a:graphicData uri="http://schemas.openxmlformats.org/drawingml/2006/table">
            <a:tbl>
              <a:tblPr/>
              <a:tblGrid>
                <a:gridCol w="1554480"/>
                <a:gridCol w="3383280"/>
                <a:gridCol w="3383280"/>
                <a:gridCol w="3108960"/>
              </a:tblGrid>
              <a:tr h="698863">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Who</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Need</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Pain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Expectation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r>
              <a:tr h="698863">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Amara</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Enough time to finish</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Green while she is still crossing</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Conflicting green stays held</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698863">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David</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The real duration, bad trip included</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better mean hides the unfinished trip</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Unfinished trips stay on the page</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698863">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Chidi</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regular gap</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Three buses after one long wait</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An early bus gets nothing</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698863">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Rosa</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reason she can read later</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refusal with no history</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citation, or an abstention</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698863">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Marcus</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path through, then recovery</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Green into a full exit</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Exit checked. Others’ delay logged.</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698863">
                <a:tc>
                  <a:txBody>
                    <a:bodyPr/>
                    <a:lstStyle/>
                    <a:p>
                      <a:pPr algn="l" indent="0" marL="0">
                        <a:buNone/>
                      </a:pPr>
                      <a:r>
                        <a:rPr lang="en-US" sz="1300" b="1" dirty="0">
                          <a:solidFill>
                            <a:srgbClr val="16222C"/>
                          </a:solidFill>
                          <a:latin typeface="Aptos" pitchFamily="34" charset="0"/>
                          <a:ea typeface="Aptos" pitchFamily="34" charset="-122"/>
                          <a:cs typeface="Aptos" pitchFamily="34" charset="-120"/>
                        </a:rPr>
                        <a:t>Omar</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class he can trust</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A frozen screen, or a guessed cause</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300" dirty="0">
                          <a:solidFill>
                            <a:srgbClr val="16222C"/>
                          </a:solidFill>
                          <a:latin typeface="Aptos" pitchFamily="34" charset="0"/>
                          <a:ea typeface="Aptos" pitchFamily="34" charset="-122"/>
                          <a:cs typeface="Aptos" pitchFamily="34" charset="-120"/>
                        </a:rPr>
                        <a:t>Freshness shown. Stale stays stale.</a:t>
                      </a:r>
                      <a:endParaRPr lang="en-US" sz="13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bl>
          </a:graphicData>
        </a:graphic>
      </p:graphicFrame>
      <p:sp>
        <p:nvSpPr>
          <p:cNvPr id="6" name="Text 2"/>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Each row comes from that persona and the evidence on the previous slides.</a:t>
            </a:r>
            <a:endParaRPr lang="en-US" sz="1200" dirty="0"/>
          </a:p>
        </p:txBody>
      </p:sp>
      <p:sp>
        <p:nvSpPr>
          <p:cNvPr id="7" name="Text 3"/>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09</a:t>
            </a:r>
            <a:endParaRPr lang="en-US" sz="1200" dirty="0"/>
          </a:p>
        </p:txBody>
      </p:sp>
    </p:spTree>
  </p:cSld>
  <p:transition spd="slow" advClick="1">
    <p:fade/>
  </p:transition>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IDEATION  ·  7  ·  PROBLEM STATEMENT AND HOW MIGHT WE</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One problem. Six questions.</a:t>
            </a:r>
            <a:endParaRPr lang="en-US" sz="2800" dirty="0"/>
          </a:p>
        </p:txBody>
      </p:sp>
      <p:sp>
        <p:nvSpPr>
          <p:cNvPr id="5" name="Shape 2"/>
          <p:cNvSpPr/>
          <p:nvPr/>
        </p:nvSpPr>
        <p:spPr>
          <a:xfrm>
            <a:off x="384048" y="1280160"/>
            <a:ext cx="11430000" cy="1691640"/>
          </a:xfrm>
          <a:prstGeom prst="roundRect">
            <a:avLst>
              <a:gd name="adj" fmla="val 4324"/>
            </a:avLst>
          </a:prstGeom>
          <a:solidFill>
            <a:srgbClr val="FBFAF6"/>
          </a:solidFill>
          <a:ln w="12700">
            <a:solidFill>
              <a:srgbClr val="E4DFD6"/>
            </a:solidFill>
            <a:prstDash val="solid"/>
          </a:ln>
        </p:spPr>
      </p:sp>
      <p:sp>
        <p:nvSpPr>
          <p:cNvPr id="6" name="Text 3"/>
          <p:cNvSpPr/>
          <p:nvPr/>
        </p:nvSpPr>
        <p:spPr>
          <a:xfrm>
            <a:off x="585216" y="1389888"/>
            <a:ext cx="10972800" cy="219456"/>
          </a:xfrm>
          <a:prstGeom prst="rect">
            <a:avLst/>
          </a:prstGeom>
          <a:noFill/>
          <a:ln/>
        </p:spPr>
        <p:txBody>
          <a:bodyPr wrap="square" lIns="0" tIns="0" rIns="0" bIns="0" rtlCol="0" anchor="t"/>
          <a:lstStyle/>
          <a:p>
            <a:pPr indent="0" marL="0">
              <a:buNone/>
            </a:pPr>
            <a:r>
              <a:rPr lang="en-US" sz="1200" b="1" spc="70" kern="0" dirty="0">
                <a:solidFill>
                  <a:srgbClr val="1F6B72"/>
                </a:solidFill>
                <a:latin typeface="Aptos" pitchFamily="34" charset="0"/>
                <a:ea typeface="Aptos" pitchFamily="34" charset="-122"/>
                <a:cs typeface="Aptos" pitchFamily="34" charset="-120"/>
              </a:rPr>
              <a:t>PROBLEM STATEMENT</a:t>
            </a:r>
            <a:endParaRPr lang="en-US" sz="1200" dirty="0"/>
          </a:p>
        </p:txBody>
      </p:sp>
      <p:sp>
        <p:nvSpPr>
          <p:cNvPr id="7" name="Text 4"/>
          <p:cNvSpPr/>
          <p:nvPr/>
        </p:nvSpPr>
        <p:spPr>
          <a:xfrm>
            <a:off x="585216" y="1664208"/>
            <a:ext cx="11018520" cy="1143000"/>
          </a:xfrm>
          <a:prstGeom prst="rect">
            <a:avLst/>
          </a:prstGeom>
          <a:noFill/>
          <a:ln/>
        </p:spPr>
        <p:txBody>
          <a:bodyPr wrap="square" lIns="0" tIns="0" rIns="0" bIns="0" rtlCol="0" anchor="t"/>
          <a:lstStyle/>
          <a:p>
            <a:pPr indent="0" marL="0">
              <a:buNone/>
            </a:pPr>
            <a:r>
              <a:rPr lang="en-US" sz="1600" dirty="0">
                <a:solidFill>
                  <a:srgbClr val="16222C"/>
                </a:solidFill>
                <a:latin typeface="Aptos" pitchFamily="34" charset="0"/>
                <a:ea typeface="Aptos" pitchFamily="34" charset="-122"/>
                <a:cs typeface="Aptos" pitchFamily="34" charset="-120"/>
              </a:rPr>
              <a:t>How might a simulated signal serve the person still crossing, the unfinished trip, the bus gap, the reader of the refusal, the crew at a full exit, and the officer who must not be told a residual is a cause — while only one component writes the light, and every decision keeps a source?</a:t>
            </a:r>
            <a:endParaRPr lang="en-US" sz="1600" dirty="0"/>
          </a:p>
        </p:txBody>
      </p:sp>
      <p:sp>
        <p:nvSpPr>
          <p:cNvPr id="8" name="Text 5"/>
          <p:cNvSpPr/>
          <p:nvPr/>
        </p:nvSpPr>
        <p:spPr>
          <a:xfrm>
            <a:off x="420624" y="3072384"/>
            <a:ext cx="11338560" cy="292608"/>
          </a:xfrm>
          <a:prstGeom prst="rect">
            <a:avLst/>
          </a:prstGeom>
          <a:noFill/>
          <a:ln/>
        </p:spPr>
        <p:txBody>
          <a:bodyPr wrap="square" lIns="0" tIns="0" rIns="0" bIns="0" rtlCol="0" anchor="t"/>
          <a:lstStyle/>
          <a:p>
            <a:pPr indent="0" marL="0">
              <a:buNone/>
            </a:pPr>
            <a:r>
              <a:rPr lang="en-US" sz="1300" dirty="0">
                <a:solidFill>
                  <a:srgbClr val="9A4E28"/>
                </a:solidFill>
                <a:latin typeface="Aptos" pitchFamily="34" charset="0"/>
                <a:ea typeface="Aptos" pitchFamily="34" charset="-122"/>
                <a:cs typeface="Aptos" pitchFamily="34" charset="-120"/>
              </a:rPr>
              <a:t>Not the problem: “reduce deaths in Tunisia.”  Out of scope: lives saved, measured air, a Tunis deployment, a winner from one seed.</a:t>
            </a:r>
            <a:endParaRPr lang="en-US" sz="1300" dirty="0"/>
          </a:p>
        </p:txBody>
      </p:sp>
      <p:sp>
        <p:nvSpPr>
          <p:cNvPr id="9" name="Shape 6"/>
          <p:cNvSpPr/>
          <p:nvPr/>
        </p:nvSpPr>
        <p:spPr>
          <a:xfrm>
            <a:off x="384048" y="3493008"/>
            <a:ext cx="5742432" cy="841248"/>
          </a:xfrm>
          <a:prstGeom prst="roundRect">
            <a:avLst>
              <a:gd name="adj" fmla="val 8696"/>
            </a:avLst>
          </a:prstGeom>
          <a:solidFill>
            <a:srgbClr val="FBFAF6"/>
          </a:solidFill>
          <a:ln w="12700">
            <a:solidFill>
              <a:srgbClr val="E4DFD6"/>
            </a:solidFill>
            <a:prstDash val="solid"/>
          </a:ln>
        </p:spPr>
      </p:sp>
      <p:sp>
        <p:nvSpPr>
          <p:cNvPr id="10" name="Text 7"/>
          <p:cNvSpPr/>
          <p:nvPr/>
        </p:nvSpPr>
        <p:spPr>
          <a:xfrm>
            <a:off x="566928" y="3584448"/>
            <a:ext cx="5394960" cy="201168"/>
          </a:xfrm>
          <a:prstGeom prst="rect">
            <a:avLst/>
          </a:prstGeom>
          <a:noFill/>
          <a:ln/>
        </p:spPr>
        <p:txBody>
          <a:bodyPr wrap="square" lIns="0" tIns="0" rIns="0" bIns="0" rtlCol="0" anchor="t"/>
          <a:lstStyle/>
          <a:p>
            <a:pPr indent="0" marL="0">
              <a:buNone/>
            </a:pPr>
            <a:r>
              <a:rPr lang="en-US" sz="1200" b="1" spc="50" kern="0" dirty="0">
                <a:solidFill>
                  <a:srgbClr val="1F6B72"/>
                </a:solidFill>
                <a:latin typeface="Aptos" pitchFamily="34" charset="0"/>
                <a:ea typeface="Aptos" pitchFamily="34" charset="-122"/>
                <a:cs typeface="Aptos" pitchFamily="34" charset="-120"/>
              </a:rPr>
              <a:t>AMARA</a:t>
            </a:r>
            <a:endParaRPr lang="en-US" sz="1200" dirty="0"/>
          </a:p>
        </p:txBody>
      </p:sp>
      <p:sp>
        <p:nvSpPr>
          <p:cNvPr id="11" name="Text 8"/>
          <p:cNvSpPr/>
          <p:nvPr/>
        </p:nvSpPr>
        <p:spPr>
          <a:xfrm>
            <a:off x="566928" y="3822192"/>
            <a:ext cx="5394960" cy="420624"/>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How might we hold the conflicting green until the crossing finishes, and count every cut?</a:t>
            </a:r>
            <a:endParaRPr lang="en-US" sz="1300" dirty="0"/>
          </a:p>
        </p:txBody>
      </p:sp>
      <p:sp>
        <p:nvSpPr>
          <p:cNvPr id="12" name="Shape 9"/>
          <p:cNvSpPr/>
          <p:nvPr/>
        </p:nvSpPr>
        <p:spPr>
          <a:xfrm>
            <a:off x="6291072" y="3493008"/>
            <a:ext cx="5742432" cy="841248"/>
          </a:xfrm>
          <a:prstGeom prst="roundRect">
            <a:avLst>
              <a:gd name="adj" fmla="val 8696"/>
            </a:avLst>
          </a:prstGeom>
          <a:solidFill>
            <a:srgbClr val="FBFAF6"/>
          </a:solidFill>
          <a:ln w="12700">
            <a:solidFill>
              <a:srgbClr val="E4DFD6"/>
            </a:solidFill>
            <a:prstDash val="solid"/>
          </a:ln>
        </p:spPr>
      </p:sp>
      <p:sp>
        <p:nvSpPr>
          <p:cNvPr id="13" name="Text 10"/>
          <p:cNvSpPr/>
          <p:nvPr/>
        </p:nvSpPr>
        <p:spPr>
          <a:xfrm>
            <a:off x="6473952" y="3584448"/>
            <a:ext cx="5394960" cy="201168"/>
          </a:xfrm>
          <a:prstGeom prst="rect">
            <a:avLst/>
          </a:prstGeom>
          <a:noFill/>
          <a:ln/>
        </p:spPr>
        <p:txBody>
          <a:bodyPr wrap="square" lIns="0" tIns="0" rIns="0" bIns="0" rtlCol="0" anchor="t"/>
          <a:lstStyle/>
          <a:p>
            <a:pPr indent="0" marL="0">
              <a:buNone/>
            </a:pPr>
            <a:r>
              <a:rPr lang="en-US" sz="1200" b="1" spc="50" kern="0" dirty="0">
                <a:solidFill>
                  <a:srgbClr val="1F6B72"/>
                </a:solidFill>
                <a:latin typeface="Aptos" pitchFamily="34" charset="0"/>
                <a:ea typeface="Aptos" pitchFamily="34" charset="-122"/>
                <a:cs typeface="Aptos" pitchFamily="34" charset="-120"/>
              </a:rPr>
              <a:t>DAVID</a:t>
            </a:r>
            <a:endParaRPr lang="en-US" sz="1200" dirty="0"/>
          </a:p>
        </p:txBody>
      </p:sp>
      <p:sp>
        <p:nvSpPr>
          <p:cNvPr id="14" name="Text 11"/>
          <p:cNvSpPr/>
          <p:nvPr/>
        </p:nvSpPr>
        <p:spPr>
          <a:xfrm>
            <a:off x="6473952" y="3822192"/>
            <a:ext cx="5394960" cy="420624"/>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How might we show unfinished trips beside the mean, so the average cannot hide the tail?</a:t>
            </a:r>
            <a:endParaRPr lang="en-US" sz="1300" dirty="0"/>
          </a:p>
        </p:txBody>
      </p:sp>
      <p:sp>
        <p:nvSpPr>
          <p:cNvPr id="15" name="Shape 12"/>
          <p:cNvSpPr/>
          <p:nvPr/>
        </p:nvSpPr>
        <p:spPr>
          <a:xfrm>
            <a:off x="384048" y="4425696"/>
            <a:ext cx="5742432" cy="841248"/>
          </a:xfrm>
          <a:prstGeom prst="roundRect">
            <a:avLst>
              <a:gd name="adj" fmla="val 8696"/>
            </a:avLst>
          </a:prstGeom>
          <a:solidFill>
            <a:srgbClr val="FBFAF6"/>
          </a:solidFill>
          <a:ln w="12700">
            <a:solidFill>
              <a:srgbClr val="E4DFD6"/>
            </a:solidFill>
            <a:prstDash val="solid"/>
          </a:ln>
        </p:spPr>
      </p:sp>
      <p:sp>
        <p:nvSpPr>
          <p:cNvPr id="16" name="Text 13"/>
          <p:cNvSpPr/>
          <p:nvPr/>
        </p:nvSpPr>
        <p:spPr>
          <a:xfrm>
            <a:off x="566928" y="4517136"/>
            <a:ext cx="5394960" cy="201168"/>
          </a:xfrm>
          <a:prstGeom prst="rect">
            <a:avLst/>
          </a:prstGeom>
          <a:noFill/>
          <a:ln/>
        </p:spPr>
        <p:txBody>
          <a:bodyPr wrap="square" lIns="0" tIns="0" rIns="0" bIns="0" rtlCol="0" anchor="t"/>
          <a:lstStyle/>
          <a:p>
            <a:pPr indent="0" marL="0">
              <a:buNone/>
            </a:pPr>
            <a:r>
              <a:rPr lang="en-US" sz="1200" b="1" spc="50" kern="0" dirty="0">
                <a:solidFill>
                  <a:srgbClr val="1F6B72"/>
                </a:solidFill>
                <a:latin typeface="Aptos" pitchFamily="34" charset="0"/>
                <a:ea typeface="Aptos" pitchFamily="34" charset="-122"/>
                <a:cs typeface="Aptos" pitchFamily="34" charset="-120"/>
              </a:rPr>
              <a:t>CHIDI</a:t>
            </a:r>
            <a:endParaRPr lang="en-US" sz="1200" dirty="0"/>
          </a:p>
        </p:txBody>
      </p:sp>
      <p:sp>
        <p:nvSpPr>
          <p:cNvPr id="17" name="Text 14"/>
          <p:cNvSpPr/>
          <p:nvPr/>
        </p:nvSpPr>
        <p:spPr>
          <a:xfrm>
            <a:off x="566928" y="4754880"/>
            <a:ext cx="5394960" cy="420624"/>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How might we give green only after an unusual gap, and give an early bus nothing?</a:t>
            </a:r>
            <a:endParaRPr lang="en-US" sz="1300" dirty="0"/>
          </a:p>
        </p:txBody>
      </p:sp>
      <p:sp>
        <p:nvSpPr>
          <p:cNvPr id="18" name="Shape 15"/>
          <p:cNvSpPr/>
          <p:nvPr/>
        </p:nvSpPr>
        <p:spPr>
          <a:xfrm>
            <a:off x="6291072" y="4425696"/>
            <a:ext cx="5742432" cy="841248"/>
          </a:xfrm>
          <a:prstGeom prst="roundRect">
            <a:avLst>
              <a:gd name="adj" fmla="val 8696"/>
            </a:avLst>
          </a:prstGeom>
          <a:solidFill>
            <a:srgbClr val="FBFAF6"/>
          </a:solidFill>
          <a:ln w="12700">
            <a:solidFill>
              <a:srgbClr val="E4DFD6"/>
            </a:solidFill>
            <a:prstDash val="solid"/>
          </a:ln>
        </p:spPr>
      </p:sp>
      <p:sp>
        <p:nvSpPr>
          <p:cNvPr id="19" name="Text 16"/>
          <p:cNvSpPr/>
          <p:nvPr/>
        </p:nvSpPr>
        <p:spPr>
          <a:xfrm>
            <a:off x="6473952" y="4517136"/>
            <a:ext cx="5394960" cy="201168"/>
          </a:xfrm>
          <a:prstGeom prst="rect">
            <a:avLst/>
          </a:prstGeom>
          <a:noFill/>
          <a:ln/>
        </p:spPr>
        <p:txBody>
          <a:bodyPr wrap="square" lIns="0" tIns="0" rIns="0" bIns="0" rtlCol="0" anchor="t"/>
          <a:lstStyle/>
          <a:p>
            <a:pPr indent="0" marL="0">
              <a:buNone/>
            </a:pPr>
            <a:r>
              <a:rPr lang="en-US" sz="1200" b="1" spc="50" kern="0" dirty="0">
                <a:solidFill>
                  <a:srgbClr val="1F6B72"/>
                </a:solidFill>
                <a:latin typeface="Aptos" pitchFamily="34" charset="0"/>
                <a:ea typeface="Aptos" pitchFamily="34" charset="-122"/>
                <a:cs typeface="Aptos" pitchFamily="34" charset="-120"/>
              </a:rPr>
              <a:t>ROSA</a:t>
            </a:r>
            <a:endParaRPr lang="en-US" sz="1200" dirty="0"/>
          </a:p>
        </p:txBody>
      </p:sp>
      <p:sp>
        <p:nvSpPr>
          <p:cNvPr id="20" name="Text 17"/>
          <p:cNvSpPr/>
          <p:nvPr/>
        </p:nvSpPr>
        <p:spPr>
          <a:xfrm>
            <a:off x="6473952" y="4754880"/>
            <a:ext cx="5394960" cy="420624"/>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How might we explain one grant or one denial with a reason code, or abstain?</a:t>
            </a:r>
            <a:endParaRPr lang="en-US" sz="1300" dirty="0"/>
          </a:p>
        </p:txBody>
      </p:sp>
      <p:sp>
        <p:nvSpPr>
          <p:cNvPr id="21" name="Shape 18"/>
          <p:cNvSpPr/>
          <p:nvPr/>
        </p:nvSpPr>
        <p:spPr>
          <a:xfrm>
            <a:off x="384048" y="5358384"/>
            <a:ext cx="5742432" cy="841248"/>
          </a:xfrm>
          <a:prstGeom prst="roundRect">
            <a:avLst>
              <a:gd name="adj" fmla="val 8696"/>
            </a:avLst>
          </a:prstGeom>
          <a:solidFill>
            <a:srgbClr val="FBFAF6"/>
          </a:solidFill>
          <a:ln w="12700">
            <a:solidFill>
              <a:srgbClr val="E4DFD6"/>
            </a:solidFill>
            <a:prstDash val="solid"/>
          </a:ln>
        </p:spPr>
      </p:sp>
      <p:sp>
        <p:nvSpPr>
          <p:cNvPr id="22" name="Text 19"/>
          <p:cNvSpPr/>
          <p:nvPr/>
        </p:nvSpPr>
        <p:spPr>
          <a:xfrm>
            <a:off x="566928" y="5449824"/>
            <a:ext cx="5394960" cy="201168"/>
          </a:xfrm>
          <a:prstGeom prst="rect">
            <a:avLst/>
          </a:prstGeom>
          <a:noFill/>
          <a:ln/>
        </p:spPr>
        <p:txBody>
          <a:bodyPr wrap="square" lIns="0" tIns="0" rIns="0" bIns="0" rtlCol="0" anchor="t"/>
          <a:lstStyle/>
          <a:p>
            <a:pPr indent="0" marL="0">
              <a:buNone/>
            </a:pPr>
            <a:r>
              <a:rPr lang="en-US" sz="1200" b="1" spc="50" kern="0" dirty="0">
                <a:solidFill>
                  <a:srgbClr val="1F6B72"/>
                </a:solidFill>
                <a:latin typeface="Aptos" pitchFamily="34" charset="0"/>
                <a:ea typeface="Aptos" pitchFamily="34" charset="-122"/>
                <a:cs typeface="Aptos" pitchFamily="34" charset="-120"/>
              </a:rPr>
              <a:t>MARCUS</a:t>
            </a:r>
            <a:endParaRPr lang="en-US" sz="1200" dirty="0"/>
          </a:p>
        </p:txBody>
      </p:sp>
      <p:sp>
        <p:nvSpPr>
          <p:cNvPr id="23" name="Text 20"/>
          <p:cNvSpPr/>
          <p:nvPr/>
        </p:nvSpPr>
        <p:spPr>
          <a:xfrm>
            <a:off x="566928" y="5687568"/>
            <a:ext cx="5394960" cy="420624"/>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How might we check the exit before green, then recover, without cutting the crossing?</a:t>
            </a:r>
            <a:endParaRPr lang="en-US" sz="1300" dirty="0"/>
          </a:p>
        </p:txBody>
      </p:sp>
      <p:sp>
        <p:nvSpPr>
          <p:cNvPr id="24" name="Shape 21"/>
          <p:cNvSpPr/>
          <p:nvPr/>
        </p:nvSpPr>
        <p:spPr>
          <a:xfrm>
            <a:off x="6291072" y="5358384"/>
            <a:ext cx="5742432" cy="841248"/>
          </a:xfrm>
          <a:prstGeom prst="roundRect">
            <a:avLst>
              <a:gd name="adj" fmla="val 8696"/>
            </a:avLst>
          </a:prstGeom>
          <a:solidFill>
            <a:srgbClr val="FBFAF6"/>
          </a:solidFill>
          <a:ln w="12700">
            <a:solidFill>
              <a:srgbClr val="E4DFD6"/>
            </a:solidFill>
            <a:prstDash val="solid"/>
          </a:ln>
        </p:spPr>
      </p:sp>
      <p:sp>
        <p:nvSpPr>
          <p:cNvPr id="25" name="Text 22"/>
          <p:cNvSpPr/>
          <p:nvPr/>
        </p:nvSpPr>
        <p:spPr>
          <a:xfrm>
            <a:off x="6473952" y="5449824"/>
            <a:ext cx="5394960" cy="201168"/>
          </a:xfrm>
          <a:prstGeom prst="rect">
            <a:avLst/>
          </a:prstGeom>
          <a:noFill/>
          <a:ln/>
        </p:spPr>
        <p:txBody>
          <a:bodyPr wrap="square" lIns="0" tIns="0" rIns="0" bIns="0" rtlCol="0" anchor="t"/>
          <a:lstStyle/>
          <a:p>
            <a:pPr indent="0" marL="0">
              <a:buNone/>
            </a:pPr>
            <a:r>
              <a:rPr lang="en-US" sz="1200" b="1" spc="50" kern="0" dirty="0">
                <a:solidFill>
                  <a:srgbClr val="1F6B72"/>
                </a:solidFill>
                <a:latin typeface="Aptos" pitchFamily="34" charset="0"/>
                <a:ea typeface="Aptos" pitchFamily="34" charset="-122"/>
                <a:cs typeface="Aptos" pitchFamily="34" charset="-120"/>
              </a:rPr>
              <a:t>OMAR</a:t>
            </a:r>
            <a:endParaRPr lang="en-US" sz="1200" dirty="0"/>
          </a:p>
        </p:txBody>
      </p:sp>
      <p:sp>
        <p:nvSpPr>
          <p:cNvPr id="26" name="Text 23"/>
          <p:cNvSpPr/>
          <p:nvPr/>
        </p:nvSpPr>
        <p:spPr>
          <a:xfrm>
            <a:off x="6473952" y="5687568"/>
            <a:ext cx="5394960" cy="420624"/>
          </a:xfrm>
          <a:prstGeom prst="rect">
            <a:avLst/>
          </a:prstGeom>
          <a:noFill/>
          <a:ln/>
        </p:spPr>
        <p:txBody>
          <a:bodyPr wrap="square" lIns="0" tIns="0" rIns="0" bIns="0" rtlCol="0" anchor="t"/>
          <a:lstStyle/>
          <a:p>
            <a:pPr indent="0" marL="0">
              <a:buNone/>
            </a:pPr>
            <a:r>
              <a:rPr lang="en-US" sz="1300" dirty="0">
                <a:solidFill>
                  <a:srgbClr val="16222C"/>
                </a:solidFill>
                <a:latin typeface="Aptos" pitchFamily="34" charset="0"/>
                <a:ea typeface="Aptos" pitchFamily="34" charset="-122"/>
                <a:cs typeface="Aptos" pitchFamily="34" charset="-120"/>
              </a:rPr>
              <a:t>How might we publish the class, the confidence, and the freshness, and refuse to name the cause?</a:t>
            </a:r>
            <a:endParaRPr lang="en-US" sz="1300" dirty="0"/>
          </a:p>
        </p:txBody>
      </p:sp>
      <p:sp>
        <p:nvSpPr>
          <p:cNvPr id="27" name="Text 24"/>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Questions written from the needs table. Not from a workshop.</a:t>
            </a:r>
            <a:endParaRPr lang="en-US" sz="1200" dirty="0"/>
          </a:p>
        </p:txBody>
      </p:sp>
      <p:sp>
        <p:nvSpPr>
          <p:cNvPr id="28" name="Text 25"/>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10</a:t>
            </a:r>
            <a:endParaRPr lang="en-US" sz="1200" dirty="0"/>
          </a:p>
        </p:txBody>
      </p:sp>
    </p:spTree>
  </p:cSld>
  <p:transition spd="slow" advClick="1">
    <p:fade/>
  </p:transition>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IDEATION  ·  8  ·  IDEAS, AND HOW THEY WERE GENERATED</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Six kept. Nine refused.</a:t>
            </a:r>
            <a:endParaRPr lang="en-US" sz="2800" dirty="0"/>
          </a:p>
        </p:txBody>
      </p:sp>
      <p:sp>
        <p:nvSpPr>
          <p:cNvPr id="5" name="Shape 2"/>
          <p:cNvSpPr/>
          <p:nvPr/>
        </p:nvSpPr>
        <p:spPr>
          <a:xfrm>
            <a:off x="384048" y="1261872"/>
            <a:ext cx="11430000" cy="713232"/>
          </a:xfrm>
          <a:prstGeom prst="roundRect">
            <a:avLst>
              <a:gd name="adj" fmla="val 10256"/>
            </a:avLst>
          </a:prstGeom>
          <a:solidFill>
            <a:srgbClr val="F3EBE3"/>
          </a:solidFill>
          <a:ln w="12700">
            <a:solidFill>
              <a:srgbClr val="E4DFD6"/>
            </a:solidFill>
            <a:prstDash val="solid"/>
          </a:ln>
        </p:spPr>
      </p:sp>
      <p:sp>
        <p:nvSpPr>
          <p:cNvPr id="6" name="Text 3"/>
          <p:cNvSpPr/>
          <p:nvPr/>
        </p:nvSpPr>
        <p:spPr>
          <a:xfrm>
            <a:off x="566928" y="1353312"/>
            <a:ext cx="640080" cy="201168"/>
          </a:xfrm>
          <a:prstGeom prst="rect">
            <a:avLst/>
          </a:prstGeom>
          <a:noFill/>
          <a:ln/>
        </p:spPr>
        <p:txBody>
          <a:bodyPr wrap="square" lIns="0" tIns="0" rIns="0" bIns="0" rtlCol="0" anchor="t"/>
          <a:lstStyle/>
          <a:p>
            <a:pPr indent="0" marL="0">
              <a:buNone/>
            </a:pPr>
            <a:r>
              <a:rPr lang="en-US" sz="1200" b="1" spc="60" kern="0" dirty="0">
                <a:solidFill>
                  <a:srgbClr val="1F6B72"/>
                </a:solidFill>
                <a:latin typeface="Aptos" pitchFamily="34" charset="0"/>
                <a:ea typeface="Aptos" pitchFamily="34" charset="-122"/>
                <a:cs typeface="Aptos" pitchFamily="34" charset="-120"/>
              </a:rPr>
              <a:t>HOW</a:t>
            </a:r>
            <a:endParaRPr lang="en-US" sz="1200" dirty="0"/>
          </a:p>
        </p:txBody>
      </p:sp>
      <p:sp>
        <p:nvSpPr>
          <p:cNvPr id="7" name="Text 4"/>
          <p:cNvSpPr/>
          <p:nvPr/>
        </p:nvSpPr>
        <p:spPr>
          <a:xfrm>
            <a:off x="566928" y="1572768"/>
            <a:ext cx="11018520" cy="292608"/>
          </a:xfrm>
          <a:prstGeom prst="rect">
            <a:avLst/>
          </a:prstGeom>
          <a:noFill/>
          <a:ln/>
        </p:spPr>
        <p:txBody>
          <a:bodyPr wrap="square" lIns="0" tIns="0" rIns="0" bIns="0" rtlCol="0" anchor="t"/>
          <a:lstStyle/>
          <a:p>
            <a:pPr indent="0" marL="0">
              <a:buNone/>
            </a:pPr>
            <a:r>
              <a:rPr lang="en-US" sz="1400" dirty="0">
                <a:solidFill>
                  <a:srgbClr val="16222C"/>
                </a:solidFill>
                <a:latin typeface="Aptos" pitchFamily="34" charset="0"/>
                <a:ea typeface="Aptos" pitchFamily="34" charset="-122"/>
                <a:cs typeface="Aptos" pitchFamily="34" charset="-120"/>
              </a:rPr>
              <a:t>One idea per need, written next to its source, then kept or refused with a reason. Not SCAMPER. Not a workshop.</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84048" y="2103120"/>
          <a:ext cx="11430000" cy="4206240"/>
        </p:xfrm>
        <a:graphic>
          <a:graphicData uri="http://schemas.openxmlformats.org/drawingml/2006/table">
            <a:tbl>
              <a:tblPr/>
              <a:tblGrid>
                <a:gridCol w="1325880"/>
                <a:gridCol w="3383280"/>
                <a:gridCol w="3977640"/>
                <a:gridCol w="2743200"/>
              </a:tblGrid>
              <a:tr h="525780">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Who</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Kept</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Refused</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Why refused</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Amara</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Hold the green. Count truncations.</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A camera that guesses her ability.</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Invents data about her</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David</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Keep unfinished trips in the count.</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A scraped map treated as his trip.</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Not his trip. No source.</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Chidi</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Priority only after a real gap.</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Green for every bus.</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Rewards the early bus</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Rosa</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One cited explanation, or abstain.</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A chatbot that negotiates the phase.</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A second writer on the light</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Marcus</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Request, exit check, then recovery.</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Always-green corridor, or “lives saved.”</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Cuts the crossing, or overclaims</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Omar</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Class, confidence, freshness.</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A news scrape that declares a crash.</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Guesses a cause</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525780">
                <a:tc>
                  <a:txBody>
                    <a:bodyPr/>
                    <a:lstStyle/>
                    <a:p>
                      <a:pPr algn="l" indent="0" marL="0">
                        <a:buNone/>
                      </a:pPr>
                      <a:r>
                        <a:rPr lang="en-US" sz="1200" b="1" dirty="0">
                          <a:solidFill>
                            <a:srgbClr val="16222C"/>
                          </a:solidFill>
                          <a:latin typeface="Aptos" pitchFamily="34" charset="0"/>
                          <a:ea typeface="Aptos" pitchFamily="34" charset="-122"/>
                          <a:cs typeface="Aptos" pitchFamily="34" charset="-120"/>
                        </a:rPr>
                        <a:t>All</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16222C"/>
                          </a:solidFill>
                          <a:latin typeface="Aptos" pitchFamily="34" charset="0"/>
                          <a:ea typeface="Aptos" pitchFamily="34" charset="-122"/>
                          <a:cs typeface="Aptos" pitchFamily="34" charset="-120"/>
                        </a:rPr>
                        <a:t>Map or news as a crash. Heatmap with no denominator. A sentence that writes the light.</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200" dirty="0">
                          <a:solidFill>
                            <a:srgbClr val="9A4E28"/>
                          </a:solidFill>
                          <a:latin typeface="Aptos" pitchFamily="34" charset="0"/>
                          <a:ea typeface="Aptos" pitchFamily="34" charset="-122"/>
                          <a:cs typeface="Aptos" pitchFamily="34" charset="-120"/>
                        </a:rPr>
                        <a:t>No source, or a second writer</a:t>
                      </a:r>
                      <a:endParaRPr lang="en-US" sz="12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bl>
          </a:graphicData>
        </a:graphic>
      </p:graphicFrame>
      <p:sp>
        <p:nvSpPr>
          <p:cNvPr id="9" name="Text 5"/>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The refused column is part of the evidence.</a:t>
            </a:r>
            <a:endParaRPr lang="en-US" sz="1200" dirty="0"/>
          </a:p>
        </p:txBody>
      </p:sp>
      <p:sp>
        <p:nvSpPr>
          <p:cNvPr id="10" name="Text 6"/>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11</a:t>
            </a:r>
            <a:endParaRPr lang="en-US" sz="1200" dirty="0"/>
          </a:p>
        </p:txBody>
      </p:sp>
    </p:spTree>
  </p:cSld>
  <p:transition spd="slow" advClick="1">
    <p:fade/>
  </p:transition>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IDEATION  ·  9  ·  SELECTION OF IDEAS</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Five filters. Fail one, and the idea is out.</a:t>
            </a:r>
            <a:endParaRPr lang="en-US" sz="2800" dirty="0"/>
          </a:p>
        </p:txBody>
      </p:sp>
      <p:sp>
        <p:nvSpPr>
          <p:cNvPr id="5" name="Shape 2"/>
          <p:cNvSpPr/>
          <p:nvPr/>
        </p:nvSpPr>
        <p:spPr>
          <a:xfrm>
            <a:off x="384048" y="1335024"/>
            <a:ext cx="11430000" cy="786384"/>
          </a:xfrm>
          <a:prstGeom prst="roundRect">
            <a:avLst>
              <a:gd name="adj" fmla="val 9302"/>
            </a:avLst>
          </a:prstGeom>
          <a:solidFill>
            <a:srgbClr val="FBFAF6"/>
          </a:solidFill>
          <a:ln w="12700">
            <a:solidFill>
              <a:srgbClr val="E4DFD6"/>
            </a:solidFill>
            <a:prstDash val="solid"/>
          </a:ln>
        </p:spPr>
      </p:sp>
      <p:sp>
        <p:nvSpPr>
          <p:cNvPr id="6" name="Text 3"/>
          <p:cNvSpPr/>
          <p:nvPr/>
        </p:nvSpPr>
        <p:spPr>
          <a:xfrm>
            <a:off x="566928" y="1499616"/>
            <a:ext cx="640080" cy="438912"/>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01</a:t>
            </a:r>
            <a:endParaRPr lang="en-US" sz="2200" dirty="0"/>
          </a:p>
        </p:txBody>
      </p:sp>
      <p:sp>
        <p:nvSpPr>
          <p:cNvPr id="7" name="Text 4"/>
          <p:cNvSpPr/>
          <p:nvPr/>
        </p:nvSpPr>
        <p:spPr>
          <a:xfrm>
            <a:off x="1371600" y="1444752"/>
            <a:ext cx="9875520" cy="274320"/>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Names a person</a:t>
            </a:r>
            <a:endParaRPr lang="en-US" sz="1600" dirty="0"/>
          </a:p>
        </p:txBody>
      </p:sp>
      <p:sp>
        <p:nvSpPr>
          <p:cNvPr id="8" name="Text 5"/>
          <p:cNvSpPr/>
          <p:nvPr/>
        </p:nvSpPr>
        <p:spPr>
          <a:xfrm>
            <a:off x="1371600" y="1755648"/>
            <a:ext cx="9875520" cy="256032"/>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A solution with no affected person is dropped.</a:t>
            </a:r>
            <a:endParaRPr lang="en-US" sz="1400" dirty="0"/>
          </a:p>
        </p:txBody>
      </p:sp>
      <p:sp>
        <p:nvSpPr>
          <p:cNvPr id="9" name="Shape 6"/>
          <p:cNvSpPr/>
          <p:nvPr/>
        </p:nvSpPr>
        <p:spPr>
          <a:xfrm>
            <a:off x="384048" y="2203704"/>
            <a:ext cx="11430000" cy="786384"/>
          </a:xfrm>
          <a:prstGeom prst="roundRect">
            <a:avLst>
              <a:gd name="adj" fmla="val 9302"/>
            </a:avLst>
          </a:prstGeom>
          <a:solidFill>
            <a:srgbClr val="FBFAF6"/>
          </a:solidFill>
          <a:ln w="12700">
            <a:solidFill>
              <a:srgbClr val="E4DFD6"/>
            </a:solidFill>
            <a:prstDash val="solid"/>
          </a:ln>
        </p:spPr>
      </p:sp>
      <p:sp>
        <p:nvSpPr>
          <p:cNvPr id="10" name="Text 7"/>
          <p:cNvSpPr/>
          <p:nvPr/>
        </p:nvSpPr>
        <p:spPr>
          <a:xfrm>
            <a:off x="566928" y="2368296"/>
            <a:ext cx="640080" cy="438912"/>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02</a:t>
            </a:r>
            <a:endParaRPr lang="en-US" sz="2200" dirty="0"/>
          </a:p>
        </p:txBody>
      </p:sp>
      <p:sp>
        <p:nvSpPr>
          <p:cNvPr id="11" name="Text 8"/>
          <p:cNvSpPr/>
          <p:nvPr/>
        </p:nvSpPr>
        <p:spPr>
          <a:xfrm>
            <a:off x="1371600" y="2313432"/>
            <a:ext cx="9875520" cy="274320"/>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Points at evidence</a:t>
            </a:r>
            <a:endParaRPr lang="en-US" sz="1600" dirty="0"/>
          </a:p>
        </p:txBody>
      </p:sp>
      <p:sp>
        <p:nvSpPr>
          <p:cNvPr id="12" name="Text 9"/>
          <p:cNvSpPr/>
          <p:nvPr/>
        </p:nvSpPr>
        <p:spPr>
          <a:xfrm>
            <a:off x="1371600" y="2624328"/>
            <a:ext cx="9875520" cy="256032"/>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Published data, literature, or a labelled simulation row.</a:t>
            </a:r>
            <a:endParaRPr lang="en-US" sz="1400" dirty="0"/>
          </a:p>
        </p:txBody>
      </p:sp>
      <p:sp>
        <p:nvSpPr>
          <p:cNvPr id="13" name="Shape 10"/>
          <p:cNvSpPr/>
          <p:nvPr/>
        </p:nvSpPr>
        <p:spPr>
          <a:xfrm>
            <a:off x="384048" y="3072384"/>
            <a:ext cx="11430000" cy="786384"/>
          </a:xfrm>
          <a:prstGeom prst="roundRect">
            <a:avLst>
              <a:gd name="adj" fmla="val 9302"/>
            </a:avLst>
          </a:prstGeom>
          <a:solidFill>
            <a:srgbClr val="FBFAF6"/>
          </a:solidFill>
          <a:ln w="12700">
            <a:solidFill>
              <a:srgbClr val="E4DFD6"/>
            </a:solidFill>
            <a:prstDash val="solid"/>
          </a:ln>
        </p:spPr>
      </p:sp>
      <p:sp>
        <p:nvSpPr>
          <p:cNvPr id="14" name="Text 11"/>
          <p:cNvSpPr/>
          <p:nvPr/>
        </p:nvSpPr>
        <p:spPr>
          <a:xfrm>
            <a:off x="566928" y="3236976"/>
            <a:ext cx="640080" cy="438912"/>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03</a:t>
            </a:r>
            <a:endParaRPr lang="en-US" sz="2200" dirty="0"/>
          </a:p>
        </p:txBody>
      </p:sp>
      <p:sp>
        <p:nvSpPr>
          <p:cNvPr id="15" name="Text 12"/>
          <p:cNvSpPr/>
          <p:nvPr/>
        </p:nvSpPr>
        <p:spPr>
          <a:xfrm>
            <a:off x="1371600" y="3182112"/>
            <a:ext cx="9875520" cy="274320"/>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Invents nothing</a:t>
            </a:r>
            <a:endParaRPr lang="en-US" sz="1600" dirty="0"/>
          </a:p>
        </p:txBody>
      </p:sp>
      <p:sp>
        <p:nvSpPr>
          <p:cNvPr id="16" name="Text 13"/>
          <p:cNvSpPr/>
          <p:nvPr/>
        </p:nvSpPr>
        <p:spPr>
          <a:xfrm>
            <a:off x="1371600" y="3493008"/>
            <a:ext cx="9875520" cy="256032"/>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No interview quote, no survey percentage, no Tunis digit we do not have.</a:t>
            </a:r>
            <a:endParaRPr lang="en-US" sz="1400" dirty="0"/>
          </a:p>
        </p:txBody>
      </p:sp>
      <p:sp>
        <p:nvSpPr>
          <p:cNvPr id="17" name="Shape 14"/>
          <p:cNvSpPr/>
          <p:nvPr/>
        </p:nvSpPr>
        <p:spPr>
          <a:xfrm>
            <a:off x="384048" y="3941064"/>
            <a:ext cx="11430000" cy="786384"/>
          </a:xfrm>
          <a:prstGeom prst="roundRect">
            <a:avLst>
              <a:gd name="adj" fmla="val 9302"/>
            </a:avLst>
          </a:prstGeom>
          <a:solidFill>
            <a:srgbClr val="FBFAF6"/>
          </a:solidFill>
          <a:ln w="12700">
            <a:solidFill>
              <a:srgbClr val="E4DFD6"/>
            </a:solidFill>
            <a:prstDash val="solid"/>
          </a:ln>
        </p:spPr>
      </p:sp>
      <p:sp>
        <p:nvSpPr>
          <p:cNvPr id="18" name="Text 15"/>
          <p:cNvSpPr/>
          <p:nvPr/>
        </p:nvSpPr>
        <p:spPr>
          <a:xfrm>
            <a:off x="566928" y="4105656"/>
            <a:ext cx="640080" cy="438912"/>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04</a:t>
            </a:r>
            <a:endParaRPr lang="en-US" sz="2200" dirty="0"/>
          </a:p>
        </p:txBody>
      </p:sp>
      <p:sp>
        <p:nvSpPr>
          <p:cNvPr id="19" name="Text 16"/>
          <p:cNvSpPr/>
          <p:nvPr/>
        </p:nvSpPr>
        <p:spPr>
          <a:xfrm>
            <a:off x="1371600" y="4050792"/>
            <a:ext cx="9875520" cy="274320"/>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One writer</a:t>
            </a:r>
            <a:endParaRPr lang="en-US" sz="1600" dirty="0"/>
          </a:p>
        </p:txBody>
      </p:sp>
      <p:sp>
        <p:nvSpPr>
          <p:cNvPr id="20" name="Text 17"/>
          <p:cNvSpPr/>
          <p:nvPr/>
        </p:nvSpPr>
        <p:spPr>
          <a:xfrm>
            <a:off x="1371600" y="4361688"/>
            <a:ext cx="9875520" cy="256032"/>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Specialists may request. Only A1, through the safety mask, sets the phase.</a:t>
            </a:r>
            <a:endParaRPr lang="en-US" sz="1400" dirty="0"/>
          </a:p>
        </p:txBody>
      </p:sp>
      <p:sp>
        <p:nvSpPr>
          <p:cNvPr id="21" name="Shape 18"/>
          <p:cNvSpPr/>
          <p:nvPr/>
        </p:nvSpPr>
        <p:spPr>
          <a:xfrm>
            <a:off x="384048" y="4809744"/>
            <a:ext cx="11430000" cy="786384"/>
          </a:xfrm>
          <a:prstGeom prst="roundRect">
            <a:avLst>
              <a:gd name="adj" fmla="val 9302"/>
            </a:avLst>
          </a:prstGeom>
          <a:solidFill>
            <a:srgbClr val="FBFAF6"/>
          </a:solidFill>
          <a:ln w="12700">
            <a:solidFill>
              <a:srgbClr val="E4DFD6"/>
            </a:solidFill>
            <a:prstDash val="solid"/>
          </a:ln>
        </p:spPr>
      </p:sp>
      <p:sp>
        <p:nvSpPr>
          <p:cNvPr id="22" name="Text 19"/>
          <p:cNvSpPr/>
          <p:nvPr/>
        </p:nvSpPr>
        <p:spPr>
          <a:xfrm>
            <a:off x="566928" y="4974336"/>
            <a:ext cx="640080" cy="438912"/>
          </a:xfrm>
          <a:prstGeom prst="rect">
            <a:avLst/>
          </a:prstGeom>
          <a:noFill/>
          <a:ln/>
        </p:spPr>
        <p:txBody>
          <a:bodyPr wrap="square" lIns="0" tIns="0" rIns="0" bIns="0" rtlCol="0" anchor="t"/>
          <a:lstStyle/>
          <a:p>
            <a:pPr indent="0" marL="0">
              <a:buNone/>
            </a:pPr>
            <a:r>
              <a:rPr lang="en-US" sz="2200" b="1" dirty="0">
                <a:solidFill>
                  <a:srgbClr val="1F6B72"/>
                </a:solidFill>
                <a:latin typeface="Aptos Display" pitchFamily="34" charset="0"/>
                <a:ea typeface="Aptos Display" pitchFamily="34" charset="-122"/>
                <a:cs typeface="Aptos Display" pitchFamily="34" charset="-120"/>
              </a:rPr>
              <a:t>05</a:t>
            </a:r>
            <a:endParaRPr lang="en-US" sz="2200" dirty="0"/>
          </a:p>
        </p:txBody>
      </p:sp>
      <p:sp>
        <p:nvSpPr>
          <p:cNvPr id="23" name="Text 20"/>
          <p:cNvSpPr/>
          <p:nvPr/>
        </p:nvSpPr>
        <p:spPr>
          <a:xfrm>
            <a:off x="1371600" y="4919472"/>
            <a:ext cx="9875520" cy="274320"/>
          </a:xfrm>
          <a:prstGeom prst="rect">
            <a:avLst/>
          </a:prstGeom>
          <a:noFill/>
          <a:ln/>
        </p:spPr>
        <p:txBody>
          <a:bodyPr wrap="square" lIns="0" tIns="0" rIns="0" bIns="0" rtlCol="0" anchor="t"/>
          <a:lstStyle/>
          <a:p>
            <a:pPr indent="0" marL="0">
              <a:buNone/>
            </a:pPr>
            <a:r>
              <a:rPr lang="en-US" sz="1600" b="1" dirty="0">
                <a:solidFill>
                  <a:srgbClr val="16222C"/>
                </a:solidFill>
                <a:latin typeface="Aptos" pitchFamily="34" charset="0"/>
                <a:ea typeface="Aptos" pitchFamily="34" charset="-122"/>
                <a:cs typeface="Aptos" pitchFamily="34" charset="-120"/>
              </a:rPr>
              <a:t>Leaves a record</a:t>
            </a:r>
            <a:endParaRPr lang="en-US" sz="1600" dirty="0"/>
          </a:p>
        </p:txBody>
      </p:sp>
      <p:sp>
        <p:nvSpPr>
          <p:cNvPr id="24" name="Text 21"/>
          <p:cNvSpPr/>
          <p:nvPr/>
        </p:nvSpPr>
        <p:spPr>
          <a:xfrm>
            <a:off x="1371600" y="5230368"/>
            <a:ext cx="9875520" cy="256032"/>
          </a:xfrm>
          <a:prstGeom prst="rect">
            <a:avLst/>
          </a:prstGeom>
          <a:noFill/>
          <a:ln/>
        </p:spPr>
        <p:txBody>
          <a:bodyPr wrap="square" lIns="0" tIns="0" rIns="0" bIns="0" rtlCol="0" anchor="t"/>
          <a:lstStyle/>
          <a:p>
            <a:pPr indent="0" marL="0">
              <a:buNone/>
            </a:pPr>
            <a:r>
              <a:rPr lang="en-US" sz="1400" dirty="0">
                <a:solidFill>
                  <a:srgbClr val="5E6A70"/>
                </a:solidFill>
                <a:latin typeface="Aptos" pitchFamily="34" charset="0"/>
                <a:ea typeface="Aptos" pitchFamily="34" charset="-122"/>
                <a:cs typeface="Aptos" pitchFamily="34" charset="-120"/>
              </a:rPr>
              <a:t>Rosa can read a grant, a denial, or an abstention.</a:t>
            </a:r>
            <a:endParaRPr lang="en-US" sz="1400" dirty="0"/>
          </a:p>
        </p:txBody>
      </p:sp>
      <p:sp>
        <p:nvSpPr>
          <p:cNvPr id="25" name="Text 22"/>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Applied to all 15 ideas: 6 passed, 9 failed.</a:t>
            </a:r>
            <a:endParaRPr lang="en-US" sz="1200" dirty="0"/>
          </a:p>
        </p:txBody>
      </p:sp>
      <p:sp>
        <p:nvSpPr>
          <p:cNvPr id="26" name="Text 23"/>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12</a:t>
            </a:r>
            <a:endParaRPr lang="en-US" sz="1200" dirty="0"/>
          </a:p>
        </p:txBody>
      </p:sp>
    </p:spTree>
  </p:cSld>
  <p:transition spd="slow" advClick="1">
    <p:fade/>
  </p:transition>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02B"/>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E8A33D"/>
                </a:solidFill>
                <a:latin typeface="Aptos" pitchFamily="34" charset="0"/>
                <a:ea typeface="Aptos" pitchFamily="34" charset="-122"/>
                <a:cs typeface="Aptos" pitchFamily="34" charset="-120"/>
              </a:rPr>
              <a:t>IDEATION  ·  10  ·  FINAL SELECTED IDEA</a:t>
            </a:r>
            <a:endParaRPr lang="en-US" sz="1200" dirty="0"/>
          </a:p>
        </p:txBody>
      </p:sp>
      <p:sp>
        <p:nvSpPr>
          <p:cNvPr id="4" name="Text 1"/>
          <p:cNvSpPr/>
          <p:nvPr/>
        </p:nvSpPr>
        <p:spPr>
          <a:xfrm>
            <a:off x="457200" y="1234440"/>
            <a:ext cx="11155680" cy="640080"/>
          </a:xfrm>
          <a:prstGeom prst="rect">
            <a:avLst/>
          </a:prstGeom>
          <a:noFill/>
          <a:ln/>
        </p:spPr>
        <p:txBody>
          <a:bodyPr wrap="square" lIns="0" tIns="0" rIns="0" bIns="0" rtlCol="0" anchor="t"/>
          <a:lstStyle/>
          <a:p>
            <a:pPr indent="0" marL="0">
              <a:buNone/>
            </a:pPr>
            <a:r>
              <a:rPr lang="en-US" sz="3600" b="1" dirty="0">
                <a:solidFill>
                  <a:srgbClr val="F4F1EA"/>
                </a:solidFill>
                <a:latin typeface="Aptos Display" pitchFamily="34" charset="0"/>
                <a:ea typeface="Aptos Display" pitchFamily="34" charset="-122"/>
                <a:cs typeface="Aptos Display" pitchFamily="34" charset="-120"/>
              </a:rPr>
              <a:t>Advisers request.</a:t>
            </a:r>
            <a:endParaRPr lang="en-US" sz="3600" dirty="0"/>
          </a:p>
        </p:txBody>
      </p:sp>
      <p:sp>
        <p:nvSpPr>
          <p:cNvPr id="5" name="Text 2"/>
          <p:cNvSpPr/>
          <p:nvPr/>
        </p:nvSpPr>
        <p:spPr>
          <a:xfrm>
            <a:off x="457200" y="1920240"/>
            <a:ext cx="11155680" cy="640080"/>
          </a:xfrm>
          <a:prstGeom prst="rect">
            <a:avLst/>
          </a:prstGeom>
          <a:noFill/>
          <a:ln/>
        </p:spPr>
        <p:txBody>
          <a:bodyPr wrap="square" lIns="0" tIns="0" rIns="0" bIns="0" rtlCol="0" anchor="t"/>
          <a:lstStyle/>
          <a:p>
            <a:pPr indent="0" marL="0">
              <a:buNone/>
            </a:pPr>
            <a:r>
              <a:rPr lang="en-US" sz="3600" b="1" dirty="0">
                <a:solidFill>
                  <a:srgbClr val="E8A33D"/>
                </a:solidFill>
                <a:latin typeface="Aptos Display" pitchFamily="34" charset="0"/>
                <a:ea typeface="Aptos Display" pitchFamily="34" charset="-122"/>
                <a:cs typeface="Aptos Display" pitchFamily="34" charset="-120"/>
              </a:rPr>
              <a:t>One writer decides.</a:t>
            </a:r>
            <a:endParaRPr lang="en-US" sz="3600" dirty="0"/>
          </a:p>
        </p:txBody>
      </p:sp>
      <p:sp>
        <p:nvSpPr>
          <p:cNvPr id="6" name="Text 3"/>
          <p:cNvSpPr/>
          <p:nvPr/>
        </p:nvSpPr>
        <p:spPr>
          <a:xfrm>
            <a:off x="457200" y="2606040"/>
            <a:ext cx="11155680" cy="640080"/>
          </a:xfrm>
          <a:prstGeom prst="rect">
            <a:avLst/>
          </a:prstGeom>
          <a:noFill/>
          <a:ln/>
        </p:spPr>
        <p:txBody>
          <a:bodyPr wrap="square" lIns="0" tIns="0" rIns="0" bIns="0" rtlCol="0" anchor="t"/>
          <a:lstStyle/>
          <a:p>
            <a:pPr indent="0" marL="0">
              <a:buNone/>
            </a:pPr>
            <a:r>
              <a:rPr lang="en-US" sz="3600" b="1" dirty="0">
                <a:solidFill>
                  <a:srgbClr val="F4F1EA"/>
                </a:solidFill>
                <a:latin typeface="Aptos Display" pitchFamily="34" charset="0"/>
                <a:ea typeface="Aptos Display" pitchFamily="34" charset="-122"/>
                <a:cs typeface="Aptos Display" pitchFamily="34" charset="-120"/>
              </a:rPr>
              <a:t>The record stays.</a:t>
            </a:r>
            <a:endParaRPr lang="en-US" sz="3600" dirty="0"/>
          </a:p>
        </p:txBody>
      </p:sp>
      <p:sp>
        <p:nvSpPr>
          <p:cNvPr id="7" name="Shape 4"/>
          <p:cNvSpPr/>
          <p:nvPr/>
        </p:nvSpPr>
        <p:spPr>
          <a:xfrm>
            <a:off x="457200" y="3703320"/>
            <a:ext cx="3383280" cy="41148"/>
          </a:xfrm>
          <a:prstGeom prst="rect">
            <a:avLst/>
          </a:prstGeom>
          <a:solidFill>
            <a:srgbClr val="8AA0AD"/>
          </a:solidFill>
          <a:ln w="12700">
            <a:solidFill>
              <a:srgbClr val="8AA0AD"/>
            </a:solidFill>
            <a:prstDash val="solid"/>
          </a:ln>
        </p:spPr>
      </p:sp>
      <p:sp>
        <p:nvSpPr>
          <p:cNvPr id="8" name="Text 5"/>
          <p:cNvSpPr/>
          <p:nvPr/>
        </p:nvSpPr>
        <p:spPr>
          <a:xfrm>
            <a:off x="457200" y="3858768"/>
            <a:ext cx="3520440" cy="274320"/>
          </a:xfrm>
          <a:prstGeom prst="rect">
            <a:avLst/>
          </a:prstGeom>
          <a:noFill/>
          <a:ln/>
        </p:spPr>
        <p:txBody>
          <a:bodyPr wrap="square" lIns="0" tIns="0" rIns="0" bIns="0" rtlCol="0" anchor="t"/>
          <a:lstStyle/>
          <a:p>
            <a:pPr indent="0" marL="0">
              <a:buNone/>
            </a:pPr>
            <a:r>
              <a:rPr lang="en-US" sz="1400" b="1" spc="40" kern="0" dirty="0">
                <a:solidFill>
                  <a:srgbClr val="F4F1EA"/>
                </a:solidFill>
                <a:latin typeface="Aptos" pitchFamily="34" charset="0"/>
                <a:ea typeface="Aptos" pitchFamily="34" charset="-122"/>
                <a:cs typeface="Aptos" pitchFamily="34" charset="-120"/>
              </a:rPr>
              <a:t>A2  ·  A3  ·  A4  ·  A5</a:t>
            </a:r>
            <a:endParaRPr lang="en-US" sz="1400" dirty="0"/>
          </a:p>
        </p:txBody>
      </p:sp>
      <p:sp>
        <p:nvSpPr>
          <p:cNvPr id="9" name="Text 6"/>
          <p:cNvSpPr/>
          <p:nvPr/>
        </p:nvSpPr>
        <p:spPr>
          <a:xfrm>
            <a:off x="457200" y="4169664"/>
            <a:ext cx="3520440" cy="640080"/>
          </a:xfrm>
          <a:prstGeom prst="rect">
            <a:avLst/>
          </a:prstGeom>
          <a:noFill/>
          <a:ln/>
        </p:spPr>
        <p:txBody>
          <a:bodyPr wrap="square" lIns="0" tIns="0" rIns="0" bIns="0" rtlCol="0" anchor="t"/>
          <a:lstStyle/>
          <a:p>
            <a:pPr indent="0" marL="0">
              <a:buNone/>
            </a:pPr>
            <a:r>
              <a:rPr lang="en-US" sz="1500" dirty="0">
                <a:solidFill>
                  <a:srgbClr val="C9D3D8"/>
                </a:solidFill>
                <a:latin typeface="Aptos" pitchFamily="34" charset="0"/>
                <a:ea typeface="Aptos" pitchFamily="34" charset="-122"/>
                <a:cs typeface="Aptos" pitchFamily="34" charset="-120"/>
              </a:rPr>
              <a:t>Specialists that can only ask.</a:t>
            </a:r>
            <a:endParaRPr lang="en-US" sz="1500" dirty="0"/>
          </a:p>
        </p:txBody>
      </p:sp>
      <p:sp>
        <p:nvSpPr>
          <p:cNvPr id="10" name="Shape 7"/>
          <p:cNvSpPr/>
          <p:nvPr/>
        </p:nvSpPr>
        <p:spPr>
          <a:xfrm>
            <a:off x="4297680" y="3703320"/>
            <a:ext cx="3383280" cy="41148"/>
          </a:xfrm>
          <a:prstGeom prst="rect">
            <a:avLst/>
          </a:prstGeom>
          <a:solidFill>
            <a:srgbClr val="E8A33D"/>
          </a:solidFill>
          <a:ln w="12700">
            <a:solidFill>
              <a:srgbClr val="E8A33D"/>
            </a:solidFill>
            <a:prstDash val="solid"/>
          </a:ln>
        </p:spPr>
      </p:sp>
      <p:sp>
        <p:nvSpPr>
          <p:cNvPr id="11" name="Text 8"/>
          <p:cNvSpPr/>
          <p:nvPr/>
        </p:nvSpPr>
        <p:spPr>
          <a:xfrm>
            <a:off x="4297680" y="3858768"/>
            <a:ext cx="3520440" cy="274320"/>
          </a:xfrm>
          <a:prstGeom prst="rect">
            <a:avLst/>
          </a:prstGeom>
          <a:noFill/>
          <a:ln/>
        </p:spPr>
        <p:txBody>
          <a:bodyPr wrap="square" lIns="0" tIns="0" rIns="0" bIns="0" rtlCol="0" anchor="t"/>
          <a:lstStyle/>
          <a:p>
            <a:pPr indent="0" marL="0">
              <a:buNone/>
            </a:pPr>
            <a:r>
              <a:rPr lang="en-US" sz="1400" b="1" spc="40" kern="0" dirty="0">
                <a:solidFill>
                  <a:srgbClr val="E8A33D"/>
                </a:solidFill>
                <a:latin typeface="Aptos" pitchFamily="34" charset="0"/>
                <a:ea typeface="Aptos" pitchFamily="34" charset="-122"/>
                <a:cs typeface="Aptos" pitchFamily="34" charset="-120"/>
              </a:rPr>
              <a:t>A1</a:t>
            </a:r>
            <a:endParaRPr lang="en-US" sz="1400" dirty="0"/>
          </a:p>
        </p:txBody>
      </p:sp>
      <p:sp>
        <p:nvSpPr>
          <p:cNvPr id="12" name="Text 9"/>
          <p:cNvSpPr/>
          <p:nvPr/>
        </p:nvSpPr>
        <p:spPr>
          <a:xfrm>
            <a:off x="4297680" y="4169664"/>
            <a:ext cx="3520440" cy="640080"/>
          </a:xfrm>
          <a:prstGeom prst="rect">
            <a:avLst/>
          </a:prstGeom>
          <a:noFill/>
          <a:ln/>
        </p:spPr>
        <p:txBody>
          <a:bodyPr wrap="square" lIns="0" tIns="0" rIns="0" bIns="0" rtlCol="0" anchor="t"/>
          <a:lstStyle/>
          <a:p>
            <a:pPr indent="0" marL="0">
              <a:buNone/>
            </a:pPr>
            <a:r>
              <a:rPr lang="en-US" sz="1500" dirty="0">
                <a:solidFill>
                  <a:srgbClr val="C9D3D8"/>
                </a:solidFill>
                <a:latin typeface="Aptos" pitchFamily="34" charset="0"/>
                <a:ea typeface="Aptos" pitchFamily="34" charset="-122"/>
                <a:cs typeface="Aptos" pitchFamily="34" charset="-120"/>
              </a:rPr>
              <a:t>The only writer, through the safety mask and the signal executor.</a:t>
            </a:r>
            <a:endParaRPr lang="en-US" sz="1500" dirty="0"/>
          </a:p>
        </p:txBody>
      </p:sp>
      <p:sp>
        <p:nvSpPr>
          <p:cNvPr id="13" name="Shape 10"/>
          <p:cNvSpPr/>
          <p:nvPr/>
        </p:nvSpPr>
        <p:spPr>
          <a:xfrm>
            <a:off x="8138160" y="3703320"/>
            <a:ext cx="3383280" cy="41148"/>
          </a:xfrm>
          <a:prstGeom prst="rect">
            <a:avLst/>
          </a:prstGeom>
          <a:solidFill>
            <a:srgbClr val="8AA0AD"/>
          </a:solidFill>
          <a:ln w="12700">
            <a:solidFill>
              <a:srgbClr val="8AA0AD"/>
            </a:solidFill>
            <a:prstDash val="solid"/>
          </a:ln>
        </p:spPr>
      </p:sp>
      <p:sp>
        <p:nvSpPr>
          <p:cNvPr id="14" name="Text 11"/>
          <p:cNvSpPr/>
          <p:nvPr/>
        </p:nvSpPr>
        <p:spPr>
          <a:xfrm>
            <a:off x="8138160" y="3858768"/>
            <a:ext cx="3520440" cy="274320"/>
          </a:xfrm>
          <a:prstGeom prst="rect">
            <a:avLst/>
          </a:prstGeom>
          <a:noFill/>
          <a:ln/>
        </p:spPr>
        <p:txBody>
          <a:bodyPr wrap="square" lIns="0" tIns="0" rIns="0" bIns="0" rtlCol="0" anchor="t"/>
          <a:lstStyle/>
          <a:p>
            <a:pPr indent="0" marL="0">
              <a:buNone/>
            </a:pPr>
            <a:r>
              <a:rPr lang="en-US" sz="1400" b="1" spc="40" kern="0" dirty="0">
                <a:solidFill>
                  <a:srgbClr val="F4F1EA"/>
                </a:solidFill>
                <a:latin typeface="Aptos" pitchFamily="34" charset="0"/>
                <a:ea typeface="Aptos" pitchFamily="34" charset="-122"/>
                <a:cs typeface="Aptos" pitchFamily="34" charset="-120"/>
              </a:rPr>
              <a:t>SYNAPSE</a:t>
            </a:r>
            <a:endParaRPr lang="en-US" sz="1400" dirty="0"/>
          </a:p>
        </p:txBody>
      </p:sp>
      <p:sp>
        <p:nvSpPr>
          <p:cNvPr id="15" name="Text 12"/>
          <p:cNvSpPr/>
          <p:nvPr/>
        </p:nvSpPr>
        <p:spPr>
          <a:xfrm>
            <a:off x="8138160" y="4169664"/>
            <a:ext cx="3520440" cy="640080"/>
          </a:xfrm>
          <a:prstGeom prst="rect">
            <a:avLst/>
          </a:prstGeom>
          <a:noFill/>
          <a:ln/>
        </p:spPr>
        <p:txBody>
          <a:bodyPr wrap="square" lIns="0" tIns="0" rIns="0" bIns="0" rtlCol="0" anchor="t"/>
          <a:lstStyle/>
          <a:p>
            <a:pPr indent="0" marL="0">
              <a:buNone/>
            </a:pPr>
            <a:r>
              <a:rPr lang="en-US" sz="1500" dirty="0">
                <a:solidFill>
                  <a:srgbClr val="C9D3D8"/>
                </a:solidFill>
                <a:latin typeface="Aptos" pitchFamily="34" charset="0"/>
                <a:ea typeface="Aptos" pitchFamily="34" charset="-122"/>
                <a:cs typeface="Aptos" pitchFamily="34" charset="-120"/>
              </a:rPr>
              <a:t>Explains the log with a citation, or abstains. Never reaches TraCI.</a:t>
            </a:r>
            <a:endParaRPr lang="en-US" sz="1500" dirty="0"/>
          </a:p>
        </p:txBody>
      </p:sp>
      <p:sp>
        <p:nvSpPr>
          <p:cNvPr id="16" name="Text 13"/>
          <p:cNvSpPr/>
          <p:nvPr/>
        </p:nvSpPr>
        <p:spPr>
          <a:xfrm>
            <a:off x="457200" y="5212080"/>
            <a:ext cx="11155680" cy="292608"/>
          </a:xfrm>
          <a:prstGeom prst="rect">
            <a:avLst/>
          </a:prstGeom>
          <a:noFill/>
          <a:ln/>
        </p:spPr>
        <p:txBody>
          <a:bodyPr wrap="square" lIns="0" tIns="0" rIns="0" bIns="0" rtlCol="0" anchor="t"/>
          <a:lstStyle/>
          <a:p>
            <a:pPr indent="0" marL="0">
              <a:buNone/>
            </a:pPr>
            <a:r>
              <a:rPr lang="en-US" sz="1500" dirty="0">
                <a:solidFill>
                  <a:srgbClr val="F4F1EA"/>
                </a:solidFill>
                <a:latin typeface="Aptos" pitchFamily="34" charset="0"/>
                <a:ea typeface="Aptos" pitchFamily="34" charset="-122"/>
                <a:cs typeface="Aptos" pitchFamily="34" charset="-120"/>
              </a:rPr>
              <a:t>After priority, recovery is Max-Pressure, then actuated, then fixed-time.</a:t>
            </a:r>
            <a:endParaRPr lang="en-US" sz="1500" dirty="0"/>
          </a:p>
        </p:txBody>
      </p:sp>
      <p:sp>
        <p:nvSpPr>
          <p:cNvPr id="17" name="Text 14"/>
          <p:cNvSpPr/>
          <p:nvPr/>
        </p:nvSpPr>
        <p:spPr>
          <a:xfrm>
            <a:off x="457200" y="5989320"/>
            <a:ext cx="10241280" cy="274320"/>
          </a:xfrm>
          <a:prstGeom prst="rect">
            <a:avLst/>
          </a:prstGeom>
          <a:noFill/>
          <a:ln/>
        </p:spPr>
        <p:txBody>
          <a:bodyPr wrap="square" lIns="0" tIns="0" rIns="0" bIns="0" rtlCol="0" anchor="t"/>
          <a:lstStyle/>
          <a:p>
            <a:pPr indent="0" marL="0">
              <a:buNone/>
            </a:pPr>
            <a:r>
              <a:rPr lang="en-US" sz="1400" dirty="0">
                <a:solidFill>
                  <a:srgbClr val="8AA0AD"/>
                </a:solidFill>
                <a:latin typeface="Aptos" pitchFamily="34" charset="0"/>
                <a:ea typeface="Aptos" pitchFamily="34" charset="-122"/>
                <a:cs typeface="Aptos" pitchFamily="34" charset="-120"/>
              </a:rPr>
              <a:t>Evaluates incident response in simulation. It does not prevent accidents in Tunisia.</a:t>
            </a:r>
            <a:endParaRPr lang="en-US" sz="1400" dirty="0"/>
          </a:p>
        </p:txBody>
      </p:sp>
      <p:sp>
        <p:nvSpPr>
          <p:cNvPr id="18" name="Text 15"/>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A0AD"/>
                </a:solidFill>
                <a:latin typeface="Aptos" pitchFamily="34" charset="0"/>
                <a:ea typeface="Aptos" pitchFamily="34" charset="-122"/>
                <a:cs typeface="Aptos" pitchFamily="34" charset="-120"/>
              </a:rPr>
              <a:t>13</a:t>
            </a:r>
            <a:endParaRPr lang="en-US" sz="1200" dirty="0"/>
          </a:p>
        </p:txBody>
      </p:sp>
    </p:spTree>
  </p:cSld>
  <p:transition spd="slow" advClick="1">
    <p:fade/>
  </p:transition>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THE LINK  ·  RESEARCH TO SOLUTION</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Evidence, then the person, then the behaviour.</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92608" y="1298448"/>
          <a:ext cx="11612880" cy="4983480"/>
        </p:xfrm>
        <a:graphic>
          <a:graphicData uri="http://schemas.openxmlformats.org/drawingml/2006/table">
            <a:tbl>
              <a:tblPr/>
              <a:tblGrid>
                <a:gridCol w="1234440"/>
                <a:gridCol w="2880360"/>
                <a:gridCol w="2468880"/>
                <a:gridCol w="2331720"/>
                <a:gridCol w="2697480"/>
              </a:tblGrid>
              <a:tr h="711926">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Persona</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Evidence</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Pain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Kept idea</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c>
                  <a:txBody>
                    <a:bodyPr/>
                    <a:lstStyle/>
                    <a:p>
                      <a:pPr algn="l" indent="0" marL="0">
                        <a:buNone/>
                      </a:pPr>
                      <a:r>
                        <a:rPr lang="en-US" sz="1100" b="1" dirty="0">
                          <a:solidFill>
                            <a:srgbClr val="5C656A"/>
                          </a:solidFill>
                          <a:latin typeface="Aptos" pitchFamily="34" charset="0"/>
                          <a:ea typeface="Aptos" pitchFamily="34" charset="-122"/>
                          <a:cs typeface="Aptos" pitchFamily="34" charset="-120"/>
                        </a:rPr>
                        <a:t>In the solution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E2DFD9"/>
                    </a:solidFill>
                  </a:tcPr>
                </a:tc>
              </a:tr>
              <a:tr h="711926">
                <a:tc>
                  <a:txBody>
                    <a:bodyPr/>
                    <a:lstStyle/>
                    <a:p>
                      <a:pPr algn="l" indent="0" marL="0">
                        <a:buNone/>
                      </a:pPr>
                      <a:r>
                        <a:rPr lang="en-US" sz="1100" b="1" dirty="0">
                          <a:solidFill>
                            <a:srgbClr val="16222C"/>
                          </a:solidFill>
                          <a:latin typeface="Aptos" pitchFamily="34" charset="0"/>
                          <a:ea typeface="Aptos" pitchFamily="34" charset="-122"/>
                          <a:cs typeface="Aptos" pitchFamily="34" charset="-120"/>
                        </a:rPr>
                        <a:t>Amara</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28% of deaths. Clearance ≈ 1.07 m/s.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Green while still crossing</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Hold the green. Count cuts.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A3 asks. A1 holds the green.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11926">
                <a:tc>
                  <a:txBody>
                    <a:bodyPr/>
                    <a:lstStyle/>
                    <a:p>
                      <a:pPr algn="l" indent="0" marL="0">
                        <a:buNone/>
                      </a:pPr>
                      <a:r>
                        <a:rPr lang="en-US" sz="1100" b="1" dirty="0">
                          <a:solidFill>
                            <a:srgbClr val="16222C"/>
                          </a:solidFill>
                          <a:latin typeface="Aptos" pitchFamily="34" charset="0"/>
                          <a:ea typeface="Aptos" pitchFamily="34" charset="-122"/>
                          <a:cs typeface="Aptos" pitchFamily="34" charset="-120"/>
                        </a:rPr>
                        <a:t>David</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Seed 37: 71 / 84 / 70 finished.</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Mean hides the unfinished trip</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Keep unfinished trips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Unfinished trips stay beside the mean.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11926">
                <a:tc>
                  <a:txBody>
                    <a:bodyPr/>
                    <a:lstStyle/>
                    <a:p>
                      <a:pPr algn="l" indent="0" marL="0">
                        <a:buNone/>
                      </a:pPr>
                      <a:r>
                        <a:rPr lang="en-US" sz="1100" b="1" dirty="0">
                          <a:solidFill>
                            <a:srgbClr val="16222C"/>
                          </a:solidFill>
                          <a:latin typeface="Aptos" pitchFamily="34" charset="0"/>
                          <a:ea typeface="Aptos" pitchFamily="34" charset="-122"/>
                          <a:cs typeface="Aptos" pitchFamily="34" charset="-120"/>
                        </a:rPr>
                        <a:t>Chidi</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TRANSTU 2018. Waiting valued more.</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Three buses after a long gap</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Priority only after a real gap</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A3 asks for a late bus or a gap only.</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11926">
                <a:tc>
                  <a:txBody>
                    <a:bodyPr/>
                    <a:lstStyle/>
                    <a:p>
                      <a:pPr algn="l" indent="0" marL="0">
                        <a:buNone/>
                      </a:pPr>
                      <a:r>
                        <a:rPr lang="en-US" sz="1100" b="1" dirty="0">
                          <a:solidFill>
                            <a:srgbClr val="16222C"/>
                          </a:solidFill>
                          <a:latin typeface="Aptos" pitchFamily="34" charset="0"/>
                          <a:ea typeface="Aptos" pitchFamily="34" charset="-122"/>
                          <a:cs typeface="Aptos" pitchFamily="34" charset="-120"/>
                        </a:rPr>
                        <a:t>Rosa</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ONSR record. Audit-trail analogy.</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 refusal with no history</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One cited reason, or abstain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 reason code on every decision.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11926">
                <a:tc>
                  <a:txBody>
                    <a:bodyPr/>
                    <a:lstStyle/>
                    <a:p>
                      <a:pPr algn="l" indent="0" marL="0">
                        <a:buNone/>
                      </a:pPr>
                      <a:r>
                        <a:rPr lang="en-US" sz="1100" b="1" dirty="0">
                          <a:solidFill>
                            <a:srgbClr val="16222C"/>
                          </a:solidFill>
                          <a:latin typeface="Aptos" pitchFamily="34" charset="0"/>
                          <a:ea typeface="Aptos" pitchFamily="34" charset="-122"/>
                          <a:cs typeface="Aptos" pitchFamily="34" charset="-120"/>
                        </a:rPr>
                        <a:t>Marcus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Preemption can add network delay.</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Green into a full exit</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Request, check, recover</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A2 asks. A1 checks the exit, then recovers.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r h="711926">
                <a:tc>
                  <a:txBody>
                    <a:bodyPr/>
                    <a:lstStyle/>
                    <a:p>
                      <a:pPr algn="l" indent="0" marL="0">
                        <a:buNone/>
                      </a:pPr>
                      <a:r>
                        <a:rPr lang="en-US" sz="1100" b="1" dirty="0">
                          <a:solidFill>
                            <a:srgbClr val="16222C"/>
                          </a:solidFill>
                          <a:latin typeface="Aptos" pitchFamily="34" charset="0"/>
                          <a:ea typeface="Aptos" pitchFamily="34" charset="-122"/>
                          <a:cs typeface="Aptos" pitchFamily="34" charset="-120"/>
                        </a:rPr>
                        <a:t>Omar</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An anomaly does not name a cause.</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 guessed cause, or a frozen screen</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Class, confidence, freshness</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c>
                  <a:txBody>
                    <a:bodyPr/>
                    <a:lstStyle/>
                    <a:p>
                      <a:pPr algn="l" indent="0" marL="0">
                        <a:buNone/>
                      </a:pPr>
                      <a:r>
                        <a:rPr lang="en-US" sz="1100" dirty="0">
                          <a:solidFill>
                            <a:srgbClr val="16222C"/>
                          </a:solidFill>
                          <a:latin typeface="Aptos" pitchFamily="34" charset="0"/>
                          <a:ea typeface="Aptos" pitchFamily="34" charset="-122"/>
                          <a:cs typeface="Aptos" pitchFamily="34" charset="-120"/>
                        </a:rPr>
                        <a:t>A4 publishes. Stale leaves A1 on local control.</a:t>
                      </a:r>
                      <a:endParaRPr lang="en-US" sz="1100" dirty="0">
                        <a:latin typeface="Aptos" charset="0"/>
                        <a:ea typeface="Aptos" charset="0"/>
                        <a:cs typeface="Aptos" charset="0"/>
                      </a:endParaRPr>
                    </a:p>
                  </a:txBody>
                  <a:tcPr marL="101600" marR="101600" marT="63500" marB="63500" anchor="ctr">
                    <a:lnL w="7620" cap="flat" cmpd="sng" algn="ctr">
                      <a:solidFill>
                        <a:srgbClr val="E7E2D8"/>
                      </a:solidFill>
                      <a:prstDash val="solid"/>
                      <a:round/>
                      <a:headEnd type="none" w="med" len="med"/>
                      <a:tailEnd type="none" w="med" len="med"/>
                    </a:lnL>
                    <a:lnR w="7620" cap="flat" cmpd="sng" algn="ctr">
                      <a:solidFill>
                        <a:srgbClr val="E7E2D8"/>
                      </a:solidFill>
                      <a:prstDash val="solid"/>
                      <a:round/>
                      <a:headEnd type="none" w="med" len="med"/>
                      <a:tailEnd type="none" w="med" len="med"/>
                    </a:lnR>
                    <a:lnT w="7620" cap="flat" cmpd="sng" algn="ctr">
                      <a:solidFill>
                        <a:srgbClr val="E7E2D8"/>
                      </a:solidFill>
                      <a:prstDash val="solid"/>
                      <a:round/>
                      <a:headEnd type="none" w="med" len="med"/>
                      <a:tailEnd type="none" w="med" len="med"/>
                    </a:lnT>
                    <a:lnB w="7620" cap="flat" cmpd="sng" algn="ctr">
                      <a:solidFill>
                        <a:srgbClr val="E7E2D8"/>
                      </a:solidFill>
                      <a:prstDash val="solid"/>
                      <a:round/>
                      <a:headEnd type="none" w="med" len="med"/>
                      <a:tailEnd type="none" w="med" len="med"/>
                    </a:lnB>
                    <a:solidFill>
                      <a:srgbClr val="FBFAF6"/>
                    </a:solidFill>
                  </a:tcPr>
                </a:tc>
              </a:tr>
            </a:tbl>
          </a:graphicData>
        </a:graphic>
      </p:graphicFrame>
      <p:sp>
        <p:nvSpPr>
          <p:cNvPr id="6" name="Text 2"/>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User research → evidence → personas → needs → problem → ideas → selected solution.</a:t>
            </a:r>
            <a:endParaRPr lang="en-US" sz="1200" dirty="0"/>
          </a:p>
        </p:txBody>
      </p:sp>
      <p:sp>
        <p:nvSpPr>
          <p:cNvPr id="7" name="Text 3"/>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14</a:t>
            </a:r>
            <a:endParaRPr lang="en-US" sz="1200" dirty="0"/>
          </a:p>
        </p:txBody>
      </p:sp>
    </p:spTree>
  </p:cSld>
  <p:transition spd="slow" advClick="1">
    <p:fade/>
  </p:transition>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3" name="Text 0"/>
          <p:cNvSpPr/>
          <p:nvPr/>
        </p:nvSpPr>
        <p:spPr>
          <a:xfrm>
            <a:off x="420624" y="256032"/>
            <a:ext cx="9692640" cy="256032"/>
          </a:xfrm>
          <a:prstGeom prst="rect">
            <a:avLst/>
          </a:prstGeom>
          <a:noFill/>
          <a:ln/>
        </p:spPr>
        <p:txBody>
          <a:bodyPr wrap="square" lIns="0" tIns="0" rIns="0" bIns="0" rtlCol="0" anchor="t"/>
          <a:lstStyle/>
          <a:p>
            <a:pPr indent="0" marL="0">
              <a:buNone/>
            </a:pPr>
            <a:r>
              <a:rPr lang="en-US" sz="1200" b="1" spc="115" kern="0" dirty="0">
                <a:solidFill>
                  <a:srgbClr val="1F6B72"/>
                </a:solidFill>
                <a:latin typeface="Aptos" pitchFamily="34" charset="0"/>
                <a:ea typeface="Aptos" pitchFamily="34" charset="-122"/>
                <a:cs typeface="Aptos" pitchFamily="34" charset="-120"/>
              </a:rPr>
              <a:t>CLOSE</a:t>
            </a:r>
            <a:endParaRPr lang="en-US" sz="1200" dirty="0"/>
          </a:p>
        </p:txBody>
      </p:sp>
      <p:sp>
        <p:nvSpPr>
          <p:cNvPr id="4" name="Text 1"/>
          <p:cNvSpPr/>
          <p:nvPr/>
        </p:nvSpPr>
        <p:spPr>
          <a:xfrm>
            <a:off x="402336" y="512064"/>
            <a:ext cx="11338560" cy="566928"/>
          </a:xfrm>
          <a:prstGeom prst="rect">
            <a:avLst/>
          </a:prstGeom>
          <a:noFill/>
          <a:ln/>
        </p:spPr>
        <p:txBody>
          <a:bodyPr wrap="square" lIns="0" tIns="0" rIns="0" bIns="0" rtlCol="0" anchor="t"/>
          <a:lstStyle/>
          <a:p>
            <a:pPr indent="0" marL="0">
              <a:buNone/>
            </a:pPr>
            <a:r>
              <a:rPr lang="en-US" sz="2800" b="1" dirty="0">
                <a:solidFill>
                  <a:srgbClr val="16222C"/>
                </a:solidFill>
                <a:latin typeface="Aptos Display" pitchFamily="34" charset="0"/>
                <a:ea typeface="Aptos Display" pitchFamily="34" charset="-122"/>
                <a:cs typeface="Aptos Display" pitchFamily="34" charset="-120"/>
              </a:rPr>
              <a:t>What we claim, and what we leave open.</a:t>
            </a:r>
            <a:endParaRPr lang="en-US" sz="2800" dirty="0"/>
          </a:p>
        </p:txBody>
      </p:sp>
      <p:sp>
        <p:nvSpPr>
          <p:cNvPr id="5" name="Text 2"/>
          <p:cNvSpPr/>
          <p:nvPr/>
        </p:nvSpPr>
        <p:spPr>
          <a:xfrm>
            <a:off x="420624" y="1207008"/>
            <a:ext cx="11247120" cy="274320"/>
          </a:xfrm>
          <a:prstGeom prst="rect">
            <a:avLst/>
          </a:prstGeom>
          <a:noFill/>
          <a:ln/>
        </p:spPr>
        <p:txBody>
          <a:bodyPr wrap="square" lIns="0" tIns="0" rIns="0" bIns="0" rtlCol="0" anchor="t"/>
          <a:lstStyle/>
          <a:p>
            <a:pPr indent="0" marL="0">
              <a:buNone/>
            </a:pPr>
            <a:r>
              <a:rPr lang="en-US" sz="1400" b="1" dirty="0">
                <a:solidFill>
                  <a:srgbClr val="1F6B72"/>
                </a:solidFill>
                <a:latin typeface="Aptos" pitchFamily="34" charset="0"/>
                <a:ea typeface="Aptos" pitchFamily="34" charset="-122"/>
                <a:cs typeface="Aptos" pitchFamily="34" charset="-120"/>
              </a:rPr>
              <a:t>Research  →  Evidence  →  Personas  →  Needs  →  Problem  →  Ideas  →  Solution</a:t>
            </a:r>
            <a:endParaRPr lang="en-US" sz="1400" dirty="0"/>
          </a:p>
        </p:txBody>
      </p:sp>
      <p:sp>
        <p:nvSpPr>
          <p:cNvPr id="6" name="Shape 3"/>
          <p:cNvSpPr/>
          <p:nvPr/>
        </p:nvSpPr>
        <p:spPr>
          <a:xfrm>
            <a:off x="384048" y="1645920"/>
            <a:ext cx="5669280" cy="2880360"/>
          </a:xfrm>
          <a:prstGeom prst="roundRect">
            <a:avLst>
              <a:gd name="adj" fmla="val 2540"/>
            </a:avLst>
          </a:prstGeom>
          <a:solidFill>
            <a:srgbClr val="14202B"/>
          </a:solidFill>
          <a:ln w="12700">
            <a:solidFill>
              <a:srgbClr val="E4DFD6"/>
            </a:solidFill>
            <a:prstDash val="solid"/>
          </a:ln>
        </p:spPr>
      </p:sp>
      <p:sp>
        <p:nvSpPr>
          <p:cNvPr id="7" name="Text 4"/>
          <p:cNvSpPr/>
          <p:nvPr/>
        </p:nvSpPr>
        <p:spPr>
          <a:xfrm>
            <a:off x="603504" y="1828800"/>
            <a:ext cx="5212080" cy="256032"/>
          </a:xfrm>
          <a:prstGeom prst="rect">
            <a:avLst/>
          </a:prstGeom>
          <a:noFill/>
          <a:ln/>
        </p:spPr>
        <p:txBody>
          <a:bodyPr wrap="square" lIns="0" tIns="0" rIns="0" bIns="0" rtlCol="0" anchor="t"/>
          <a:lstStyle/>
          <a:p>
            <a:pPr indent="0" marL="0">
              <a:buNone/>
            </a:pPr>
            <a:r>
              <a:rPr lang="en-US" sz="1300" b="1" spc="80" kern="0" dirty="0">
                <a:solidFill>
                  <a:srgbClr val="E8A33D"/>
                </a:solidFill>
                <a:latin typeface="Aptos" pitchFamily="34" charset="0"/>
                <a:ea typeface="Aptos" pitchFamily="34" charset="-122"/>
                <a:cs typeface="Aptos" pitchFamily="34" charset="-120"/>
              </a:rPr>
              <a:t>WE CLAIM</a:t>
            </a:r>
            <a:endParaRPr lang="en-US" sz="1300" dirty="0"/>
          </a:p>
        </p:txBody>
      </p:sp>
      <p:sp>
        <p:nvSpPr>
          <p:cNvPr id="8" name="Text 5"/>
          <p:cNvSpPr/>
          <p:nvPr/>
        </p:nvSpPr>
        <p:spPr>
          <a:xfrm>
            <a:off x="603504" y="2240280"/>
            <a:ext cx="5212080" cy="1371600"/>
          </a:xfrm>
          <a:prstGeom prst="rect">
            <a:avLst/>
          </a:prstGeom>
          <a:noFill/>
          <a:ln/>
        </p:spPr>
        <p:txBody>
          <a:bodyPr wrap="square" lIns="0" tIns="0" rIns="0" bIns="0" rtlCol="0" anchor="t"/>
          <a:lstStyle/>
          <a:p>
            <a:pPr indent="0" marL="0">
              <a:buNone/>
            </a:pPr>
            <a:r>
              <a:rPr lang="en-US" sz="2000" dirty="0">
                <a:solidFill>
                  <a:srgbClr val="F4F1EA"/>
                </a:solidFill>
                <a:latin typeface="Aptos" pitchFamily="34" charset="0"/>
                <a:ea typeface="Aptos" pitchFamily="34" charset="-122"/>
                <a:cs typeface="Aptos" pitchFamily="34" charset="-120"/>
              </a:rPr>
              <a:t>The system evaluates a constrained incident response in simulation, and keeps a record of each decision.</a:t>
            </a:r>
            <a:endParaRPr lang="en-US" sz="2000" dirty="0"/>
          </a:p>
        </p:txBody>
      </p:sp>
      <p:sp>
        <p:nvSpPr>
          <p:cNvPr id="9" name="Shape 6"/>
          <p:cNvSpPr/>
          <p:nvPr/>
        </p:nvSpPr>
        <p:spPr>
          <a:xfrm>
            <a:off x="6217920" y="1645920"/>
            <a:ext cx="5577840" cy="2880360"/>
          </a:xfrm>
          <a:prstGeom prst="roundRect">
            <a:avLst>
              <a:gd name="adj" fmla="val 2540"/>
            </a:avLst>
          </a:prstGeom>
          <a:solidFill>
            <a:srgbClr val="FBFAF6"/>
          </a:solidFill>
          <a:ln w="12700">
            <a:solidFill>
              <a:srgbClr val="E4DFD6"/>
            </a:solidFill>
            <a:prstDash val="solid"/>
          </a:ln>
        </p:spPr>
      </p:sp>
      <p:sp>
        <p:nvSpPr>
          <p:cNvPr id="10" name="Text 7"/>
          <p:cNvSpPr/>
          <p:nvPr/>
        </p:nvSpPr>
        <p:spPr>
          <a:xfrm>
            <a:off x="6419088" y="1828800"/>
            <a:ext cx="5212080" cy="256032"/>
          </a:xfrm>
          <a:prstGeom prst="rect">
            <a:avLst/>
          </a:prstGeom>
          <a:noFill/>
          <a:ln/>
        </p:spPr>
        <p:txBody>
          <a:bodyPr wrap="square" lIns="0" tIns="0" rIns="0" bIns="0" rtlCol="0" anchor="t"/>
          <a:lstStyle/>
          <a:p>
            <a:pPr indent="0" marL="0">
              <a:buNone/>
            </a:pPr>
            <a:r>
              <a:rPr lang="en-US" sz="1300" b="1" spc="80" kern="0" dirty="0">
                <a:solidFill>
                  <a:srgbClr val="9A4E28"/>
                </a:solidFill>
                <a:latin typeface="Aptos" pitchFamily="34" charset="0"/>
                <a:ea typeface="Aptos" pitchFamily="34" charset="-122"/>
                <a:cs typeface="Aptos" pitchFamily="34" charset="-120"/>
              </a:rPr>
              <a:t>WE DO NOT CLAIM</a:t>
            </a:r>
            <a:endParaRPr lang="en-US" sz="1300" dirty="0"/>
          </a:p>
        </p:txBody>
      </p:sp>
      <p:sp>
        <p:nvSpPr>
          <p:cNvPr id="11" name="Text 8"/>
          <p:cNvSpPr/>
          <p:nvPr/>
        </p:nvSpPr>
        <p:spPr>
          <a:xfrm>
            <a:off x="6419088" y="2267712"/>
            <a:ext cx="5120640" cy="329184"/>
          </a:xfrm>
          <a:prstGeom prst="rect">
            <a:avLst/>
          </a:prstGeom>
          <a:noFill/>
          <a:ln/>
        </p:spPr>
        <p:txBody>
          <a:bodyPr wrap="square" lIns="0" tIns="0" rIns="0" bIns="0" rtlCol="0" anchor="t"/>
          <a:lstStyle/>
          <a:p>
            <a:pPr indent="0" marL="0">
              <a:buNone/>
            </a:pPr>
            <a:r>
              <a:rPr lang="en-US" sz="1600" dirty="0">
                <a:solidFill>
                  <a:srgbClr val="16222C"/>
                </a:solidFill>
                <a:latin typeface="Aptos" pitchFamily="34" charset="0"/>
                <a:ea typeface="Aptos" pitchFamily="34" charset="-122"/>
                <a:cs typeface="Aptos" pitchFamily="34" charset="-120"/>
              </a:rPr>
              <a:t>×    Prevents accidents in Tunisia</a:t>
            </a:r>
            <a:endParaRPr lang="en-US" sz="1600" dirty="0"/>
          </a:p>
        </p:txBody>
      </p:sp>
      <p:sp>
        <p:nvSpPr>
          <p:cNvPr id="12" name="Text 9"/>
          <p:cNvSpPr/>
          <p:nvPr/>
        </p:nvSpPr>
        <p:spPr>
          <a:xfrm>
            <a:off x="6419088" y="2651760"/>
            <a:ext cx="5120640" cy="329184"/>
          </a:xfrm>
          <a:prstGeom prst="rect">
            <a:avLst/>
          </a:prstGeom>
          <a:noFill/>
          <a:ln/>
        </p:spPr>
        <p:txBody>
          <a:bodyPr wrap="square" lIns="0" tIns="0" rIns="0" bIns="0" rtlCol="0" anchor="t"/>
          <a:lstStyle/>
          <a:p>
            <a:pPr indent="0" marL="0">
              <a:buNone/>
            </a:pPr>
            <a:r>
              <a:rPr lang="en-US" sz="1600" dirty="0">
                <a:solidFill>
                  <a:srgbClr val="16222C"/>
                </a:solidFill>
                <a:latin typeface="Aptos" pitchFamily="34" charset="0"/>
                <a:ea typeface="Aptos" pitchFamily="34" charset="-122"/>
                <a:cs typeface="Aptos" pitchFamily="34" charset="-120"/>
              </a:rPr>
              <a:t>×    Lives saved</a:t>
            </a:r>
            <a:endParaRPr lang="en-US" sz="1600" dirty="0"/>
          </a:p>
        </p:txBody>
      </p:sp>
      <p:sp>
        <p:nvSpPr>
          <p:cNvPr id="13" name="Text 10"/>
          <p:cNvSpPr/>
          <p:nvPr/>
        </p:nvSpPr>
        <p:spPr>
          <a:xfrm>
            <a:off x="6419088" y="3035808"/>
            <a:ext cx="5120640" cy="329184"/>
          </a:xfrm>
          <a:prstGeom prst="rect">
            <a:avLst/>
          </a:prstGeom>
          <a:noFill/>
          <a:ln/>
        </p:spPr>
        <p:txBody>
          <a:bodyPr wrap="square" lIns="0" tIns="0" rIns="0" bIns="0" rtlCol="0" anchor="t"/>
          <a:lstStyle/>
          <a:p>
            <a:pPr indent="0" marL="0">
              <a:buNone/>
            </a:pPr>
            <a:r>
              <a:rPr lang="en-US" sz="1600" dirty="0">
                <a:solidFill>
                  <a:srgbClr val="16222C"/>
                </a:solidFill>
                <a:latin typeface="Aptos" pitchFamily="34" charset="0"/>
                <a:ea typeface="Aptos" pitchFamily="34" charset="-122"/>
                <a:cs typeface="Aptos" pitchFamily="34" charset="-120"/>
              </a:rPr>
              <a:t>×    Measured air quality</a:t>
            </a:r>
            <a:endParaRPr lang="en-US" sz="1600" dirty="0"/>
          </a:p>
        </p:txBody>
      </p:sp>
      <p:sp>
        <p:nvSpPr>
          <p:cNvPr id="14" name="Text 11"/>
          <p:cNvSpPr/>
          <p:nvPr/>
        </p:nvSpPr>
        <p:spPr>
          <a:xfrm>
            <a:off x="6419088" y="3419856"/>
            <a:ext cx="5120640" cy="329184"/>
          </a:xfrm>
          <a:prstGeom prst="rect">
            <a:avLst/>
          </a:prstGeom>
          <a:noFill/>
          <a:ln/>
        </p:spPr>
        <p:txBody>
          <a:bodyPr wrap="square" lIns="0" tIns="0" rIns="0" bIns="0" rtlCol="0" anchor="t"/>
          <a:lstStyle/>
          <a:p>
            <a:pPr indent="0" marL="0">
              <a:buNone/>
            </a:pPr>
            <a:r>
              <a:rPr lang="en-US" sz="1600" dirty="0">
                <a:solidFill>
                  <a:srgbClr val="16222C"/>
                </a:solidFill>
                <a:latin typeface="Aptos" pitchFamily="34" charset="0"/>
                <a:ea typeface="Aptos" pitchFamily="34" charset="-122"/>
                <a:cs typeface="Aptos" pitchFamily="34" charset="-120"/>
              </a:rPr>
              <a:t>×    A Tunis deployment</a:t>
            </a:r>
            <a:endParaRPr lang="en-US" sz="1600" dirty="0"/>
          </a:p>
        </p:txBody>
      </p:sp>
      <p:sp>
        <p:nvSpPr>
          <p:cNvPr id="15" name="Text 12"/>
          <p:cNvSpPr/>
          <p:nvPr/>
        </p:nvSpPr>
        <p:spPr>
          <a:xfrm>
            <a:off x="6419088" y="3803904"/>
            <a:ext cx="5120640" cy="329184"/>
          </a:xfrm>
          <a:prstGeom prst="rect">
            <a:avLst/>
          </a:prstGeom>
          <a:noFill/>
          <a:ln/>
        </p:spPr>
        <p:txBody>
          <a:bodyPr wrap="square" lIns="0" tIns="0" rIns="0" bIns="0" rtlCol="0" anchor="t"/>
          <a:lstStyle/>
          <a:p>
            <a:pPr indent="0" marL="0">
              <a:buNone/>
            </a:pPr>
            <a:r>
              <a:rPr lang="en-US" sz="1600" dirty="0">
                <a:solidFill>
                  <a:srgbClr val="16222C"/>
                </a:solidFill>
                <a:latin typeface="Aptos" pitchFamily="34" charset="0"/>
                <a:ea typeface="Aptos" pitchFamily="34" charset="-122"/>
                <a:cs typeface="Aptos" pitchFamily="34" charset="-120"/>
              </a:rPr>
              <a:t>×    A winner from one seed</a:t>
            </a:r>
            <a:endParaRPr lang="en-US" sz="1600" dirty="0"/>
          </a:p>
        </p:txBody>
      </p:sp>
      <p:sp>
        <p:nvSpPr>
          <p:cNvPr id="16" name="Shape 13"/>
          <p:cNvSpPr/>
          <p:nvPr/>
        </p:nvSpPr>
        <p:spPr>
          <a:xfrm>
            <a:off x="384048" y="4681728"/>
            <a:ext cx="11411712" cy="1051560"/>
          </a:xfrm>
          <a:prstGeom prst="roundRect">
            <a:avLst>
              <a:gd name="adj" fmla="val 6957"/>
            </a:avLst>
          </a:prstGeom>
          <a:solidFill>
            <a:srgbClr val="FBFAF6"/>
          </a:solidFill>
          <a:ln w="12700">
            <a:solidFill>
              <a:srgbClr val="E4DFD6"/>
            </a:solidFill>
            <a:prstDash val="solid"/>
          </a:ln>
        </p:spPr>
      </p:sp>
      <p:sp>
        <p:nvSpPr>
          <p:cNvPr id="17" name="Text 14"/>
          <p:cNvSpPr/>
          <p:nvPr/>
        </p:nvSpPr>
        <p:spPr>
          <a:xfrm>
            <a:off x="585216" y="4809744"/>
            <a:ext cx="10972800" cy="219456"/>
          </a:xfrm>
          <a:prstGeom prst="rect">
            <a:avLst/>
          </a:prstGeom>
          <a:noFill/>
          <a:ln/>
        </p:spPr>
        <p:txBody>
          <a:bodyPr wrap="square" lIns="0" tIns="0" rIns="0" bIns="0" rtlCol="0" anchor="t"/>
          <a:lstStyle/>
          <a:p>
            <a:pPr indent="0" marL="0">
              <a:buNone/>
            </a:pPr>
            <a:r>
              <a:rPr lang="en-US" sz="1200" b="1" spc="60" kern="0" dirty="0">
                <a:solidFill>
                  <a:srgbClr val="1F6B72"/>
                </a:solidFill>
                <a:latin typeface="Aptos" pitchFamily="34" charset="0"/>
                <a:ea typeface="Aptos" pitchFamily="34" charset="-122"/>
                <a:cs typeface="Aptos" pitchFamily="34" charset="-120"/>
              </a:rPr>
              <a:t>STILL OPEN</a:t>
            </a:r>
            <a:endParaRPr lang="en-US" sz="1200" dirty="0"/>
          </a:p>
        </p:txBody>
      </p:sp>
      <p:sp>
        <p:nvSpPr>
          <p:cNvPr id="18" name="Text 15"/>
          <p:cNvSpPr/>
          <p:nvPr/>
        </p:nvSpPr>
        <p:spPr>
          <a:xfrm>
            <a:off x="585216" y="5084064"/>
            <a:ext cx="11018520" cy="475488"/>
          </a:xfrm>
          <a:prstGeom prst="rect">
            <a:avLst/>
          </a:prstGeom>
          <a:noFill/>
          <a:ln/>
        </p:spPr>
        <p:txBody>
          <a:bodyPr wrap="square" lIns="0" tIns="0" rIns="0" bIns="0" rtlCol="0" anchor="t"/>
          <a:lstStyle/>
          <a:p>
            <a:pPr indent="0" marL="0">
              <a:buNone/>
            </a:pPr>
            <a:r>
              <a:rPr lang="en-US" sz="1500" dirty="0">
                <a:solidFill>
                  <a:srgbClr val="16222C"/>
                </a:solidFill>
                <a:latin typeface="Aptos" pitchFamily="34" charset="0"/>
                <a:ea typeface="Aptos" pitchFamily="34" charset="-122"/>
                <a:cs typeface="Aptos" pitchFamily="34" charset="-120"/>
              </a:rPr>
              <a:t>No interviews, questionnaires, or ride-alongs. Personas are design readings. One matched seed. A synthetic grid, not a measured Tunis junction.</a:t>
            </a:r>
            <a:endParaRPr lang="en-US" sz="1500" dirty="0"/>
          </a:p>
        </p:txBody>
      </p:sp>
      <p:sp>
        <p:nvSpPr>
          <p:cNvPr id="19" name="Text 16"/>
          <p:cNvSpPr/>
          <p:nvPr/>
        </p:nvSpPr>
        <p:spPr>
          <a:xfrm>
            <a:off x="420624" y="6473952"/>
            <a:ext cx="10241280" cy="256032"/>
          </a:xfrm>
          <a:prstGeom prst="rect">
            <a:avLst/>
          </a:prstGeom>
          <a:noFill/>
          <a:ln/>
        </p:spPr>
        <p:txBody>
          <a:bodyPr wrap="square" lIns="0" tIns="0" rIns="0" bIns="0" rtlCol="0" anchor="t"/>
          <a:lstStyle/>
          <a:p>
            <a:pPr indent="0" marL="0">
              <a:buNone/>
            </a:pPr>
            <a:r>
              <a:rPr lang="en-US" sz="1200" dirty="0">
                <a:solidFill>
                  <a:srgbClr val="8A847C"/>
                </a:solidFill>
                <a:latin typeface="Aptos" pitchFamily="34" charset="0"/>
                <a:ea typeface="Aptos" pitchFamily="34" charset="-122"/>
                <a:cs typeface="Aptos" pitchFamily="34" charset="-120"/>
              </a:rPr>
              <a:t>Questions.</a:t>
            </a:r>
            <a:endParaRPr lang="en-US" sz="1200" dirty="0"/>
          </a:p>
        </p:txBody>
      </p:sp>
      <p:sp>
        <p:nvSpPr>
          <p:cNvPr id="20" name="Text 17"/>
          <p:cNvSpPr/>
          <p:nvPr/>
        </p:nvSpPr>
        <p:spPr>
          <a:xfrm>
            <a:off x="11109960" y="6473952"/>
            <a:ext cx="658368" cy="256032"/>
          </a:xfrm>
          <a:prstGeom prst="rect">
            <a:avLst/>
          </a:prstGeom>
          <a:noFill/>
          <a:ln/>
        </p:spPr>
        <p:txBody>
          <a:bodyPr wrap="square" lIns="0" tIns="0" rIns="0" bIns="0" rtlCol="0" anchor="t"/>
          <a:lstStyle/>
          <a:p>
            <a:pPr algn="r" indent="0" marL="0">
              <a:buNone/>
            </a:pPr>
            <a:r>
              <a:rPr lang="en-US" sz="1200" dirty="0">
                <a:solidFill>
                  <a:srgbClr val="8A847C"/>
                </a:solidFill>
                <a:latin typeface="Aptos" pitchFamily="34" charset="0"/>
                <a:ea typeface="Aptos" pitchFamily="34" charset="-122"/>
                <a:cs typeface="Aptos" pitchFamily="34" charset="-120"/>
              </a:rPr>
              <a:t>15</a:t>
            </a:r>
            <a:endParaRPr lang="en-US" sz="1200" dirty="0"/>
          </a:p>
        </p:txBody>
      </p:sp>
    </p:spTree>
  </p:cSld>
  <p:transition spd="slow" advClick="1">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CoFlow-5 Synapse — Empathize and Ideation validation</dc:title>
  <dc:subject>User research, evidence, personas, needs, problem statement, ideas, and the selected solution</dc:subject>
  <dc:creator>CoFlow-5 Synapse · ESPRIT 4DS</dc:creator>
  <cp:lastModifiedBy>CoFlow-5 Synapse · ESPRIT 4DS</cp:lastModifiedBy>
  <cp:revision>1</cp:revision>
  <dcterms:created xsi:type="dcterms:W3CDTF">2026-09-29T12:02:57Z</dcterms:created>
  <dcterms:modified xsi:type="dcterms:W3CDTF">2026-09-29T12:02:57Z</dcterms:modified>
</cp:coreProperties>
</file>