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Research-informed design persona, not an interview. I need enough time to finish crossing, even when traffic is busy. Need: Acknowledgement, shorter waiting and enough clearance to finish. Fear: Cars receive green while she is still crossing. Evidence: Perceived wait ≈2× in one NZ study [C03]. MUTCD clearance guidance ≈1.07 m/s and slower where needed [C04]. Proposed measure: Mean / P95 / max wait + zero clearance truncations.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Research-informed design persona, not an interview. I can plan around a longer trip if I know how long it will actually take. Need: Predictable journeys, fewer stops and visible incidents. Fear: A better mean hides unfinished or extreme trips. Evidence: DfT TAG uses 0.4 as an appraisal reliability ratio for journey-time variability [C05]. Proposed measure: Completed/unfinished trips, P95/max duration, stops and standstill.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Research-informed design persona, not an interview. Buses should arrive regularly—not three at once after a long wait. Need: Priority only for a late bus or a large headway gap. Fear: Three buses arrive together after one long gap. Evidence: DfT TAG applies a 2× value-of-time multiplier to public-transport waiting [C05]. Proposed measure: Lateness, headway variation, passenger-wait proxy and car externality.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Research-informed design persona, not an interview. Show me why priority was granted or denied, and let me respond safely. Need: Positions, headways, confidence, reason codes and a joined audit trail. Fear: A black box refuses priority and leaves no history. Evidence: SCATS documentation describes monitoring, manual intervention and audit trails [C08]. Proposed measure: Reason-code coverage and operator explanation of one yes and one 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Research-informed design persona, not an interview. Get us through safely, and make sure traffic recovers after we pass. Need: Trusted route/ETA request, downstream check and controlled recovery. Fear: A green into a full link simply moves the queue. Evidence: One Taipei cohort associated each extra ALS minute with 7% lower adjusted odds [C06]. Preemption can impose network delay [C07]. Proposed measure: Emergency effect, civilian delay, downstream rejection and recovery.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Research-informed design persona, not an interview. Automation should support my decisions—not leave me responsible for a system I cannot control. Need: Mode, health, freshness, constraints, safe override and recovery. Fear: Stale data looks healthy while control degrades. Evidence: Operational documentation motivates intervention and audit [C08]; CoFlow-5 fixes the exact authority and ladder [C16]. Proposed measure: Legal actions, transition reasons, health evidence and fallback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Research-informed design persona, not an interview. Cleaner traffic on the main road must not mean more exhaust outside our homes. Need: Link-level maps, school-sensitive checks and explicit displacement limits. Fear: The main road improves by moving queues to her street. Evidence: In 2005–2006, 6.4M students (12.5% of the studied US population) attended schools within 250 m of a major road [C09]. Proposed measure: Per-link stops and emission proxies near selected receptors.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Research-informed design persona, not an interview. Tell me what is wrong, why you think so, and whether I can still trust the data. Need: Severity, observations, uncertainty, freshness and data-health warnings. Fear: False alarms or a frozen screen hide the real condition. Evidence: FHWA estimates incidents account for about 25–30% of congestion in many US metropolitan contexts—not Tunis [C10]. Proposed measure: Detection delay, false alarms, misses, stale data and recovery.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ell\Downloads\sumo\docs\presentation\personas\p1-ama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892040"/>
            <a:ext cx="4160520" cy="1965960"/>
          </a:xfrm>
          <a:prstGeom prst="rect">
            <a:avLst/>
          </a:prstGeom>
          <a:solidFill>
            <a:srgbClr val="081B2B">
              <a:alpha val="95000"/>
            </a:srgbClr>
          </a:solidFill>
          <a:ln w="12700">
            <a:solidFill>
              <a:srgbClr val="081B2B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20040" y="5074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5C8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 · AGE 74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20040" y="5413248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Amara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320040" y="58704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Retired pedestrian; uses a cane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0040" y="63093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Illustration · not an interviewed person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462272" y="320040"/>
            <a:ext cx="7360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Persona 1 — Amara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4480560" y="786384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Crosses a busy central street for shops and transit · Tunis design context (assumption)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462272" y="1188720"/>
            <a:ext cx="7315200" cy="914400"/>
          </a:xfrm>
          <a:prstGeom prst="roundRect">
            <a:avLst>
              <a:gd name="adj" fmla="val 8000"/>
            </a:avLst>
          </a:prstGeom>
          <a:solidFill>
            <a:srgbClr val="102C3E"/>
          </a:solidFill>
          <a:ln w="10160">
            <a:solidFill>
              <a:srgbClr val="A892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298448"/>
            <a:ext cx="6903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A892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STATEMENT · SYNTHESIS, NOT A QUOTE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663440" y="1536192"/>
            <a:ext cx="6903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“I need enough time to finish crossing, even when traffic is busy.”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462272" y="233172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54C38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626864" y="2423160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4C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NEED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626864" y="2679192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Acknowledgement, shorter waiting and enough clearance to finish.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257032" y="233172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E56E7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421624" y="2423160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6E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FEAR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421624" y="2679192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Cars receive green while she is still crossing.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462272" y="3584448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45B8D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26864" y="3675888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5B8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626864" y="3931920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Push-button, audible/visual feedback; no phone required.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257032" y="3584448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E56E7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421624" y="3675888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6E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REJECTS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421624" y="3931920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Shortened clearance, inaccessible apps, invented success claims.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462272" y="4846320"/>
            <a:ext cx="4709160" cy="1143000"/>
          </a:xfrm>
          <a:prstGeom prst="roundRect">
            <a:avLst>
              <a:gd name="adj" fmla="val 6400"/>
            </a:avLst>
          </a:prstGeom>
          <a:solidFill>
            <a:srgbClr val="123246"/>
          </a:solidFill>
          <a:ln w="10160">
            <a:solidFill>
              <a:srgbClr val="35C8B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626864" y="4937760"/>
            <a:ext cx="43799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5C8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626864" y="5193792"/>
            <a:ext cx="4379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Perceived wait ≈2× in one NZ study [C03]. MUTCD clearance guidance ≈1.07 m/s and slower where needed [C04].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9418320" y="4846320"/>
            <a:ext cx="2359152" cy="1143000"/>
          </a:xfrm>
          <a:prstGeom prst="roundRect">
            <a:avLst>
              <a:gd name="adj" fmla="val 6400"/>
            </a:avLst>
          </a:prstGeom>
          <a:solidFill>
            <a:srgbClr val="123246"/>
          </a:solidFill>
          <a:ln w="10160">
            <a:solidFill>
              <a:srgbClr val="F2A44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582912" y="4937760"/>
            <a:ext cx="20299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4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· PROPOSED, NOT A RESULT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582912" y="5193792"/>
            <a:ext cx="2029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/ P95 / max wait + zero clearance truncations.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4480560" y="6144768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BIO · Represents slower walkers excluded by average-speed timing.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4480560" y="6446520"/>
            <a:ext cx="7269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PERSONALITY · Careful and independent; design assumption.</a:t>
            </a:r>
            <a:endParaRPr lang="en-US" sz="1000" dirty="0"/>
          </a:p>
        </p:txBody>
      </p:sp>
    </p:spTree>
  </p:cSld>
  <p:transition spd="slow" advClick="1">
    <p:fade/>
  </p:transition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ell\Downloads\sumo\docs\presentation\personas\p2-davi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892040"/>
            <a:ext cx="4160520" cy="1965960"/>
          </a:xfrm>
          <a:prstGeom prst="rect">
            <a:avLst/>
          </a:prstGeom>
          <a:solidFill>
            <a:srgbClr val="081B2B">
              <a:alpha val="95000"/>
            </a:srgbClr>
          </a:solidFill>
          <a:ln w="12700">
            <a:solidFill>
              <a:srgbClr val="081B2B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20040" y="5074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5C8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P2 · AGE 41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20040" y="5413248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David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320040" y="58704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Delivery-van driver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0040" y="63093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Illustration · not an interviewed person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462272" y="320040"/>
            <a:ext cx="7360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Persona 2 — David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4480560" y="786384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than 60 time-sensitive stops per workday · Tunis design context (assumption)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462272" y="1188720"/>
            <a:ext cx="7315200" cy="914400"/>
          </a:xfrm>
          <a:prstGeom prst="roundRect">
            <a:avLst>
              <a:gd name="adj" fmla="val 8000"/>
            </a:avLst>
          </a:prstGeom>
          <a:solidFill>
            <a:srgbClr val="102C3E"/>
          </a:solidFill>
          <a:ln w="10160">
            <a:solidFill>
              <a:srgbClr val="45B8D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298448"/>
            <a:ext cx="6903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45B8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STATEMENT · SYNTHESIS, NOT A QUOTE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663440" y="1536192"/>
            <a:ext cx="6903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“I can plan around a longer trip if I know how long it will actually take.”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462272" y="233172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54C38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626864" y="2423160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4C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NEED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626864" y="2679192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Predictable journeys, fewer stops and visible incidents.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257032" y="233172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E56E7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421624" y="2423160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6E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FEAR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421624" y="2679192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better mean hides unfinished or extreme trips.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462272" y="3584448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45B8D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26864" y="3675888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5B8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626864" y="3931920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phone, GPS/navigation and delivery-round tools.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257032" y="3584448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E56E7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421624" y="3675888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6E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REJECTS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421624" y="3931920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Best-case headlines and deleted unfinished trips.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462272" y="4846320"/>
            <a:ext cx="4709160" cy="1143000"/>
          </a:xfrm>
          <a:prstGeom prst="roundRect">
            <a:avLst>
              <a:gd name="adj" fmla="val 6400"/>
            </a:avLst>
          </a:prstGeom>
          <a:solidFill>
            <a:srgbClr val="123246"/>
          </a:solidFill>
          <a:ln w="10160">
            <a:solidFill>
              <a:srgbClr val="35C8B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626864" y="4937760"/>
            <a:ext cx="43799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5C8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626864" y="5193792"/>
            <a:ext cx="4379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DfT TAG uses 0.4 as an appraisal reliability ratio for journey-time variability [C05].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9418320" y="4846320"/>
            <a:ext cx="2359152" cy="1143000"/>
          </a:xfrm>
          <a:prstGeom prst="roundRect">
            <a:avLst>
              <a:gd name="adj" fmla="val 6400"/>
            </a:avLst>
          </a:prstGeom>
          <a:solidFill>
            <a:srgbClr val="123246"/>
          </a:solidFill>
          <a:ln w="10160">
            <a:solidFill>
              <a:srgbClr val="F2A44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582912" y="4937760"/>
            <a:ext cx="20299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4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· PROPOSED, NOT A RESULT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582912" y="5193792"/>
            <a:ext cx="2029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Completed/unfinished trips, P95/max duration, stops and standstill.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4480560" y="6144768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BIO · Represents reliability and the severe tail—not only the average.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4480560" y="6446520"/>
            <a:ext cx="7269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PERSONALITY · Organised and schedule-focused; design assumption.</a:t>
            </a:r>
            <a:endParaRPr lang="en-US" sz="1000" dirty="0"/>
          </a:p>
        </p:txBody>
      </p:sp>
    </p:spTree>
  </p:cSld>
  <p:transition spd="slow" advClick="1">
    <p:fade/>
  </p:transition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ell\Downloads\sumo\docs\presentation\personas\p3-chid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892040"/>
            <a:ext cx="4160520" cy="1965960"/>
          </a:xfrm>
          <a:prstGeom prst="rect">
            <a:avLst/>
          </a:prstGeom>
          <a:solidFill>
            <a:srgbClr val="081B2B">
              <a:alpha val="95000"/>
            </a:srgbClr>
          </a:solidFill>
          <a:ln w="12700">
            <a:solidFill>
              <a:srgbClr val="081B2B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20040" y="5074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5C8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P3 · AGE 27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20040" y="5413248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Chidi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320040" y="58704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Frequent bus passenger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0040" y="63093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Illustration · not an interviewed person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462272" y="320040"/>
            <a:ext cx="7360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Persona 3 — Chidi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4480560" y="786384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Uses a high-frequency corridor where regularity is the service · Tunis design context (assumption)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462272" y="1188720"/>
            <a:ext cx="7315200" cy="914400"/>
          </a:xfrm>
          <a:prstGeom prst="roundRect">
            <a:avLst>
              <a:gd name="adj" fmla="val 8000"/>
            </a:avLst>
          </a:prstGeom>
          <a:solidFill>
            <a:srgbClr val="102C3E"/>
          </a:solidFill>
          <a:ln w="10160">
            <a:solidFill>
              <a:srgbClr val="45B8D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298448"/>
            <a:ext cx="6903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45B8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STATEMENT · SYNTHESIS, NOT A QUOTE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663440" y="1536192"/>
            <a:ext cx="6903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“Buses should arrive regularly—not three at once after a long wait.”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462272" y="233172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54C38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626864" y="2423160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4C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NEED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626864" y="2679192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only for a late bus or a large headway gap.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257032" y="233172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E56E7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421624" y="2423160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6E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FEAR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421624" y="2679192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buses arrive together after one long gap.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462272" y="3584448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45B8D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26864" y="3675888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5B8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626864" y="3931920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Passenger-information app when available; otherwise the stop.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257032" y="3584448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E56E7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421624" y="3675888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6E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REJECTS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421624" y="3931920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Every-bus priority and pedestrian clearance sacrificed for transit.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462272" y="4846320"/>
            <a:ext cx="4709160" cy="1143000"/>
          </a:xfrm>
          <a:prstGeom prst="roundRect">
            <a:avLst>
              <a:gd name="adj" fmla="val 6400"/>
            </a:avLst>
          </a:prstGeom>
          <a:solidFill>
            <a:srgbClr val="123246"/>
          </a:solidFill>
          <a:ln w="10160">
            <a:solidFill>
              <a:srgbClr val="35C8B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626864" y="4937760"/>
            <a:ext cx="43799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5C8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626864" y="5193792"/>
            <a:ext cx="4379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DfT TAG applies a 2× value-of-time multiplier to public-transport waiting [C05].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9418320" y="4846320"/>
            <a:ext cx="2359152" cy="1143000"/>
          </a:xfrm>
          <a:prstGeom prst="roundRect">
            <a:avLst>
              <a:gd name="adj" fmla="val 6400"/>
            </a:avLst>
          </a:prstGeom>
          <a:solidFill>
            <a:srgbClr val="123246"/>
          </a:solidFill>
          <a:ln w="10160">
            <a:solidFill>
              <a:srgbClr val="F2A44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582912" y="4937760"/>
            <a:ext cx="20299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4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· PROPOSED, NOT A RESULT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582912" y="5193792"/>
            <a:ext cx="2029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Lateness, headway variation, passenger-wait proxy and car externality.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4480560" y="6144768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BIO · Represents passengers harmed by bunching and unpredictable gaps.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4480560" y="6446520"/>
            <a:ext cx="7269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PERSONALITY · Routine-oriented and uncertainty-sensitive; design assumption.</a:t>
            </a:r>
            <a:endParaRPr lang="en-US" sz="1000" dirty="0"/>
          </a:p>
        </p:txBody>
      </p:sp>
    </p:spTree>
  </p:cSld>
  <p:transition spd="slow" advClick="1">
    <p:fade/>
  </p:transition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ell\Downloads\sumo\docs\presentation\personas\p4-ros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892040"/>
            <a:ext cx="4160520" cy="1965960"/>
          </a:xfrm>
          <a:prstGeom prst="rect">
            <a:avLst/>
          </a:prstGeom>
          <a:solidFill>
            <a:srgbClr val="081B2B">
              <a:alpha val="95000"/>
            </a:srgbClr>
          </a:solidFill>
          <a:ln w="12700">
            <a:solidFill>
              <a:srgbClr val="081B2B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20040" y="5074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5C8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P4 · AGE 52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20040" y="5413248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Rosa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320040" y="58704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 depot controller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0040" y="63093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Illustration · not an interviewed person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462272" y="320040"/>
            <a:ext cx="7360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Persona 4 — Rosa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4480560" y="786384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Supervises service disruption and priority decisions · Tunis design context (assumption)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462272" y="1188720"/>
            <a:ext cx="7315200" cy="914400"/>
          </a:xfrm>
          <a:prstGeom prst="roundRect">
            <a:avLst>
              <a:gd name="adj" fmla="val 8000"/>
            </a:avLst>
          </a:prstGeom>
          <a:solidFill>
            <a:srgbClr val="102C3E"/>
          </a:solidFill>
          <a:ln w="10160">
            <a:solidFill>
              <a:srgbClr val="F2A4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298448"/>
            <a:ext cx="6903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2A4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STATEMENT · SYNTHESIS, NOT A QUOTE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663440" y="1536192"/>
            <a:ext cx="6903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“Show me why priority was granted or denied, and let me respond safely.”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462272" y="233172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54C38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626864" y="2423160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4C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NEED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626864" y="2679192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Positions, headways, confidence, reason codes and a joined audit trail.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257032" y="233172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E56E7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421624" y="2423160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6E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FEAR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421624" y="2679192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black box refuses priority and leaves no history.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462272" y="3584448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45B8D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26864" y="3675888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5B8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626864" y="3931920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Depot tools, vehicle-location screen, radio and dashboard.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257032" y="3584448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E56E7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421624" y="3675888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6E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REJECTS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421624" y="3931920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Unsupported predictions or override outside the safety mask.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462272" y="4846320"/>
            <a:ext cx="4709160" cy="1143000"/>
          </a:xfrm>
          <a:prstGeom prst="roundRect">
            <a:avLst>
              <a:gd name="adj" fmla="val 6400"/>
            </a:avLst>
          </a:prstGeom>
          <a:solidFill>
            <a:srgbClr val="123246"/>
          </a:solidFill>
          <a:ln w="10160">
            <a:solidFill>
              <a:srgbClr val="35C8B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626864" y="4937760"/>
            <a:ext cx="43799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5C8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626864" y="5193792"/>
            <a:ext cx="4379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SCATS documentation describes monitoring, manual intervention and audit trails [C08].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9418320" y="4846320"/>
            <a:ext cx="2359152" cy="1143000"/>
          </a:xfrm>
          <a:prstGeom prst="roundRect">
            <a:avLst>
              <a:gd name="adj" fmla="val 6400"/>
            </a:avLst>
          </a:prstGeom>
          <a:solidFill>
            <a:srgbClr val="123246"/>
          </a:solidFill>
          <a:ln w="10160">
            <a:solidFill>
              <a:srgbClr val="F2A44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582912" y="4937760"/>
            <a:ext cx="20299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4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· PROPOSED, NOT A RESULT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582912" y="5193792"/>
            <a:ext cx="2029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Reason-code coverage and operator explanation of one yes and one no.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4480560" y="6144768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BIO · Represents operators who must defend automated priority decisions.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4480560" y="6446520"/>
            <a:ext cx="7269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PERSONALITY · Calm, responsible and evidence-seeking; design assumption.</a:t>
            </a:r>
            <a:endParaRPr lang="en-US" sz="1000" dirty="0"/>
          </a:p>
        </p:txBody>
      </p:sp>
    </p:spTree>
  </p:cSld>
  <p:transition spd="slow" advClick="1">
    <p:fade/>
  </p:transition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ell\Downloads\sumo\docs\presentation\personas\p5-marcu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892040"/>
            <a:ext cx="4160520" cy="1965960"/>
          </a:xfrm>
          <a:prstGeom prst="rect">
            <a:avLst/>
          </a:prstGeom>
          <a:solidFill>
            <a:srgbClr val="081B2B">
              <a:alpha val="95000"/>
            </a:srgbClr>
          </a:solidFill>
          <a:ln w="12700">
            <a:solidFill>
              <a:srgbClr val="081B2B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20040" y="5074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5C8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P5 · AGE 34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20040" y="5413248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Marcus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320040" y="58704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Urban ambulance crew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0040" y="63093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Illustration · not an interviewed person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462272" y="320040"/>
            <a:ext cx="7360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Persona 5 — Marcus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4480560" y="786384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Responds through congested streets during peak periods · Tunis design context (assumption)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462272" y="1188720"/>
            <a:ext cx="7315200" cy="914400"/>
          </a:xfrm>
          <a:prstGeom prst="roundRect">
            <a:avLst>
              <a:gd name="adj" fmla="val 8000"/>
            </a:avLst>
          </a:prstGeom>
          <a:solidFill>
            <a:srgbClr val="102C3E"/>
          </a:solidFill>
          <a:ln w="10160">
            <a:solidFill>
              <a:srgbClr val="E56E7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298448"/>
            <a:ext cx="6903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E56E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STATEMENT · SYNTHESIS, NOT A QUOTE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663440" y="1536192"/>
            <a:ext cx="6903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“Get us through safely, and make sure traffic recovers after we pass.”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462272" y="233172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54C38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626864" y="2423160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4C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NEED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626864" y="2679192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Trusted route/ETA request, downstream check and controlled recovery.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257032" y="233172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E56E7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421624" y="2423160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6E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FEAR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421624" y="2679192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green into a full link simply moves the queue.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462272" y="3584448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45B8D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26864" y="3675888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5B8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626864" y="3931920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Dispatch tablet, GPS, radio, lights and siren.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257032" y="3584448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E56E7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421624" y="3675888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6E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REJECTS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421624" y="3931920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Cutting an occupied crossing or translating simulation into casualties.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462272" y="4846320"/>
            <a:ext cx="4709160" cy="1143000"/>
          </a:xfrm>
          <a:prstGeom prst="roundRect">
            <a:avLst>
              <a:gd name="adj" fmla="val 6400"/>
            </a:avLst>
          </a:prstGeom>
          <a:solidFill>
            <a:srgbClr val="123246"/>
          </a:solidFill>
          <a:ln w="10160">
            <a:solidFill>
              <a:srgbClr val="35C8B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626864" y="4937760"/>
            <a:ext cx="43799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5C8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626864" y="5193792"/>
            <a:ext cx="4379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Taipei cohort associated each extra ALS minute with 7% lower adjusted odds [C06]. Preemption can impose network delay [C07].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9418320" y="4846320"/>
            <a:ext cx="2359152" cy="1143000"/>
          </a:xfrm>
          <a:prstGeom prst="roundRect">
            <a:avLst>
              <a:gd name="adj" fmla="val 6400"/>
            </a:avLst>
          </a:prstGeom>
          <a:solidFill>
            <a:srgbClr val="123246"/>
          </a:solidFill>
          <a:ln w="10160">
            <a:solidFill>
              <a:srgbClr val="F2A44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582912" y="4937760"/>
            <a:ext cx="20299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4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· PROPOSED, NOT A RESULT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582912" y="5193792"/>
            <a:ext cx="2029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Emergency effect, civilian delay, downstream rejection and recovery.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4480560" y="6144768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BIO · Represents passage plus recovery and the civilian cost of priority.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4480560" y="6446520"/>
            <a:ext cx="7269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PERSONALITY · Urgent, precise and aware of other road users; design assumption.</a:t>
            </a:r>
            <a:endParaRPr lang="en-US" sz="1000" dirty="0"/>
          </a:p>
        </p:txBody>
      </p:sp>
    </p:spTree>
  </p:cSld>
  <p:transition spd="slow" advClick="1">
    <p:fade/>
  </p:transition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ell\Downloads\sumo\docs\presentation\personas\p6-yuk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892040"/>
            <a:ext cx="4160520" cy="1965960"/>
          </a:xfrm>
          <a:prstGeom prst="rect">
            <a:avLst/>
          </a:prstGeom>
          <a:solidFill>
            <a:srgbClr val="081B2B">
              <a:alpha val="95000"/>
            </a:srgbClr>
          </a:solidFill>
          <a:ln w="12700">
            <a:solidFill>
              <a:srgbClr val="081B2B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20040" y="5074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5C8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P6 · AGE 47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20040" y="5413248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Yuki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320040" y="58704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Traffic engineer / operations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0040" y="63093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Illustration · not an interviewed person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462272" y="320040"/>
            <a:ext cx="7360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Persona 6 — Yuki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4480560" y="786384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Accountable for safe automated network performance · Tunis design context (assumption)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462272" y="1188720"/>
            <a:ext cx="7315200" cy="914400"/>
          </a:xfrm>
          <a:prstGeom prst="roundRect">
            <a:avLst>
              <a:gd name="adj" fmla="val 8000"/>
            </a:avLst>
          </a:prstGeom>
          <a:solidFill>
            <a:srgbClr val="102C3E"/>
          </a:solidFill>
          <a:ln w="10160">
            <a:solidFill>
              <a:srgbClr val="35C8B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298448"/>
            <a:ext cx="6903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35C8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STATEMENT · SYNTHESIS, NOT A QUOTE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663440" y="1536192"/>
            <a:ext cx="6903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“Automation should support my decisions—not leave me responsible for a system I cannot control.”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462272" y="233172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54C38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626864" y="2423160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4C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NEED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626864" y="2679192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Mode, health, freshness, constraints, safe override and recovery.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257032" y="233172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E56E7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421624" y="2423160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6E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FEAR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421624" y="2679192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Stale data looks healthy while control degrades.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462272" y="3584448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45B8D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26864" y="3675888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5B8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626864" y="3931920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Signal supervisor, logs, sensor health and GIS tools.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257032" y="3584448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E56E7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421624" y="3675888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6E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REJECTS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421624" y="3931920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Silent degradation, LLM actuation or unsafe manual commands.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462272" y="4846320"/>
            <a:ext cx="4709160" cy="1143000"/>
          </a:xfrm>
          <a:prstGeom prst="roundRect">
            <a:avLst>
              <a:gd name="adj" fmla="val 6400"/>
            </a:avLst>
          </a:prstGeom>
          <a:solidFill>
            <a:srgbClr val="123246"/>
          </a:solidFill>
          <a:ln w="10160">
            <a:solidFill>
              <a:srgbClr val="35C8B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626864" y="4937760"/>
            <a:ext cx="43799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5C8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626864" y="5193792"/>
            <a:ext cx="4379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documentation motivates intervention and audit [C08]; CoFlow-5 fixes the exact authority and ladder [C16].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9418320" y="4846320"/>
            <a:ext cx="2359152" cy="1143000"/>
          </a:xfrm>
          <a:prstGeom prst="roundRect">
            <a:avLst>
              <a:gd name="adj" fmla="val 6400"/>
            </a:avLst>
          </a:prstGeom>
          <a:solidFill>
            <a:srgbClr val="123246"/>
          </a:solidFill>
          <a:ln w="10160">
            <a:solidFill>
              <a:srgbClr val="F2A44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582912" y="4937760"/>
            <a:ext cx="20299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4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· PROPOSED, NOT A RESULT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582912" y="5193792"/>
            <a:ext cx="2029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Legal actions, transition reasons, health evidence and fallback order.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4480560" y="6144768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BIO · Represents diagnosis, safe override and predictable fallback.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4480560" y="6446520"/>
            <a:ext cx="7269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PERSONALITY · Careful, process-driven and accountable; design assumption.</a:t>
            </a:r>
            <a:endParaRPr lang="en-US" sz="1000" dirty="0"/>
          </a:p>
        </p:txBody>
      </p:sp>
    </p:spTree>
  </p:cSld>
  <p:transition spd="slow" advClick="1">
    <p:fade/>
  </p:transition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ell\Downloads\sumo\docs\presentation\personas\p7-mar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892040"/>
            <a:ext cx="4160520" cy="1965960"/>
          </a:xfrm>
          <a:prstGeom prst="rect">
            <a:avLst/>
          </a:prstGeom>
          <a:solidFill>
            <a:srgbClr val="081B2B">
              <a:alpha val="95000"/>
            </a:srgbClr>
          </a:solidFill>
          <a:ln w="12700">
            <a:solidFill>
              <a:srgbClr val="081B2B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20040" y="5074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5C8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P7 · AGE 38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20040" y="5413248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Maria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320040" y="58704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Parent living near an arterial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0040" y="63093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Illustration · not an interviewed person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462272" y="320040"/>
            <a:ext cx="7360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Persona 7 — Maria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4480560" y="786384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Walks her child along a school-adjacent street · Tunis design context (assumption)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462272" y="1188720"/>
            <a:ext cx="7315200" cy="914400"/>
          </a:xfrm>
          <a:prstGeom prst="roundRect">
            <a:avLst>
              <a:gd name="adj" fmla="val 8000"/>
            </a:avLst>
          </a:prstGeom>
          <a:solidFill>
            <a:srgbClr val="102C3E"/>
          </a:solidFill>
          <a:ln w="10160">
            <a:solidFill>
              <a:srgbClr val="54C38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298448"/>
            <a:ext cx="6903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54C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STATEMENT · SYNTHESIS, NOT A QUOTE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663440" y="1536192"/>
            <a:ext cx="6903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“Cleaner traffic on the main road must not mean more exhaust outside our homes.”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462272" y="233172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54C38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626864" y="2423160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4C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NEED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626864" y="2679192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Link-level maps, school-sensitive checks and explicit displacement limits.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257032" y="233172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E56E7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421624" y="2423160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6E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FEAR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421624" y="2679192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main road improves by moving queues to her street.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462272" y="3584448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45B8D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26864" y="3675888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5B8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626864" y="3931920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specialist tool; she needs understandable maps and labels.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257032" y="3584448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E56E7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421624" y="3675888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6E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REJECTS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421624" y="3931920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Calling HBEFA air quality or claiming a Tunis deployment.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462272" y="4846320"/>
            <a:ext cx="4709160" cy="1143000"/>
          </a:xfrm>
          <a:prstGeom prst="roundRect">
            <a:avLst>
              <a:gd name="adj" fmla="val 6400"/>
            </a:avLst>
          </a:prstGeom>
          <a:solidFill>
            <a:srgbClr val="123246"/>
          </a:solidFill>
          <a:ln w="10160">
            <a:solidFill>
              <a:srgbClr val="35C8B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626864" y="4937760"/>
            <a:ext cx="43799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5C8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626864" y="5193792"/>
            <a:ext cx="4379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2005–2006, 6.4M students (12.5% of the studied US population) attended schools within 250 m of a major road [C09].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9418320" y="4846320"/>
            <a:ext cx="2359152" cy="1143000"/>
          </a:xfrm>
          <a:prstGeom prst="roundRect">
            <a:avLst>
              <a:gd name="adj" fmla="val 6400"/>
            </a:avLst>
          </a:prstGeom>
          <a:solidFill>
            <a:srgbClr val="123246"/>
          </a:solidFill>
          <a:ln w="10160">
            <a:solidFill>
              <a:srgbClr val="F2A44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582912" y="4937760"/>
            <a:ext cx="20299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4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· PROPOSED, NOT A RESULT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582912" y="5193792"/>
            <a:ext cx="2029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Per-link stops and emission proxies near selected receptors.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4480560" y="6144768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BIO · Represents residents who can bear hidden local displacement.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4480560" y="6446520"/>
            <a:ext cx="7269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PERSONALITY · Protective, local and sceptical of averages; design assumption.</a:t>
            </a:r>
            <a:endParaRPr lang="en-US" sz="1000" dirty="0"/>
          </a:p>
        </p:txBody>
      </p:sp>
    </p:spTree>
  </p:cSld>
  <p:transition spd="slow" advClick="1">
    <p:fade/>
  </p:transition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ell\Downloads\sumo\docs\presentation\personas\p8-oma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892040"/>
            <a:ext cx="4160520" cy="1965960"/>
          </a:xfrm>
          <a:prstGeom prst="rect">
            <a:avLst/>
          </a:prstGeom>
          <a:solidFill>
            <a:srgbClr val="081B2B">
              <a:alpha val="95000"/>
            </a:srgbClr>
          </a:solidFill>
          <a:ln w="12700">
            <a:solidFill>
              <a:srgbClr val="081B2B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20040" y="5074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5C8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P8 · AGE 55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20040" y="5413248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Omar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320040" y="58704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Network duty officer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0040" y="63093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Illustration · not an interviewed person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462272" y="320040"/>
            <a:ext cx="7360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Persona 8 — Omar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4480560" y="786384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Monitors incidents and coordinates operational response · Tunis design context (assumption)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462272" y="1188720"/>
            <a:ext cx="7315200" cy="914400"/>
          </a:xfrm>
          <a:prstGeom prst="roundRect">
            <a:avLst>
              <a:gd name="adj" fmla="val 8000"/>
            </a:avLst>
          </a:prstGeom>
          <a:solidFill>
            <a:srgbClr val="102C3E"/>
          </a:solidFill>
          <a:ln w="10160">
            <a:solidFill>
              <a:srgbClr val="102C3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298448"/>
            <a:ext cx="6903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0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STATEMENT · SYNTHESIS, NOT A QUOTE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663440" y="1536192"/>
            <a:ext cx="6903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“Tell me what is wrong, why you think so, and whether I can still trust the data.”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462272" y="233172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54C38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626864" y="2423160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4C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NEED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626864" y="2679192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Severity, observations, uncertainty, freshness and data-health warnings.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257032" y="233172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E56E7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421624" y="2423160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6E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FEAR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421624" y="2679192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False alarms or a frozen screen hide the real condition.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462272" y="3584448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45B8D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26864" y="3675888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5B8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626864" y="3931920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Radio, camera wall, incident tools and dashboard.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257032" y="3584448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23246"/>
          </a:solidFill>
          <a:ln w="10160">
            <a:solidFill>
              <a:srgbClr val="E56E7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421624" y="3675888"/>
            <a:ext cx="3191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6E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REJECTS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421624" y="3931920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Alerts without evidence or anomaly presented as proven cause.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462272" y="4846320"/>
            <a:ext cx="4709160" cy="1143000"/>
          </a:xfrm>
          <a:prstGeom prst="roundRect">
            <a:avLst>
              <a:gd name="adj" fmla="val 6400"/>
            </a:avLst>
          </a:prstGeom>
          <a:solidFill>
            <a:srgbClr val="123246"/>
          </a:solidFill>
          <a:ln w="10160">
            <a:solidFill>
              <a:srgbClr val="35C8B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626864" y="4937760"/>
            <a:ext cx="43799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5C8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626864" y="5193792"/>
            <a:ext cx="4379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FHWA estimates incidents account for about 25–30% of congestion in many US metropolitan contexts—not Tunis [C10].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9418320" y="4846320"/>
            <a:ext cx="2359152" cy="1143000"/>
          </a:xfrm>
          <a:prstGeom prst="roundRect">
            <a:avLst>
              <a:gd name="adj" fmla="val 6400"/>
            </a:avLst>
          </a:prstGeom>
          <a:solidFill>
            <a:srgbClr val="123246"/>
          </a:solidFill>
          <a:ln w="10160">
            <a:solidFill>
              <a:srgbClr val="F2A44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582912" y="4937760"/>
            <a:ext cx="20299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4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· PROPOSED, NOT A RESULT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582912" y="5193792"/>
            <a:ext cx="2029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Detection delay, false alarms, misses, stale data and recovery.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4480560" y="6144768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BIO · Represents the difference between “nothing detected” and “cannot see.”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4480560" y="6446520"/>
            <a:ext cx="7269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CB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PERSONALITY · Sceptical, methodical and operational; design assumption.</a:t>
            </a:r>
            <a:endParaRPr lang="en-US" sz="1000" dirty="0"/>
          </a:p>
        </p:txBody>
      </p:sp>
    </p:spTree>
  </p:cSld>
  <p:transition spd="slow" advClick="1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CoFlow-5 — Persona Cards</dc:title>
  <dc:subject>Eight research-informed Design Thinking persona cards</dc:subject>
  <dc:creator>CoFlow-5 Synapse · ESPRIT 4DS</dc:creator>
  <cp:lastModifiedBy>CoFlow-5 Synapse · ESPRIT 4DS</cp:lastModifiedBy>
  <cp:revision>1</cp:revision>
  <dcterms:created xsi:type="dcterms:W3CDTF">2026-09-22T19:43:39Z</dcterms:created>
  <dcterms:modified xsi:type="dcterms:W3CDTF">2026-09-22T19:43:39Z</dcterms:modified>
</cp:coreProperties>
</file>