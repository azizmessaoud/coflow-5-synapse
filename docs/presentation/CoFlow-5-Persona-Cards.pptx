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stages. Six research-informed personas. Survey and interviews are empty because those files are not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groups named by official sources. They are not interviews. 2023 deaths are published as both 2,273 and 1,216, with the same 5,796 crashes. Show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Ages and jobs are design readings. The portraits are illustrations. Same six cards as the HTML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I need enough time to finish crossing, even when traffic is busy. Need: Acknowledgement, shorter waiting and enough clearance to finish. Fear: Cars receive green while she is still crossing. Evidence: Perceived wait ≈2× in one NZ study [C03]. MUTCD clearance guidance ≈1.07 m/s and slower where needed [C04]. Proposed measure: Mean / P95 / max wait + zero clearance truncations.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I can plan around a longer trip if I know how long it will actually take. Need: Predictable journeys, fewer stops and visible incidents. Fear: A better mean hides unfinished or extreme trips. Evidence: DfT TAG uses 0.4 as an appraisal reliability ratio for journey-time variability [C05]. Proposed measure: Completed/unfinished trips, P95/max duration, stops and standstill.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Buses should arrive regularly—not three at once after a long wait. Need: Priority only for a late bus or a large headway gap. Fear: Three buses arrive together after one long gap. Evidence: DfT TAG applies a 2× value-of-time multiplier to public-transport waiting [C05]. Proposed measure: Lateness, headway variation, passenger-wait proxy and car externality.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Show me why priority was granted or denied, and let me respond safely. Need: Positions, headways, confidence, reason codes and a joined audit trail. Fear: A black box refuses priority and leaves no history. Evidence: SCATS documentation describes monitoring, manual intervention and audit trails [C08]. Proposed measure: Reason-code coverage and operator explanation of one yes and one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Get us through safely, and make sure traffic recovers after we pass. Need: Trusted route/ETA request, downstream check and controlled recovery. Fear: A green into a full link simply moves the queue. Evidence: One Taipei cohort associated each extra ALS minute with 7% lower adjusted odds [C06]. Preemption can impose network delay [C07]. Proposed measure: Emergency time, civilian delay, downstream rejection and recovery. Not lives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Research-informed design persona, not an interview. Tell me what is wrong, why you think so, and whether I can still trust the data. Need: Severity, observations, uncertainty, freshness and data-health warnings. Fear: False alarms or a frozen screen hide the real condition. Evidence: FHWA estimates incidents account for about 25–30% of congestion in many US metropolitan contexts—not Tunis [C10]. Proposed measure: Detection delay, false alarms, misses, stale data and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 are design readings of the groups on the Empathize slide. They are not interview quotes.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survey file. No interview transcript. Do not invent a percentage, a sample size, or a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later idea still needs a file. A rejected idea does not become a solution. A sentence must not become the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A1 writes the signal. Synapse explains the log or abstains.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scraped map colour or a news post is not a ground-truth crash.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risk factor for one intersection, hour, and weather type was not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dark cell is not a cause and not a life saved.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Fewer conflicts in the model. Not fewer deaths in Tunisia. No lives saved. No measured air. No Tunis deployment. No winner.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story as ideate-final-personas.html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 names the person it affects.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6916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Empathize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560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5603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Personas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4290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42900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Persona needs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42976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429768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Evidence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516636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Ideation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9088" y="16916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Solutions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217920" y="2560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19088" y="25603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 Online data collection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217920" y="34290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19088" y="342900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 Data analysis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17920" y="42976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19088" y="429768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 Heatmap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217920" y="516636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19088" y="516636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Accident prevention</a:t>
            </a:r>
            <a:endParaRPr lang="en-US" sz="1800" dirty="0"/>
          </a:p>
        </p:txBody>
      </p:sp>
    </p:spTree>
  </p:cSld>
  <p:transition spd="slow" advClick="1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Empathize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on the road, from published counts.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846320"/>
        </p:xfrm>
        <a:graphic>
          <a:graphicData uri="http://schemas.openxmlformats.org/drawingml/2006/table">
            <a:tbl>
              <a:tblPr/>
              <a:tblGrid>
                <a:gridCol w="7589520"/>
                <a:gridCol w="3840480"/>
              </a:tblGrid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 named in the sources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carries that need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Pedestrians. Older people and people with disabilities, named in the 2024 strategy. Pedestrians were 28% of the 2023 deaths in the WHO case that quotes ONSR.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Occupants of motor vehicles. They carry most of the health cost in that same case.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TRANSTU passengers in Greater Tunis. 187.4 million paying trips in 2018, not this year.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operator and the crash record. One reader. Not a second controller.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Civil Protection, which answers road emergencies. We did not ride with a crew.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Readers of the crash file. A residual is not a cause.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deaths are published as both 2,273 and 1,216, with the same 5,796 crashes. Show both.</a:t>
            </a:r>
            <a:endParaRPr lang="en-US" sz="1200" dirty="0"/>
          </a:p>
        </p:txBody>
      </p:sp>
    </p:spTree>
  </p:cSld>
  <p:transition spd="slow" advClick="1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Personas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readings of those groups. Not people we interviewed.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card states a need, a fear, and a source. The solution slides later name that same person as the one affected.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" y="233172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A892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 Amara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 pedestrian; uses a cane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Amara, while she is still in the crossing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233172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53128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  David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53128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Delivery-van driver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53128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David, on the trip that does not finish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83880" y="233172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9328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  Chidi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339328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bus passenger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39328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Chidi, waiting through a long gap between buses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11480" y="434340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P4  Rosa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66928" y="4892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Incident-report reader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" y="5440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Rosa, reading a refusal that has no reason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297680" y="434340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53128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  Marcus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453128" y="4892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ambulance crew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53128" y="5440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Marcus, and the people his priority delays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83880" y="434340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123246"/>
          </a:solidFill>
          <a:ln w="10160">
            <a:solidFill>
              <a:srgbClr val="102C3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39328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P6  Omar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339328" y="4892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duty officer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339328" y="5440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Omar, when a queue might be a crash, demand, or a dead sensor</a:t>
            </a:r>
            <a:endParaRPr lang="en-US" sz="1300" dirty="0"/>
          </a:p>
        </p:txBody>
      </p:sp>
    </p:spTree>
  </p:cSld>
  <p:transition spd="slow" advClick="1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1-ama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· AGE 74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Amara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Retired pedestrian; uses a cane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1 — Amara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Crosses a busy central street for shops and transit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A892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89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need enough time to finish crossing, even when traffic is busy.”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Acknowledgement, shorter waiting and enough clearance to finish.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 receive green while she is still crossing.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Push-button, audible/visual feedback; no phone required.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Shortened clearance, inaccessible apps, invented success claims.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Perceived wait ≈2× in one NZ study [C03]. MUTCD clearance guidance ≈1.07 m/s and slower where needed [C04].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/ P95 / max wait + zero clearance truncations.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slower walkers excluded by average-speed timing.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Careful and independent;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2-dav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 · AGE 41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David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Delivery-van driver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2 — David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than 60 time-sensitive stops per workday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can plan around a longer trip if I know how long it will actually take.”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journeys, fewer stops and visible incidents.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better mean hides unfinished or extreme trips.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phone, GPS/navigation and delivery-round tools.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Best-case headlines and deleted unfinished trips.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DfT TAG uses 0.4 as an appraisal reliability ratio for journey-time variability [C05].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Completed/unfinished trips, P95/max duration, stops and standstill.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reliability and the severe tail—not only the average.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Organised and schedule-focused;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3-chid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 · AGE 27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Chidi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bus passenger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3 — Chidi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high-frequency corridor where regularity is the service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“Buses should arrive regularly—not three at once after a long wait.”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only for a late bus or a large headway gap.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buses arrive together after one long gap.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Passenger-information app when available; otherwise the stop.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Every-bus priority and pedestrian clearance sacrificed for transit.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DfT TAG applies a 2× value-of-time multiplier to public-transport waiting [C05].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Lateness, headway variation, passenger-wait proxy and car externality.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passengers harmed by bunching and unpredictable gaps.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Routine-oriented and uncertainty-sensitive;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4-ros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P4 · AGE 52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Rosa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Incident-report reader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4 — Rosa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disruption and the crash record. She does not change the light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“Show me why priority was granted or denied, and let me respond safely.”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Positions, headways, confidence, reason codes and a joined audit trail.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black box refuses priority and leaves no history.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Depot tools, vehicle-location screen, radio and dashboard.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predictions or override outside the safety mask.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SCATS documentation describes monitoring, manual intervention and audit trails [C08].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Reason-code coverage and operator explanation of one yes and one no.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She reads the record and the reason code. She does not write the signal.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Calm, responsible and evidence-seeking;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5-marc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 · AGE 34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Marcus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Urban ambulance crew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5 — Marcus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Responds through congested streets during peak periods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“Get us through safely, and make sure traffic recovers after we pass.”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route/ETA request, downstream check and controlled recovery.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green into a full link simply moves the queue.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tablet, GPS, radio, lights and siren.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Cutting an occupied crossing or translating simulation into casualties.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Taipei cohort associated each extra ALS minute with 7% lower adjusted odds [C06]. Preemption can impose network delay [C07].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time, civilian delay, downstream rejection and recovery. Not lives saved.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passage plus recovery and the civilian cost of priority.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Urgent, precise and aware of other road users;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ell\Downloads\sumo\docs\presentation\personas\p8-om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92040"/>
            <a:ext cx="4160520" cy="1965960"/>
          </a:xfrm>
          <a:prstGeom prst="rect">
            <a:avLst/>
          </a:prstGeom>
          <a:solidFill>
            <a:srgbClr val="081B2B">
              <a:alpha val="95000"/>
            </a:srgbClr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P6 · AGE 55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20040" y="54132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Omar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20040" y="58704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duty officer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309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Illustration · not an interviewed person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62272" y="3200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6 — Omar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480560" y="7863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Monitors incidents and coordinates operational response · Tunis design context (assumption)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11887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02C3E"/>
          </a:solidFill>
          <a:ln w="10160">
            <a:solidFill>
              <a:srgbClr val="102C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2984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02C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STATEMENT · SYNTHESIS, NOT A QUOTE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663440" y="153619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“Tell me what is wrong, why you think so, and whether I can still trust the data.”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6227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54C3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C3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2686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Severity, observations, uncertainty, freshness and data-health warnings.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57032" y="2331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21624" y="2423160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21624" y="2679192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alarms or a frozen screen hide the real condition.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6227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45B8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5B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2686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Radio, camera wall, incident tools and dashboard.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3584448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3675888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21624" y="3931920"/>
            <a:ext cx="31912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without evidence or anomaly presented as proven cause.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62272" y="484632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4937760"/>
            <a:ext cx="4379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26864" y="5193792"/>
            <a:ext cx="4379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FHWA estimates incidents account for about 25–30% of congestion in many US metropolitan contexts—not Tunis [C10].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418320" y="4846320"/>
            <a:ext cx="2359152" cy="1143000"/>
          </a:xfrm>
          <a:prstGeom prst="roundRect">
            <a:avLst>
              <a:gd name="adj" fmla="val 6400"/>
            </a:avLst>
          </a:prstGeom>
          <a:solidFill>
            <a:srgbClr val="123246"/>
          </a:solidFill>
          <a:ln w="10160">
            <a:solidFill>
              <a:srgbClr val="F2A4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82912" y="493776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· PROPOSED, NOT A RESULT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582912" y="519379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delay, false alarms, misses, stale data and recovery.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480560" y="614476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· Represents the difference between “nothing detected” and “cannot see.”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480560" y="644652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PERSONALITY · Sceptical, methodical and operational; design assumption.</a:t>
            </a:r>
            <a:endParaRPr lang="en-US" sz="1000" dirty="0"/>
          </a:p>
        </p:txBody>
      </p:sp>
    </p:spTree>
  </p:cSld>
  <p:transition spd="slow" advClick="1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Persona needs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card has one problem. The solution has to reach that person.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93776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  <a:gridCol w="4572000"/>
              </a:tblGrid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is affected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 on their card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Acknowledgement, shorter waiting and enough clearance to finish.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Clearance assumes a faster walk than hers.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Predictable journeys, fewer stops and visible incidents.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average hides the late or unfinished trip.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 only for a late bus or a large headway gap.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Buses bunch, then the early bus is treated as urgent.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Positions, headways, confidence, reason codes and a joined audit trail.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refusal with no reason cannot be checked after the shift.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Trusted route/ETA request, downstream check and controlled recovery.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green light into a full exit only moves the queue.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Severity, observations, uncertainty, freshness and data-health warnings.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residual can be a crash, extra demand, or a sensor that has gone quiet.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Survey, interviews, and research. Only the research column has a source.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93776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2011680"/>
                <a:gridCol w="6126480"/>
              </a:tblGrid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Survey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Interview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Research that supports the need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Pedestrians were 28% of the 2023 deaths in the WHO case quoting ONSR. The 2024 strategy names older people and people with disabilities. Clearance guidance is about 1.07 m/s, slower where needed.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Occupants carry most of that case’s health cost. One matched seed finished 71, 84, and 70 of 84 trips. Mixed. No winner.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TRANSTU: 187.4 million paying passengers in 2018, not this year. Waiting time is valued above in-vehicle time in DfT appraisal guidance.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ONSR compiles the crash record. SCATS documents an audit trail. That is an analogy, not a Tunis control room we visited.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Civil Protection answers road emergencies. A Taipei survival-per-minute figure is a citation from elsewhere. This simulation does not output lives saved.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survey file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interviewed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detector has classes. An anomaly does not name a cause. FHWA’s congestion shares are not a map of these junctions.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Ideation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idea starts from that person’s need.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75488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5120640"/>
              </a:tblGrid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is affected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Idea we keep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Clearance assumes a faster walk than hers.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Hold the conflicting green until she finishes, and count truncations.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average hides the late or unfinished trip.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Show unfinished trips and the tail beside the mean.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Buses bunch, then the early bus is treated as urgent.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Ask for green only after an unusual gap. An early bus gets nothing.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refusal with no reason cannot be checked after the shift.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Explain one grant or denial with the reason code and a citation, or abstain.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green light into a full exit only moves the queue.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Authenticated request, an exit check, then recovery.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residual can be a crash, extra demand, or a sensor that has gone quiet.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 the class, the residual, and whether the sample is fresh.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6446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Refused: a scraped map as truth, a camera that guesses ability, a chatbot that writes the light, a lives-saved claim.</a:t>
            </a:r>
            <a:endParaRPr lang="en-US" sz="1200" dirty="0"/>
          </a:p>
        </p:txBody>
      </p:sp>
    </p:spTree>
  </p:cSld>
  <p:transition spd="slow" advClick="1">
    <p:fade/>
  </p:transition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· Solutions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is affected, then the solution that reaches them.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93776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572000"/>
              </a:tblGrid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is affected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Problem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Solution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Amara, while she is still in the crossing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Clearance assumes a faster walk than hers.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A3 asks. A1 holds the conflicting green. Truncations are counted.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David, on the trip that does not finish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average hides the late or unfinished trip.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evidence page keeps unfinished trips in the count, next to the mean.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Chidi, waiting through a long gap between buses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Buses bunch, then the early bus is treated as urgent.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A3 asks only for a late bus or a large gap. Pedestrian clearance stays ahead of the bus.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Rosa, reading a refusal that has no reason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refusal with no reason cannot be checked after the shift.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S2 returns one cited explanation, or an abstention. Rosa does not write the signal.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Marcus, and the people his priority delays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green light into a full exit only moves the queue.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A2 sends route and expiry. A1 checks the exit, then recovers Max-Pressure, actuated, fixed-time.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Omar, when a queue might be a crash, demand, or a dead sensor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residual can be a crash, extra demand, or a sensor that has gone quiet.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A4 publishes the class and the freshness. It does not name the cause. Stale data leaves A1 on local control.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· Online data collection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Accidents, roads, intersections, lights, weather, and transport are different files.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846320"/>
        </p:xfrm>
        <a:graphic>
          <a:graphicData uri="http://schemas.openxmlformats.org/drawingml/2006/table">
            <a:tbl>
              <a:tblPr/>
              <a:tblGrid>
                <a:gridCol w="4754880"/>
                <a:gridCol w="1463040"/>
                <a:gridCol w="5212080"/>
              </a:tblGrid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can support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Accidents — ONSR, INS, WHO published totals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Context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is harmed, at national or governorate scale. Not this junction and this hour.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Roads and intersections — OpenStreetMap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Later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labelled map. Row 14 is not started. Not today’s speeds.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Traffic lights — our SUMO runs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Now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Reason codes and legal phases in the model. No public adaptive network in Tunis was found.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Weather — station joined to junction and hour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Later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regime tag, after that table exists. Not “rain caused the crash.”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Traffic and public transport — TRANSTU, with the year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Later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187.4 million paying passengers in 2018. Not a live bus.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</p:spTree>
  </p:cSld>
  <p:transition spd="slow" advClick="1">
    <p:fade/>
  </p:transition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·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Patterns we can name. Not a hotspot model.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600200"/>
            <a:ext cx="11338560" cy="1005840"/>
          </a:xfrm>
          <a:prstGeom prst="roundRect">
            <a:avLst>
              <a:gd name="adj" fmla="val 7273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600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ONSR press briefing: inattention about 42% of crashes, speeding about 14% of crashes and about 30% of deaths, unsafe pedestrian crossing about 8% of crashes. Cause classes in that briefing, not a model of our junction.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2743200"/>
            <a:ext cx="11338560" cy="1005840"/>
          </a:xfrm>
          <a:prstGeom prst="roundRect">
            <a:avLst>
              <a:gd name="adj" fmla="val 7273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743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 are the large majority of recorded deaths in the WHO profile and the investment case.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3886200"/>
            <a:ext cx="11338560" cy="1005840"/>
          </a:xfrm>
          <a:prstGeom prst="roundRect">
            <a:avLst>
              <a:gd name="adj" fmla="val 7273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3886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matched seed: actuated finished more trips and had a lower mean wait. Max-Pressure did not win. Unfinished trips stayed in the count.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5029200"/>
            <a:ext cx="11338560" cy="1005840"/>
          </a:xfrm>
          <a:prstGeom prst="roundRect">
            <a:avLst>
              <a:gd name="adj" fmla="val 7273"/>
            </a:avLst>
          </a:prstGeom>
          <a:solidFill>
            <a:srgbClr val="123246"/>
          </a:solidFill>
          <a:ln w="10160">
            <a:solidFill>
              <a:srgbClr val="2850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5029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Emission-proxy fixture: one link improved and one worsened. Displacement, not measured air.</a:t>
            </a:r>
            <a:endParaRPr lang="en-US" sz="1400" dirty="0"/>
          </a:p>
        </p:txBody>
      </p:sp>
    </p:spTree>
  </p:cSld>
  <p:transition spd="slow" advClick="1">
    <p:fade/>
  </p:transition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· Heatmap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hotspot map until the table exists.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shaded map needs rows of intersection, time, and the thing being counted, plus the denominator. That table is not in the repository.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265176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123246"/>
          </a:solidFill>
          <a:ln w="10160">
            <a:solidFill>
              <a:srgbClr val="E56E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5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NOT DRAW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Rain over roads. Crash pins from the news. A green map that hides the link whose proxy got worse.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72200" y="2651760"/>
            <a:ext cx="5577840" cy="3200400"/>
          </a:xfrm>
          <a:prstGeom prst="roundRect">
            <a:avLst>
              <a:gd name="adj" fmla="val 2286"/>
            </a:avLst>
          </a:prstGeom>
          <a:solidFill>
            <a:srgbClr val="123246"/>
          </a:solidFill>
          <a:ln w="10160">
            <a:solidFill>
              <a:srgbClr val="35C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LATER, WITH THE METHOD PRINTED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6112" y="32461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of a class, or delay, by link and by time window, with the sample size on the cell.</a:t>
            </a:r>
            <a:endParaRPr lang="en-US" sz="1600" dirty="0"/>
          </a:p>
        </p:txBody>
      </p:sp>
    </p:spTree>
  </p:cSld>
  <p:transition spd="slow" advClick="1">
    <p:fade/>
  </p:transition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35C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Accident prevention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each solution addresses that person’s problem.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30000" cy="4709160"/>
        </p:xfrm>
        <a:graphic>
          <a:graphicData uri="http://schemas.openxmlformats.org/drawingml/2006/table">
            <a:tbl>
              <a:tblPr/>
              <a:tblGrid>
                <a:gridCol w="2194560"/>
                <a:gridCol w="9235440"/>
              </a:tblGrid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Who is affected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5C8B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changes for them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C3E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Amara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Conflicting traffic stays red while the crossing is occupied. The fixture counted zero truncations. That is not crashes prevented.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jammed scenario cannot look safe just because the average improved.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Chidi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 early bus does not steal the crossing from the person still in it.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reason is kept, so a bad pattern can be found after the shift.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Marcus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 is not sent into a blocked exit, and Amara’s crossing is not cut. Civilian delay is logged. Not lives saved.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Omar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stale sensor is not called a healthy road, so a false all-clear is not the alert.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6200" marR="76200" marT="63500" marB="63500" anchor="ctr">
                    <a:lnL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850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6446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A4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lives saved. No measured air. No Tunis deployment. No winner.</a:t>
            </a:r>
            <a:endParaRPr lang="en-US" sz="1300" dirty="0"/>
          </a:p>
        </p:txBody>
      </p:sp>
    </p:spTree>
  </p:cSld>
  <p:transition spd="slow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CoFlow-5 — Persona Cards</dc:title>
  <dc:subject>Six personas through empathize, needs, evidence, ideation, solutions, and prevention</dc:subject>
  <dc:creator>CoFlow-5 Synapse · ESPRIT 4DS</dc:creator>
  <cp:lastModifiedBy>CoFlow-5 Synapse · ESPRIT 4DS</cp:lastModifiedBy>
  <cp:revision>1</cp:revision>
  <dcterms:created xsi:type="dcterms:W3CDTF">2026-09-26T17:03:48Z</dcterms:created>
  <dcterms:modified xsi:type="dcterms:W3CDTF">2026-09-26T17:03:48Z</dcterms:modified>
</cp:coreProperties>
</file>