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stages. Six research-informed personas. Survey and interviews are empty because those files are not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groups named by official sources. They are not interviews. Dual death counts explained in the amber line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Ages and jobs are design readings. The portraits are illustrations. Two further personas — the engineer and the resident — live in the system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I need enough time to finish crossing, even when traffic is busy. Need: Acknowledgement, shorter waiting and enough clearance to finish. Fear: Cars receive green while she is still crossing. Evidence: Perceived wait ≈2× in one NZ study [C03]. MUTCD clearance guidance ≈1.07 m/s and slower where needed [C04]. Proposed measure: Mean / P95 / max wait + zero clearance truncations.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I can plan around a longer trip if I know how long it will actually take. Need: Predictable journeys, fewer stops and visible incidents. Fear: A better mean hides unfinished or extreme trips. Evidence: DfT TAG uses 0.4 as an appraisal reliability ratio for journey-time variability [C05]. Proposed measure: Completed/unfinished trips, P95/max duration, stops and standstill.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Buses should arrive regularly—not three at once after a long wait. Need: Priority only for a late bus or a large headway gap. Fear: Three buses arrive together after one long gap. Evidence: DfT TAG applies a 2× value-of-time multiplier to public-transport waiting [C05]. Proposed measure: Lateness, headway variation, passenger-wait proxy and car externality.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Show me why priority was granted or denied, and let me respond safely. Need: Positions, headways, confidence, reason codes and a joined audit trail. Fear: A black box refuses priority and leaves no history. Evidence: SCATS documentation describes monitoring, manual intervention and audit trails [C08]. Proposed measure: Reason-code coverage and operator explanation of one yes and one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Get us through safely, and make sure traffic recovers after we pass. Need: Trusted route/ETA request, downstream check and controlled recovery. Fear: A green into a full link simply moves the queue. Evidence: One Taipei cohort associated each extra ALS minute with 7% lower adjusted odds [C06]. Preemption can impose network delay [C07]. Proposed measure: Emergency time, civilian delay, downstream rejection and recovery. Not lives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Tell me what is wrong, why you think so, and whether I can still trust the data. Need: Severity, observations, uncertainty, freshness and data-health warnings. Fear: False alarms or a frozen screen hide the real condition. Evidence: FHWA estimates incidents account for about 25–30% of congestion in many US metropolitan contexts—not Tunis [C10]. Proposed measure: Detection delay, false alarms, misses, stale data and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are design readings of the groups on the Empathize slide. They are not interview quotes.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survey file. No interview transcript. Do not invent a percentage, a sample size, or a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later idea still needs a file. A rejected idea does not become a solution. A sentence must not become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A1 writes the signal. Synapse explains the log or abstains.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collection table before any map. A missing time or a missing source is stale, and the screen says stale.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findings may set a parameter. They are not a Tunis measurement, and they are not a survey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contract: type, location, start, duration, severity, edges, confidence, source. SUMO applies the restriction.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→ A4 → specialists → A1 → Safety → SUMO → measure → Synapse. Personas are acceptance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script. Same network for every pack. This slide does not print a result from a flood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SUMO applies the closure. Queues form on the approaches. A refusal does not get a forced reroute.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Omar’s acceptance: what the evidence supports. A class is not a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A2, A3, and A5 do not call TraCI. A5’s route is advice. A3’s constraint keeps Amara and Chidi ahead of a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Cooperative Max-Pressure inside the mask. Signal Executor is the only writer. Synapse does not reach TraCI.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Visible change is not a result until the metric row exists. The language model never actuates.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evaluates incident response in simulation and keeps the record. It does not prevent accidents in Tunisia.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story as ideate-final-personas.html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 names the person it affects.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6916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Empathize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560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5603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Personas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4290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4290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Persona needs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42976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2976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Evidence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51663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Ideation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16916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Solutions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17920" y="2560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9088" y="25603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Provenance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217920" y="34290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19088" y="34290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Assumptions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42976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19088" y="42976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 Incident engine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17920" y="51663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19088" y="51663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Closed loop</a:t>
            </a:r>
            <a:endParaRPr lang="en-US" sz="1800" dirty="0"/>
          </a:p>
        </p:txBody>
      </p:sp>
    </p:spTree>
  </p:cSld>
  <p:transition spd="slow" advClick="1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Empathize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on the road, from published counts.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7589520"/>
                <a:gridCol w="3840480"/>
              </a:tblGrid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 named in the sources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carries that 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Pedestrians. Older people and people with disabilities, named in the 2024 national strategy. Pedestrians were 28% of the 2023 deaths (WHO/UNIATF investment case, 2025, quoting ONSR).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Occupants of motor vehicles. They carry most of the health cost in that same case.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TRANSTU passengers in Greater Tunis. 187.4 million paying passengers in 2018 (TRANSTU annual report) — not this year.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operator and the crash record. One reader. Not a second controller.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Civil Protection, which answers road emergencies. We did not ride with a crew.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Readers of the crash file. A residual is not a cause.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2,273 = consolidated deaths incl. post-injury deaths (WHO/UNIATF investment case, 2025); 1,216 = ONSR crash-record deaths. Same 5,796 crashes.</a:t>
            </a:r>
            <a:endParaRPr lang="en-US" sz="1200" dirty="0"/>
          </a:p>
        </p:txBody>
      </p:sp>
    </p:spTree>
  </p:cSld>
  <p:transition spd="slow" advClick="1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Personas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readings of those groups. Not people we interviewed.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card states a need, a fear, and a source. The solutions later name that same person as the one affected. Two further personas — the engineer (Yuki) and the resident (Maria) — live in the system requirements, not in this accident-prevention arc.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23317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A892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 Amara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 pedestrian; uses a cane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Amara, while she is still in the crossing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53128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 David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53128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Delivery-van driver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53128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David, on the trip that does not finish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83880" y="23317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9328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  Chidi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39328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bus passenger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Chidi, waiting through a long gap between buses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1480" y="43434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  Rosa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6928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Incident-report reader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Rosa, reading a refusal that has no reason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0" y="43434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53128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  Marcus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453128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ambulance crew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53128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Marcus, and the people his priority delays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83880" y="43434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102C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9328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P6  Omar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339328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duty officer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339328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Omar, when a queue might be a crash, demand, or a dead sensor</a:t>
            </a:r>
            <a:endParaRPr lang="en-US" sz="1300" dirty="0"/>
          </a:p>
        </p:txBody>
      </p:sp>
    </p:spTree>
  </p:cSld>
  <p:transition spd="slow" advClick="1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· AGE 74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Amara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 pedestrian; uses a cane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1 — Amara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Crosses a busy central street for shops and transit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A892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89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need enough time to finish crossing, even when traffic is busy.”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Acknowledgement, shorter waiting and enough clearance to finish.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 receive green while she is still crossing.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Push-button, audible/visual feedback; no phone required.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Shortened clearance, inaccessible apps, invented success claims.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wait ≈2× in one NZ study [C03]. MUTCD clearance guidance ≈1.07 m/s and slower where needed [C04].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/ P95 / max wait + zero clearance truncations.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slower walkers excluded by average-speed timing.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Careful and independent;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2-dav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· AGE 41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David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Delivery-van driver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2 — David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than 60 time-sensitive stops per workday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can plan around a longer trip if I know how long it will actually take.”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journeys, fewer stops and visible incidents.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mean hides unfinished or extreme trips.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phone, GPS/navigation and delivery-round tools.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Best-case headlines and deleted unfinished trips.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DfT TAG uses 0.4 as an appraisal reliability ratio for journey-time variability [C05].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Completed/unfinished trips, P95/max duration, stops and standstill.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reliability and the severe tail—not only the average.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Organised and schedule-focused;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3-chid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 · AGE 27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Chidi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bus passenger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3 — Chidi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high-frequency corridor where regularity is the service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“Buses should arrive regularly—not three at once after a long wait.”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only for a late bus or a large headway gap.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buses arrive together after one long gap.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Passenger-information app when available; otherwise the stop.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Every-bus priority and pedestrian clearance sacrificed for transit.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DfT TAG applies a 2× value-of-time multiplier to public-transport waiting [C05].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Lateness, headway variation, passenger-wait proxy and car externality.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passengers harmed by bunching and unpredictable gaps.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Routine-oriented and uncertainty-sensitive;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4-ros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 · AGE 52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Rosa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Incident-report reader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4 — Rosa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disruption and the crash record. She does not change the light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“Show me why priority was granted or denied, and let me respond safely.”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Positions, headways, confidence, reason codes and a joined audit trail.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black box refuses priority and leaves no history.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Depot tools, vehicle-location screen, radio and dashboard.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predictions or override outside the safety mask.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SCATS documentation describes monitoring, manual intervention and audit trails [C08].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Reason-code coverage and operator explanation of one yes and one no.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She reads the record and the reason code. She does not write the signal.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Calm, responsible and evidence-seeking;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5-marc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 · AGE 34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Marcus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ambulance crew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5 — Marcus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Responds through congested streets during peak periods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“Get us through safely, and make sure traffic recovers after we pass.”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route/ETA request, downstream check and controlled recovery.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green into a full link simply moves the queue.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tablet, GPS, radio, lights and siren.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Cutting an occupied crossing or translating simulation into casualties.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Taipei cohort associated each extra ALS minute with 7% lower adjusted odds [C06]. Preemption can impose network delay [C07].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time, civilian delay, downstream rejection and recovery. Not lives saved.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passage plus recovery and the civilian cost of priority.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Urgent, precise and aware of other road users;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8-om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P6 · AGE 55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Omar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duty officer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6 — Omar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Monitors incidents and coordinates operational response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102C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02C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“Tell me what is wrong, why you think so, and whether I can still trust the data.”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Severity, observations, uncertainty, freshness and data-health warnings.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alarms or a frozen screen hide the real condition.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Radio, camera wall, incident tools and dashboard.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without evidence or anomaly presented as proven cause.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FHWA estimates incidents account for about 25–30% of congestion in many US metropolitan contexts—not Tunis [C10].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delay, false alarms, misses, stale data and recovery.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the difference between “nothing detected” and “cannot see.”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Sceptical, methodical and operational;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Persona needs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card has one problem. The solution has to reach that person.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93776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4572000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 on their card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Acknowledgement, shorter waiting and enough clearance to finish.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Clearance assumes a faster walk than hers.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Predictable journeys, fewer stops and visible incidents.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average hides the late or unfinished trip.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 only for a late bus or a large headway gap.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Buses bunch, then the early bus is treated as urgent.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Positions, headways, confidence, reason codes and a joined audit trail.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 with no reason cannot be checked after the shift.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Trusted route/ETA request, downstream check and controlled recovery.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green light into a full exit only moves the queue.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Severity, observations, uncertainty, freshness and data-health warnings.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residual can be a crash, extra demand, or a sensor that has gone quiet.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Survey, interviews, and research. Only the research column has a source.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93776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011680"/>
                <a:gridCol w="6126480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Survey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Interview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that supports the 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Pedestrians were 28% of the 2023 deaths in the WHO case quoting ONSR. The 2024 strategy names older people and people with disabilities. Clearance guidance is about 1.07 m/s, slower where needed.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Occupants carry most of that case’s health cost. One matched seed finished 71, 84, and 70 of 84 trips. Mixed. No winner.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TRANSTU: 187.4 million paying passengers in 2018, not this year. Waiting time is valued above in-vehicle time in DfT appraisal guidance.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ONSR compiles the crash record. SCATS documents an audit trail. That is an analogy, not a Tunis control room we visited.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Civil Protection answers road emergencies. A Taipei survival-per-minute figure is a citation from elsewhere. This simulation does not output lives saved.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detector has classes. An anomaly does not name a cause. FHWA’s congestion shares are not a map of these junctions.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Ideation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idea starts from that person’s need.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75488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5120640"/>
              </a:tblGrid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Idea we keep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Clearance assumes a faster walk than hers.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Hold the conflicting green until she finishes, and count truncations.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average hides the late or unfinished trip.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 unfinished trips and the tail beside the mean.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Buses bunch, then the early bus is treated as urgent.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 for green only after an unusual gap. An early bus gets nothing.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 with no reason cannot be checked after the shift.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one grant or denial with the reason code and a citation, or abstain.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green light into a full exit only moves the queue.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Authenticated request, an exit check, then recovery.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residual can be a crash, extra demand, or a sensor that has gone quiet.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 the class, the residual, and whether the sample is fresh.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Refused: a scraped map as truth, a camera that guesses ability, a chatbot that writes the light, a lives-saved claim.</a:t>
            </a:r>
            <a:endParaRPr lang="en-US" sz="1200" dirty="0"/>
          </a:p>
        </p:txBody>
      </p:sp>
    </p:spTree>
  </p:cSld>
  <p:transition spd="slow" advClick="1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Solutions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affected, then the solution that reaches them.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93776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572000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Solution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Amara, while she is still in the crossing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Clearance assumes a faster walk than hers.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 asks. A1 holds the conflicting green. Truncations are counted.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David, on the trip that does not finish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average hides the late or unfinished trip.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evidence page keeps unfinished trips in the count, next to the mean.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Chidi, waiting through a long gap between buses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Buses bunch, then the early bus is treated as urgent.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 asks only for a late bus or a large gap. Pedestrian clearance stays ahead of the bus.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Rosa, reading a refusal that has no reason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 with no reason cannot be checked after the shift.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S2 returns one cited explanation, or an abstention. Rosa does not write the signal.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Marcus, and the people his priority delays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green light into a full exit only moves the queue.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 sends route and expiry. A1 checks the exit, then recovers Max-Pressure, actuated, fixed-time.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Omar, when a queue might be a crash, demand, or a dead sensor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residual can be a crash, extra demand, or a sensor that has gone quiet.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A4 publishes the class and the freshness. It does not name the cause. Stale data leaves A1 on local control.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Provenance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table comes first. Stale must show as stale.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75488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572000"/>
              </a:tblGrid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row must carry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If it is stale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OpenStreetMap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Snapshot date, licence, and the edges it covers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 the date. Do not call it today’s speed.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Weather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Station, junction, and hour, or the row is absent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join means no weather layer. Rain is not a cause.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Incident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Type, place, start, duration, severity, source, confidence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old incident stays marked stale. It does not look live.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SUMO run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run_id and scenario hash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saved run is not a live city.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Survey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was asked, how many, the date, the answers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file means the cell stays empty. No invented Tunis digits.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Assumptions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motivates the need. SUMO holds a labelled assumption.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383280"/>
                <a:gridCol w="3383280"/>
              </a:tblGrid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Literature may say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SUMO may hold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SUMO must not hold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Slower clearance is required where people walk slowly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labelled walking band and a counted truncation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Her age, or a Tunis crossing we did not measure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tail matters, not only the mean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Unfinished trips kept in the count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winner from one seed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Waiting is costly for passengers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 only after an unusual gap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Today’s TRANSTU headway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 can add delay elsewhere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Exit check, recovery, civilian delay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Lives saved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incident is not the same as a dead sensor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Class, confidence, and freshness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guessed cause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Incident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engine. Flood, weather, emergency, and police are packs, not extra AIs.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60020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600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80560" y="1600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183880" y="160020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600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1480" y="283464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834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97680" y="283464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2834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Accident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83880" y="283464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28346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1480" y="42062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network stays. Only the incident pack changes. The change is a SUMO restriction, not a new controller.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11480" y="47091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on every pack: type, location, start, duration, severity, edges, confidence, source.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11480" y="521208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separate Flood AI, Weather AI, or Police AI is not the design.</a:t>
            </a:r>
            <a:endParaRPr lang="en-US" sz="1500" dirty="0"/>
          </a:p>
        </p:txBody>
      </p:sp>
    </p:spTree>
  </p:cSld>
  <p:transition spd="slow" advClick="1">
    <p:fade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Closed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Observe, then advise, then one writer, then the measure.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5544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554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7560" y="15544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0" y="1554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554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· A3 · A5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89720" y="155448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1160" y="1554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233172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37560" y="233172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233172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89720" y="233172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Synapse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11430000" cy="3063240"/>
        </p:xfrm>
        <a:graphic>
          <a:graphicData uri="http://schemas.openxmlformats.org/drawingml/2006/table">
            <a:tbl>
              <a:tblPr/>
              <a:tblGrid>
                <a:gridCol w="2011680"/>
                <a:gridCol w="9418320"/>
              </a:tblGrid>
              <a:tr h="4376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Acceptance, not decoration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Crossing stays protected. Truncations are counted.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Unfinished trips stay in the count.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early bus gets nothing. Clearance stays ahead of the bus.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grant and every denial has a reason code.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exit is checked. Civilian delay is logged. Not lives saved.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State, confidence, and freshness. Stale shows as stale.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Start the city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the settings. Run. The SUMO window is live. The ops panels start empty.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754880"/>
        </p:xfrm>
        <a:graphic>
          <a:graphicData uri="http://schemas.openxmlformats.org/drawingml/2006/table">
            <a:tbl>
              <a:tblPr/>
              <a:tblGrid>
                <a:gridCol w="2377440"/>
                <a:gridCol w="9052560"/>
              </a:tblGrid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is chosen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grid. It does not change between packs.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Mixed. Labelled as demand, not as a Tunis count.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Weather and flood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Heavy rain, then a flood pack.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Emergency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ambulance request, with an expiry.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Compliance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chosen share. Acceptors may reroute. Refusals stay.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Ops panels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Empty until a message arrives. Empty is not a hidden all-clear.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The street closes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Flood closes E17. Route B is an advisory. Compliance decides who moves.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206240"/>
        </p:xfrm>
        <a:graphic>
          <a:graphicData uri="http://schemas.openxmlformats.org/drawingml/2006/table">
            <a:tbl>
              <a:tblPr/>
              <a:tblGrid>
                <a:gridCol w="2194560"/>
                <a:gridCol w="4846320"/>
                <a:gridCol w="438912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changes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decides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Rain escalates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flood pack becomes active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incident engine, not a new AI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E17 closes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SUMO restricts that edge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simulator, from the pack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Queues form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Approaches to the closure fill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Observed. Not yet named as a crash.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 B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Advisory on the driver channel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driver. Accept reroutes. Refuse stays.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59893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scene the demo is built to show. It is not a saved Tunis result.</a:t>
            </a:r>
            <a:endParaRPr lang="en-US" sz="1400" dirty="0"/>
          </a:p>
        </p:txBody>
      </p:sp>
    </p:spTree>
  </p:cSld>
  <p:transition spd="slow" advClick="1">
    <p:fade/>
  </p:transition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A4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State, confidence, and freshness. Do not invent the cause.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023360"/>
        </p:xfrm>
        <a:graphic>
          <a:graphicData uri="http://schemas.openxmlformats.org/drawingml/2006/table">
            <a:tbl>
              <a:tblPr/>
              <a:tblGrid>
                <a:gridCol w="5715000"/>
                <a:gridCol w="5715000"/>
              </a:tblGrid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A4 may publish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A4 may not publish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Queue up, speed down, travel time up, availability down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“Crash confirmed” with no crash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Class: incident or congestion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name of the cause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confidence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confidence with no sample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Fresh, or stale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stale row that looks healthy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58521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sample is stale, A1 gets no forecast and keeps local control.</a:t>
            </a:r>
            <a:endParaRPr lang="en-US" sz="1500" dirty="0"/>
          </a:p>
        </p:txBody>
      </p:sp>
    </p:spTree>
  </p:cSld>
  <p:transition spd="slow" advClick="1">
    <p:fade/>
  </p:transition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Specialists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A5 offers Route B. A3 protects the crossing and the bus. Requests only.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3840480"/>
        </p:xfrm>
        <a:graphic>
          <a:graphicData uri="http://schemas.openxmlformats.org/drawingml/2006/table">
            <a:tbl>
              <a:tblPr/>
              <a:tblGrid>
                <a:gridCol w="1463040"/>
                <a:gridCol w="6126480"/>
                <a:gridCol w="3840480"/>
              </a:tblGrid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 on the board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allowed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 on the flooded approach. Route B. A lower spill only as a projection.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 a phase. Calling the projection measured air.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Protect the crossing. Protect transit clearance.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early bus. Cutting the walk.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Held for the next slide. It asks. It does not decide.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corridor that skips the safety mask.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576072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sit on the board. They are not the signal.</a:t>
            </a:r>
            <a:endParaRPr lang="en-US" sz="1600" dirty="0"/>
          </a:p>
        </p:txBody>
      </p:sp>
    </p:spTree>
  </p:cSld>
  <p:transition spd="slow" advClick="1">
    <p:fade/>
  </p:transition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· One writer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asks. A1 alone decides. The mask passes. Rosa gets the reason code.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6002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" y="1600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asks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331720" y="16002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04872" y="1600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 · A4 · A5 advise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70832" y="1600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decides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1600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passes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16002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00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195560" y="160020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68712" y="1600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SUMO phase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51760"/>
          <a:ext cx="11430000" cy="2926080"/>
        </p:xfrm>
        <a:graphic>
          <a:graphicData uri="http://schemas.openxmlformats.org/drawingml/2006/table">
            <a:tbl>
              <a:tblPr/>
              <a:tblGrid>
                <a:gridCol w="5715000"/>
                <a:gridCol w="57150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 can read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 cannot do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Grant, with the reason code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the light herself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Denial, with the reason code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Delete the refusal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Abstention, when the citation is missing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Treat a sentence as the phase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· Prove the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map changes. The numbers are measured fields. Synapse cites the IDs.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3840480"/>
        </p:xfrm>
        <a:graphic>
          <a:graphicData uri="http://schemas.openxmlformats.org/drawingml/2006/table">
            <a:tbl>
              <a:tblPr/>
              <a:tblGrid>
                <a:gridCol w="4937760"/>
                <a:gridCol w="6492240"/>
              </a:tblGrid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can be on screen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number must be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Corridor green, Route B, protected crossing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picture of the run, not a Tunis map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Wait, trips, emergency delay, truncations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Taken from the run. No blank filled in later.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Accept and refuse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Counted. A refusal stays a refusal.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Synapse answer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Cites the incident, the event, and the policy. Or abstains.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576072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language model explains the log. It never writes the light.</a:t>
            </a:r>
            <a:endParaRPr lang="en-US" sz="1600" dirty="0"/>
          </a:p>
        </p:txBody>
      </p:sp>
    </p:spTree>
  </p:cSld>
  <p:transition spd="slow" advClick="1">
    <p:fade/>
  </p:transition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· Close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Incident, then a constrained response, then the evidence.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85039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is true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Incident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pack with type, place, time, edges, confidence, and source.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Constrained response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Advisers request. A1 decides. The mask passes. SUMO moves.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 codes, freshness, and measured fields. Stale shows as stale.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420624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“prevents accidents in Tunisia.” No lives saved. No measured air. No deployment.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47548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Amara, David, Chidi, Rosa, Marcus, and Omar are the acceptance criteria for that record.</a:t>
            </a:r>
            <a:endParaRPr lang="en-US" sz="1600" dirty="0"/>
          </a:p>
        </p:txBody>
      </p:sp>
    </p:spTree>
  </p:cSld>
  <p:transition spd="slow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CoFlow-5 — Empathize and Ideation validation</dc:title>
  <dc:subject>User research, evidence, personas, needs, problem statement, ideas, and the selected solution</dc:subject>
  <dc:creator>CoFlow-5 Synapse · ESPRIT 4DS</dc:creator>
  <cp:lastModifiedBy>CoFlow-5 Synapse · ESPRIT 4DS</cp:lastModifiedBy>
  <cp:revision>1</cp:revision>
  <dcterms:created xsi:type="dcterms:W3CDTF">2026-09-27T19:36:34Z</dcterms:created>
  <dcterms:modified xsi:type="dcterms:W3CDTF">2026-09-27T19:36:34Z</dcterms:modified>
</cp:coreProperties>
</file>