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Do not claim a working prototype or experimental % gains. Empathize, Define, Ideate are complete. Prototype and Test are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2. Stages 1–3 complete. Prototype and Test remain planned. No fabricated interviews.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research-informed personas from the Empathize pack. Not interviews.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Journeys are pain maps plus planned responses. Prototype not built. Do not quote 26→9 min or 31% emergency gains.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Define. Refined HMW: serve every person on the network, not only the average 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Chosen: cooperative Max-Pressure A1. Rejected: LLM controller, independent RL. Optional: DQN row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draw Synapse as A5 coordinator that issues PHASE_COMMAND. A1 is the only writer.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Join keys: run_id, scenario_hash, event_id, message_id. Synapse never publishes PHASE_COMMAND.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is planned. Do not fill this slide with 57% / 45% / 79% simulation headlines.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Evaluation design only. Results cells stay blank until the harness produces a run evidence 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 flags from the Empathize pack. Required on any professor-facing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Limitations. Do not claim 5-intersection corridor cleared in 8 seconds — that experiment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Design Thinking drove the architecture. Prototype/Test are the next lab work, starting at harness row 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ESPRIT  ·  4DS  ·  DATA SCIENCE ENGINEERING  ·  SEPTEMBER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CoFlow-5-Synapse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Multi-Agent Traffic Management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cooperative five-agent SUMO system. Only A1 writes lights. Synapse explains and never actuates.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804672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591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 × Multi-Agent Systems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3591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CONTROLLER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Max-Pressure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3591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1–3 done · Prototype planned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3977640"/>
            <a:ext cx="9144000" cy="1165860"/>
          </a:xfrm>
          <a:prstGeom prst="rect">
            <a:avLst/>
          </a:prstGeom>
          <a:solidFill>
            <a:srgbClr val="0D234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9651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How-might-we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976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might we use data and intelligent agents to make urban traffic more efficient, adaptive, and sustainable?"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PROCESS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60350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 — five stages, in order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1280160"/>
            <a:ext cx="749808" cy="7498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2801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27048" y="1645920"/>
            <a:ext cx="621792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176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EMPATHIZE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24140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personas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+ evidence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999232"/>
            <a:ext cx="914400" cy="201168"/>
          </a:xfrm>
          <a:prstGeom prst="roundRect">
            <a:avLst>
              <a:gd name="adj" fmla="val 18182"/>
            </a:avLst>
          </a:prstGeom>
          <a:solidFill>
            <a:srgbClr val="D1FA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514600" y="1280160"/>
            <a:ext cx="749808" cy="7498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14600" y="12801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264408" y="1645920"/>
            <a:ext cx="621792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48840" y="2176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148840" y="24140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+ HMW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68880" y="2999232"/>
            <a:ext cx="914400" cy="201168"/>
          </a:xfrm>
          <a:prstGeom prst="roundRect">
            <a:avLst>
              <a:gd name="adj" fmla="val 18182"/>
            </a:avLst>
          </a:prstGeom>
          <a:solidFill>
            <a:srgbClr val="D1FAE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6888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1280160"/>
            <a:ext cx="749808" cy="74980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251960" y="12801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001768" y="1645920"/>
            <a:ext cx="621792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86200" y="2176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24140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ideas,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2999232"/>
            <a:ext cx="914400" cy="201168"/>
          </a:xfrm>
          <a:prstGeom prst="roundRect">
            <a:avLst>
              <a:gd name="adj" fmla="val 18182"/>
            </a:avLst>
          </a:prstGeom>
          <a:solidFill>
            <a:srgbClr val="D1FAE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0624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89320" y="1280160"/>
            <a:ext cx="749808" cy="74980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89320" y="12801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739128" y="1645920"/>
            <a:ext cx="621792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23560" y="2176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24140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+ A1–A5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evidence bundle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43600" y="2999232"/>
            <a:ext cx="914400" cy="201168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280160"/>
            <a:ext cx="749808" cy="7498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26680" y="1280160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217627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360920" y="24140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ablations,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0960" y="2999232"/>
            <a:ext cx="914400" cy="201168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80960" y="2999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grades innovation, reasoning, and evidence more than technological complexity. We therefore finished Empathize → Define → Ideate before writing SUMO code, and we will not present Prototype or Test as complete.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Interaction Design Foundation (Empathize → Define → Ideate → Prototype → Test).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736592"/>
            <a:ext cx="8229600" cy="292608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30352" y="4736592"/>
            <a:ext cx="8083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are research-informed design artifacts, not interview-validated profiles. Expert interviews were planned and not completed.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EMPATHIZE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User Personas — not only drivers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78992"/>
            <a:ext cx="2066544" cy="329184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 Amara, 74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912" y="1444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(cane)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38912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Standard clearance assumes a faster walker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8912" y="2139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Enough time to finish crossing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1078992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2032" y="1078992"/>
            <a:ext cx="2066544" cy="329184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615184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 David, 41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615184" y="1444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driver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615184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Mean delay hides late tails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615184" y="2139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Predictable journeys, not only shorter ones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18304" y="1078992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18304" y="1078992"/>
            <a:ext cx="2066544" cy="329184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91456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 Chidi, 27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1456" y="1444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rider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1456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Bunching, then three buses at once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1456" y="2139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Regular arrivals, not a faster late bus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94576" y="1078992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94576" y="1078992"/>
            <a:ext cx="2066544" cy="32918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67728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 Rosa, 52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967728" y="1444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controller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16642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Unexplained priority refusals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967728" y="213969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See why, then intervene safely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2834640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34640"/>
            <a:ext cx="2066544" cy="32918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28712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 Marcus, 34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38912" y="32004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Paramedic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38912" y="34198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Green that dumps a queue one junction ahead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38912" y="389534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Passage and recovery as one journey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42032" y="2834640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42032" y="2834640"/>
            <a:ext cx="2066544" cy="3291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615184" y="28712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 Yuki, 47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2615184" y="32004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engineer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615184" y="34198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Adaptive control degrades silently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615184" y="389534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Diagnose, override, disable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18304" y="2834640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18304" y="2834640"/>
            <a:ext cx="2066544" cy="32918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91456" y="28712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 Maria, 38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791456" y="32004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parent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791456" y="34198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Arterial “wins” dump exhaust on her street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791456" y="389534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Local emission proxy, not a city average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94576" y="2834640"/>
            <a:ext cx="2066544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94576" y="2834640"/>
            <a:ext cx="2066544" cy="329184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967728" y="28712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 Omar, 55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967728" y="32004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officer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967728" y="34198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 A frozen dashboard can look normal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967728" y="389534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 What is wrong, why, and how much to trust 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4736592"/>
            <a:ext cx="8229600" cy="292608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30352" y="4736592"/>
            <a:ext cx="8083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eight names are the course roster. Do not replace them with Youssef / Amira / Mehdi / Sarra / Habiba, and do not stack extra IMATM names.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EMPATHIZE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— pain today vs planned prototype response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607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060704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(PAIN)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1060704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7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CoFlow-5 RESPONSE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261872"/>
            <a:ext cx="8083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David — delivery driver (predictability, not mean delay)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48132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481328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the day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1481328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travel time breaks stop windows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1481328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evidence records seeds, scenario hash, unfinished trips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65376"/>
            <a:ext cx="8229600" cy="3840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18653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a surge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1865376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“improvement” can hide worse tails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1865376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P95 delay and teleports, not a best episode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24942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2494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route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249424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delays compound into missed deliveries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249424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Max-Pressure vs fixed-time and actuated on matched seeds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852928"/>
            <a:ext cx="8229600" cy="219456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0352" y="2852928"/>
            <a:ext cx="8083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Marcus — paramedic (passage AND recovery; no lives-saved claim)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07238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30723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Approaches queue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011680" y="3072384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 green does not clear the exit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3072384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asks A1 for corridor priority; A1 may refuse with a reason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" y="34564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crossing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34564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Abrupt preemption endangers walkers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257800" y="34564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In-crossing pedestrian outranks emergency; safety mask is mandatory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84048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57200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the area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011680" y="38404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and buses stay broken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257800" y="3840480"/>
            <a:ext cx="3429000" cy="384048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is Max-Pressure → actuated → fixed-time; civilian delay is logged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736592"/>
            <a:ext cx="8229600" cy="292608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30352" y="4736592"/>
            <a:ext cx="8083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(PLOS One 2022: about −7% ALS survival per minute of delay) motivates Marcus’s need. It is not a CoFlow-5 result. Simulation time is never “lives saved.”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DEFINE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“cut average car delay”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1D4ED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170432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HUMAN-CENTRED PROBLEM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38988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users — pedestrians, drivers, bus riders, emergency crews, and the people who run the network — need signal control that treats their distinct needs as first-class objectives with visible trade-offs, because today each need is handled by a separate mechanism that optimizes vehicle throughput, hides who pays for whom, and degrades silently when conditions or communications fail.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33472"/>
            <a:ext cx="1234440" cy="237744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6334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91640" y="2633472"/>
            <a:ext cx="1965960" cy="237744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91640" y="2633472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0" y="2633472"/>
            <a:ext cx="2468880" cy="237744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0" y="2633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FAILURE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26480" y="2633472"/>
            <a:ext cx="2560320" cy="237744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26334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OPPORTUNITY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871216"/>
            <a:ext cx="1234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12064" y="287121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91640" y="2871216"/>
            <a:ext cx="1965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746504" y="28712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crossing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0" y="2871216"/>
            <a:ext cx="24688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12464" y="28712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fitted to average walkers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871216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81344" y="28712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clearance + one-writer safety mask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18688"/>
            <a:ext cx="12344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2064" y="321868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/ Chidi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691640" y="3218688"/>
            <a:ext cx="196596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746504" y="32186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trips; regular buses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0" y="3218688"/>
            <a:ext cx="246888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712464" y="32186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delay; every bus treated like a car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3218688"/>
            <a:ext cx="256032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81344" y="32186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 + lateness-gated transit requests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566160"/>
            <a:ext cx="1234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12064" y="35661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691640" y="3566160"/>
            <a:ext cx="1965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746504" y="3566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and recovery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0" y="3566160"/>
            <a:ext cx="24688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712464" y="35661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green; cost to others hidden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26480" y="3566160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81344" y="3566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request + logged civilian delay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3913632"/>
            <a:ext cx="12344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12064" y="391363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Yuki / Omar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691640" y="3913632"/>
            <a:ext cx="196596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746504" y="3913632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and trusted alerts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657600" y="3913632"/>
            <a:ext cx="246888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712464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degradation; frozen dashboards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26480" y="3913632"/>
            <a:ext cx="256032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181344" y="39136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ladder + reason-coded log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261104"/>
            <a:ext cx="1234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12064" y="4261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/ Rosa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691640" y="4261104"/>
            <a:ext cx="1965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746504" y="426110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harm; explainable priority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657600" y="4261104"/>
            <a:ext cx="24688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12464" y="4261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average; unexplained refusals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26480" y="4261104"/>
            <a:ext cx="256032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181344" y="426110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HBEFA proxy + disposition codes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IDEATE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we compared — then cut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17043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lights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463040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Pre-programmed cycles. Honest city baseline.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157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078992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55848" y="117043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Actuated control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463040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extend green. Second required baseline.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55848" y="2157984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2157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078992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44768" y="117043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 controller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44768" y="1463040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agents set the lights. Wrong latency and failure mode.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44768" y="2157984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44768" y="2157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651760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74320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RL per junction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035808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light learns alone. Creates neighbour bottlenecks.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730752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46120" y="2651760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55848" y="274320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Max-Pressure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355848" y="3035808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writes lights from local pressure + legal advisory requests.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55848" y="3730752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35584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2651760"/>
            <a:ext cx="265176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44768" y="2743200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Shared-policy DQN / MARL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144768" y="3035808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efficiency after the cooperative core is frozen.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44768" y="3730752"/>
            <a:ext cx="1051560" cy="219456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14476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cut: a single learned agent can “win” one junction and starve the next. Cooperation with one writer is the Ideate result. RL is not required for the course prototype.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PROTOTYPE  ·  PLANNED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agents. One writer. Synapse off the loop.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60704"/>
            <a:ext cx="562356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097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FLOW  —  sole signal writer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3716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Max-Pressure + safety mask  →  SUMO / TraCI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060704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7648" y="11155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 (explainer)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716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log. Never TraCI.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01952"/>
            <a:ext cx="206654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143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01952"/>
            <a:ext cx="2066544" cy="47548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92024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3969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68880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for corridor priority. Cannot write lights.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33472" y="1901952"/>
            <a:ext cx="206654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143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33472" y="1901952"/>
            <a:ext cx="2066544" cy="47548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33472" y="192024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633472" y="213969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724912" y="2468880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state + late-bus requests only.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9744" y="1901952"/>
            <a:ext cx="206654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143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9744" y="1901952"/>
            <a:ext cx="2066544" cy="475488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09744" y="192024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09744" y="213969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01184" y="2468880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and incident residuals. Alerts, no actuation.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986016" y="1901952"/>
            <a:ext cx="2066544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1430">
            <a:solidFill>
              <a:srgbClr val="0596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86016" y="1901952"/>
            <a:ext cx="2066544" cy="475488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986016" y="192024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86016" y="213969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77456" y="2468880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weights from emission proxies. Advice only.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602736"/>
            <a:ext cx="8229600" cy="1024128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67588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Arbitration order (A1, not Synapse): person already crossing  →  emergency  →  pedestrian deadline  →  late bus  →  general flow  →  eco.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405993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if A1/control fails: cooperative Max-Pressure → actuated → fixed-time. Optional DQN, if ever enabled, fails into Max-Pressure first.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PROTOTYPE  ·  PLANNED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messages. A1 continues if the board is empty.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274320"/>
          </a:xfrm>
          <a:prstGeom prst="rect">
            <a:avLst/>
          </a:prstGeom>
          <a:solidFill>
            <a:srgbClr val="0B16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2336" y="10789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2276856" y="10789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02736" y="1078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0056" y="107899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986016" y="1078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1353312"/>
            <a:ext cx="8412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02336" y="13533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run_id + scenario_hash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135331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135331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bundle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020056" y="135331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986016" y="135331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key; no orphan rows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1719072"/>
            <a:ext cx="841248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2336" y="1719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observation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276856" y="17190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adapter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602736" y="171907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A1–A5 (read)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020056" y="171907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 step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86016" y="171907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specialist writes lights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084832"/>
            <a:ext cx="8412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2336" y="208483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PRIORITY_REQUEST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276856" y="208483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Emergency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02736" y="208483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via board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0056" y="208483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on route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986016" y="208483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Expires; A1 accept/reject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2450592"/>
            <a:ext cx="841248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02336" y="245059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/ TRANSIT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276856" y="245059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Multimodal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602736" y="245059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via board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020056" y="245059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crossing / late bus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986016" y="245059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bus cannot preempt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2816352"/>
            <a:ext cx="8412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02336" y="281635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/ ALERT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276856" y="281635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Situation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602736" y="281635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/ A1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0056" y="281635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+ residual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986016" y="281635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forecast is ignored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65760" y="3182112"/>
            <a:ext cx="841248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2336" y="31821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ECO_ADVICE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2276856" y="318211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 Sustainability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602736" y="318211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/ A1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020056" y="318211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Hot-spot proxy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986016" y="318211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overrides safety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3547872"/>
            <a:ext cx="841248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2336" y="35478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event_id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2276856" y="35478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Flow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3602736" y="354787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/ Synapse read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5020056" y="354787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accept or reject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986016" y="354787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Immutable; reason code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5760" y="3913632"/>
            <a:ext cx="841248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02336" y="391363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2276856" y="391363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3602736" y="391363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(Yuki/Rosa)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020056" y="3913632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fact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986016" y="3913632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change the action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TEST  ·  PLANNED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experiment cells we will run — not results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8229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016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188720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18872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1133856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Rush-hour grid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1353312"/>
            <a:ext cx="7269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cooperative Max-Pressure beat matched fixed-time and actuated on mean and tail delay?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8229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0160">
            <a:solidFill>
              <a:srgbClr val="DC26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847088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84708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1792224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request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2011680"/>
            <a:ext cx="7269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A2 reduce emergency travel without truncating an in-crossing pedestrian, and is civilian delay reported?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95728"/>
            <a:ext cx="8229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505456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250545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2450592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/ controller fault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2670048"/>
            <a:ext cx="7269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messages drop or A1 fails, does the ladder Max-Pressure → actuated → fixed-time stay legal?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054096"/>
            <a:ext cx="8229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163824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316382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3108960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/ empty board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3328416"/>
            <a:ext cx="7269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A1 keep running on local pressure when A2–A5 are silent?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712464"/>
            <a:ext cx="8229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3822192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3767328"/>
            <a:ext cx="7269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vs pedestrian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70432" y="3986784"/>
            <a:ext cx="7269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an early bus lose to an active crossing, and is the refusal reason logged?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TEST  ·  PLANNED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judge success (empty until SUMO runs)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8229600" cy="292608"/>
          </a:xfrm>
          <a:prstGeom prst="rect">
            <a:avLst/>
          </a:prstGeom>
          <a:solidFill>
            <a:srgbClr val="0B16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2064" y="1078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10789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169664" y="1078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55664" y="1078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2064" y="1371600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+ tail delay, unfinished trips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15184" y="137160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169664" y="137160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and actuated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137160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best-episode headline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847088"/>
            <a:ext cx="8229600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12064" y="1847088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travel + civilian delay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184708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169664" y="18470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No-preemption cell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1847088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convert seconds to lives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22576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2322576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regularity / lateness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615184" y="232257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Chidi / Rosa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69664" y="232257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Every-bus vs late-only requests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55664" y="2322576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bus cannot buy priority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798064"/>
            <a:ext cx="8229600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2064" y="2798064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wait, clearance truncations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615184" y="2798064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Amara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169664" y="279806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clearance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2798064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illegal executed actions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73552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12064" y="3273552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/ HBEFA emission proxy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615184" y="3273552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69664" y="327355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seeds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327355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Proxy, not measured air quality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749040"/>
            <a:ext cx="8229600" cy="47548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12064" y="3749040"/>
            <a:ext cx="2029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+ Synapse-killed actions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615184" y="3749040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Yuki / Omar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169664" y="37490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Fault-injection cell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455664" y="374904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Killing Synapse must not change lights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736592"/>
            <a:ext cx="8229600" cy="292608"/>
          </a:xfrm>
          <a:prstGeom prst="roundRect">
            <a:avLst>
              <a:gd name="adj" fmla="val 12500"/>
            </a:avLst>
          </a:prstGeom>
          <a:solidFill>
            <a:srgbClr val="FEF3C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30352" y="4736592"/>
            <a:ext cx="8083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table of “↓57% wait / ↑45% throughput / 79% bus on-time” is invented. Do not present it as evidence.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DISCIPLINE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may say vs what we must not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133856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motivates the need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335024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wait ≈ 2× actual; wait valued ≈ 2× in-vehicle; ALS delay literature; reliability ratio 0.4. These are citations, not our KPIs.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92224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D1FAE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184708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is a decision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048256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writer, Max-Pressure required, Synapse non-actuating, recovery ladder. That is Ideate + ADR-0001, not a measured gain.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4023360" cy="640080"/>
          </a:xfrm>
          <a:prstGeom prst="roundRect">
            <a:avLst>
              <a:gd name="adj" fmla="val 8571"/>
            </a:avLst>
          </a:prstGeom>
          <a:solidFill>
            <a:srgbClr val="D1FA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56032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will be SUMO evidence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761488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seeds, ablations, failure injection, DuckDB joins on run_id / scenario_hash / event_id / message_id.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07899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FEE2E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73168" y="1152144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lives saved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73168" y="1371600"/>
            <a:ext cx="3803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emergency seconds must not become predicted survival.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1883664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FEE2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3168" y="1956816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measured air quality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773168" y="2176272"/>
            <a:ext cx="3803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HBEFA/SUMO figures are emission proxies.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688336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FEE2E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73168" y="276148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interview quotes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773168" y="2980944"/>
            <a:ext cx="3803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are research-informed. Interviews were not completed.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493008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73168" y="356616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RL-required story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3785616"/>
            <a:ext cx="3803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 is optional row 15. It cannot block the course prototype.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011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TEST  ·  PLANNED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53035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8521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we will keep them visible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6070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060704"/>
            <a:ext cx="329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11556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is not built yet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33502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Stages 1–3 plus the planned SUMO architecture. There is no gated smoke test and no experiment table.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737360"/>
            <a:ext cx="329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1792224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is not a city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0116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is a stand-in street. Sensor noise, V2I ambulance detection, and weather are out of the first slice.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2414016"/>
            <a:ext cx="329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468880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Tunis demand will be labelled synthetic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688336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+ TRANSTU GTFS is a showcase after the 4×4 science grid is frozen. It cannot validate deployment.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9067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3090672"/>
            <a:ext cx="329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145536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is a risk, not a requirement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3649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reward-shaping failures are expected if DQN is tried later. The course prototype must still work without 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76732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767328"/>
            <a:ext cx="329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82219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is unproven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04164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a small controlled grid. Synapse and UI read precomputed evidence; they are not a 50-junction controller.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designed. What we will prove. What we will not claim.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115568"/>
            <a:ext cx="804672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298448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0D234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9496" y="1408176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(Stages 1–3)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1810512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Eight personas, not the average car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39496" y="2249424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Five agents; only A1 writes lights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2688336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Max-Pressure required; DQN optional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312724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Synapse explains; never TraCI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39496" y="3566160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Recovery: MP → actuated → fixed-time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298448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0D23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9856" y="1408176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prove in SUMO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1810512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Native Windows smoke test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9856" y="2249424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Evidence bundle with join keys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688336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Paired baselines and ablations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312724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Fault injection + Synapse-kill test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19856" y="3566160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Null results kept, not deleted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1298448"/>
            <a:ext cx="2743200" cy="2880360"/>
          </a:xfrm>
          <a:prstGeom prst="roundRect">
            <a:avLst>
              <a:gd name="adj" fmla="val 3333"/>
            </a:avLst>
          </a:prstGeom>
          <a:solidFill>
            <a:srgbClr val="0D234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0216" y="1408176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not claim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1810512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Lives saved from simulation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0216" y="2249424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Measured city air quality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00216" y="2688336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Interview-validated quotes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00216" y="312724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Best-episode as the headline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00216" y="3566160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 working product already shipped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3434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CoFlow-5-Synapse  ·  ESPRIT 4DS  ·  Design Thinking Project  ·  September 2026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64515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HMW: serve every person on the network — walker, rider, driver, paramedic, operator, resident — not only the average car.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CoFlow-5-Synapse — Design Thinking Project</dc:title>
  <dc:subject>Intelligent Multi-Agent Traffic Management</dc:subject>
  <dc:creator>CoFlow-5-Synapse · ESPRIT 4DS</dc:creator>
  <cp:lastModifiedBy>CoFlow-5-Synapse · ESPRIT 4DS</cp:lastModifiedBy>
  <cp:revision>1</cp:revision>
  <dcterms:created xsi:type="dcterms:W3CDTF">2026-09-21T09:56:59Z</dcterms:created>
  <dcterms:modified xsi:type="dcterms:W3CDTF">2026-09-21T09:56:59Z</dcterms:modified>
</cp:coreProperties>
</file>