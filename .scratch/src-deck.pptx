
<file path=[Content_Types].xml><?xml version="1.0" encoding="utf-8"?>
<Types xmlns="http://schemas.openxmlformats.org/package/2006/content-types">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extended-properties" Target="docProps/app.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Lst>
  <p:notesMasterIdLst>
    <p:notesMasterId r:id="rId4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notesMaster" Target="notesMasters/notesMaster1.xml"/><Relationship Id="rId45" Type="http://schemas.openxmlformats.org/officeDocument/2006/relationships/presProps" Target="presProps.xml"/><Relationship Id="rId46" Type="http://schemas.openxmlformats.org/officeDocument/2006/relationships/viewProps" Target="viewProps.xml"/><Relationship Id="rId47" Type="http://schemas.openxmlformats.org/officeDocument/2006/relationships/theme" Target="theme/theme1.xml"/><Relationship Id="rId48"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 with the framing: this is a validation of the Empathize and Ideation phases. We will walk one chain: research, evidence, personas, needs, problem, ideas, selected solution. Every step keeps a source.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structure follows the validation brief item by item. Slide 24 traces the full chain for each persona, which is the link the jury asked to see. State the claim boundary now: simulation only, no lives saved, no Tunis deployment.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Phase 1 divider.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situations, each tied to at least one persona. Point out the footer: we looked for an adaptive-signal network in Tunis and found none public.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user group comes from an existing source, and each becomes exactly one persona. Mention the motorcyclist gap before the jury does.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 upfront: no interviews, no questionnaires, no ride-along. Everything we say later rests on secondary data, literature and one simulation seed.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a data-quality finding, not a footnote. Averaging would invent a number neither source published. The gap, 2,273 minus 1,216, is 1,057.</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Pedestrians are highlighted because they become Amara. Motorcyclists are the largest share but are not a persona in this arc; say so if asked.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David's evidence: the unfinished trips are kept in the denominator. Note that the controller we later select, Max-Pressure, lost on this seed. We show it anyway.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five findings are the bridge to personas: each persona carries at least one of them.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Uses a push-button with audible or visual feedback; no phone required. Situation: crosses a busy central street for shops and transit (Tunis design context, an assumption). Zero truncations is a fixture count, not crashes prevented.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Uses a work phone, GPS and the delivery round. The 'more than 60 stops' day is a design reading.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High-frequency corridor, where regularity is the service. Uses a passenger app when it exists, otherwise the stop. Measure also includes the effect on other traffic.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Uses a dispatch tablet, GPS, radio, lights and siren. This simulation does not output lives saved.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Uses depot tools, a vehicle-location screen, radio and a dashboard.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Uses radio, a camera wall, incident tools and a dashboard. Portrait file in the repo: p8-omar.png.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the table row by row only if time allows; otherwise point to the expectation column and say it returns later as the acceptance criteria.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Phase 2 divider.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the statement slowly. Each clause is one persona; the amber clause is the design constraint that shapes every idea after this.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question is the needs-table row turned into a design prompt.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Six kept ideas, one per persona; six refused per persona plus three cross-cutting refusals, fifteen ideas in total. The refused ideas are shown on purpose: they prove the selection was a real choice. The 'why refused' column is our reading of which selection criterion each idea fails.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answers 'how were the ideas generated'. Be honest that no SCAMPER or user workshop was run. If you have the working sheet or board where ideas were written beside sources, add a photo or link here: it is the strongest ideation evidence you can show.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Filter 4 is highlighted because it is the architectural rule. It is what separates this design from 'an AI that controls traffic lights'.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three-line summary is what the jury should remember about the architecture.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AI-engineering point: the language model is on the read side only. The write path is deterministic: A1, safety mask, executor, TraCI. That is how the design stays auditable and safe even if the model is wrong.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Traceability: every behaviour traces back to one row of the needs table.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slide that answers the validation objective directly: for every persona, one line from evidence to the solution. If the jury asks 'why this feature?', point to its row.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Retrace the chain in one breath, restate the claim boundary, name the two gaps, then take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data-science reading: speeding is about severity, not frequency. The briefing gives a death share only for speeding, so the chart shows only that one. These are national cause classes and do not describe our simulated junction.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Seven steps. Four in Empathize, three in Ideation. Each later step must point back to an earlier 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State the boundary before any data. The jury should hear what we will not claim first, so every later number is read in that light.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by retracing the chain in one breath, then restate the four refusals. Invite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UX rationale: Omar's panel leads with freshness because a stale feed shown as healthy is his core fear. Rosa's log puts the verdict and reason on one line. Synapse is visibly allowed to abstain. The four principles at the bottom are the design rules, each tied to a persona.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Run the demo live if possible. Name each persona as their moment appears: Omar at step 3, Amara and Marcus at step 4, Rosa at step 5, David at step 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refused column shows judgement. Several refused ideas are attractive AI features; they fail because they invent data or let a model touch the light.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Name the limits before the jury does. The next steps map one to one onto the limits.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where design thinking meets testing: every persona becomes a pass/fail check on the decision record.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Data-science framing: the persona measures become a metric suite. The guardrails prevent the metrics from being over-read. Fill [N] once the seed budget is fixed.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Amara evidence: perceived wait about twice observed wait in one New Zealand study; clearance guidance about 1.07 m/s, slower where needed; pedestrians 28% of 2023 deaths; the 2024 strategy names older people and people with disabilities. Zero truncations is a fixture count, not crashes prevented. David evidence: appraisal guidance uses 0.4 as a reliability ratio for journey-time variability; occupants carry most of the health cost; seed 37 is mixed. The 'more than 60 stops' day is a design reading.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Chidi evidence: TRANSTU 187.4 million paying passengers in 2018, not this year; appraisal guidance values waiting above in-vehicle time. Marcus stands for Civil Protection. One Taipei cohort associated each extra ALS minute with 7% lower adjusted odds; that is not a Tunis result. Preemption can add network delay. The simulation does not output lives saved.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Rosa evidence: ONSR compiles the crash record; SCATS documents monitoring, manual intervention and audit trails. Omar evidence: the detector has classes; an anomaly does not name a cause; the estimate that incidents are about 25–30% of congestion is a US citation, not a map of these junctions.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Data-engineering discipline: the collection table comes before any visual. OSM row 14 is not started yet.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slideLayout" Target="../slideLayouts/slideLayout1.xml"/><Relationship Id="rId5"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image" Target="../media/image1.jp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 Id="rId3" Type="http://schemas.openxmlformats.org/officeDocument/2006/relationships/image" Target="../media/image2.jp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 Id="rId3" Type="http://schemas.openxmlformats.org/officeDocument/2006/relationships/image" Target="../media/image3.jp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 Id="rId3" Type="http://schemas.openxmlformats.org/officeDocument/2006/relationships/image" Target="../media/image4.jp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 Id="rId3" Type="http://schemas.openxmlformats.org/officeDocument/2006/relationships/image" Target="../media/image5.jp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 Id="rId3" Type="http://schemas.openxmlformats.org/officeDocument/2006/relationships/image" Target="../media/image6.jp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slideLayout" Target="../slideLayouts/slideLayout1.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slideLayout" Target="../slideLayouts/slideLayout1.xm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4202B"/>
        </a:solidFill>
      </p:bgPr>
    </p:bg>
    <p:spTree>
      <p:nvGrpSpPr>
        <p:cNvPr id="1" name=""/>
        <p:cNvGrpSpPr/>
        <p:nvPr/>
      </p:nvGrpSpPr>
      <p:grpSpPr>
        <a:xfrm>
          <a:off x="0" y="0"/>
          <a:ext cx="0" cy="0"/>
          <a:chOff x="0" y="0"/>
          <a:chExt cx="0" cy="0"/>
        </a:xfrm>
      </p:grpSpPr>
      <p:pic>
        <p:nvPicPr>
          <p:cNvPr id="2" name="Image 0" descr="Abstract traffic signal with the amber light lit">    </p:cNvPr>
          <p:cNvPicPr>
            <a:picLocks noChangeAspect="1"/>
          </p:cNvPicPr>
          <p:nvPr/>
        </p:nvPicPr>
        <p:blipFill>
          <a:blip r:embed="rId1"/>
          <a:srcRect l="0" r="0" t="0" b="0"/>
          <a:stretch/>
        </p:blipFill>
        <p:spPr>
          <a:xfrm>
            <a:off x="9398000" y="1079500"/>
            <a:ext cx="1524000" cy="4318000"/>
          </a:xfrm>
          <a:prstGeom prst="rect">
            <a:avLst/>
          </a:prstGeom>
        </p:spPr>
      </p:pic>
      <p:sp>
        <p:nvSpPr>
          <p:cNvPr id="3"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spc="150" kern="0" dirty="0">
                <a:solidFill>
                  <a:srgbClr val="E8A33D"/>
                </a:solidFill>
                <a:latin typeface="IBM Plex Mono" pitchFamily="34" charset="0"/>
                <a:ea typeface="IBM Plex Mono" pitchFamily="34" charset="-122"/>
                <a:cs typeface="IBM Plex Mono" pitchFamily="34" charset="-120"/>
              </a:rPr>
              <a:t>ESPRIT 4DS · DESIGN THINKING VALIDATION</a:t>
            </a:r>
            <a:endParaRPr lang="en-US" sz="1200" dirty="0"/>
          </a:p>
        </p:txBody>
      </p:sp>
      <p:sp>
        <p:nvSpPr>
          <p:cNvPr id="4" name="Text 1"/>
          <p:cNvSpPr/>
          <p:nvPr/>
        </p:nvSpPr>
        <p:spPr>
          <a:xfrm>
            <a:off x="812800" y="2447290"/>
            <a:ext cx="8371840" cy="825500"/>
          </a:xfrm>
          <a:prstGeom prst="rect">
            <a:avLst/>
          </a:prstGeom>
          <a:noFill/>
          <a:ln/>
        </p:spPr>
        <p:txBody>
          <a:bodyPr wrap="square" lIns="0" tIns="0" rIns="0" bIns="0" rtlCol="0" anchor="t">
            <a:normAutofit/>
          </a:bodyPr>
          <a:lstStyle/>
          <a:p>
            <a:pPr algn="l" indent="0" marL="0">
              <a:lnSpc>
                <a:spcPts val="6300"/>
              </a:lnSpc>
              <a:buNone/>
            </a:pPr>
            <a:r>
              <a:rPr lang="en-US" sz="6000" b="1" dirty="0">
                <a:solidFill>
                  <a:srgbClr val="F4F1EA"/>
                </a:solidFill>
                <a:latin typeface="Space Grotesk" pitchFamily="34" charset="0"/>
                <a:ea typeface="Space Grotesk" pitchFamily="34" charset="-122"/>
                <a:cs typeface="Space Grotesk" pitchFamily="34" charset="-120"/>
              </a:rPr>
              <a:t>CoFlow-5 Synapse</a:t>
            </a:r>
            <a:endParaRPr lang="en-US" sz="6000" dirty="0"/>
          </a:p>
        </p:txBody>
      </p:sp>
      <p:sp>
        <p:nvSpPr>
          <p:cNvPr id="5" name="Text 2"/>
          <p:cNvSpPr/>
          <p:nvPr/>
        </p:nvSpPr>
        <p:spPr>
          <a:xfrm>
            <a:off x="812800" y="3450590"/>
            <a:ext cx="7848600" cy="685800"/>
          </a:xfrm>
          <a:prstGeom prst="rect">
            <a:avLst/>
          </a:prstGeom>
          <a:noFill/>
          <a:ln/>
        </p:spPr>
        <p:txBody>
          <a:bodyPr wrap="square" lIns="0" tIns="0" rIns="0" bIns="0" rtlCol="0" anchor="t">
            <a:normAutofit/>
          </a:bodyPr>
          <a:lstStyle/>
          <a:p>
            <a:pPr algn="l" indent="0" marL="0">
              <a:lnSpc>
                <a:spcPts val="2600"/>
              </a:lnSpc>
              <a:buNone/>
            </a:pPr>
            <a:r>
              <a:rPr lang="en-US" sz="2000" dirty="0">
                <a:solidFill>
                  <a:srgbClr val="C9D1D6"/>
                </a:solidFill>
                <a:latin typeface="IBM Plex Sans" pitchFamily="34" charset="0"/>
                <a:ea typeface="IBM Plex Sans" pitchFamily="34" charset="-122"/>
                <a:cs typeface="IBM Plex Sans" pitchFamily="34" charset="-120"/>
              </a:rPr>
              <a:t>Empathize &amp; Ideation for a simulated, auditable traffic-signal controller in incident response</a:t>
            </a:r>
            <a:endParaRPr lang="en-US" sz="2000" dirty="0"/>
          </a:p>
        </p:txBody>
      </p:sp>
      <p:sp>
        <p:nvSpPr>
          <p:cNvPr id="6" name="Text 3"/>
          <p:cNvSpPr/>
          <p:nvPr/>
        </p:nvSpPr>
        <p:spPr>
          <a:xfrm>
            <a:off x="812800" y="5532120"/>
            <a:ext cx="10883392" cy="27432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F4F1EA"/>
                </a:solidFill>
                <a:latin typeface="IBM Plex Sans" pitchFamily="34" charset="0"/>
                <a:ea typeface="IBM Plex Sans" pitchFamily="34" charset="-122"/>
                <a:cs typeface="IBM Plex Sans" pitchFamily="34" charset="-120"/>
              </a:rPr>
              <a:t>Presented to Fedi Baccar</a:t>
            </a:r>
            <a:endParaRPr lang="en-US" sz="1400" dirty="0"/>
          </a:p>
        </p:txBody>
      </p:sp>
      <p:sp>
        <p:nvSpPr>
          <p:cNvPr id="7" name="Text 4"/>
          <p:cNvSpPr/>
          <p:nvPr/>
        </p:nvSpPr>
        <p:spPr>
          <a:xfrm>
            <a:off x="812800" y="583184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A9B4BB"/>
                </a:solidFill>
                <a:latin typeface="IBM Plex Sans" pitchFamily="34" charset="0"/>
                <a:ea typeface="IBM Plex Sans" pitchFamily="34" charset="-122"/>
                <a:cs typeface="IBM Plex Sans" pitchFamily="34" charset="-120"/>
              </a:rPr>
              <a:t>[Team members] · [Date]</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4F1EA"/>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1F6B72"/>
                </a:solidFill>
                <a:latin typeface="IBM Plex Mono" pitchFamily="34" charset="0"/>
                <a:ea typeface="IBM Plex Mono" pitchFamily="34" charset="-122"/>
                <a:cs typeface="IBM Plex Mono" pitchFamily="34" charset="-120"/>
              </a:rPr>
              <a:t>STRUCTURE</a:t>
            </a:r>
            <a:endParaRPr lang="en-US" sz="1200" dirty="0"/>
          </a:p>
        </p:txBody>
      </p:sp>
      <p:sp>
        <p:nvSpPr>
          <p:cNvPr id="3" name="Text 1"/>
          <p:cNvSpPr/>
          <p:nvPr/>
        </p:nvSpPr>
        <p:spPr>
          <a:xfrm>
            <a:off x="812800" y="1127760"/>
            <a:ext cx="10883392" cy="472440"/>
          </a:xfrm>
          <a:prstGeom prst="rect">
            <a:avLst/>
          </a:prstGeom>
          <a:noFill/>
          <a:ln/>
        </p:spPr>
        <p:txBody>
          <a:bodyPr wrap="square" lIns="0" tIns="0" rIns="0" bIns="0" rtlCol="0" anchor="t">
            <a:normAutofit/>
          </a:bodyPr>
          <a:lstStyle/>
          <a:p>
            <a:pPr algn="l" indent="0" marL="0">
              <a:lnSpc>
                <a:spcPts val="3520"/>
              </a:lnSpc>
              <a:buNone/>
            </a:pPr>
            <a:r>
              <a:rPr lang="en-US" sz="3200" b="1" dirty="0">
                <a:solidFill>
                  <a:srgbClr val="16222C"/>
                </a:solidFill>
                <a:latin typeface="Space Grotesk" pitchFamily="34" charset="0"/>
                <a:ea typeface="Space Grotesk" pitchFamily="34" charset="-122"/>
                <a:cs typeface="Space Grotesk" pitchFamily="34" charset="-120"/>
              </a:rPr>
              <a:t>Structure of this validation</a:t>
            </a:r>
            <a:endParaRPr lang="en-US" sz="3200" dirty="0"/>
          </a:p>
        </p:txBody>
      </p:sp>
      <p:sp>
        <p:nvSpPr>
          <p:cNvPr id="4" name="Shape 2"/>
          <p:cNvSpPr/>
          <p:nvPr/>
        </p:nvSpPr>
        <p:spPr>
          <a:xfrm>
            <a:off x="815975" y="1831975"/>
            <a:ext cx="5149850" cy="2421890"/>
          </a:xfrm>
          <a:prstGeom prst="roundRect">
            <a:avLst>
              <a:gd name="adj" fmla="val 4064"/>
            </a:avLst>
          </a:prstGeom>
          <a:solidFill>
            <a:srgbClr val="FBFAF6"/>
          </a:solidFill>
          <a:ln w="6350">
            <a:solidFill>
              <a:srgbClr val="DDD8CC"/>
            </a:solidFill>
            <a:prstDash val="solid"/>
          </a:ln>
        </p:spPr>
      </p:sp>
      <p:sp>
        <p:nvSpPr>
          <p:cNvPr id="5" name="Text 3"/>
          <p:cNvSpPr/>
          <p:nvPr/>
        </p:nvSpPr>
        <p:spPr>
          <a:xfrm>
            <a:off x="1046480" y="2037080"/>
            <a:ext cx="4829505" cy="26924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6222C"/>
                </a:solidFill>
                <a:latin typeface="Space Grotesk" pitchFamily="34" charset="0"/>
                <a:ea typeface="Space Grotesk" pitchFamily="34" charset="-122"/>
                <a:cs typeface="Space Grotesk" pitchFamily="34" charset="-120"/>
              </a:rPr>
              <a:t>1 · Empathize</a:t>
            </a:r>
            <a:endParaRPr lang="en-US" sz="1600" dirty="0"/>
          </a:p>
        </p:txBody>
      </p:sp>
      <p:sp>
        <p:nvSpPr>
          <p:cNvPr id="6" name="Text 4"/>
          <p:cNvSpPr/>
          <p:nvPr/>
        </p:nvSpPr>
        <p:spPr>
          <a:xfrm>
            <a:off x="1046480" y="2344420"/>
            <a:ext cx="1553766" cy="25654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16222C"/>
                </a:solidFill>
                <a:latin typeface="IBM Plex Sans" pitchFamily="34" charset="0"/>
                <a:ea typeface="IBM Plex Sans" pitchFamily="34" charset="-122"/>
                <a:cs typeface="IBM Plex Sans" pitchFamily="34" charset="-120"/>
              </a:rPr>
              <a:t>1.1 Problem context</a:t>
            </a:r>
            <a:endParaRPr lang="en-US" sz="1300" dirty="0"/>
          </a:p>
        </p:txBody>
      </p:sp>
      <p:sp>
        <p:nvSpPr>
          <p:cNvPr id="7" name="Text 5"/>
          <p:cNvSpPr/>
          <p:nvPr/>
        </p:nvSpPr>
        <p:spPr>
          <a:xfrm>
            <a:off x="5552440" y="2344420"/>
            <a:ext cx="233680" cy="25654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B73"/>
                </a:solidFill>
                <a:latin typeface="IBM Plex Mono" pitchFamily="34" charset="0"/>
                <a:ea typeface="IBM Plex Mono" pitchFamily="34" charset="-122"/>
                <a:cs typeface="IBM Plex Mono" pitchFamily="34" charset="-120"/>
              </a:rPr>
              <a:t>04</a:t>
            </a:r>
            <a:endParaRPr lang="en-US" sz="1200" dirty="0"/>
          </a:p>
        </p:txBody>
      </p:sp>
      <p:sp>
        <p:nvSpPr>
          <p:cNvPr id="8" name="Text 6"/>
          <p:cNvSpPr/>
          <p:nvPr/>
        </p:nvSpPr>
        <p:spPr>
          <a:xfrm>
            <a:off x="1046480" y="2639060"/>
            <a:ext cx="1240234" cy="25654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16222C"/>
                </a:solidFill>
                <a:latin typeface="IBM Plex Sans" pitchFamily="34" charset="0"/>
                <a:ea typeface="IBM Plex Sans" pitchFamily="34" charset="-122"/>
                <a:cs typeface="IBM Plex Sans" pitchFamily="34" charset="-120"/>
              </a:rPr>
              <a:t>1.2 Target users</a:t>
            </a:r>
            <a:endParaRPr lang="en-US" sz="1300" dirty="0"/>
          </a:p>
        </p:txBody>
      </p:sp>
      <p:sp>
        <p:nvSpPr>
          <p:cNvPr id="9" name="Text 7"/>
          <p:cNvSpPr/>
          <p:nvPr/>
        </p:nvSpPr>
        <p:spPr>
          <a:xfrm>
            <a:off x="5552440" y="2639060"/>
            <a:ext cx="233680" cy="25654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B73"/>
                </a:solidFill>
                <a:latin typeface="IBM Plex Mono" pitchFamily="34" charset="0"/>
                <a:ea typeface="IBM Plex Mono" pitchFamily="34" charset="-122"/>
                <a:cs typeface="IBM Plex Mono" pitchFamily="34" charset="-120"/>
              </a:rPr>
              <a:t>05</a:t>
            </a:r>
            <a:endParaRPr lang="en-US" sz="1200" dirty="0"/>
          </a:p>
        </p:txBody>
      </p:sp>
      <p:sp>
        <p:nvSpPr>
          <p:cNvPr id="10" name="Text 8"/>
          <p:cNvSpPr/>
          <p:nvPr/>
        </p:nvSpPr>
        <p:spPr>
          <a:xfrm>
            <a:off x="1046480" y="2933700"/>
            <a:ext cx="2233008" cy="25654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16222C"/>
                </a:solidFill>
                <a:latin typeface="IBM Plex Sans" pitchFamily="34" charset="0"/>
                <a:ea typeface="IBM Plex Sans" pitchFamily="34" charset="-122"/>
                <a:cs typeface="IBM Plex Sans" pitchFamily="34" charset="-120"/>
              </a:rPr>
              <a:t>1.3 User research &amp; evidence</a:t>
            </a:r>
            <a:endParaRPr lang="en-US" sz="1300" dirty="0"/>
          </a:p>
        </p:txBody>
      </p:sp>
      <p:sp>
        <p:nvSpPr>
          <p:cNvPr id="11" name="Text 9"/>
          <p:cNvSpPr/>
          <p:nvPr/>
        </p:nvSpPr>
        <p:spPr>
          <a:xfrm>
            <a:off x="5278120" y="2933700"/>
            <a:ext cx="508000" cy="25654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B73"/>
                </a:solidFill>
                <a:latin typeface="IBM Plex Mono" pitchFamily="34" charset="0"/>
                <a:ea typeface="IBM Plex Mono" pitchFamily="34" charset="-122"/>
                <a:cs typeface="IBM Plex Mono" pitchFamily="34" charset="-120"/>
              </a:rPr>
              <a:t>06–09</a:t>
            </a:r>
            <a:endParaRPr lang="en-US" sz="1200" dirty="0"/>
          </a:p>
        </p:txBody>
      </p:sp>
      <p:sp>
        <p:nvSpPr>
          <p:cNvPr id="12" name="Text 10"/>
          <p:cNvSpPr/>
          <p:nvPr/>
        </p:nvSpPr>
        <p:spPr>
          <a:xfrm>
            <a:off x="1046480" y="3228340"/>
            <a:ext cx="1230313" cy="25654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16222C"/>
                </a:solidFill>
                <a:latin typeface="IBM Plex Sans" pitchFamily="34" charset="0"/>
                <a:ea typeface="IBM Plex Sans" pitchFamily="34" charset="-122"/>
                <a:cs typeface="IBM Plex Sans" pitchFamily="34" charset="-120"/>
              </a:rPr>
              <a:t>1.4 Key findings</a:t>
            </a:r>
            <a:endParaRPr lang="en-US" sz="1300" dirty="0"/>
          </a:p>
        </p:txBody>
      </p:sp>
      <p:sp>
        <p:nvSpPr>
          <p:cNvPr id="13" name="Text 11"/>
          <p:cNvSpPr/>
          <p:nvPr/>
        </p:nvSpPr>
        <p:spPr>
          <a:xfrm>
            <a:off x="5552440" y="3228340"/>
            <a:ext cx="233680" cy="25654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B73"/>
                </a:solidFill>
                <a:latin typeface="IBM Plex Mono" pitchFamily="34" charset="0"/>
                <a:ea typeface="IBM Plex Mono" pitchFamily="34" charset="-122"/>
                <a:cs typeface="IBM Plex Mono" pitchFamily="34" charset="-120"/>
              </a:rPr>
              <a:t>10</a:t>
            </a:r>
            <a:endParaRPr lang="en-US" sz="1200" dirty="0"/>
          </a:p>
        </p:txBody>
      </p:sp>
      <p:sp>
        <p:nvSpPr>
          <p:cNvPr id="14" name="Text 12"/>
          <p:cNvSpPr/>
          <p:nvPr/>
        </p:nvSpPr>
        <p:spPr>
          <a:xfrm>
            <a:off x="1046480" y="3522980"/>
            <a:ext cx="1016000" cy="25654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16222C"/>
                </a:solidFill>
                <a:latin typeface="IBM Plex Sans" pitchFamily="34" charset="0"/>
                <a:ea typeface="IBM Plex Sans" pitchFamily="34" charset="-122"/>
                <a:cs typeface="IBM Plex Sans" pitchFamily="34" charset="-120"/>
              </a:rPr>
              <a:t>1.5 Personas</a:t>
            </a:r>
            <a:endParaRPr lang="en-US" sz="1300" dirty="0"/>
          </a:p>
        </p:txBody>
      </p:sp>
      <p:sp>
        <p:nvSpPr>
          <p:cNvPr id="15" name="Text 13"/>
          <p:cNvSpPr/>
          <p:nvPr/>
        </p:nvSpPr>
        <p:spPr>
          <a:xfrm>
            <a:off x="5278120" y="3522980"/>
            <a:ext cx="508000" cy="25654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B73"/>
                </a:solidFill>
                <a:latin typeface="IBM Plex Mono" pitchFamily="34" charset="0"/>
                <a:ea typeface="IBM Plex Mono" pitchFamily="34" charset="-122"/>
                <a:cs typeface="IBM Plex Mono" pitchFamily="34" charset="-120"/>
              </a:rPr>
              <a:t>11–16</a:t>
            </a:r>
            <a:endParaRPr lang="en-US" sz="1200" dirty="0"/>
          </a:p>
        </p:txBody>
      </p:sp>
      <p:sp>
        <p:nvSpPr>
          <p:cNvPr id="16" name="Text 14"/>
          <p:cNvSpPr/>
          <p:nvPr/>
        </p:nvSpPr>
        <p:spPr>
          <a:xfrm>
            <a:off x="1046480" y="3817620"/>
            <a:ext cx="1821284" cy="25654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16222C"/>
                </a:solidFill>
                <a:latin typeface="IBM Plex Sans" pitchFamily="34" charset="0"/>
                <a:ea typeface="IBM Plex Sans" pitchFamily="34" charset="-122"/>
                <a:cs typeface="IBM Plex Sans" pitchFamily="34" charset="-120"/>
              </a:rPr>
              <a:t>1.6 Needs &amp; pain points</a:t>
            </a:r>
            <a:endParaRPr lang="en-US" sz="1300" dirty="0"/>
          </a:p>
        </p:txBody>
      </p:sp>
      <p:sp>
        <p:nvSpPr>
          <p:cNvPr id="17" name="Text 15"/>
          <p:cNvSpPr/>
          <p:nvPr/>
        </p:nvSpPr>
        <p:spPr>
          <a:xfrm>
            <a:off x="5552440" y="3817620"/>
            <a:ext cx="233680" cy="25654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B73"/>
                </a:solidFill>
                <a:latin typeface="IBM Plex Mono" pitchFamily="34" charset="0"/>
                <a:ea typeface="IBM Plex Mono" pitchFamily="34" charset="-122"/>
                <a:cs typeface="IBM Plex Mono" pitchFamily="34" charset="-120"/>
              </a:rPr>
              <a:t>17</a:t>
            </a:r>
            <a:endParaRPr lang="en-US" sz="1200" dirty="0"/>
          </a:p>
        </p:txBody>
      </p:sp>
      <p:sp>
        <p:nvSpPr>
          <p:cNvPr id="18" name="Shape 16"/>
          <p:cNvSpPr/>
          <p:nvPr/>
        </p:nvSpPr>
        <p:spPr>
          <a:xfrm>
            <a:off x="6226175" y="1831975"/>
            <a:ext cx="5149850" cy="2421890"/>
          </a:xfrm>
          <a:prstGeom prst="roundRect">
            <a:avLst>
              <a:gd name="adj" fmla="val 4064"/>
            </a:avLst>
          </a:prstGeom>
          <a:solidFill>
            <a:srgbClr val="FBFAF6"/>
          </a:solidFill>
          <a:ln w="6350">
            <a:solidFill>
              <a:srgbClr val="DDD8CC"/>
            </a:solidFill>
            <a:prstDash val="solid"/>
          </a:ln>
        </p:spPr>
      </p:sp>
      <p:sp>
        <p:nvSpPr>
          <p:cNvPr id="19" name="Text 17"/>
          <p:cNvSpPr/>
          <p:nvPr/>
        </p:nvSpPr>
        <p:spPr>
          <a:xfrm>
            <a:off x="6456680" y="2037080"/>
            <a:ext cx="4829505" cy="26924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6222C"/>
                </a:solidFill>
                <a:latin typeface="Space Grotesk" pitchFamily="34" charset="0"/>
                <a:ea typeface="Space Grotesk" pitchFamily="34" charset="-122"/>
                <a:cs typeface="Space Grotesk" pitchFamily="34" charset="-120"/>
              </a:rPr>
              <a:t>2 · Ideation</a:t>
            </a:r>
            <a:endParaRPr lang="en-US" sz="1600" dirty="0"/>
          </a:p>
        </p:txBody>
      </p:sp>
      <p:sp>
        <p:nvSpPr>
          <p:cNvPr id="20" name="Text 18"/>
          <p:cNvSpPr/>
          <p:nvPr/>
        </p:nvSpPr>
        <p:spPr>
          <a:xfrm>
            <a:off x="6456680" y="2344420"/>
            <a:ext cx="1758087" cy="25654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16222C"/>
                </a:solidFill>
                <a:latin typeface="IBM Plex Sans" pitchFamily="34" charset="0"/>
                <a:ea typeface="IBM Plex Sans" pitchFamily="34" charset="-122"/>
                <a:cs typeface="IBM Plex Sans" pitchFamily="34" charset="-120"/>
              </a:rPr>
              <a:t>2.1 Problem statement</a:t>
            </a:r>
            <a:endParaRPr lang="en-US" sz="1300" dirty="0"/>
          </a:p>
        </p:txBody>
      </p:sp>
      <p:sp>
        <p:nvSpPr>
          <p:cNvPr id="21" name="Text 19"/>
          <p:cNvSpPr/>
          <p:nvPr/>
        </p:nvSpPr>
        <p:spPr>
          <a:xfrm>
            <a:off x="10962640" y="2344420"/>
            <a:ext cx="233680" cy="25654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B73"/>
                </a:solidFill>
                <a:latin typeface="IBM Plex Mono" pitchFamily="34" charset="0"/>
                <a:ea typeface="IBM Plex Mono" pitchFamily="34" charset="-122"/>
                <a:cs typeface="IBM Plex Mono" pitchFamily="34" charset="-120"/>
              </a:rPr>
              <a:t>19</a:t>
            </a:r>
            <a:endParaRPr lang="en-US" sz="1200" dirty="0"/>
          </a:p>
        </p:txBody>
      </p:sp>
      <p:sp>
        <p:nvSpPr>
          <p:cNvPr id="22" name="Text 20"/>
          <p:cNvSpPr/>
          <p:nvPr/>
        </p:nvSpPr>
        <p:spPr>
          <a:xfrm>
            <a:off x="6456680" y="2639060"/>
            <a:ext cx="2172100" cy="25654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16222C"/>
                </a:solidFill>
                <a:latin typeface="IBM Plex Sans" pitchFamily="34" charset="0"/>
                <a:ea typeface="IBM Plex Sans" pitchFamily="34" charset="-122"/>
                <a:cs typeface="IBM Plex Sans" pitchFamily="34" charset="-120"/>
              </a:rPr>
              <a:t>2.2 How Might We questions</a:t>
            </a:r>
            <a:endParaRPr lang="en-US" sz="1300" dirty="0"/>
          </a:p>
        </p:txBody>
      </p:sp>
      <p:sp>
        <p:nvSpPr>
          <p:cNvPr id="23" name="Text 21"/>
          <p:cNvSpPr/>
          <p:nvPr/>
        </p:nvSpPr>
        <p:spPr>
          <a:xfrm>
            <a:off x="10962640" y="2639060"/>
            <a:ext cx="233680" cy="25654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B73"/>
                </a:solidFill>
                <a:latin typeface="IBM Plex Mono" pitchFamily="34" charset="0"/>
                <a:ea typeface="IBM Plex Mono" pitchFamily="34" charset="-122"/>
                <a:cs typeface="IBM Plex Mono" pitchFamily="34" charset="-120"/>
              </a:rPr>
              <a:t>20</a:t>
            </a:r>
            <a:endParaRPr lang="en-US" sz="1200" dirty="0"/>
          </a:p>
        </p:txBody>
      </p:sp>
      <p:sp>
        <p:nvSpPr>
          <p:cNvPr id="24" name="Text 22"/>
          <p:cNvSpPr/>
          <p:nvPr/>
        </p:nvSpPr>
        <p:spPr>
          <a:xfrm>
            <a:off x="6456680" y="2933700"/>
            <a:ext cx="1544955" cy="25654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16222C"/>
                </a:solidFill>
                <a:latin typeface="IBM Plex Sans" pitchFamily="34" charset="0"/>
                <a:ea typeface="IBM Plex Sans" pitchFamily="34" charset="-122"/>
                <a:cs typeface="IBM Plex Sans" pitchFamily="34" charset="-120"/>
              </a:rPr>
              <a:t>2.3 Ideas generated</a:t>
            </a:r>
            <a:endParaRPr lang="en-US" sz="1300" dirty="0"/>
          </a:p>
        </p:txBody>
      </p:sp>
      <p:sp>
        <p:nvSpPr>
          <p:cNvPr id="25" name="Text 23"/>
          <p:cNvSpPr/>
          <p:nvPr/>
        </p:nvSpPr>
        <p:spPr>
          <a:xfrm>
            <a:off x="10962640" y="2933700"/>
            <a:ext cx="233680" cy="25654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B73"/>
                </a:solidFill>
                <a:latin typeface="IBM Plex Mono" pitchFamily="34" charset="0"/>
                <a:ea typeface="IBM Plex Mono" pitchFamily="34" charset="-122"/>
                <a:cs typeface="IBM Plex Mono" pitchFamily="34" charset="-120"/>
              </a:rPr>
              <a:t>21</a:t>
            </a:r>
            <a:endParaRPr lang="en-US" sz="1200" dirty="0"/>
          </a:p>
        </p:txBody>
      </p:sp>
      <p:sp>
        <p:nvSpPr>
          <p:cNvPr id="26" name="Text 24"/>
          <p:cNvSpPr/>
          <p:nvPr/>
        </p:nvSpPr>
        <p:spPr>
          <a:xfrm>
            <a:off x="6456680" y="3228340"/>
            <a:ext cx="1661716" cy="25654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16222C"/>
                </a:solidFill>
                <a:latin typeface="IBM Plex Sans" pitchFamily="34" charset="0"/>
                <a:ea typeface="IBM Plex Sans" pitchFamily="34" charset="-122"/>
                <a:cs typeface="IBM Plex Sans" pitchFamily="34" charset="-120"/>
              </a:rPr>
              <a:t>2.4 Ideation evidence</a:t>
            </a:r>
            <a:endParaRPr lang="en-US" sz="1300" dirty="0"/>
          </a:p>
        </p:txBody>
      </p:sp>
      <p:sp>
        <p:nvSpPr>
          <p:cNvPr id="27" name="Text 25"/>
          <p:cNvSpPr/>
          <p:nvPr/>
        </p:nvSpPr>
        <p:spPr>
          <a:xfrm>
            <a:off x="10962640" y="3228340"/>
            <a:ext cx="233680" cy="25654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B73"/>
                </a:solidFill>
                <a:latin typeface="IBM Plex Mono" pitchFamily="34" charset="0"/>
                <a:ea typeface="IBM Plex Mono" pitchFamily="34" charset="-122"/>
                <a:cs typeface="IBM Plex Mono" pitchFamily="34" charset="-120"/>
              </a:rPr>
              <a:t>22</a:t>
            </a:r>
            <a:endParaRPr lang="en-US" sz="1200" dirty="0"/>
          </a:p>
        </p:txBody>
      </p:sp>
      <p:sp>
        <p:nvSpPr>
          <p:cNvPr id="28" name="Text 26"/>
          <p:cNvSpPr/>
          <p:nvPr/>
        </p:nvSpPr>
        <p:spPr>
          <a:xfrm>
            <a:off x="6456680" y="3522980"/>
            <a:ext cx="1642586" cy="25654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16222C"/>
                </a:solidFill>
                <a:latin typeface="IBM Plex Sans" pitchFamily="34" charset="0"/>
                <a:ea typeface="IBM Plex Sans" pitchFamily="34" charset="-122"/>
                <a:cs typeface="IBM Plex Sans" pitchFamily="34" charset="-120"/>
              </a:rPr>
              <a:t>2.5 Selection of ideas</a:t>
            </a:r>
            <a:endParaRPr lang="en-US" sz="1300" dirty="0"/>
          </a:p>
        </p:txBody>
      </p:sp>
      <p:sp>
        <p:nvSpPr>
          <p:cNvPr id="29" name="Text 27"/>
          <p:cNvSpPr/>
          <p:nvPr/>
        </p:nvSpPr>
        <p:spPr>
          <a:xfrm>
            <a:off x="10962640" y="3522980"/>
            <a:ext cx="233680" cy="25654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B73"/>
                </a:solidFill>
                <a:latin typeface="IBM Plex Mono" pitchFamily="34" charset="0"/>
                <a:ea typeface="IBM Plex Mono" pitchFamily="34" charset="-122"/>
                <a:cs typeface="IBM Plex Mono" pitchFamily="34" charset="-120"/>
              </a:rPr>
              <a:t>23</a:t>
            </a:r>
            <a:endParaRPr lang="en-US" sz="1200" dirty="0"/>
          </a:p>
        </p:txBody>
      </p:sp>
      <p:sp>
        <p:nvSpPr>
          <p:cNvPr id="30" name="Text 28"/>
          <p:cNvSpPr/>
          <p:nvPr/>
        </p:nvSpPr>
        <p:spPr>
          <a:xfrm>
            <a:off x="6456680" y="3817620"/>
            <a:ext cx="1720294" cy="25654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16222C"/>
                </a:solidFill>
                <a:latin typeface="IBM Plex Sans" pitchFamily="34" charset="0"/>
                <a:ea typeface="IBM Plex Sans" pitchFamily="34" charset="-122"/>
                <a:cs typeface="IBM Plex Sans" pitchFamily="34" charset="-120"/>
              </a:rPr>
              <a:t>2.6 Final selected idea</a:t>
            </a:r>
            <a:endParaRPr lang="en-US" sz="1300" dirty="0"/>
          </a:p>
        </p:txBody>
      </p:sp>
      <p:sp>
        <p:nvSpPr>
          <p:cNvPr id="31" name="Text 29"/>
          <p:cNvSpPr/>
          <p:nvPr/>
        </p:nvSpPr>
        <p:spPr>
          <a:xfrm>
            <a:off x="10688320" y="3817620"/>
            <a:ext cx="508000" cy="25654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B73"/>
                </a:solidFill>
                <a:latin typeface="IBM Plex Mono" pitchFamily="34" charset="0"/>
                <a:ea typeface="IBM Plex Mono" pitchFamily="34" charset="-122"/>
                <a:cs typeface="IBM Plex Mono" pitchFamily="34" charset="-120"/>
              </a:rPr>
              <a:t>24–26</a:t>
            </a:r>
            <a:endParaRPr lang="en-US" sz="1200" dirty="0"/>
          </a:p>
        </p:txBody>
      </p:sp>
      <p:sp>
        <p:nvSpPr>
          <p:cNvPr id="32" name="Shape 30"/>
          <p:cNvSpPr/>
          <p:nvPr/>
        </p:nvSpPr>
        <p:spPr>
          <a:xfrm>
            <a:off x="812800" y="4511040"/>
            <a:ext cx="10566400" cy="535940"/>
          </a:xfrm>
          <a:prstGeom prst="roundRect">
            <a:avLst>
              <a:gd name="adj" fmla="val 14218"/>
            </a:avLst>
          </a:prstGeom>
          <a:solidFill>
            <a:srgbClr val="16222C"/>
          </a:solidFill>
          <a:ln/>
        </p:spPr>
      </p:sp>
      <p:sp>
        <p:nvSpPr>
          <p:cNvPr id="33" name="Text 31"/>
          <p:cNvSpPr/>
          <p:nvPr/>
        </p:nvSpPr>
        <p:spPr>
          <a:xfrm>
            <a:off x="1041400" y="4663440"/>
            <a:ext cx="7669064" cy="25654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F4F1EA"/>
                </a:solidFill>
                <a:latin typeface="IBM Plex Sans" pitchFamily="34" charset="0"/>
                <a:ea typeface="IBM Plex Sans" pitchFamily="34" charset="-122"/>
                <a:cs typeface="IBM Plex Sans" pitchFamily="34" charset="-120"/>
              </a:rPr>
              <a:t>User research → Evidence → Personas → Needs → Problem statement → Ideas → Selected solution</a:t>
            </a:r>
            <a:endParaRPr lang="en-US" sz="1300" dirty="0"/>
          </a:p>
        </p:txBody>
      </p:sp>
      <p:sp>
        <p:nvSpPr>
          <p:cNvPr id="34" name="Text 32"/>
          <p:cNvSpPr/>
          <p:nvPr/>
        </p:nvSpPr>
        <p:spPr>
          <a:xfrm>
            <a:off x="10053320" y="4672330"/>
            <a:ext cx="114808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E8A33D"/>
                </a:solidFill>
                <a:latin typeface="IBM Plex Mono" pitchFamily="34" charset="0"/>
                <a:ea typeface="IBM Plex Mono" pitchFamily="34" charset="-122"/>
                <a:cs typeface="IBM Plex Mono" pitchFamily="34" charset="-120"/>
              </a:rPr>
              <a:t>TRACED ON 27</a:t>
            </a:r>
            <a:endParaRPr lang="en-US" sz="1200" dirty="0"/>
          </a:p>
        </p:txBody>
      </p:sp>
      <p:sp>
        <p:nvSpPr>
          <p:cNvPr id="35" name="Text 33"/>
          <p:cNvSpPr/>
          <p:nvPr/>
        </p:nvSpPr>
        <p:spPr>
          <a:xfrm>
            <a:off x="812800" y="6238241"/>
            <a:ext cx="806084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B73"/>
                </a:solidFill>
                <a:latin typeface="IBM Plex Sans" pitchFamily="34" charset="0"/>
                <a:ea typeface="IBM Plex Sans" pitchFamily="34" charset="-122"/>
                <a:cs typeface="IBM Plex Sans" pitchFamily="34" charset="-120"/>
              </a:rPr>
              <a:t>Our claim: the system evaluates a constrained incident response in simulation and keeps a record of each decision.</a:t>
            </a:r>
            <a:endParaRPr lang="en-US" sz="1200" dirty="0"/>
          </a:p>
        </p:txBody>
      </p:sp>
      <p:sp>
        <p:nvSpPr>
          <p:cNvPr id="36" name="Text 34"/>
          <p:cNvSpPr/>
          <p:nvPr/>
        </p:nvSpPr>
        <p:spPr>
          <a:xfrm>
            <a:off x="11196320" y="6238241"/>
            <a:ext cx="23368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B73"/>
                </a:solidFill>
                <a:latin typeface="IBM Plex Sans" pitchFamily="34" charset="0"/>
                <a:ea typeface="IBM Plex Sans" pitchFamily="34" charset="-122"/>
                <a:cs typeface="IBM Plex Sans" pitchFamily="34" charset="-120"/>
              </a:rPr>
              <a:t>02</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1F6B72"/>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spc="150" kern="0" dirty="0">
                <a:solidFill>
                  <a:srgbClr val="F4F1EA"/>
                </a:solidFill>
                <a:latin typeface="IBM Plex Mono" pitchFamily="34" charset="0"/>
                <a:ea typeface="IBM Plex Mono" pitchFamily="34" charset="-122"/>
                <a:cs typeface="IBM Plex Mono" pitchFamily="34" charset="-120"/>
              </a:rPr>
              <a:t>PHASE 1</a:t>
            </a:r>
            <a:endParaRPr lang="en-US" sz="1200" dirty="0"/>
          </a:p>
        </p:txBody>
      </p:sp>
      <p:sp>
        <p:nvSpPr>
          <p:cNvPr id="3" name="Text 1"/>
          <p:cNvSpPr/>
          <p:nvPr/>
        </p:nvSpPr>
        <p:spPr>
          <a:xfrm>
            <a:off x="812800" y="2586991"/>
            <a:ext cx="10883392" cy="939800"/>
          </a:xfrm>
          <a:prstGeom prst="rect">
            <a:avLst/>
          </a:prstGeom>
          <a:noFill/>
          <a:ln/>
        </p:spPr>
        <p:txBody>
          <a:bodyPr wrap="square" lIns="0" tIns="0" rIns="0" bIns="0" rtlCol="0" anchor="t">
            <a:normAutofit/>
          </a:bodyPr>
          <a:lstStyle/>
          <a:p>
            <a:pPr algn="l" indent="0" marL="0">
              <a:lnSpc>
                <a:spcPts val="7200"/>
              </a:lnSpc>
              <a:buNone/>
            </a:pPr>
            <a:r>
              <a:rPr lang="en-US" sz="7200" b="1" dirty="0">
                <a:solidFill>
                  <a:srgbClr val="F4F1EA"/>
                </a:solidFill>
                <a:latin typeface="Space Grotesk" pitchFamily="34" charset="0"/>
                <a:ea typeface="Space Grotesk" pitchFamily="34" charset="-122"/>
                <a:cs typeface="Space Grotesk" pitchFamily="34" charset="-120"/>
              </a:rPr>
              <a:t>Empathize</a:t>
            </a:r>
            <a:endParaRPr lang="en-US" sz="7200" dirty="0"/>
          </a:p>
        </p:txBody>
      </p:sp>
      <p:sp>
        <p:nvSpPr>
          <p:cNvPr id="4" name="Text 2"/>
          <p:cNvSpPr/>
          <p:nvPr/>
        </p:nvSpPr>
        <p:spPr>
          <a:xfrm>
            <a:off x="812800" y="3653791"/>
            <a:ext cx="8502650" cy="642620"/>
          </a:xfrm>
          <a:prstGeom prst="rect">
            <a:avLst/>
          </a:prstGeom>
          <a:noFill/>
          <a:ln/>
        </p:spPr>
        <p:txBody>
          <a:bodyPr wrap="square" lIns="0" tIns="0" rIns="0" bIns="0" rtlCol="0" anchor="t">
            <a:normAutofit/>
          </a:bodyPr>
          <a:lstStyle/>
          <a:p>
            <a:pPr algn="l" indent="0" marL="0">
              <a:lnSpc>
                <a:spcPts val="2430"/>
              </a:lnSpc>
              <a:buNone/>
            </a:pPr>
            <a:r>
              <a:rPr lang="en-US" sz="1800" dirty="0">
                <a:solidFill>
                  <a:srgbClr val="F4F1EA"/>
                </a:solidFill>
                <a:latin typeface="IBM Plex Sans" pitchFamily="34" charset="0"/>
                <a:ea typeface="IBM Plex Sans" pitchFamily="34" charset="-122"/>
                <a:cs typeface="IBM Plex Sans" pitchFamily="34" charset="-120"/>
              </a:rPr>
              <a:t>Who is affected, what the evidence says, and which personas and needs follow from it.</a:t>
            </a:r>
            <a:endParaRPr lang="en-US" sz="1800" dirty="0"/>
          </a:p>
        </p:txBody>
      </p:sp>
      <p:sp>
        <p:nvSpPr>
          <p:cNvPr id="5" name="Text 3"/>
          <p:cNvSpPr/>
          <p:nvPr/>
        </p:nvSpPr>
        <p:spPr>
          <a:xfrm>
            <a:off x="812800" y="5831841"/>
            <a:ext cx="10883392"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F4F1EA"/>
                </a:solidFill>
                <a:latin typeface="IBM Plex Mono" pitchFamily="34" charset="0"/>
                <a:ea typeface="IBM Plex Mono" pitchFamily="34" charset="-122"/>
                <a:cs typeface="IBM Plex Mono" pitchFamily="34" charset="-120"/>
              </a:rPr>
              <a:t>1.1 Context · 1.2 Users · 1.3 Evidence · 1.4 Findings · 1.5 Personas · 1.6 Needs</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4F1EA"/>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1F6B72"/>
                </a:solidFill>
                <a:latin typeface="IBM Plex Mono" pitchFamily="34" charset="0"/>
                <a:ea typeface="IBM Plex Mono" pitchFamily="34" charset="-122"/>
                <a:cs typeface="IBM Plex Mono" pitchFamily="34" charset="-120"/>
              </a:rPr>
              <a:t>EMPATHIZE · 1.1 PROBLEM CONTEXT &amp; WHY IT MATTERS</a:t>
            </a:r>
            <a:endParaRPr lang="en-US" sz="1200" dirty="0"/>
          </a:p>
        </p:txBody>
      </p:sp>
      <p:sp>
        <p:nvSpPr>
          <p:cNvPr id="3" name="Text 1"/>
          <p:cNvSpPr/>
          <p:nvPr/>
        </p:nvSpPr>
        <p:spPr>
          <a:xfrm>
            <a:off x="812800" y="1127761"/>
            <a:ext cx="10883392" cy="472440"/>
          </a:xfrm>
          <a:prstGeom prst="rect">
            <a:avLst/>
          </a:prstGeom>
          <a:noFill/>
          <a:ln/>
        </p:spPr>
        <p:txBody>
          <a:bodyPr wrap="square" lIns="0" tIns="0" rIns="0" bIns="0" rtlCol="0" anchor="t">
            <a:normAutofit/>
          </a:bodyPr>
          <a:lstStyle/>
          <a:p>
            <a:pPr algn="l" indent="0" marL="0">
              <a:lnSpc>
                <a:spcPts val="3520"/>
              </a:lnSpc>
              <a:buNone/>
            </a:pPr>
            <a:r>
              <a:rPr lang="en-US" sz="3200" b="1" dirty="0">
                <a:solidFill>
                  <a:srgbClr val="16222C"/>
                </a:solidFill>
                <a:latin typeface="Space Grotesk" pitchFamily="34" charset="0"/>
                <a:ea typeface="Space Grotesk" pitchFamily="34" charset="-122"/>
                <a:cs typeface="Space Grotesk" pitchFamily="34" charset="-120"/>
              </a:rPr>
              <a:t>One signal decision hits several people at once</a:t>
            </a:r>
            <a:endParaRPr lang="en-US" sz="3200" dirty="0"/>
          </a:p>
        </p:txBody>
      </p:sp>
      <p:sp>
        <p:nvSpPr>
          <p:cNvPr id="4" name="Shape 2"/>
          <p:cNvSpPr/>
          <p:nvPr/>
        </p:nvSpPr>
        <p:spPr>
          <a:xfrm>
            <a:off x="815975" y="1882775"/>
            <a:ext cx="5200650" cy="1690370"/>
          </a:xfrm>
          <a:prstGeom prst="roundRect">
            <a:avLst>
              <a:gd name="adj" fmla="val 4320"/>
            </a:avLst>
          </a:prstGeom>
          <a:solidFill>
            <a:srgbClr val="FBFAF6"/>
          </a:solidFill>
          <a:ln w="6350">
            <a:solidFill>
              <a:srgbClr val="DDD8CC"/>
            </a:solidFill>
            <a:prstDash val="solid"/>
          </a:ln>
        </p:spPr>
      </p:sp>
      <p:sp>
        <p:nvSpPr>
          <p:cNvPr id="5" name="Text 3"/>
          <p:cNvSpPr/>
          <p:nvPr/>
        </p:nvSpPr>
        <p:spPr>
          <a:xfrm>
            <a:off x="1021080" y="2087880"/>
            <a:ext cx="4934153"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F6B72"/>
                </a:solidFill>
                <a:latin typeface="IBM Plex Mono" pitchFamily="34" charset="0"/>
                <a:ea typeface="IBM Plex Mono" pitchFamily="34" charset="-122"/>
                <a:cs typeface="IBM Plex Mono" pitchFamily="34" charset="-120"/>
              </a:rPr>
              <a:t>→ AMARA</a:t>
            </a:r>
            <a:endParaRPr lang="en-US" sz="1200" dirty="0"/>
          </a:p>
        </p:txBody>
      </p:sp>
      <p:sp>
        <p:nvSpPr>
          <p:cNvPr id="6" name="Text 4"/>
          <p:cNvSpPr/>
          <p:nvPr/>
        </p:nvSpPr>
        <p:spPr>
          <a:xfrm>
            <a:off x="1021080" y="2377441"/>
            <a:ext cx="4934153" cy="26924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6222C"/>
                </a:solidFill>
                <a:latin typeface="Space Grotesk" pitchFamily="34" charset="0"/>
                <a:ea typeface="Space Grotesk" pitchFamily="34" charset="-122"/>
                <a:cs typeface="Space Grotesk" pitchFamily="34" charset="-120"/>
              </a:rPr>
              <a:t>A light changes while someone is still crossing.</a:t>
            </a:r>
            <a:endParaRPr lang="en-US" sz="1600" dirty="0"/>
          </a:p>
        </p:txBody>
      </p:sp>
      <p:sp>
        <p:nvSpPr>
          <p:cNvPr id="7" name="Text 5"/>
          <p:cNvSpPr/>
          <p:nvPr/>
        </p:nvSpPr>
        <p:spPr>
          <a:xfrm>
            <a:off x="1021080" y="2697480"/>
            <a:ext cx="4934153" cy="66548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3A4852"/>
                </a:solidFill>
                <a:latin typeface="IBM Plex Sans" pitchFamily="34" charset="0"/>
                <a:ea typeface="IBM Plex Sans" pitchFamily="34" charset="-122"/>
                <a:cs typeface="IBM Plex Sans" pitchFamily="34" charset="-120"/>
              </a:rPr>
              <a:t>Pedestrians: 28% of 2023 deaths in the WHO investment case quoting ONSR. The 2024 strategy names older people and people with disabilities.</a:t>
            </a:r>
            <a:endParaRPr lang="en-US" sz="1200" dirty="0"/>
          </a:p>
        </p:txBody>
      </p:sp>
      <p:sp>
        <p:nvSpPr>
          <p:cNvPr id="8" name="Shape 6"/>
          <p:cNvSpPr/>
          <p:nvPr/>
        </p:nvSpPr>
        <p:spPr>
          <a:xfrm>
            <a:off x="6175375" y="1882775"/>
            <a:ext cx="5200650" cy="1690370"/>
          </a:xfrm>
          <a:prstGeom prst="roundRect">
            <a:avLst>
              <a:gd name="adj" fmla="val 4320"/>
            </a:avLst>
          </a:prstGeom>
          <a:solidFill>
            <a:srgbClr val="FBFAF6"/>
          </a:solidFill>
          <a:ln w="6350">
            <a:solidFill>
              <a:srgbClr val="DDD8CC"/>
            </a:solidFill>
            <a:prstDash val="solid"/>
          </a:ln>
        </p:spPr>
      </p:sp>
      <p:sp>
        <p:nvSpPr>
          <p:cNvPr id="9" name="Text 7"/>
          <p:cNvSpPr/>
          <p:nvPr/>
        </p:nvSpPr>
        <p:spPr>
          <a:xfrm>
            <a:off x="6380480" y="2087880"/>
            <a:ext cx="4934153"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F6B72"/>
                </a:solidFill>
                <a:latin typeface="IBM Plex Mono" pitchFamily="34" charset="0"/>
                <a:ea typeface="IBM Plex Mono" pitchFamily="34" charset="-122"/>
                <a:cs typeface="IBM Plex Mono" pitchFamily="34" charset="-120"/>
              </a:rPr>
              <a:t>→ DAVID</a:t>
            </a:r>
            <a:endParaRPr lang="en-US" sz="1200" dirty="0"/>
          </a:p>
        </p:txBody>
      </p:sp>
      <p:sp>
        <p:nvSpPr>
          <p:cNvPr id="10" name="Text 8"/>
          <p:cNvSpPr/>
          <p:nvPr/>
        </p:nvSpPr>
        <p:spPr>
          <a:xfrm>
            <a:off x="6380480" y="2377441"/>
            <a:ext cx="4934153" cy="51308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6222C"/>
                </a:solidFill>
                <a:latin typeface="Space Grotesk" pitchFamily="34" charset="0"/>
                <a:ea typeface="Space Grotesk" pitchFamily="34" charset="-122"/>
                <a:cs typeface="Space Grotesk" pitchFamily="34" charset="-120"/>
              </a:rPr>
              <a:t>A better average can hide a trip that never finishes.</a:t>
            </a:r>
            <a:endParaRPr lang="en-US" sz="1600" dirty="0"/>
          </a:p>
        </p:txBody>
      </p:sp>
      <p:sp>
        <p:nvSpPr>
          <p:cNvPr id="11" name="Text 9"/>
          <p:cNvSpPr/>
          <p:nvPr/>
        </p:nvSpPr>
        <p:spPr>
          <a:xfrm>
            <a:off x="6380480" y="2941320"/>
            <a:ext cx="4934153" cy="4521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3A4852"/>
                </a:solidFill>
                <a:latin typeface="IBM Plex Sans" pitchFamily="34" charset="0"/>
                <a:ea typeface="IBM Plex Sans" pitchFamily="34" charset="-122"/>
                <a:cs typeface="IBM Plex Sans" pitchFamily="34" charset="-120"/>
              </a:rPr>
              <a:t>Vehicle occupants carry most of the health cost in the same investment case.</a:t>
            </a:r>
            <a:endParaRPr lang="en-US" sz="1200" dirty="0"/>
          </a:p>
        </p:txBody>
      </p:sp>
      <p:sp>
        <p:nvSpPr>
          <p:cNvPr id="12" name="Shape 10"/>
          <p:cNvSpPr/>
          <p:nvPr/>
        </p:nvSpPr>
        <p:spPr>
          <a:xfrm>
            <a:off x="815975" y="3731895"/>
            <a:ext cx="5200650" cy="1690370"/>
          </a:xfrm>
          <a:prstGeom prst="roundRect">
            <a:avLst>
              <a:gd name="adj" fmla="val 4320"/>
            </a:avLst>
          </a:prstGeom>
          <a:solidFill>
            <a:srgbClr val="FBFAF6"/>
          </a:solidFill>
          <a:ln w="6350">
            <a:solidFill>
              <a:srgbClr val="DDD8CC"/>
            </a:solidFill>
            <a:prstDash val="solid"/>
          </a:ln>
        </p:spPr>
      </p:sp>
      <p:sp>
        <p:nvSpPr>
          <p:cNvPr id="13" name="Text 11"/>
          <p:cNvSpPr/>
          <p:nvPr/>
        </p:nvSpPr>
        <p:spPr>
          <a:xfrm>
            <a:off x="1021080" y="3937000"/>
            <a:ext cx="4934153"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F6B72"/>
                </a:solidFill>
                <a:latin typeface="IBM Plex Mono" pitchFamily="34" charset="0"/>
                <a:ea typeface="IBM Plex Mono" pitchFamily="34" charset="-122"/>
                <a:cs typeface="IBM Plex Mono" pitchFamily="34" charset="-120"/>
              </a:rPr>
              <a:t>→ CHIDI</a:t>
            </a:r>
            <a:endParaRPr lang="en-US" sz="1200" dirty="0"/>
          </a:p>
        </p:txBody>
      </p:sp>
      <p:sp>
        <p:nvSpPr>
          <p:cNvPr id="14" name="Text 12"/>
          <p:cNvSpPr/>
          <p:nvPr/>
        </p:nvSpPr>
        <p:spPr>
          <a:xfrm>
            <a:off x="1021080" y="4226561"/>
            <a:ext cx="4934153" cy="51308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6222C"/>
                </a:solidFill>
                <a:latin typeface="Space Grotesk" pitchFamily="34" charset="0"/>
                <a:ea typeface="Space Grotesk" pitchFamily="34" charset="-122"/>
                <a:cs typeface="Space Grotesk" pitchFamily="34" charset="-120"/>
              </a:rPr>
              <a:t>Buses bunch, then an early bus is treated as urgent.</a:t>
            </a:r>
            <a:endParaRPr lang="en-US" sz="1600" dirty="0"/>
          </a:p>
        </p:txBody>
      </p:sp>
      <p:sp>
        <p:nvSpPr>
          <p:cNvPr id="15" name="Text 13"/>
          <p:cNvSpPr/>
          <p:nvPr/>
        </p:nvSpPr>
        <p:spPr>
          <a:xfrm>
            <a:off x="1021080" y="4790441"/>
            <a:ext cx="4934153" cy="4521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3A4852"/>
                </a:solidFill>
                <a:latin typeface="IBM Plex Sans" pitchFamily="34" charset="0"/>
                <a:ea typeface="IBM Plex Sans" pitchFamily="34" charset="-122"/>
                <a:cs typeface="IBM Plex Sans" pitchFamily="34" charset="-120"/>
              </a:rPr>
              <a:t>TRANSTU reported 187.4 million paying passengers in 2018. That is not this year's headway.</a:t>
            </a:r>
            <a:endParaRPr lang="en-US" sz="1200" dirty="0"/>
          </a:p>
        </p:txBody>
      </p:sp>
      <p:sp>
        <p:nvSpPr>
          <p:cNvPr id="16" name="Shape 14"/>
          <p:cNvSpPr/>
          <p:nvPr/>
        </p:nvSpPr>
        <p:spPr>
          <a:xfrm>
            <a:off x="6175375" y="3731895"/>
            <a:ext cx="5200650" cy="1690370"/>
          </a:xfrm>
          <a:prstGeom prst="roundRect">
            <a:avLst>
              <a:gd name="adj" fmla="val 4320"/>
            </a:avLst>
          </a:prstGeom>
          <a:solidFill>
            <a:srgbClr val="FBFAF6"/>
          </a:solidFill>
          <a:ln w="6350">
            <a:solidFill>
              <a:srgbClr val="DDD8CC"/>
            </a:solidFill>
            <a:prstDash val="solid"/>
          </a:ln>
        </p:spPr>
      </p:sp>
      <p:sp>
        <p:nvSpPr>
          <p:cNvPr id="17" name="Text 15"/>
          <p:cNvSpPr/>
          <p:nvPr/>
        </p:nvSpPr>
        <p:spPr>
          <a:xfrm>
            <a:off x="6380480" y="3937000"/>
            <a:ext cx="4934153"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F6B72"/>
                </a:solidFill>
                <a:latin typeface="IBM Plex Mono" pitchFamily="34" charset="0"/>
                <a:ea typeface="IBM Plex Mono" pitchFamily="34" charset="-122"/>
                <a:cs typeface="IBM Plex Mono" pitchFamily="34" charset="-120"/>
              </a:rPr>
              <a:t>→ ROSA · MARCUS · OMAR</a:t>
            </a:r>
            <a:endParaRPr lang="en-US" sz="1200" dirty="0"/>
          </a:p>
        </p:txBody>
      </p:sp>
      <p:sp>
        <p:nvSpPr>
          <p:cNvPr id="18" name="Text 16"/>
          <p:cNvSpPr/>
          <p:nvPr/>
        </p:nvSpPr>
        <p:spPr>
          <a:xfrm>
            <a:off x="6380480" y="4226561"/>
            <a:ext cx="4934153" cy="51308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6222C"/>
                </a:solidFill>
                <a:latin typeface="Space Grotesk" pitchFamily="34" charset="0"/>
                <a:ea typeface="Space Grotesk" pitchFamily="34" charset="-122"/>
                <a:cs typeface="Space Grotesk" pitchFamily="34" charset="-120"/>
              </a:rPr>
              <a:t>A refusal, a full exit or a stale sensor can look like nothing.</a:t>
            </a:r>
            <a:endParaRPr lang="en-US" sz="1600" dirty="0"/>
          </a:p>
        </p:txBody>
      </p:sp>
      <p:sp>
        <p:nvSpPr>
          <p:cNvPr id="19" name="Text 17"/>
          <p:cNvSpPr/>
          <p:nvPr/>
        </p:nvSpPr>
        <p:spPr>
          <a:xfrm>
            <a:off x="6380480" y="4790441"/>
            <a:ext cx="4934153" cy="4521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3A4852"/>
                </a:solidFill>
                <a:latin typeface="IBM Plex Sans" pitchFamily="34" charset="0"/>
                <a:ea typeface="IBM Plex Sans" pitchFamily="34" charset="-122"/>
                <a:cs typeface="IBM Plex Sans" pitchFamily="34" charset="-120"/>
              </a:rPr>
              <a:t>The report reader, the crew and the duty officer each need a record they can check.</a:t>
            </a:r>
            <a:endParaRPr lang="en-US" sz="1200" dirty="0"/>
          </a:p>
        </p:txBody>
      </p:sp>
      <p:sp>
        <p:nvSpPr>
          <p:cNvPr id="20" name="Text 18"/>
          <p:cNvSpPr/>
          <p:nvPr/>
        </p:nvSpPr>
        <p:spPr>
          <a:xfrm>
            <a:off x="812800" y="6238239"/>
            <a:ext cx="3786541"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B73"/>
                </a:solidFill>
                <a:latin typeface="IBM Plex Sans" pitchFamily="34" charset="0"/>
                <a:ea typeface="IBM Plex Sans" pitchFamily="34" charset="-122"/>
                <a:cs typeface="IBM Plex Sans" pitchFamily="34" charset="-120"/>
              </a:rPr>
              <a:t>No public adaptive-signal network in Tunis was found.</a:t>
            </a:r>
            <a:endParaRPr lang="en-US" sz="1200" dirty="0"/>
          </a:p>
        </p:txBody>
      </p:sp>
      <p:sp>
        <p:nvSpPr>
          <p:cNvPr id="21" name="Text 19"/>
          <p:cNvSpPr/>
          <p:nvPr/>
        </p:nvSpPr>
        <p:spPr>
          <a:xfrm>
            <a:off x="11196320" y="6238239"/>
            <a:ext cx="23368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B73"/>
                </a:solidFill>
                <a:latin typeface="IBM Plex Sans" pitchFamily="34" charset="0"/>
                <a:ea typeface="IBM Plex Sans" pitchFamily="34" charset="-122"/>
                <a:cs typeface="IBM Plex Sans" pitchFamily="34" charset="-120"/>
              </a:rPr>
              <a:t>04</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4F1EA"/>
        </a:solidFill>
      </p:bgPr>
    </p:bg>
    <p:spTree>
      <p:nvGrpSpPr>
        <p:cNvPr id="1" name=""/>
        <p:cNvGrpSpPr/>
        <p:nvPr/>
      </p:nvGrpSpPr>
      <p:grpSpPr>
        <a:xfrm>
          <a:off x="0" y="0"/>
          <a:ext cx="0" cy="0"/>
          <a:chOff x="0" y="0"/>
          <a:chExt cx="0" cy="0"/>
        </a:xfrm>
      </p:grpSpPr>
      <p:sp>
        <p:nvSpPr>
          <p:cNvPr id="2" name="Text 0"/>
          <p:cNvSpPr/>
          <p:nvPr/>
        </p:nvSpPr>
        <p:spPr>
          <a:xfrm>
            <a:off x="812800" y="812800"/>
            <a:ext cx="10883392" cy="175498"/>
          </a:xfrm>
          <a:prstGeom prst="rect">
            <a:avLst/>
          </a:prstGeom>
          <a:noFill/>
          <a:ln/>
        </p:spPr>
        <p:txBody>
          <a:bodyPr wrap="square" lIns="0" tIns="0" rIns="0" bIns="0" rtlCol="0" anchor="t">
            <a:normAutofit/>
          </a:bodyPr>
          <a:lstStyle/>
          <a:p>
            <a:pPr algn="l" indent="0" marL="0">
              <a:lnSpc>
                <a:spcPts val="1223"/>
              </a:lnSpc>
              <a:buNone/>
            </a:pPr>
            <a:r>
              <a:rPr lang="en-US" sz="874" spc="100" kern="0" dirty="0">
                <a:solidFill>
                  <a:srgbClr val="1F6B72"/>
                </a:solidFill>
                <a:latin typeface="IBM Plex Mono" pitchFamily="34" charset="0"/>
                <a:ea typeface="IBM Plex Mono" pitchFamily="34" charset="-122"/>
                <a:cs typeface="IBM Plex Mono" pitchFamily="34" charset="-120"/>
              </a:rPr>
              <a:t>EMPATHIZE · 1.2 TARGET USERS</a:t>
            </a:r>
            <a:endParaRPr lang="en-US" sz="874" dirty="0"/>
          </a:p>
        </p:txBody>
      </p:sp>
      <p:sp>
        <p:nvSpPr>
          <p:cNvPr id="3" name="Text 1"/>
          <p:cNvSpPr/>
          <p:nvPr/>
        </p:nvSpPr>
        <p:spPr>
          <a:xfrm>
            <a:off x="812800" y="1064499"/>
            <a:ext cx="10883392" cy="339884"/>
          </a:xfrm>
          <a:prstGeom prst="rect">
            <a:avLst/>
          </a:prstGeom>
          <a:noFill/>
          <a:ln/>
        </p:spPr>
        <p:txBody>
          <a:bodyPr wrap="square" lIns="0" tIns="0" rIns="0" bIns="0" rtlCol="0" anchor="t">
            <a:normAutofit/>
          </a:bodyPr>
          <a:lstStyle/>
          <a:p>
            <a:pPr algn="l" indent="0" marL="0">
              <a:lnSpc>
                <a:spcPts val="2519"/>
              </a:lnSpc>
              <a:buNone/>
            </a:pPr>
            <a:r>
              <a:rPr lang="en-US" sz="2290" b="1" dirty="0">
                <a:solidFill>
                  <a:srgbClr val="16222C"/>
                </a:solidFill>
                <a:latin typeface="Space Grotesk" pitchFamily="34" charset="0"/>
                <a:ea typeface="Space Grotesk" pitchFamily="34" charset="-122"/>
                <a:cs typeface="Space Grotesk" pitchFamily="34" charset="-120"/>
              </a:rPr>
              <a:t>Six user groups, each named by a source</a:t>
            </a:r>
            <a:endParaRPr lang="en-US" sz="229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22960" y="1693942"/>
          <a:ext cx="10556240" cy="4148058"/>
        </p:xfrm>
        <a:graphic>
          <a:graphicData uri="http://schemas.openxmlformats.org/drawingml/2006/table">
            <a:tbl>
              <a:tblPr/>
              <a:tblGrid>
                <a:gridCol w="3518747"/>
                <a:gridCol w="3518747"/>
                <a:gridCol w="3518747"/>
              </a:tblGrid>
              <a:tr h="424259">
                <a:tc>
                  <a:txBody>
                    <a:bodyPr/>
                    <a:lstStyle/>
                    <a:p>
                      <a:pPr indent="0" marL="0">
                        <a:lnSpc>
                          <a:spcPts val="1855"/>
                        </a:lnSpc>
                        <a:buNone/>
                      </a:pPr>
                      <a:r>
                        <a:rPr lang="en-US" sz="1325" b="1" dirty="0">
                          <a:solidFill>
                            <a:srgbClr val="F4F1EA"/>
                          </a:solidFill>
                          <a:latin typeface="IBM Plex Sans" pitchFamily="34" charset="0"/>
                          <a:ea typeface="IBM Plex Sans" pitchFamily="34" charset="-122"/>
                          <a:cs typeface="IBM Plex Sans" pitchFamily="34" charset="-120"/>
                        </a:rPr>
                        <a:t>Who is affected</a:t>
                      </a:r>
                      <a:endParaRPr lang="en-US" sz="1325" dirty="0">
                        <a:latin typeface="IBM Plex Sans" charset="0"/>
                        <a:ea typeface="IBM Plex Sans" charset="0"/>
                        <a:cs typeface="IBM Plex Sans" charset="0"/>
                      </a:endParaRPr>
                    </a:p>
                  </a:txBody>
                  <a:tcPr marL="127000" marR="127000" marT="88900" marB="88900" anchor="t">
                    <a:lnL w="12700" cap="flat" cmpd="sng" algn="ctr">
                      <a:solidFill>
                        <a:srgbClr val="C3C0BB"/>
                      </a:solidFill>
                      <a:prstDash val="solid"/>
                      <a:round/>
                      <a:headEnd type="none" w="med" len="med"/>
                      <a:tailEnd type="none" w="med" len="med"/>
                    </a:lnL>
                    <a:lnR w="12700" cap="flat" cmpd="sng" algn="ctr">
                      <a:solidFill>
                        <a:srgbClr val="B5B2AD"/>
                      </a:solidFill>
                      <a:prstDash val="solid"/>
                      <a:round/>
                      <a:headEnd type="none" w="med" len="med"/>
                      <a:tailEnd type="none" w="med" len="med"/>
                    </a:lnR>
                    <a:lnT w="12700" cap="flat" cmpd="sng" algn="ctr">
                      <a:solidFill>
                        <a:srgbClr val="C3C0BB"/>
                      </a:solidFill>
                      <a:prstDash val="solid"/>
                      <a:round/>
                      <a:headEnd type="none" w="med" len="med"/>
                      <a:tailEnd type="none" w="med" len="med"/>
                    </a:lnT>
                    <a:lnB w="12700" cap="flat" cmpd="sng" algn="ctr">
                      <a:solidFill>
                        <a:srgbClr val="B5B2AD"/>
                      </a:solidFill>
                      <a:prstDash val="solid"/>
                      <a:round/>
                      <a:headEnd type="none" w="med" len="med"/>
                      <a:tailEnd type="none" w="med" len="med"/>
                    </a:lnB>
                    <a:solidFill>
                      <a:srgbClr val="E2DFD9"/>
                    </a:solidFill>
                  </a:tcPr>
                </a:tc>
                <a:tc>
                  <a:txBody>
                    <a:bodyPr/>
                    <a:lstStyle/>
                    <a:p>
                      <a:pPr indent="0" marL="0">
                        <a:lnSpc>
                          <a:spcPts val="1855"/>
                        </a:lnSpc>
                        <a:buNone/>
                      </a:pPr>
                      <a:r>
                        <a:rPr lang="en-US" sz="1325" b="1" dirty="0">
                          <a:solidFill>
                            <a:srgbClr val="F4F1EA"/>
                          </a:solidFill>
                          <a:latin typeface="IBM Plex Sans" pitchFamily="34" charset="0"/>
                          <a:ea typeface="IBM Plex Sans" pitchFamily="34" charset="-122"/>
                          <a:cs typeface="IBM Plex Sans" pitchFamily="34" charset="-120"/>
                        </a:rPr>
                        <a:t>What the source says</a:t>
                      </a:r>
                      <a:endParaRPr lang="en-US" sz="1325" dirty="0">
                        <a:latin typeface="IBM Plex Sans" charset="0"/>
                        <a:ea typeface="IBM Plex Sans" charset="0"/>
                        <a:cs typeface="IBM Plex Sans" charset="0"/>
                      </a:endParaRPr>
                    </a:p>
                  </a:txBody>
                  <a:tcPr marL="127000" marR="127000" marT="88900" marB="88900" anchor="t">
                    <a:lnL w="12700" cap="flat" cmpd="sng" algn="ctr">
                      <a:solidFill>
                        <a:srgbClr val="B5B2AD"/>
                      </a:solidFill>
                      <a:prstDash val="solid"/>
                      <a:round/>
                      <a:headEnd type="none" w="med" len="med"/>
                      <a:tailEnd type="none" w="med" len="med"/>
                    </a:lnL>
                    <a:lnR w="12700" cap="flat" cmpd="sng" algn="ctr">
                      <a:solidFill>
                        <a:srgbClr val="B5B2AD"/>
                      </a:solidFill>
                      <a:prstDash val="solid"/>
                      <a:round/>
                      <a:headEnd type="none" w="med" len="med"/>
                      <a:tailEnd type="none" w="med" len="med"/>
                    </a:lnR>
                    <a:lnT w="12700" cap="flat" cmpd="sng" algn="ctr">
                      <a:solidFill>
                        <a:srgbClr val="C3C0BB"/>
                      </a:solidFill>
                      <a:prstDash val="solid"/>
                      <a:round/>
                      <a:headEnd type="none" w="med" len="med"/>
                      <a:tailEnd type="none" w="med" len="med"/>
                    </a:lnT>
                    <a:lnB w="12700" cap="flat" cmpd="sng" algn="ctr">
                      <a:solidFill>
                        <a:srgbClr val="B5B2AD"/>
                      </a:solidFill>
                      <a:prstDash val="solid"/>
                      <a:round/>
                      <a:headEnd type="none" w="med" len="med"/>
                      <a:tailEnd type="none" w="med" len="med"/>
                    </a:lnB>
                    <a:solidFill>
                      <a:srgbClr val="E2DFD9"/>
                    </a:solidFill>
                  </a:tcPr>
                </a:tc>
                <a:tc>
                  <a:txBody>
                    <a:bodyPr/>
                    <a:lstStyle/>
                    <a:p>
                      <a:pPr indent="0" marL="0">
                        <a:lnSpc>
                          <a:spcPts val="1855"/>
                        </a:lnSpc>
                        <a:buNone/>
                      </a:pPr>
                      <a:r>
                        <a:rPr lang="en-US" sz="1325" b="1" dirty="0">
                          <a:solidFill>
                            <a:srgbClr val="F4F1EA"/>
                          </a:solidFill>
                          <a:latin typeface="IBM Plex Sans" pitchFamily="34" charset="0"/>
                          <a:ea typeface="IBM Plex Sans" pitchFamily="34" charset="-122"/>
                          <a:cs typeface="IBM Plex Sans" pitchFamily="34" charset="-120"/>
                        </a:rPr>
                        <a:t>Persona</a:t>
                      </a:r>
                      <a:endParaRPr lang="en-US" sz="1325" dirty="0">
                        <a:latin typeface="IBM Plex Sans" charset="0"/>
                        <a:ea typeface="IBM Plex Sans" charset="0"/>
                        <a:cs typeface="IBM Plex Sans" charset="0"/>
                      </a:endParaRPr>
                    </a:p>
                  </a:txBody>
                  <a:tcPr marL="127000" marR="127000" marT="88900" marB="88900" anchor="t">
                    <a:lnL w="12700" cap="flat" cmpd="sng" algn="ctr">
                      <a:solidFill>
                        <a:srgbClr val="B5B2AD"/>
                      </a:solidFill>
                      <a:prstDash val="solid"/>
                      <a:round/>
                      <a:headEnd type="none" w="med" len="med"/>
                      <a:tailEnd type="none" w="med" len="med"/>
                    </a:lnL>
                    <a:lnR w="12700" cap="flat" cmpd="sng" algn="ctr">
                      <a:solidFill>
                        <a:srgbClr val="B5B2AD"/>
                      </a:solidFill>
                      <a:prstDash val="solid"/>
                      <a:round/>
                      <a:headEnd type="none" w="med" len="med"/>
                      <a:tailEnd type="none" w="med" len="med"/>
                    </a:lnR>
                    <a:lnT w="12700" cap="flat" cmpd="sng" algn="ctr">
                      <a:solidFill>
                        <a:srgbClr val="C3C0BB"/>
                      </a:solidFill>
                      <a:prstDash val="solid"/>
                      <a:round/>
                      <a:headEnd type="none" w="med" len="med"/>
                      <a:tailEnd type="none" w="med" len="med"/>
                    </a:lnT>
                    <a:lnB w="12700" cap="flat" cmpd="sng" algn="ctr">
                      <a:solidFill>
                        <a:srgbClr val="B5B2AD"/>
                      </a:solidFill>
                      <a:prstDash val="solid"/>
                      <a:round/>
                      <a:headEnd type="none" w="med" len="med"/>
                      <a:tailEnd type="none" w="med" len="med"/>
                    </a:lnB>
                    <a:solidFill>
                      <a:srgbClr val="E2DFD9"/>
                    </a:solidFill>
                  </a:tcPr>
                </a:tc>
              </a:tr>
              <a:tr h="659844">
                <a:tc>
                  <a:txBody>
                    <a:bodyPr/>
                    <a:lstStyle/>
                    <a:p>
                      <a:pPr indent="0" marL="0">
                        <a:lnSpc>
                          <a:spcPts val="1855"/>
                        </a:lnSpc>
                        <a:buNone/>
                      </a:pPr>
                      <a:r>
                        <a:rPr lang="en-US" sz="1325" dirty="0">
                          <a:solidFill>
                            <a:srgbClr val="16222C"/>
                          </a:solidFill>
                          <a:latin typeface="IBM Plex Sans" pitchFamily="34" charset="0"/>
                          <a:ea typeface="IBM Plex Sans" pitchFamily="34" charset="-122"/>
                          <a:cs typeface="IBM Plex Sans" pitchFamily="34" charset="-120"/>
                        </a:rPr>
                        <a:t>Pedestrians, incl. older people and people with disabilities</a:t>
                      </a:r>
                      <a:endParaRPr lang="en-US" sz="1325" dirty="0">
                        <a:latin typeface="IBM Plex Sans" charset="0"/>
                        <a:ea typeface="IBM Plex Sans" charset="0"/>
                        <a:cs typeface="IBM Plex Sans" charset="0"/>
                      </a:endParaRPr>
                    </a:p>
                  </a:txBody>
                  <a:tcPr marL="127000" marR="127000" marT="88900" marB="88900" anchor="t">
                    <a:lnL w="12700" cap="flat" cmpd="sng" algn="ctr">
                      <a:solidFill>
                        <a:srgbClr val="C3C0BB"/>
                      </a:solidFill>
                      <a:prstDash val="solid"/>
                      <a:round/>
                      <a:headEnd type="none" w="med" len="med"/>
                      <a:tailEnd type="none" w="med" len="med"/>
                    </a:lnL>
                    <a:lnR w="12700" cap="flat" cmpd="sng" algn="ctr">
                      <a:solidFill>
                        <a:srgbClr val="C3C0BB"/>
                      </a:solidFill>
                      <a:prstDash val="solid"/>
                      <a:round/>
                      <a:headEnd type="none" w="med" len="med"/>
                      <a:tailEnd type="none" w="med" len="med"/>
                    </a:lnR>
                    <a:lnT w="12700" cap="flat" cmpd="sng" algn="ctr">
                      <a:solidFill>
                        <a:srgbClr val="B5B2AD"/>
                      </a:solidFill>
                      <a:prstDash val="solid"/>
                      <a:round/>
                      <a:headEnd type="none" w="med" len="med"/>
                      <a:tailEnd type="none" w="med" len="med"/>
                    </a:lnT>
                    <a:lnB w="12700" cap="flat" cmpd="sng" algn="ctr">
                      <a:solidFill>
                        <a:srgbClr val="C3C0BB"/>
                      </a:solidFill>
                      <a:prstDash val="solid"/>
                      <a:round/>
                      <a:headEnd type="none" w="med" len="med"/>
                      <a:tailEnd type="none" w="med" len="med"/>
                    </a:lnB>
                  </a:tcPr>
                </a:tc>
                <a:tc>
                  <a:txBody>
                    <a:bodyPr/>
                    <a:lstStyle/>
                    <a:p>
                      <a:pPr indent="0" marL="0">
                        <a:lnSpc>
                          <a:spcPts val="1855"/>
                        </a:lnSpc>
                        <a:buNone/>
                      </a:pPr>
                      <a:r>
                        <a:rPr lang="en-US" sz="1325" dirty="0">
                          <a:solidFill>
                            <a:srgbClr val="16222C"/>
                          </a:solidFill>
                          <a:latin typeface="IBM Plex Sans" pitchFamily="34" charset="0"/>
                          <a:ea typeface="IBM Plex Sans" pitchFamily="34" charset="-122"/>
                          <a:cs typeface="IBM Plex Sans" pitchFamily="34" charset="-120"/>
                        </a:rPr>
                        <a:t>28% of 2023 deaths in the investment case; named in the 2024 strategy</a:t>
                      </a:r>
                      <a:endParaRPr lang="en-US" sz="1325" dirty="0">
                        <a:latin typeface="IBM Plex Sans" charset="0"/>
                        <a:ea typeface="IBM Plex Sans" charset="0"/>
                        <a:cs typeface="IBM Plex Sans" charset="0"/>
                      </a:endParaRPr>
                    </a:p>
                  </a:txBody>
                  <a:tcPr marL="127000" marR="127000" marT="88900" marB="88900" anchor="t">
                    <a:lnL w="12700" cap="flat" cmpd="sng" algn="ctr">
                      <a:solidFill>
                        <a:srgbClr val="C3C0BB"/>
                      </a:solidFill>
                      <a:prstDash val="solid"/>
                      <a:round/>
                      <a:headEnd type="none" w="med" len="med"/>
                      <a:tailEnd type="none" w="med" len="med"/>
                    </a:lnL>
                    <a:lnR w="12700" cap="flat" cmpd="sng" algn="ctr">
                      <a:solidFill>
                        <a:srgbClr val="C3C0BB"/>
                      </a:solidFill>
                      <a:prstDash val="solid"/>
                      <a:round/>
                      <a:headEnd type="none" w="med" len="med"/>
                      <a:tailEnd type="none" w="med" len="med"/>
                    </a:lnR>
                    <a:lnT w="12700" cap="flat" cmpd="sng" algn="ctr">
                      <a:solidFill>
                        <a:srgbClr val="B5B2AD"/>
                      </a:solidFill>
                      <a:prstDash val="solid"/>
                      <a:round/>
                      <a:headEnd type="none" w="med" len="med"/>
                      <a:tailEnd type="none" w="med" len="med"/>
                    </a:lnT>
                    <a:lnB w="12700" cap="flat" cmpd="sng" algn="ctr">
                      <a:solidFill>
                        <a:srgbClr val="C3C0BB"/>
                      </a:solidFill>
                      <a:prstDash val="solid"/>
                      <a:round/>
                      <a:headEnd type="none" w="med" len="med"/>
                      <a:tailEnd type="none" w="med" len="med"/>
                    </a:lnB>
                  </a:tcPr>
                </a:tc>
                <a:tc>
                  <a:txBody>
                    <a:bodyPr/>
                    <a:lstStyle/>
                    <a:p>
                      <a:pPr indent="0" marL="0">
                        <a:lnSpc>
                          <a:spcPts val="1855"/>
                        </a:lnSpc>
                        <a:buNone/>
                      </a:pPr>
                      <a:r>
                        <a:rPr lang="en-US" sz="1325" dirty="0">
                          <a:solidFill>
                            <a:srgbClr val="1F6B72"/>
                          </a:solidFill>
                          <a:latin typeface="IBM Plex Sans" pitchFamily="34" charset="0"/>
                          <a:ea typeface="IBM Plex Sans" pitchFamily="34" charset="-122"/>
                          <a:cs typeface="IBM Plex Sans" pitchFamily="34" charset="-120"/>
                        </a:rPr>
                        <a:t>Amara</a:t>
                      </a:r>
                      <a:endParaRPr lang="en-US" sz="1325" dirty="0">
                        <a:latin typeface="IBM Plex Sans" charset="0"/>
                        <a:ea typeface="IBM Plex Sans" charset="0"/>
                        <a:cs typeface="IBM Plex Sans" charset="0"/>
                      </a:endParaRPr>
                    </a:p>
                  </a:txBody>
                  <a:tcPr marL="127000" marR="127000" marT="88900" marB="88900" anchor="t">
                    <a:lnL w="12700" cap="flat" cmpd="sng" algn="ctr">
                      <a:solidFill>
                        <a:srgbClr val="C3C0BB"/>
                      </a:solidFill>
                      <a:prstDash val="solid"/>
                      <a:round/>
                      <a:headEnd type="none" w="med" len="med"/>
                      <a:tailEnd type="none" w="med" len="med"/>
                    </a:lnL>
                    <a:lnR w="12700" cap="flat" cmpd="sng" algn="ctr">
                      <a:solidFill>
                        <a:srgbClr val="C3C0BB"/>
                      </a:solidFill>
                      <a:prstDash val="solid"/>
                      <a:round/>
                      <a:headEnd type="none" w="med" len="med"/>
                      <a:tailEnd type="none" w="med" len="med"/>
                    </a:lnR>
                    <a:lnT w="12700" cap="flat" cmpd="sng" algn="ctr">
                      <a:solidFill>
                        <a:srgbClr val="B5B2AD"/>
                      </a:solidFill>
                      <a:prstDash val="solid"/>
                      <a:round/>
                      <a:headEnd type="none" w="med" len="med"/>
                      <a:tailEnd type="none" w="med" len="med"/>
                    </a:lnT>
                    <a:lnB w="12700" cap="flat" cmpd="sng" algn="ctr">
                      <a:solidFill>
                        <a:srgbClr val="C3C0BB"/>
                      </a:solidFill>
                      <a:prstDash val="solid"/>
                      <a:round/>
                      <a:headEnd type="none" w="med" len="med"/>
                      <a:tailEnd type="none" w="med" len="med"/>
                    </a:lnB>
                  </a:tcPr>
                </a:tc>
              </a:tr>
              <a:tr h="659844">
                <a:tc>
                  <a:txBody>
                    <a:bodyPr/>
                    <a:lstStyle/>
                    <a:p>
                      <a:pPr indent="0" marL="0">
                        <a:lnSpc>
                          <a:spcPts val="1855"/>
                        </a:lnSpc>
                        <a:buNone/>
                      </a:pPr>
                      <a:r>
                        <a:rPr lang="en-US" sz="1325" dirty="0">
                          <a:solidFill>
                            <a:srgbClr val="16222C"/>
                          </a:solidFill>
                          <a:latin typeface="IBM Plex Sans" pitchFamily="34" charset="0"/>
                          <a:ea typeface="IBM Plex Sans" pitchFamily="34" charset="-122"/>
                          <a:cs typeface="IBM Plex Sans" pitchFamily="34" charset="-120"/>
                        </a:rPr>
                        <a:t>Occupants of motor vehicles</a:t>
                      </a:r>
                      <a:endParaRPr lang="en-US" sz="1325" dirty="0">
                        <a:latin typeface="IBM Plex Sans" charset="0"/>
                        <a:ea typeface="IBM Plex Sans" charset="0"/>
                        <a:cs typeface="IBM Plex Sans" charset="0"/>
                      </a:endParaRPr>
                    </a:p>
                  </a:txBody>
                  <a:tcPr marL="127000" marR="127000" marT="88900" marB="88900" anchor="t">
                    <a:lnL w="12700" cap="flat" cmpd="sng" algn="ctr">
                      <a:solidFill>
                        <a:srgbClr val="C3C0BB"/>
                      </a:solidFill>
                      <a:prstDash val="solid"/>
                      <a:round/>
                      <a:headEnd type="none" w="med" len="med"/>
                      <a:tailEnd type="none" w="med" len="med"/>
                    </a:lnL>
                    <a:lnR w="12700" cap="flat" cmpd="sng" algn="ctr">
                      <a:solidFill>
                        <a:srgbClr val="C3C0BB"/>
                      </a:solidFill>
                      <a:prstDash val="solid"/>
                      <a:round/>
                      <a:headEnd type="none" w="med" len="med"/>
                      <a:tailEnd type="none" w="med" len="med"/>
                    </a:lnR>
                    <a:lnT w="12700" cap="flat" cmpd="sng" algn="ctr">
                      <a:solidFill>
                        <a:srgbClr val="C3C0BB"/>
                      </a:solidFill>
                      <a:prstDash val="solid"/>
                      <a:round/>
                      <a:headEnd type="none" w="med" len="med"/>
                      <a:tailEnd type="none" w="med" len="med"/>
                    </a:lnT>
                    <a:lnB w="12700" cap="flat" cmpd="sng" algn="ctr">
                      <a:solidFill>
                        <a:srgbClr val="C3C0BB"/>
                      </a:solidFill>
                      <a:prstDash val="solid"/>
                      <a:round/>
                      <a:headEnd type="none" w="med" len="med"/>
                      <a:tailEnd type="none" w="med" len="med"/>
                    </a:lnB>
                  </a:tcPr>
                </a:tc>
                <a:tc>
                  <a:txBody>
                    <a:bodyPr/>
                    <a:lstStyle/>
                    <a:p>
                      <a:pPr indent="0" marL="0">
                        <a:lnSpc>
                          <a:spcPts val="1855"/>
                        </a:lnSpc>
                        <a:buNone/>
                      </a:pPr>
                      <a:r>
                        <a:rPr lang="en-US" sz="1325" dirty="0">
                          <a:solidFill>
                            <a:srgbClr val="16222C"/>
                          </a:solidFill>
                          <a:latin typeface="IBM Plex Sans" pitchFamily="34" charset="0"/>
                          <a:ea typeface="IBM Plex Sans" pitchFamily="34" charset="-122"/>
                          <a:cs typeface="IBM Plex Sans" pitchFamily="34" charset="-120"/>
                        </a:rPr>
                        <a:t>Carry most of the health cost in the same investment case</a:t>
                      </a:r>
                      <a:endParaRPr lang="en-US" sz="1325" dirty="0">
                        <a:latin typeface="IBM Plex Sans" charset="0"/>
                        <a:ea typeface="IBM Plex Sans" charset="0"/>
                        <a:cs typeface="IBM Plex Sans" charset="0"/>
                      </a:endParaRPr>
                    </a:p>
                  </a:txBody>
                  <a:tcPr marL="127000" marR="127000" marT="88900" marB="88900" anchor="t">
                    <a:lnL w="12700" cap="flat" cmpd="sng" algn="ctr">
                      <a:solidFill>
                        <a:srgbClr val="C3C0BB"/>
                      </a:solidFill>
                      <a:prstDash val="solid"/>
                      <a:round/>
                      <a:headEnd type="none" w="med" len="med"/>
                      <a:tailEnd type="none" w="med" len="med"/>
                    </a:lnL>
                    <a:lnR w="12700" cap="flat" cmpd="sng" algn="ctr">
                      <a:solidFill>
                        <a:srgbClr val="C3C0BB"/>
                      </a:solidFill>
                      <a:prstDash val="solid"/>
                      <a:round/>
                      <a:headEnd type="none" w="med" len="med"/>
                      <a:tailEnd type="none" w="med" len="med"/>
                    </a:lnR>
                    <a:lnT w="12700" cap="flat" cmpd="sng" algn="ctr">
                      <a:solidFill>
                        <a:srgbClr val="C3C0BB"/>
                      </a:solidFill>
                      <a:prstDash val="solid"/>
                      <a:round/>
                      <a:headEnd type="none" w="med" len="med"/>
                      <a:tailEnd type="none" w="med" len="med"/>
                    </a:lnT>
                    <a:lnB w="12700" cap="flat" cmpd="sng" algn="ctr">
                      <a:solidFill>
                        <a:srgbClr val="C3C0BB"/>
                      </a:solidFill>
                      <a:prstDash val="solid"/>
                      <a:round/>
                      <a:headEnd type="none" w="med" len="med"/>
                      <a:tailEnd type="none" w="med" len="med"/>
                    </a:lnB>
                  </a:tcPr>
                </a:tc>
                <a:tc>
                  <a:txBody>
                    <a:bodyPr/>
                    <a:lstStyle/>
                    <a:p>
                      <a:pPr indent="0" marL="0">
                        <a:lnSpc>
                          <a:spcPts val="1855"/>
                        </a:lnSpc>
                        <a:buNone/>
                      </a:pPr>
                      <a:r>
                        <a:rPr lang="en-US" sz="1325" dirty="0">
                          <a:solidFill>
                            <a:srgbClr val="1F6B72"/>
                          </a:solidFill>
                          <a:latin typeface="IBM Plex Sans" pitchFamily="34" charset="0"/>
                          <a:ea typeface="IBM Plex Sans" pitchFamily="34" charset="-122"/>
                          <a:cs typeface="IBM Plex Sans" pitchFamily="34" charset="-120"/>
                        </a:rPr>
                        <a:t>David</a:t>
                      </a:r>
                      <a:endParaRPr lang="en-US" sz="1325" dirty="0">
                        <a:latin typeface="IBM Plex Sans" charset="0"/>
                        <a:ea typeface="IBM Plex Sans" charset="0"/>
                        <a:cs typeface="IBM Plex Sans" charset="0"/>
                      </a:endParaRPr>
                    </a:p>
                  </a:txBody>
                  <a:tcPr marL="127000" marR="127000" marT="88900" marB="88900" anchor="t">
                    <a:lnL w="12700" cap="flat" cmpd="sng" algn="ctr">
                      <a:solidFill>
                        <a:srgbClr val="C3C0BB"/>
                      </a:solidFill>
                      <a:prstDash val="solid"/>
                      <a:round/>
                      <a:headEnd type="none" w="med" len="med"/>
                      <a:tailEnd type="none" w="med" len="med"/>
                    </a:lnL>
                    <a:lnR w="12700" cap="flat" cmpd="sng" algn="ctr">
                      <a:solidFill>
                        <a:srgbClr val="C3C0BB"/>
                      </a:solidFill>
                      <a:prstDash val="solid"/>
                      <a:round/>
                      <a:headEnd type="none" w="med" len="med"/>
                      <a:tailEnd type="none" w="med" len="med"/>
                    </a:lnR>
                    <a:lnT w="12700" cap="flat" cmpd="sng" algn="ctr">
                      <a:solidFill>
                        <a:srgbClr val="C3C0BB"/>
                      </a:solidFill>
                      <a:prstDash val="solid"/>
                      <a:round/>
                      <a:headEnd type="none" w="med" len="med"/>
                      <a:tailEnd type="none" w="med" len="med"/>
                    </a:lnT>
                    <a:lnB w="12700" cap="flat" cmpd="sng" algn="ctr">
                      <a:solidFill>
                        <a:srgbClr val="C3C0BB"/>
                      </a:solidFill>
                      <a:prstDash val="solid"/>
                      <a:round/>
                      <a:headEnd type="none" w="med" len="med"/>
                      <a:tailEnd type="none" w="med" len="med"/>
                    </a:lnB>
                  </a:tcPr>
                </a:tc>
              </a:tr>
              <a:tr h="424339">
                <a:tc>
                  <a:txBody>
                    <a:bodyPr/>
                    <a:lstStyle/>
                    <a:p>
                      <a:pPr indent="0" marL="0">
                        <a:lnSpc>
                          <a:spcPts val="1855"/>
                        </a:lnSpc>
                        <a:buNone/>
                      </a:pPr>
                      <a:r>
                        <a:rPr lang="en-US" sz="1325" dirty="0">
                          <a:solidFill>
                            <a:srgbClr val="16222C"/>
                          </a:solidFill>
                          <a:latin typeface="IBM Plex Sans" pitchFamily="34" charset="0"/>
                          <a:ea typeface="IBM Plex Sans" pitchFamily="34" charset="-122"/>
                          <a:cs typeface="IBM Plex Sans" pitchFamily="34" charset="-120"/>
                        </a:rPr>
                        <a:t>TRANSTU passengers in Greater Tunis</a:t>
                      </a:r>
                      <a:endParaRPr lang="en-US" sz="1325" dirty="0">
                        <a:latin typeface="IBM Plex Sans" charset="0"/>
                        <a:ea typeface="IBM Plex Sans" charset="0"/>
                        <a:cs typeface="IBM Plex Sans" charset="0"/>
                      </a:endParaRPr>
                    </a:p>
                  </a:txBody>
                  <a:tcPr marL="127000" marR="127000" marT="88900" marB="88900" anchor="t">
                    <a:lnL w="12700" cap="flat" cmpd="sng" algn="ctr">
                      <a:solidFill>
                        <a:srgbClr val="C3C0BB"/>
                      </a:solidFill>
                      <a:prstDash val="solid"/>
                      <a:round/>
                      <a:headEnd type="none" w="med" len="med"/>
                      <a:tailEnd type="none" w="med" len="med"/>
                    </a:lnL>
                    <a:lnR w="12700" cap="flat" cmpd="sng" algn="ctr">
                      <a:solidFill>
                        <a:srgbClr val="C3C0BB"/>
                      </a:solidFill>
                      <a:prstDash val="solid"/>
                      <a:round/>
                      <a:headEnd type="none" w="med" len="med"/>
                      <a:tailEnd type="none" w="med" len="med"/>
                    </a:lnR>
                    <a:lnT w="12700" cap="flat" cmpd="sng" algn="ctr">
                      <a:solidFill>
                        <a:srgbClr val="C3C0BB"/>
                      </a:solidFill>
                      <a:prstDash val="solid"/>
                      <a:round/>
                      <a:headEnd type="none" w="med" len="med"/>
                      <a:tailEnd type="none" w="med" len="med"/>
                    </a:lnT>
                    <a:lnB w="12700" cap="flat" cmpd="sng" algn="ctr">
                      <a:solidFill>
                        <a:srgbClr val="C3C0BB"/>
                      </a:solidFill>
                      <a:prstDash val="solid"/>
                      <a:round/>
                      <a:headEnd type="none" w="med" len="med"/>
                      <a:tailEnd type="none" w="med" len="med"/>
                    </a:lnB>
                  </a:tcPr>
                </a:tc>
                <a:tc>
                  <a:txBody>
                    <a:bodyPr/>
                    <a:lstStyle/>
                    <a:p>
                      <a:pPr indent="0" marL="0">
                        <a:lnSpc>
                          <a:spcPts val="1855"/>
                        </a:lnSpc>
                        <a:buNone/>
                      </a:pPr>
                      <a:r>
                        <a:rPr lang="en-US" sz="1325" dirty="0">
                          <a:solidFill>
                            <a:srgbClr val="16222C"/>
                          </a:solidFill>
                          <a:latin typeface="IBM Plex Sans" pitchFamily="34" charset="0"/>
                          <a:ea typeface="IBM Plex Sans" pitchFamily="34" charset="-122"/>
                          <a:cs typeface="IBM Plex Sans" pitchFamily="34" charset="-120"/>
                        </a:rPr>
                        <a:t>187.4 million paying passengers in 2018</a:t>
                      </a:r>
                      <a:endParaRPr lang="en-US" sz="1325" dirty="0">
                        <a:latin typeface="IBM Plex Sans" charset="0"/>
                        <a:ea typeface="IBM Plex Sans" charset="0"/>
                        <a:cs typeface="IBM Plex Sans" charset="0"/>
                      </a:endParaRPr>
                    </a:p>
                  </a:txBody>
                  <a:tcPr marL="127000" marR="127000" marT="88900" marB="88900" anchor="t">
                    <a:lnL w="12700" cap="flat" cmpd="sng" algn="ctr">
                      <a:solidFill>
                        <a:srgbClr val="C3C0BB"/>
                      </a:solidFill>
                      <a:prstDash val="solid"/>
                      <a:round/>
                      <a:headEnd type="none" w="med" len="med"/>
                      <a:tailEnd type="none" w="med" len="med"/>
                    </a:lnL>
                    <a:lnR w="12700" cap="flat" cmpd="sng" algn="ctr">
                      <a:solidFill>
                        <a:srgbClr val="C3C0BB"/>
                      </a:solidFill>
                      <a:prstDash val="solid"/>
                      <a:round/>
                      <a:headEnd type="none" w="med" len="med"/>
                      <a:tailEnd type="none" w="med" len="med"/>
                    </a:lnR>
                    <a:lnT w="12700" cap="flat" cmpd="sng" algn="ctr">
                      <a:solidFill>
                        <a:srgbClr val="C3C0BB"/>
                      </a:solidFill>
                      <a:prstDash val="solid"/>
                      <a:round/>
                      <a:headEnd type="none" w="med" len="med"/>
                      <a:tailEnd type="none" w="med" len="med"/>
                    </a:lnT>
                    <a:lnB w="12700" cap="flat" cmpd="sng" algn="ctr">
                      <a:solidFill>
                        <a:srgbClr val="C3C0BB"/>
                      </a:solidFill>
                      <a:prstDash val="solid"/>
                      <a:round/>
                      <a:headEnd type="none" w="med" len="med"/>
                      <a:tailEnd type="none" w="med" len="med"/>
                    </a:lnB>
                  </a:tcPr>
                </a:tc>
                <a:tc>
                  <a:txBody>
                    <a:bodyPr/>
                    <a:lstStyle/>
                    <a:p>
                      <a:pPr indent="0" marL="0">
                        <a:lnSpc>
                          <a:spcPts val="1855"/>
                        </a:lnSpc>
                        <a:buNone/>
                      </a:pPr>
                      <a:r>
                        <a:rPr lang="en-US" sz="1325" dirty="0">
                          <a:solidFill>
                            <a:srgbClr val="1F6B72"/>
                          </a:solidFill>
                          <a:latin typeface="IBM Plex Sans" pitchFamily="34" charset="0"/>
                          <a:ea typeface="IBM Plex Sans" pitchFamily="34" charset="-122"/>
                          <a:cs typeface="IBM Plex Sans" pitchFamily="34" charset="-120"/>
                        </a:rPr>
                        <a:t>Chidi</a:t>
                      </a:r>
                      <a:endParaRPr lang="en-US" sz="1325" dirty="0">
                        <a:latin typeface="IBM Plex Sans" charset="0"/>
                        <a:ea typeface="IBM Plex Sans" charset="0"/>
                        <a:cs typeface="IBM Plex Sans" charset="0"/>
                      </a:endParaRPr>
                    </a:p>
                  </a:txBody>
                  <a:tcPr marL="127000" marR="127000" marT="88900" marB="88900" anchor="t">
                    <a:lnL w="12700" cap="flat" cmpd="sng" algn="ctr">
                      <a:solidFill>
                        <a:srgbClr val="C3C0BB"/>
                      </a:solidFill>
                      <a:prstDash val="solid"/>
                      <a:round/>
                      <a:headEnd type="none" w="med" len="med"/>
                      <a:tailEnd type="none" w="med" len="med"/>
                    </a:lnL>
                    <a:lnR w="12700" cap="flat" cmpd="sng" algn="ctr">
                      <a:solidFill>
                        <a:srgbClr val="C3C0BB"/>
                      </a:solidFill>
                      <a:prstDash val="solid"/>
                      <a:round/>
                      <a:headEnd type="none" w="med" len="med"/>
                      <a:tailEnd type="none" w="med" len="med"/>
                    </a:lnR>
                    <a:lnT w="12700" cap="flat" cmpd="sng" algn="ctr">
                      <a:solidFill>
                        <a:srgbClr val="C3C0BB"/>
                      </a:solidFill>
                      <a:prstDash val="solid"/>
                      <a:round/>
                      <a:headEnd type="none" w="med" len="med"/>
                      <a:tailEnd type="none" w="med" len="med"/>
                    </a:lnT>
                    <a:lnB w="12700" cap="flat" cmpd="sng" algn="ctr">
                      <a:solidFill>
                        <a:srgbClr val="C3C0BB"/>
                      </a:solidFill>
                      <a:prstDash val="solid"/>
                      <a:round/>
                      <a:headEnd type="none" w="med" len="med"/>
                      <a:tailEnd type="none" w="med" len="med"/>
                    </a:lnB>
                  </a:tcPr>
                </a:tc>
              </a:tr>
              <a:tr h="659924">
                <a:tc>
                  <a:txBody>
                    <a:bodyPr/>
                    <a:lstStyle/>
                    <a:p>
                      <a:pPr indent="0" marL="0">
                        <a:lnSpc>
                          <a:spcPts val="1855"/>
                        </a:lnSpc>
                        <a:buNone/>
                      </a:pPr>
                      <a:r>
                        <a:rPr lang="en-US" sz="1325" dirty="0">
                          <a:solidFill>
                            <a:srgbClr val="16222C"/>
                          </a:solidFill>
                          <a:latin typeface="IBM Plex Sans" pitchFamily="34" charset="0"/>
                          <a:ea typeface="IBM Plex Sans" pitchFamily="34" charset="-122"/>
                          <a:cs typeface="IBM Plex Sans" pitchFamily="34" charset="-120"/>
                        </a:rPr>
                        <a:t>Readers of the crash and incident record</a:t>
                      </a:r>
                      <a:endParaRPr lang="en-US" sz="1325" dirty="0">
                        <a:latin typeface="IBM Plex Sans" charset="0"/>
                        <a:ea typeface="IBM Plex Sans" charset="0"/>
                        <a:cs typeface="IBM Plex Sans" charset="0"/>
                      </a:endParaRPr>
                    </a:p>
                  </a:txBody>
                  <a:tcPr marL="127000" marR="127000" marT="88900" marB="88900" anchor="t">
                    <a:lnL w="12700" cap="flat" cmpd="sng" algn="ctr">
                      <a:solidFill>
                        <a:srgbClr val="C3C0BB"/>
                      </a:solidFill>
                      <a:prstDash val="solid"/>
                      <a:round/>
                      <a:headEnd type="none" w="med" len="med"/>
                      <a:tailEnd type="none" w="med" len="med"/>
                    </a:lnL>
                    <a:lnR w="12700" cap="flat" cmpd="sng" algn="ctr">
                      <a:solidFill>
                        <a:srgbClr val="C3C0BB"/>
                      </a:solidFill>
                      <a:prstDash val="solid"/>
                      <a:round/>
                      <a:headEnd type="none" w="med" len="med"/>
                      <a:tailEnd type="none" w="med" len="med"/>
                    </a:lnR>
                    <a:lnT w="12700" cap="flat" cmpd="sng" algn="ctr">
                      <a:solidFill>
                        <a:srgbClr val="C3C0BB"/>
                      </a:solidFill>
                      <a:prstDash val="solid"/>
                      <a:round/>
                      <a:headEnd type="none" w="med" len="med"/>
                      <a:tailEnd type="none" w="med" len="med"/>
                    </a:lnT>
                    <a:lnB w="12700" cap="flat" cmpd="sng" algn="ctr">
                      <a:solidFill>
                        <a:srgbClr val="C3C0BB"/>
                      </a:solidFill>
                      <a:prstDash val="solid"/>
                      <a:round/>
                      <a:headEnd type="none" w="med" len="med"/>
                      <a:tailEnd type="none" w="med" len="med"/>
                    </a:lnB>
                  </a:tcPr>
                </a:tc>
                <a:tc>
                  <a:txBody>
                    <a:bodyPr/>
                    <a:lstStyle/>
                    <a:p>
                      <a:pPr indent="0" marL="0">
                        <a:lnSpc>
                          <a:spcPts val="1855"/>
                        </a:lnSpc>
                        <a:buNone/>
                      </a:pPr>
                      <a:r>
                        <a:rPr lang="en-US" sz="1325" dirty="0">
                          <a:solidFill>
                            <a:srgbClr val="16222C"/>
                          </a:solidFill>
                          <a:latin typeface="IBM Plex Sans" pitchFamily="34" charset="0"/>
                          <a:ea typeface="IBM Plex Sans" pitchFamily="34" charset="-122"/>
                          <a:cs typeface="IBM Plex Sans" pitchFamily="34" charset="-120"/>
                        </a:rPr>
                        <a:t>ONSR compiles the national record. One reader, not a second controller.</a:t>
                      </a:r>
                      <a:endParaRPr lang="en-US" sz="1325" dirty="0">
                        <a:latin typeface="IBM Plex Sans" charset="0"/>
                        <a:ea typeface="IBM Plex Sans" charset="0"/>
                        <a:cs typeface="IBM Plex Sans" charset="0"/>
                      </a:endParaRPr>
                    </a:p>
                  </a:txBody>
                  <a:tcPr marL="127000" marR="127000" marT="88900" marB="88900" anchor="t">
                    <a:lnL w="12700" cap="flat" cmpd="sng" algn="ctr">
                      <a:solidFill>
                        <a:srgbClr val="C3C0BB"/>
                      </a:solidFill>
                      <a:prstDash val="solid"/>
                      <a:round/>
                      <a:headEnd type="none" w="med" len="med"/>
                      <a:tailEnd type="none" w="med" len="med"/>
                    </a:lnL>
                    <a:lnR w="12700" cap="flat" cmpd="sng" algn="ctr">
                      <a:solidFill>
                        <a:srgbClr val="C3C0BB"/>
                      </a:solidFill>
                      <a:prstDash val="solid"/>
                      <a:round/>
                      <a:headEnd type="none" w="med" len="med"/>
                      <a:tailEnd type="none" w="med" len="med"/>
                    </a:lnR>
                    <a:lnT w="12700" cap="flat" cmpd="sng" algn="ctr">
                      <a:solidFill>
                        <a:srgbClr val="C3C0BB"/>
                      </a:solidFill>
                      <a:prstDash val="solid"/>
                      <a:round/>
                      <a:headEnd type="none" w="med" len="med"/>
                      <a:tailEnd type="none" w="med" len="med"/>
                    </a:lnT>
                    <a:lnB w="12700" cap="flat" cmpd="sng" algn="ctr">
                      <a:solidFill>
                        <a:srgbClr val="C3C0BB"/>
                      </a:solidFill>
                      <a:prstDash val="solid"/>
                      <a:round/>
                      <a:headEnd type="none" w="med" len="med"/>
                      <a:tailEnd type="none" w="med" len="med"/>
                    </a:lnB>
                  </a:tcPr>
                </a:tc>
                <a:tc>
                  <a:txBody>
                    <a:bodyPr/>
                    <a:lstStyle/>
                    <a:p>
                      <a:pPr indent="0" marL="0">
                        <a:lnSpc>
                          <a:spcPts val="1855"/>
                        </a:lnSpc>
                        <a:buNone/>
                      </a:pPr>
                      <a:r>
                        <a:rPr lang="en-US" sz="1325" dirty="0">
                          <a:solidFill>
                            <a:srgbClr val="1F6B72"/>
                          </a:solidFill>
                          <a:latin typeface="IBM Plex Sans" pitchFamily="34" charset="0"/>
                          <a:ea typeface="IBM Plex Sans" pitchFamily="34" charset="-122"/>
                          <a:cs typeface="IBM Plex Sans" pitchFamily="34" charset="-120"/>
                        </a:rPr>
                        <a:t>Rosa</a:t>
                      </a:r>
                      <a:endParaRPr lang="en-US" sz="1325" dirty="0">
                        <a:latin typeface="IBM Plex Sans" charset="0"/>
                        <a:ea typeface="IBM Plex Sans" charset="0"/>
                        <a:cs typeface="IBM Plex Sans" charset="0"/>
                      </a:endParaRPr>
                    </a:p>
                  </a:txBody>
                  <a:tcPr marL="127000" marR="127000" marT="88900" marB="88900" anchor="t">
                    <a:lnL w="12700" cap="flat" cmpd="sng" algn="ctr">
                      <a:solidFill>
                        <a:srgbClr val="C3C0BB"/>
                      </a:solidFill>
                      <a:prstDash val="solid"/>
                      <a:round/>
                      <a:headEnd type="none" w="med" len="med"/>
                      <a:tailEnd type="none" w="med" len="med"/>
                    </a:lnL>
                    <a:lnR w="12700" cap="flat" cmpd="sng" algn="ctr">
                      <a:solidFill>
                        <a:srgbClr val="C3C0BB"/>
                      </a:solidFill>
                      <a:prstDash val="solid"/>
                      <a:round/>
                      <a:headEnd type="none" w="med" len="med"/>
                      <a:tailEnd type="none" w="med" len="med"/>
                    </a:lnR>
                    <a:lnT w="12700" cap="flat" cmpd="sng" algn="ctr">
                      <a:solidFill>
                        <a:srgbClr val="C3C0BB"/>
                      </a:solidFill>
                      <a:prstDash val="solid"/>
                      <a:round/>
                      <a:headEnd type="none" w="med" len="med"/>
                      <a:tailEnd type="none" w="med" len="med"/>
                    </a:lnT>
                    <a:lnB w="12700" cap="flat" cmpd="sng" algn="ctr">
                      <a:solidFill>
                        <a:srgbClr val="C3C0BB"/>
                      </a:solidFill>
                      <a:prstDash val="solid"/>
                      <a:round/>
                      <a:headEnd type="none" w="med" len="med"/>
                      <a:tailEnd type="none" w="med" len="med"/>
                    </a:lnB>
                  </a:tcPr>
                </a:tc>
              </a:tr>
              <a:tr h="659924">
                <a:tc>
                  <a:txBody>
                    <a:bodyPr/>
                    <a:lstStyle/>
                    <a:p>
                      <a:pPr indent="0" marL="0">
                        <a:lnSpc>
                          <a:spcPts val="1855"/>
                        </a:lnSpc>
                        <a:buNone/>
                      </a:pPr>
                      <a:r>
                        <a:rPr lang="en-US" sz="1325" dirty="0">
                          <a:solidFill>
                            <a:srgbClr val="16222C"/>
                          </a:solidFill>
                          <a:latin typeface="IBM Plex Sans" pitchFamily="34" charset="0"/>
                          <a:ea typeface="IBM Plex Sans" pitchFamily="34" charset="-122"/>
                          <a:cs typeface="IBM Plex Sans" pitchFamily="34" charset="-120"/>
                        </a:rPr>
                        <a:t>Road emergency crews</a:t>
                      </a:r>
                      <a:endParaRPr lang="en-US" sz="1325" dirty="0">
                        <a:latin typeface="IBM Plex Sans" charset="0"/>
                        <a:ea typeface="IBM Plex Sans" charset="0"/>
                        <a:cs typeface="IBM Plex Sans" charset="0"/>
                      </a:endParaRPr>
                    </a:p>
                  </a:txBody>
                  <a:tcPr marL="127000" marR="127000" marT="88900" marB="88900" anchor="t">
                    <a:lnL w="12700" cap="flat" cmpd="sng" algn="ctr">
                      <a:solidFill>
                        <a:srgbClr val="C3C0BB"/>
                      </a:solidFill>
                      <a:prstDash val="solid"/>
                      <a:round/>
                      <a:headEnd type="none" w="med" len="med"/>
                      <a:tailEnd type="none" w="med" len="med"/>
                    </a:lnL>
                    <a:lnR w="12700" cap="flat" cmpd="sng" algn="ctr">
                      <a:solidFill>
                        <a:srgbClr val="C3C0BB"/>
                      </a:solidFill>
                      <a:prstDash val="solid"/>
                      <a:round/>
                      <a:headEnd type="none" w="med" len="med"/>
                      <a:tailEnd type="none" w="med" len="med"/>
                    </a:lnR>
                    <a:lnT w="12700" cap="flat" cmpd="sng" algn="ctr">
                      <a:solidFill>
                        <a:srgbClr val="C3C0BB"/>
                      </a:solidFill>
                      <a:prstDash val="solid"/>
                      <a:round/>
                      <a:headEnd type="none" w="med" len="med"/>
                      <a:tailEnd type="none" w="med" len="med"/>
                    </a:lnT>
                    <a:lnB w="12700" cap="flat" cmpd="sng" algn="ctr">
                      <a:solidFill>
                        <a:srgbClr val="C3C0BB"/>
                      </a:solidFill>
                      <a:prstDash val="solid"/>
                      <a:round/>
                      <a:headEnd type="none" w="med" len="med"/>
                      <a:tailEnd type="none" w="med" len="med"/>
                    </a:lnB>
                  </a:tcPr>
                </a:tc>
                <a:tc>
                  <a:txBody>
                    <a:bodyPr/>
                    <a:lstStyle/>
                    <a:p>
                      <a:pPr indent="0" marL="0">
                        <a:lnSpc>
                          <a:spcPts val="1855"/>
                        </a:lnSpc>
                        <a:buNone/>
                      </a:pPr>
                      <a:r>
                        <a:rPr lang="en-US" sz="1325" dirty="0">
                          <a:solidFill>
                            <a:srgbClr val="16222C"/>
                          </a:solidFill>
                          <a:latin typeface="IBM Plex Sans" pitchFamily="34" charset="0"/>
                          <a:ea typeface="IBM Plex Sans" pitchFamily="34" charset="-122"/>
                          <a:cs typeface="IBM Plex Sans" pitchFamily="34" charset="-120"/>
                        </a:rPr>
                        <a:t>Civil Protection answers road emergency calls. We did not ride with them.</a:t>
                      </a:r>
                      <a:endParaRPr lang="en-US" sz="1325" dirty="0">
                        <a:latin typeface="IBM Plex Sans" charset="0"/>
                        <a:ea typeface="IBM Plex Sans" charset="0"/>
                        <a:cs typeface="IBM Plex Sans" charset="0"/>
                      </a:endParaRPr>
                    </a:p>
                  </a:txBody>
                  <a:tcPr marL="127000" marR="127000" marT="88900" marB="88900" anchor="t">
                    <a:lnL w="12700" cap="flat" cmpd="sng" algn="ctr">
                      <a:solidFill>
                        <a:srgbClr val="C3C0BB"/>
                      </a:solidFill>
                      <a:prstDash val="solid"/>
                      <a:round/>
                      <a:headEnd type="none" w="med" len="med"/>
                      <a:tailEnd type="none" w="med" len="med"/>
                    </a:lnL>
                    <a:lnR w="12700" cap="flat" cmpd="sng" algn="ctr">
                      <a:solidFill>
                        <a:srgbClr val="C3C0BB"/>
                      </a:solidFill>
                      <a:prstDash val="solid"/>
                      <a:round/>
                      <a:headEnd type="none" w="med" len="med"/>
                      <a:tailEnd type="none" w="med" len="med"/>
                    </a:lnR>
                    <a:lnT w="12700" cap="flat" cmpd="sng" algn="ctr">
                      <a:solidFill>
                        <a:srgbClr val="C3C0BB"/>
                      </a:solidFill>
                      <a:prstDash val="solid"/>
                      <a:round/>
                      <a:headEnd type="none" w="med" len="med"/>
                      <a:tailEnd type="none" w="med" len="med"/>
                    </a:lnT>
                    <a:lnB w="12700" cap="flat" cmpd="sng" algn="ctr">
                      <a:solidFill>
                        <a:srgbClr val="C3C0BB"/>
                      </a:solidFill>
                      <a:prstDash val="solid"/>
                      <a:round/>
                      <a:headEnd type="none" w="med" len="med"/>
                      <a:tailEnd type="none" w="med" len="med"/>
                    </a:lnB>
                  </a:tcPr>
                </a:tc>
                <a:tc>
                  <a:txBody>
                    <a:bodyPr/>
                    <a:lstStyle/>
                    <a:p>
                      <a:pPr indent="0" marL="0">
                        <a:lnSpc>
                          <a:spcPts val="1855"/>
                        </a:lnSpc>
                        <a:buNone/>
                      </a:pPr>
                      <a:r>
                        <a:rPr lang="en-US" sz="1325" dirty="0">
                          <a:solidFill>
                            <a:srgbClr val="1F6B72"/>
                          </a:solidFill>
                          <a:latin typeface="IBM Plex Sans" pitchFamily="34" charset="0"/>
                          <a:ea typeface="IBM Plex Sans" pitchFamily="34" charset="-122"/>
                          <a:cs typeface="IBM Plex Sans" pitchFamily="34" charset="-120"/>
                        </a:rPr>
                        <a:t>Marcus</a:t>
                      </a:r>
                      <a:endParaRPr lang="en-US" sz="1325" dirty="0">
                        <a:latin typeface="IBM Plex Sans" charset="0"/>
                        <a:ea typeface="IBM Plex Sans" charset="0"/>
                        <a:cs typeface="IBM Plex Sans" charset="0"/>
                      </a:endParaRPr>
                    </a:p>
                  </a:txBody>
                  <a:tcPr marL="127000" marR="127000" marT="88900" marB="88900" anchor="t">
                    <a:lnL w="12700" cap="flat" cmpd="sng" algn="ctr">
                      <a:solidFill>
                        <a:srgbClr val="C3C0BB"/>
                      </a:solidFill>
                      <a:prstDash val="solid"/>
                      <a:round/>
                      <a:headEnd type="none" w="med" len="med"/>
                      <a:tailEnd type="none" w="med" len="med"/>
                    </a:lnL>
                    <a:lnR w="12700" cap="flat" cmpd="sng" algn="ctr">
                      <a:solidFill>
                        <a:srgbClr val="C3C0BB"/>
                      </a:solidFill>
                      <a:prstDash val="solid"/>
                      <a:round/>
                      <a:headEnd type="none" w="med" len="med"/>
                      <a:tailEnd type="none" w="med" len="med"/>
                    </a:lnR>
                    <a:lnT w="12700" cap="flat" cmpd="sng" algn="ctr">
                      <a:solidFill>
                        <a:srgbClr val="C3C0BB"/>
                      </a:solidFill>
                      <a:prstDash val="solid"/>
                      <a:round/>
                      <a:headEnd type="none" w="med" len="med"/>
                      <a:tailEnd type="none" w="med" len="med"/>
                    </a:lnT>
                    <a:lnB w="12700" cap="flat" cmpd="sng" algn="ctr">
                      <a:solidFill>
                        <a:srgbClr val="C3C0BB"/>
                      </a:solidFill>
                      <a:prstDash val="solid"/>
                      <a:round/>
                      <a:headEnd type="none" w="med" len="med"/>
                      <a:tailEnd type="none" w="med" len="med"/>
                    </a:lnB>
                  </a:tcPr>
                </a:tc>
              </a:tr>
              <a:tr h="659924">
                <a:tc>
                  <a:txBody>
                    <a:bodyPr/>
                    <a:lstStyle/>
                    <a:p>
                      <a:pPr indent="0" marL="0">
                        <a:lnSpc>
                          <a:spcPts val="1855"/>
                        </a:lnSpc>
                        <a:buNone/>
                      </a:pPr>
                      <a:r>
                        <a:rPr lang="en-US" sz="1325" dirty="0">
                          <a:solidFill>
                            <a:srgbClr val="16222C"/>
                          </a:solidFill>
                          <a:latin typeface="IBM Plex Sans" pitchFamily="34" charset="0"/>
                          <a:ea typeface="IBM Plex Sans" pitchFamily="34" charset="-122"/>
                          <a:cs typeface="IBM Plex Sans" pitchFamily="34" charset="-120"/>
                        </a:rPr>
                        <a:t>Network duty officers</a:t>
                      </a:r>
                      <a:endParaRPr lang="en-US" sz="1325" dirty="0">
                        <a:latin typeface="IBM Plex Sans" charset="0"/>
                        <a:ea typeface="IBM Plex Sans" charset="0"/>
                        <a:cs typeface="IBM Plex Sans" charset="0"/>
                      </a:endParaRPr>
                    </a:p>
                  </a:txBody>
                  <a:tcPr marL="127000" marR="127000" marT="88900" marB="88900" anchor="t">
                    <a:lnL w="12700" cap="flat" cmpd="sng" algn="ctr">
                      <a:solidFill>
                        <a:srgbClr val="C3C0BB"/>
                      </a:solidFill>
                      <a:prstDash val="solid"/>
                      <a:round/>
                      <a:headEnd type="none" w="med" len="med"/>
                      <a:tailEnd type="none" w="med" len="med"/>
                    </a:lnL>
                    <a:lnR w="12700" cap="flat" cmpd="sng" algn="ctr">
                      <a:solidFill>
                        <a:srgbClr val="C3C0BB"/>
                      </a:solidFill>
                      <a:prstDash val="solid"/>
                      <a:round/>
                      <a:headEnd type="none" w="med" len="med"/>
                      <a:tailEnd type="none" w="med" len="med"/>
                    </a:lnR>
                    <a:lnT w="12700" cap="flat" cmpd="sng" algn="ctr">
                      <a:solidFill>
                        <a:srgbClr val="C3C0BB"/>
                      </a:solidFill>
                      <a:prstDash val="solid"/>
                      <a:round/>
                      <a:headEnd type="none" w="med" len="med"/>
                      <a:tailEnd type="none" w="med" len="med"/>
                    </a:lnT>
                    <a:lnB w="12700" cap="flat" cmpd="sng" algn="ctr">
                      <a:solidFill>
                        <a:srgbClr val="C3C0BB"/>
                      </a:solidFill>
                      <a:prstDash val="solid"/>
                      <a:round/>
                      <a:headEnd type="none" w="med" len="med"/>
                      <a:tailEnd type="none" w="med" len="med"/>
                    </a:lnB>
                  </a:tcPr>
                </a:tc>
                <a:tc>
                  <a:txBody>
                    <a:bodyPr/>
                    <a:lstStyle/>
                    <a:p>
                      <a:pPr indent="0" marL="0">
                        <a:lnSpc>
                          <a:spcPts val="1855"/>
                        </a:lnSpc>
                        <a:buNone/>
                      </a:pPr>
                      <a:r>
                        <a:rPr lang="en-US" sz="1325" dirty="0">
                          <a:solidFill>
                            <a:srgbClr val="16222C"/>
                          </a:solidFill>
                          <a:latin typeface="IBM Plex Sans" pitchFamily="34" charset="0"/>
                          <a:ea typeface="IBM Plex Sans" pitchFamily="34" charset="-122"/>
                          <a:cs typeface="IBM Plex Sans" pitchFamily="34" charset="-120"/>
                        </a:rPr>
                        <a:t>Must trust the alert. A residual is not a cause.</a:t>
                      </a:r>
                      <a:endParaRPr lang="en-US" sz="1325" dirty="0">
                        <a:latin typeface="IBM Plex Sans" charset="0"/>
                        <a:ea typeface="IBM Plex Sans" charset="0"/>
                        <a:cs typeface="IBM Plex Sans" charset="0"/>
                      </a:endParaRPr>
                    </a:p>
                  </a:txBody>
                  <a:tcPr marL="127000" marR="127000" marT="88900" marB="88900" anchor="t">
                    <a:lnL w="12700" cap="flat" cmpd="sng" algn="ctr">
                      <a:solidFill>
                        <a:srgbClr val="C3C0BB"/>
                      </a:solidFill>
                      <a:prstDash val="solid"/>
                      <a:round/>
                      <a:headEnd type="none" w="med" len="med"/>
                      <a:tailEnd type="none" w="med" len="med"/>
                    </a:lnL>
                    <a:lnR w="12700" cap="flat" cmpd="sng" algn="ctr">
                      <a:solidFill>
                        <a:srgbClr val="C3C0BB"/>
                      </a:solidFill>
                      <a:prstDash val="solid"/>
                      <a:round/>
                      <a:headEnd type="none" w="med" len="med"/>
                      <a:tailEnd type="none" w="med" len="med"/>
                    </a:lnR>
                    <a:lnT w="12700" cap="flat" cmpd="sng" algn="ctr">
                      <a:solidFill>
                        <a:srgbClr val="C3C0BB"/>
                      </a:solidFill>
                      <a:prstDash val="solid"/>
                      <a:round/>
                      <a:headEnd type="none" w="med" len="med"/>
                      <a:tailEnd type="none" w="med" len="med"/>
                    </a:lnT>
                    <a:lnB w="12700" cap="flat" cmpd="sng" algn="ctr">
                      <a:solidFill>
                        <a:srgbClr val="C3C0BB"/>
                      </a:solidFill>
                      <a:prstDash val="solid"/>
                      <a:round/>
                      <a:headEnd type="none" w="med" len="med"/>
                      <a:tailEnd type="none" w="med" len="med"/>
                    </a:lnB>
                  </a:tcPr>
                </a:tc>
                <a:tc>
                  <a:txBody>
                    <a:bodyPr/>
                    <a:lstStyle/>
                    <a:p>
                      <a:pPr indent="0" marL="0">
                        <a:lnSpc>
                          <a:spcPts val="1855"/>
                        </a:lnSpc>
                        <a:buNone/>
                      </a:pPr>
                      <a:r>
                        <a:rPr lang="en-US" sz="1325" dirty="0">
                          <a:solidFill>
                            <a:srgbClr val="1F6B72"/>
                          </a:solidFill>
                          <a:latin typeface="IBM Plex Sans" pitchFamily="34" charset="0"/>
                          <a:ea typeface="IBM Plex Sans" pitchFamily="34" charset="-122"/>
                          <a:cs typeface="IBM Plex Sans" pitchFamily="34" charset="-120"/>
                        </a:rPr>
                        <a:t>Omar</a:t>
                      </a:r>
                      <a:endParaRPr lang="en-US" sz="1325" dirty="0">
                        <a:latin typeface="IBM Plex Sans" charset="0"/>
                        <a:ea typeface="IBM Plex Sans" charset="0"/>
                        <a:cs typeface="IBM Plex Sans" charset="0"/>
                      </a:endParaRPr>
                    </a:p>
                  </a:txBody>
                  <a:tcPr marL="127000" marR="127000" marT="88900" marB="88900" anchor="t">
                    <a:lnL w="12700" cap="flat" cmpd="sng" algn="ctr">
                      <a:solidFill>
                        <a:srgbClr val="C3C0BB"/>
                      </a:solidFill>
                      <a:prstDash val="solid"/>
                      <a:round/>
                      <a:headEnd type="none" w="med" len="med"/>
                      <a:tailEnd type="none" w="med" len="med"/>
                    </a:lnL>
                    <a:lnR w="12700" cap="flat" cmpd="sng" algn="ctr">
                      <a:solidFill>
                        <a:srgbClr val="C3C0BB"/>
                      </a:solidFill>
                      <a:prstDash val="solid"/>
                      <a:round/>
                      <a:headEnd type="none" w="med" len="med"/>
                      <a:tailEnd type="none" w="med" len="med"/>
                    </a:lnR>
                    <a:lnT w="12700" cap="flat" cmpd="sng" algn="ctr">
                      <a:solidFill>
                        <a:srgbClr val="C3C0BB"/>
                      </a:solidFill>
                      <a:prstDash val="solid"/>
                      <a:round/>
                      <a:headEnd type="none" w="med" len="med"/>
                      <a:tailEnd type="none" w="med" len="med"/>
                    </a:lnT>
                    <a:lnB w="12700" cap="flat" cmpd="sng" algn="ctr">
                      <a:solidFill>
                        <a:srgbClr val="C3C0BB"/>
                      </a:solidFill>
                      <a:prstDash val="solid"/>
                      <a:round/>
                      <a:headEnd type="none" w="med" len="med"/>
                      <a:tailEnd type="none" w="med" len="med"/>
                    </a:lnB>
                  </a:tcPr>
                </a:tc>
              </a:tr>
            </a:tbl>
          </a:graphicData>
        </a:graphic>
      </p:graphicFrame>
      <p:sp>
        <p:nvSpPr>
          <p:cNvPr id="5" name="Text 2"/>
          <p:cNvSpPr/>
          <p:nvPr/>
        </p:nvSpPr>
        <p:spPr>
          <a:xfrm>
            <a:off x="812800" y="6238239"/>
            <a:ext cx="6009248"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B73"/>
                </a:solidFill>
                <a:latin typeface="IBM Plex Sans" pitchFamily="34" charset="0"/>
                <a:ea typeface="IBM Plex Sans" pitchFamily="34" charset="-122"/>
                <a:cs typeface="IBM Plex Sans" pitchFamily="34" charset="-120"/>
              </a:rPr>
              <a:t>Motorcyclists (32% of 2023 deaths) are affected too, but are not a persona in this arc.</a:t>
            </a:r>
            <a:endParaRPr lang="en-US" sz="1200" dirty="0"/>
          </a:p>
        </p:txBody>
      </p:sp>
      <p:sp>
        <p:nvSpPr>
          <p:cNvPr id="6" name="Text 3"/>
          <p:cNvSpPr/>
          <p:nvPr/>
        </p:nvSpPr>
        <p:spPr>
          <a:xfrm>
            <a:off x="11196320" y="6238239"/>
            <a:ext cx="23368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B73"/>
                </a:solidFill>
                <a:latin typeface="IBM Plex Sans" pitchFamily="34" charset="0"/>
                <a:ea typeface="IBM Plex Sans" pitchFamily="34" charset="-122"/>
                <a:cs typeface="IBM Plex Sans" pitchFamily="34" charset="-120"/>
              </a:rPr>
              <a:t>05</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4F1EA"/>
        </a:solidFill>
      </p:bgPr>
    </p:bg>
    <p:spTree>
      <p:nvGrpSpPr>
        <p:cNvPr id="1" name=""/>
        <p:cNvGrpSpPr/>
        <p:nvPr/>
      </p:nvGrpSpPr>
      <p:grpSpPr>
        <a:xfrm>
          <a:off x="0" y="0"/>
          <a:ext cx="0" cy="0"/>
          <a:chOff x="0" y="0"/>
          <a:chExt cx="0" cy="0"/>
        </a:xfrm>
      </p:grpSpPr>
      <p:sp>
        <p:nvSpPr>
          <p:cNvPr id="2" name="Text 0"/>
          <p:cNvSpPr/>
          <p:nvPr/>
        </p:nvSpPr>
        <p:spPr>
          <a:xfrm>
            <a:off x="812800" y="812800"/>
            <a:ext cx="10883392" cy="160417"/>
          </a:xfrm>
          <a:prstGeom prst="rect">
            <a:avLst/>
          </a:prstGeom>
          <a:noFill/>
          <a:ln/>
        </p:spPr>
        <p:txBody>
          <a:bodyPr wrap="square" lIns="0" tIns="0" rIns="0" bIns="0" rtlCol="0" anchor="t">
            <a:normAutofit/>
          </a:bodyPr>
          <a:lstStyle/>
          <a:p>
            <a:pPr algn="l" indent="0" marL="0">
              <a:lnSpc>
                <a:spcPts val="1071"/>
              </a:lnSpc>
              <a:buNone/>
            </a:pPr>
            <a:r>
              <a:rPr lang="en-US" sz="765" spc="100" kern="0" dirty="0">
                <a:solidFill>
                  <a:srgbClr val="1F6B72"/>
                </a:solidFill>
                <a:latin typeface="IBM Plex Mono" pitchFamily="34" charset="0"/>
                <a:ea typeface="IBM Plex Mono" pitchFamily="34" charset="-122"/>
                <a:cs typeface="IBM Plex Mono" pitchFamily="34" charset="-120"/>
              </a:rPr>
              <a:t>EMPATHIZE · 1.3 USER RESEARCH &amp; EVIDENCE · METHODS</a:t>
            </a:r>
            <a:endParaRPr lang="en-US" sz="765" dirty="0"/>
          </a:p>
        </p:txBody>
      </p:sp>
      <p:sp>
        <p:nvSpPr>
          <p:cNvPr id="3" name="Text 1"/>
          <p:cNvSpPr/>
          <p:nvPr/>
        </p:nvSpPr>
        <p:spPr>
          <a:xfrm>
            <a:off x="812800" y="1049418"/>
            <a:ext cx="10883392" cy="308372"/>
          </a:xfrm>
          <a:prstGeom prst="rect">
            <a:avLst/>
          </a:prstGeom>
          <a:noFill/>
          <a:ln/>
        </p:spPr>
        <p:txBody>
          <a:bodyPr wrap="square" lIns="0" tIns="0" rIns="0" bIns="0" rtlCol="0" anchor="t">
            <a:normAutofit/>
          </a:bodyPr>
          <a:lstStyle/>
          <a:p>
            <a:pPr algn="l" indent="0" marL="0">
              <a:lnSpc>
                <a:spcPts val="2266"/>
              </a:lnSpc>
              <a:buNone/>
            </a:pPr>
            <a:r>
              <a:rPr lang="en-US" sz="2060" b="1" dirty="0">
                <a:solidFill>
                  <a:srgbClr val="16222C"/>
                </a:solidFill>
                <a:latin typeface="Space Grotesk" pitchFamily="34" charset="0"/>
                <a:ea typeface="Space Grotesk" pitchFamily="34" charset="-122"/>
                <a:cs typeface="Space Grotesk" pitchFamily="34" charset="-120"/>
              </a:rPr>
              <a:t>What our evidence is, and what it is not</a:t>
            </a:r>
            <a:endParaRPr lang="en-US" sz="206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22960" y="1647350"/>
          <a:ext cx="10556240" cy="4194651"/>
        </p:xfrm>
        <a:graphic>
          <a:graphicData uri="http://schemas.openxmlformats.org/drawingml/2006/table">
            <a:tbl>
              <a:tblPr/>
              <a:tblGrid>
                <a:gridCol w="3518747"/>
                <a:gridCol w="3518747"/>
                <a:gridCol w="3518747"/>
              </a:tblGrid>
              <a:tr h="416322">
                <a:tc>
                  <a:txBody>
                    <a:bodyPr/>
                    <a:lstStyle/>
                    <a:p>
                      <a:pPr indent="0" marL="0">
                        <a:lnSpc>
                          <a:spcPts val="1680"/>
                        </a:lnSpc>
                        <a:buNone/>
                      </a:pPr>
                      <a:r>
                        <a:rPr lang="en-US" sz="1200" b="1" dirty="0">
                          <a:solidFill>
                            <a:srgbClr val="F4F1EA"/>
                          </a:solidFill>
                          <a:latin typeface="IBM Plex Sans" pitchFamily="34" charset="0"/>
                          <a:ea typeface="IBM Plex Sans" pitchFamily="34" charset="-122"/>
                          <a:cs typeface="IBM Plex Sans" pitchFamily="34" charset="-120"/>
                        </a:rPr>
                        <a:t>Method</a:t>
                      </a:r>
                      <a:endParaRPr lang="en-US" sz="1200" dirty="0">
                        <a:latin typeface="IBM Plex Sans" charset="0"/>
                        <a:ea typeface="IBM Plex Sans" charset="0"/>
                        <a:cs typeface="IBM Plex Sans" charset="0"/>
                      </a:endParaRPr>
                    </a:p>
                  </a:txBody>
                  <a:tcPr marL="127000" marR="127000" marT="88900" marB="88900" anchor="t">
                    <a:lnL w="12700" cap="flat" cmpd="sng" algn="ctr">
                      <a:solidFill>
                        <a:srgbClr val="C3C0BB"/>
                      </a:solidFill>
                      <a:prstDash val="solid"/>
                      <a:round/>
                      <a:headEnd type="none" w="med" len="med"/>
                      <a:tailEnd type="none" w="med" len="med"/>
                    </a:lnL>
                    <a:lnR w="12700" cap="flat" cmpd="sng" algn="ctr">
                      <a:solidFill>
                        <a:srgbClr val="B5B2AD"/>
                      </a:solidFill>
                      <a:prstDash val="solid"/>
                      <a:round/>
                      <a:headEnd type="none" w="med" len="med"/>
                      <a:tailEnd type="none" w="med" len="med"/>
                    </a:lnR>
                    <a:lnT w="12700" cap="flat" cmpd="sng" algn="ctr">
                      <a:solidFill>
                        <a:srgbClr val="C3C0BB"/>
                      </a:solidFill>
                      <a:prstDash val="solid"/>
                      <a:round/>
                      <a:headEnd type="none" w="med" len="med"/>
                      <a:tailEnd type="none" w="med" len="med"/>
                    </a:lnT>
                    <a:lnB w="12700" cap="flat" cmpd="sng" algn="ctr">
                      <a:solidFill>
                        <a:srgbClr val="B5B2AD"/>
                      </a:solidFill>
                      <a:prstDash val="solid"/>
                      <a:round/>
                      <a:headEnd type="none" w="med" len="med"/>
                      <a:tailEnd type="none" w="med" len="med"/>
                    </a:lnB>
                    <a:solidFill>
                      <a:srgbClr val="E2DFD9"/>
                    </a:solidFill>
                  </a:tcPr>
                </a:tc>
                <a:tc>
                  <a:txBody>
                    <a:bodyPr/>
                    <a:lstStyle/>
                    <a:p>
                      <a:pPr indent="0" marL="0">
                        <a:lnSpc>
                          <a:spcPts val="1680"/>
                        </a:lnSpc>
                        <a:buNone/>
                      </a:pPr>
                      <a:r>
                        <a:rPr lang="en-US" sz="1200" b="1" dirty="0">
                          <a:solidFill>
                            <a:srgbClr val="F4F1EA"/>
                          </a:solidFill>
                          <a:latin typeface="IBM Plex Sans" pitchFamily="34" charset="0"/>
                          <a:ea typeface="IBM Plex Sans" pitchFamily="34" charset="-122"/>
                          <a:cs typeface="IBM Plex Sans" pitchFamily="34" charset="-120"/>
                        </a:rPr>
                        <a:t>Status</a:t>
                      </a:r>
                      <a:endParaRPr lang="en-US" sz="1200" dirty="0">
                        <a:latin typeface="IBM Plex Sans" charset="0"/>
                        <a:ea typeface="IBM Plex Sans" charset="0"/>
                        <a:cs typeface="IBM Plex Sans" charset="0"/>
                      </a:endParaRPr>
                    </a:p>
                  </a:txBody>
                  <a:tcPr marL="127000" marR="127000" marT="88900" marB="88900" anchor="t">
                    <a:lnL w="12700" cap="flat" cmpd="sng" algn="ctr">
                      <a:solidFill>
                        <a:srgbClr val="B5B2AD"/>
                      </a:solidFill>
                      <a:prstDash val="solid"/>
                      <a:round/>
                      <a:headEnd type="none" w="med" len="med"/>
                      <a:tailEnd type="none" w="med" len="med"/>
                    </a:lnL>
                    <a:lnR w="12700" cap="flat" cmpd="sng" algn="ctr">
                      <a:solidFill>
                        <a:srgbClr val="B5B2AD"/>
                      </a:solidFill>
                      <a:prstDash val="solid"/>
                      <a:round/>
                      <a:headEnd type="none" w="med" len="med"/>
                      <a:tailEnd type="none" w="med" len="med"/>
                    </a:lnR>
                    <a:lnT w="12700" cap="flat" cmpd="sng" algn="ctr">
                      <a:solidFill>
                        <a:srgbClr val="C3C0BB"/>
                      </a:solidFill>
                      <a:prstDash val="solid"/>
                      <a:round/>
                      <a:headEnd type="none" w="med" len="med"/>
                      <a:tailEnd type="none" w="med" len="med"/>
                    </a:lnT>
                    <a:lnB w="12700" cap="flat" cmpd="sng" algn="ctr">
                      <a:solidFill>
                        <a:srgbClr val="B5B2AD"/>
                      </a:solidFill>
                      <a:prstDash val="solid"/>
                      <a:round/>
                      <a:headEnd type="none" w="med" len="med"/>
                      <a:tailEnd type="none" w="med" len="med"/>
                    </a:lnB>
                    <a:solidFill>
                      <a:srgbClr val="E2DFD9"/>
                    </a:solidFill>
                  </a:tcPr>
                </a:tc>
                <a:tc>
                  <a:txBody>
                    <a:bodyPr/>
                    <a:lstStyle/>
                    <a:p>
                      <a:pPr indent="0" marL="0">
                        <a:lnSpc>
                          <a:spcPts val="1680"/>
                        </a:lnSpc>
                        <a:buNone/>
                      </a:pPr>
                      <a:r>
                        <a:rPr lang="en-US" sz="1200" b="1" dirty="0">
                          <a:solidFill>
                            <a:srgbClr val="F4F1EA"/>
                          </a:solidFill>
                          <a:latin typeface="IBM Plex Sans" pitchFamily="34" charset="0"/>
                          <a:ea typeface="IBM Plex Sans" pitchFamily="34" charset="-122"/>
                          <a:cs typeface="IBM Plex Sans" pitchFamily="34" charset="-120"/>
                        </a:rPr>
                        <a:t>What it supports</a:t>
                      </a:r>
                      <a:endParaRPr lang="en-US" sz="1200" dirty="0">
                        <a:latin typeface="IBM Plex Sans" charset="0"/>
                        <a:ea typeface="IBM Plex Sans" charset="0"/>
                        <a:cs typeface="IBM Plex Sans" charset="0"/>
                      </a:endParaRPr>
                    </a:p>
                  </a:txBody>
                  <a:tcPr marL="127000" marR="127000" marT="88900" marB="88900" anchor="t">
                    <a:lnL w="12700" cap="flat" cmpd="sng" algn="ctr">
                      <a:solidFill>
                        <a:srgbClr val="B5B2AD"/>
                      </a:solidFill>
                      <a:prstDash val="solid"/>
                      <a:round/>
                      <a:headEnd type="none" w="med" len="med"/>
                      <a:tailEnd type="none" w="med" len="med"/>
                    </a:lnL>
                    <a:lnR w="12700" cap="flat" cmpd="sng" algn="ctr">
                      <a:solidFill>
                        <a:srgbClr val="B5B2AD"/>
                      </a:solidFill>
                      <a:prstDash val="solid"/>
                      <a:round/>
                      <a:headEnd type="none" w="med" len="med"/>
                      <a:tailEnd type="none" w="med" len="med"/>
                    </a:lnR>
                    <a:lnT w="12700" cap="flat" cmpd="sng" algn="ctr">
                      <a:solidFill>
                        <a:srgbClr val="C3C0BB"/>
                      </a:solidFill>
                      <a:prstDash val="solid"/>
                      <a:round/>
                      <a:headEnd type="none" w="med" len="med"/>
                      <a:tailEnd type="none" w="med" len="med"/>
                    </a:lnT>
                    <a:lnB w="12700" cap="flat" cmpd="sng" algn="ctr">
                      <a:solidFill>
                        <a:srgbClr val="B5B2AD"/>
                      </a:solidFill>
                      <a:prstDash val="solid"/>
                      <a:round/>
                      <a:headEnd type="none" w="med" len="med"/>
                      <a:tailEnd type="none" w="med" len="med"/>
                    </a:lnB>
                    <a:solidFill>
                      <a:srgbClr val="E2DFD9"/>
                    </a:solidFill>
                  </a:tcPr>
                </a:tc>
              </a:tr>
              <a:tr h="416322">
                <a:tc>
                  <a:txBody>
                    <a:bodyPr/>
                    <a:lstStyle/>
                    <a:p>
                      <a:pPr indent="0" marL="0">
                        <a:lnSpc>
                          <a:spcPts val="1680"/>
                        </a:lnSpc>
                        <a:buNone/>
                      </a:pPr>
                      <a:r>
                        <a:rPr lang="en-US" sz="1200" dirty="0">
                          <a:solidFill>
                            <a:srgbClr val="16222C"/>
                          </a:solidFill>
                          <a:latin typeface="IBM Plex Sans" pitchFamily="34" charset="0"/>
                          <a:ea typeface="IBM Plex Sans" pitchFamily="34" charset="-122"/>
                          <a:cs typeface="IBM Plex Sans" pitchFamily="34" charset="-120"/>
                        </a:rPr>
                        <a:t>Interviews</a:t>
                      </a:r>
                      <a:endParaRPr lang="en-US" sz="1200" dirty="0">
                        <a:latin typeface="IBM Plex Sans" charset="0"/>
                        <a:ea typeface="IBM Plex Sans" charset="0"/>
                        <a:cs typeface="IBM Plex Sans" charset="0"/>
                      </a:endParaRPr>
                    </a:p>
                  </a:txBody>
                  <a:tcPr marL="127000" marR="127000" marT="88900" marB="88900" anchor="t">
                    <a:lnL w="12700" cap="flat" cmpd="sng" algn="ctr">
                      <a:solidFill>
                        <a:srgbClr val="C3C0BB"/>
                      </a:solidFill>
                      <a:prstDash val="solid"/>
                      <a:round/>
                      <a:headEnd type="none" w="med" len="med"/>
                      <a:tailEnd type="none" w="med" len="med"/>
                    </a:lnL>
                    <a:lnR w="12700" cap="flat" cmpd="sng" algn="ctr">
                      <a:solidFill>
                        <a:srgbClr val="C3C0BB"/>
                      </a:solidFill>
                      <a:prstDash val="solid"/>
                      <a:round/>
                      <a:headEnd type="none" w="med" len="med"/>
                      <a:tailEnd type="none" w="med" len="med"/>
                    </a:lnR>
                    <a:lnT w="12700" cap="flat" cmpd="sng" algn="ctr">
                      <a:solidFill>
                        <a:srgbClr val="B5B2AD"/>
                      </a:solidFill>
                      <a:prstDash val="solid"/>
                      <a:round/>
                      <a:headEnd type="none" w="med" len="med"/>
                      <a:tailEnd type="none" w="med" len="med"/>
                    </a:lnT>
                    <a:lnB w="12700" cap="flat" cmpd="sng" algn="ctr">
                      <a:solidFill>
                        <a:srgbClr val="C3C0BB"/>
                      </a:solidFill>
                      <a:prstDash val="solid"/>
                      <a:round/>
                      <a:headEnd type="none" w="med" len="med"/>
                      <a:tailEnd type="none" w="med" len="med"/>
                    </a:lnB>
                  </a:tcPr>
                </a:tc>
                <a:tc>
                  <a:txBody>
                    <a:bodyPr/>
                    <a:lstStyle/>
                    <a:p>
                      <a:pPr indent="0" marL="0">
                        <a:lnSpc>
                          <a:spcPts val="1680"/>
                        </a:lnSpc>
                        <a:buNone/>
                      </a:pPr>
                      <a:r>
                        <a:rPr lang="en-US" sz="1200" dirty="0">
                          <a:solidFill>
                            <a:srgbClr val="B5521B"/>
                          </a:solidFill>
                          <a:latin typeface="IBM Plex Sans" pitchFamily="34" charset="0"/>
                          <a:ea typeface="IBM Plex Sans" pitchFamily="34" charset="-122"/>
                          <a:cs typeface="IBM Plex Sans" pitchFamily="34" charset="-120"/>
                        </a:rPr>
                        <a:t>Not collected</a:t>
                      </a:r>
                      <a:endParaRPr lang="en-US" sz="1200" dirty="0">
                        <a:latin typeface="IBM Plex Sans" charset="0"/>
                        <a:ea typeface="IBM Plex Sans" charset="0"/>
                        <a:cs typeface="IBM Plex Sans" charset="0"/>
                      </a:endParaRPr>
                    </a:p>
                  </a:txBody>
                  <a:tcPr marL="127000" marR="127000" marT="88900" marB="88900" anchor="t">
                    <a:lnL w="12700" cap="flat" cmpd="sng" algn="ctr">
                      <a:solidFill>
                        <a:srgbClr val="C3C0BB"/>
                      </a:solidFill>
                      <a:prstDash val="solid"/>
                      <a:round/>
                      <a:headEnd type="none" w="med" len="med"/>
                      <a:tailEnd type="none" w="med" len="med"/>
                    </a:lnL>
                    <a:lnR w="12700" cap="flat" cmpd="sng" algn="ctr">
                      <a:solidFill>
                        <a:srgbClr val="C3C0BB"/>
                      </a:solidFill>
                      <a:prstDash val="solid"/>
                      <a:round/>
                      <a:headEnd type="none" w="med" len="med"/>
                      <a:tailEnd type="none" w="med" len="med"/>
                    </a:lnR>
                    <a:lnT w="12700" cap="flat" cmpd="sng" algn="ctr">
                      <a:solidFill>
                        <a:srgbClr val="B5B2AD"/>
                      </a:solidFill>
                      <a:prstDash val="solid"/>
                      <a:round/>
                      <a:headEnd type="none" w="med" len="med"/>
                      <a:tailEnd type="none" w="med" len="med"/>
                    </a:lnT>
                    <a:lnB w="12700" cap="flat" cmpd="sng" algn="ctr">
                      <a:solidFill>
                        <a:srgbClr val="C3C0BB"/>
                      </a:solidFill>
                      <a:prstDash val="solid"/>
                      <a:round/>
                      <a:headEnd type="none" w="med" len="med"/>
                      <a:tailEnd type="none" w="med" len="med"/>
                    </a:lnB>
                  </a:tcPr>
                </a:tc>
                <a:tc>
                  <a:txBody>
                    <a:bodyPr/>
                    <a:lstStyle/>
                    <a:p>
                      <a:pPr indent="0" marL="0">
                        <a:lnSpc>
                          <a:spcPts val="1680"/>
                        </a:lnSpc>
                        <a:buNone/>
                      </a:pPr>
                      <a:r>
                        <a:rPr lang="en-US" sz="1200" dirty="0">
                          <a:solidFill>
                            <a:srgbClr val="16222C"/>
                          </a:solidFill>
                          <a:latin typeface="IBM Plex Sans" pitchFamily="34" charset="0"/>
                          <a:ea typeface="IBM Plex Sans" pitchFamily="34" charset="-122"/>
                          <a:cs typeface="IBM Plex Sans" pitchFamily="34" charset="-120"/>
                        </a:rPr>
                        <a:t>Nothing. No quote.</a:t>
                      </a:r>
                      <a:endParaRPr lang="en-US" sz="1200" dirty="0">
                        <a:latin typeface="IBM Plex Sans" charset="0"/>
                        <a:ea typeface="IBM Plex Sans" charset="0"/>
                        <a:cs typeface="IBM Plex Sans" charset="0"/>
                      </a:endParaRPr>
                    </a:p>
                  </a:txBody>
                  <a:tcPr marL="127000" marR="127000" marT="88900" marB="88900" anchor="t">
                    <a:lnL w="12700" cap="flat" cmpd="sng" algn="ctr">
                      <a:solidFill>
                        <a:srgbClr val="C3C0BB"/>
                      </a:solidFill>
                      <a:prstDash val="solid"/>
                      <a:round/>
                      <a:headEnd type="none" w="med" len="med"/>
                      <a:tailEnd type="none" w="med" len="med"/>
                    </a:lnL>
                    <a:lnR w="12700" cap="flat" cmpd="sng" algn="ctr">
                      <a:solidFill>
                        <a:srgbClr val="C3C0BB"/>
                      </a:solidFill>
                      <a:prstDash val="solid"/>
                      <a:round/>
                      <a:headEnd type="none" w="med" len="med"/>
                      <a:tailEnd type="none" w="med" len="med"/>
                    </a:lnR>
                    <a:lnT w="12700" cap="flat" cmpd="sng" algn="ctr">
                      <a:solidFill>
                        <a:srgbClr val="B5B2AD"/>
                      </a:solidFill>
                      <a:prstDash val="solid"/>
                      <a:round/>
                      <a:headEnd type="none" w="med" len="med"/>
                      <a:tailEnd type="none" w="med" len="med"/>
                    </a:lnT>
                    <a:lnB w="12700" cap="flat" cmpd="sng" algn="ctr">
                      <a:solidFill>
                        <a:srgbClr val="C3C0BB"/>
                      </a:solidFill>
                      <a:prstDash val="solid"/>
                      <a:round/>
                      <a:headEnd type="none" w="med" len="med"/>
                      <a:tailEnd type="none" w="med" len="med"/>
                    </a:lnB>
                  </a:tcPr>
                </a:tc>
              </a:tr>
              <a:tr h="416322">
                <a:tc>
                  <a:txBody>
                    <a:bodyPr/>
                    <a:lstStyle/>
                    <a:p>
                      <a:pPr indent="0" marL="0">
                        <a:lnSpc>
                          <a:spcPts val="1680"/>
                        </a:lnSpc>
                        <a:buNone/>
                      </a:pPr>
                      <a:r>
                        <a:rPr lang="en-US" sz="1200" dirty="0">
                          <a:solidFill>
                            <a:srgbClr val="16222C"/>
                          </a:solidFill>
                          <a:latin typeface="IBM Plex Sans" pitchFamily="34" charset="0"/>
                          <a:ea typeface="IBM Plex Sans" pitchFamily="34" charset="-122"/>
                          <a:cs typeface="IBM Plex Sans" pitchFamily="34" charset="-120"/>
                        </a:rPr>
                        <a:t>Questionnaires</a:t>
                      </a:r>
                      <a:endParaRPr lang="en-US" sz="1200" dirty="0">
                        <a:latin typeface="IBM Plex Sans" charset="0"/>
                        <a:ea typeface="IBM Plex Sans" charset="0"/>
                        <a:cs typeface="IBM Plex Sans" charset="0"/>
                      </a:endParaRPr>
                    </a:p>
                  </a:txBody>
                  <a:tcPr marL="127000" marR="127000" marT="88900" marB="88900" anchor="t">
                    <a:lnL w="12700" cap="flat" cmpd="sng" algn="ctr">
                      <a:solidFill>
                        <a:srgbClr val="C3C0BB"/>
                      </a:solidFill>
                      <a:prstDash val="solid"/>
                      <a:round/>
                      <a:headEnd type="none" w="med" len="med"/>
                      <a:tailEnd type="none" w="med" len="med"/>
                    </a:lnL>
                    <a:lnR w="12700" cap="flat" cmpd="sng" algn="ctr">
                      <a:solidFill>
                        <a:srgbClr val="C3C0BB"/>
                      </a:solidFill>
                      <a:prstDash val="solid"/>
                      <a:round/>
                      <a:headEnd type="none" w="med" len="med"/>
                      <a:tailEnd type="none" w="med" len="med"/>
                    </a:lnR>
                    <a:lnT w="12700" cap="flat" cmpd="sng" algn="ctr">
                      <a:solidFill>
                        <a:srgbClr val="C3C0BB"/>
                      </a:solidFill>
                      <a:prstDash val="solid"/>
                      <a:round/>
                      <a:headEnd type="none" w="med" len="med"/>
                      <a:tailEnd type="none" w="med" len="med"/>
                    </a:lnT>
                    <a:lnB w="12700" cap="flat" cmpd="sng" algn="ctr">
                      <a:solidFill>
                        <a:srgbClr val="C3C0BB"/>
                      </a:solidFill>
                      <a:prstDash val="solid"/>
                      <a:round/>
                      <a:headEnd type="none" w="med" len="med"/>
                      <a:tailEnd type="none" w="med" len="med"/>
                    </a:lnB>
                  </a:tcPr>
                </a:tc>
                <a:tc>
                  <a:txBody>
                    <a:bodyPr/>
                    <a:lstStyle/>
                    <a:p>
                      <a:pPr indent="0" marL="0">
                        <a:lnSpc>
                          <a:spcPts val="1680"/>
                        </a:lnSpc>
                        <a:buNone/>
                      </a:pPr>
                      <a:r>
                        <a:rPr lang="en-US" sz="1200" dirty="0">
                          <a:solidFill>
                            <a:srgbClr val="B5521B"/>
                          </a:solidFill>
                          <a:latin typeface="IBM Plex Sans" pitchFamily="34" charset="0"/>
                          <a:ea typeface="IBM Plex Sans" pitchFamily="34" charset="-122"/>
                          <a:cs typeface="IBM Plex Sans" pitchFamily="34" charset="-120"/>
                        </a:rPr>
                        <a:t>Not collected</a:t>
                      </a:r>
                      <a:endParaRPr lang="en-US" sz="1200" dirty="0">
                        <a:latin typeface="IBM Plex Sans" charset="0"/>
                        <a:ea typeface="IBM Plex Sans" charset="0"/>
                        <a:cs typeface="IBM Plex Sans" charset="0"/>
                      </a:endParaRPr>
                    </a:p>
                  </a:txBody>
                  <a:tcPr marL="127000" marR="127000" marT="88900" marB="88900" anchor="t">
                    <a:lnL w="12700" cap="flat" cmpd="sng" algn="ctr">
                      <a:solidFill>
                        <a:srgbClr val="C3C0BB"/>
                      </a:solidFill>
                      <a:prstDash val="solid"/>
                      <a:round/>
                      <a:headEnd type="none" w="med" len="med"/>
                      <a:tailEnd type="none" w="med" len="med"/>
                    </a:lnL>
                    <a:lnR w="12700" cap="flat" cmpd="sng" algn="ctr">
                      <a:solidFill>
                        <a:srgbClr val="C3C0BB"/>
                      </a:solidFill>
                      <a:prstDash val="solid"/>
                      <a:round/>
                      <a:headEnd type="none" w="med" len="med"/>
                      <a:tailEnd type="none" w="med" len="med"/>
                    </a:lnR>
                    <a:lnT w="12700" cap="flat" cmpd="sng" algn="ctr">
                      <a:solidFill>
                        <a:srgbClr val="C3C0BB"/>
                      </a:solidFill>
                      <a:prstDash val="solid"/>
                      <a:round/>
                      <a:headEnd type="none" w="med" len="med"/>
                      <a:tailEnd type="none" w="med" len="med"/>
                    </a:lnT>
                    <a:lnB w="12700" cap="flat" cmpd="sng" algn="ctr">
                      <a:solidFill>
                        <a:srgbClr val="C3C0BB"/>
                      </a:solidFill>
                      <a:prstDash val="solid"/>
                      <a:round/>
                      <a:headEnd type="none" w="med" len="med"/>
                      <a:tailEnd type="none" w="med" len="med"/>
                    </a:lnB>
                  </a:tcPr>
                </a:tc>
                <a:tc>
                  <a:txBody>
                    <a:bodyPr/>
                    <a:lstStyle/>
                    <a:p>
                      <a:pPr indent="0" marL="0">
                        <a:lnSpc>
                          <a:spcPts val="1680"/>
                        </a:lnSpc>
                        <a:buNone/>
                      </a:pPr>
                      <a:r>
                        <a:rPr lang="en-US" sz="1200" dirty="0">
                          <a:solidFill>
                            <a:srgbClr val="16222C"/>
                          </a:solidFill>
                          <a:latin typeface="IBM Plex Sans" pitchFamily="34" charset="0"/>
                          <a:ea typeface="IBM Plex Sans" pitchFamily="34" charset="-122"/>
                          <a:cs typeface="IBM Plex Sans" pitchFamily="34" charset="-120"/>
                        </a:rPr>
                        <a:t>Nothing. No percentage from us.</a:t>
                      </a:r>
                      <a:endParaRPr lang="en-US" sz="1200" dirty="0">
                        <a:latin typeface="IBM Plex Sans" charset="0"/>
                        <a:ea typeface="IBM Plex Sans" charset="0"/>
                        <a:cs typeface="IBM Plex Sans" charset="0"/>
                      </a:endParaRPr>
                    </a:p>
                  </a:txBody>
                  <a:tcPr marL="127000" marR="127000" marT="88900" marB="88900" anchor="t">
                    <a:lnL w="12700" cap="flat" cmpd="sng" algn="ctr">
                      <a:solidFill>
                        <a:srgbClr val="C3C0BB"/>
                      </a:solidFill>
                      <a:prstDash val="solid"/>
                      <a:round/>
                      <a:headEnd type="none" w="med" len="med"/>
                      <a:tailEnd type="none" w="med" len="med"/>
                    </a:lnL>
                    <a:lnR w="12700" cap="flat" cmpd="sng" algn="ctr">
                      <a:solidFill>
                        <a:srgbClr val="C3C0BB"/>
                      </a:solidFill>
                      <a:prstDash val="solid"/>
                      <a:round/>
                      <a:headEnd type="none" w="med" len="med"/>
                      <a:tailEnd type="none" w="med" len="med"/>
                    </a:lnR>
                    <a:lnT w="12700" cap="flat" cmpd="sng" algn="ctr">
                      <a:solidFill>
                        <a:srgbClr val="C3C0BB"/>
                      </a:solidFill>
                      <a:prstDash val="solid"/>
                      <a:round/>
                      <a:headEnd type="none" w="med" len="med"/>
                      <a:tailEnd type="none" w="med" len="med"/>
                    </a:lnT>
                    <a:lnB w="12700" cap="flat" cmpd="sng" algn="ctr">
                      <a:solidFill>
                        <a:srgbClr val="C3C0BB"/>
                      </a:solidFill>
                      <a:prstDash val="solid"/>
                      <a:round/>
                      <a:headEnd type="none" w="med" len="med"/>
                      <a:tailEnd type="none" w="med" len="med"/>
                    </a:lnB>
                  </a:tcPr>
                </a:tc>
              </a:tr>
              <a:tr h="629682">
                <a:tc>
                  <a:txBody>
                    <a:bodyPr/>
                    <a:lstStyle/>
                    <a:p>
                      <a:pPr indent="0" marL="0">
                        <a:lnSpc>
                          <a:spcPts val="1680"/>
                        </a:lnSpc>
                        <a:buNone/>
                      </a:pPr>
                      <a:r>
                        <a:rPr lang="en-US" sz="1200" dirty="0">
                          <a:solidFill>
                            <a:srgbClr val="16222C"/>
                          </a:solidFill>
                          <a:latin typeface="IBM Plex Sans" pitchFamily="34" charset="0"/>
                          <a:ea typeface="IBM Plex Sans" pitchFamily="34" charset="-122"/>
                          <a:cs typeface="IBM Plex Sans" pitchFamily="34" charset="-120"/>
                        </a:rPr>
                        <a:t>Observation</a:t>
                      </a:r>
                      <a:endParaRPr lang="en-US" sz="1200" dirty="0">
                        <a:latin typeface="IBM Plex Sans" charset="0"/>
                        <a:ea typeface="IBM Plex Sans" charset="0"/>
                        <a:cs typeface="IBM Plex Sans" charset="0"/>
                      </a:endParaRPr>
                    </a:p>
                  </a:txBody>
                  <a:tcPr marL="127000" marR="127000" marT="88900" marB="88900" anchor="t">
                    <a:lnL w="12700" cap="flat" cmpd="sng" algn="ctr">
                      <a:solidFill>
                        <a:srgbClr val="C3C0BB"/>
                      </a:solidFill>
                      <a:prstDash val="solid"/>
                      <a:round/>
                      <a:headEnd type="none" w="med" len="med"/>
                      <a:tailEnd type="none" w="med" len="med"/>
                    </a:lnL>
                    <a:lnR w="12700" cap="flat" cmpd="sng" algn="ctr">
                      <a:solidFill>
                        <a:srgbClr val="C3C0BB"/>
                      </a:solidFill>
                      <a:prstDash val="solid"/>
                      <a:round/>
                      <a:headEnd type="none" w="med" len="med"/>
                      <a:tailEnd type="none" w="med" len="med"/>
                    </a:lnR>
                    <a:lnT w="12700" cap="flat" cmpd="sng" algn="ctr">
                      <a:solidFill>
                        <a:srgbClr val="C3C0BB"/>
                      </a:solidFill>
                      <a:prstDash val="solid"/>
                      <a:round/>
                      <a:headEnd type="none" w="med" len="med"/>
                      <a:tailEnd type="none" w="med" len="med"/>
                    </a:lnT>
                    <a:lnB w="12700" cap="flat" cmpd="sng" algn="ctr">
                      <a:solidFill>
                        <a:srgbClr val="C3C0BB"/>
                      </a:solidFill>
                      <a:prstDash val="solid"/>
                      <a:round/>
                      <a:headEnd type="none" w="med" len="med"/>
                      <a:tailEnd type="none" w="med" len="med"/>
                    </a:lnB>
                  </a:tcPr>
                </a:tc>
                <a:tc>
                  <a:txBody>
                    <a:bodyPr/>
                    <a:lstStyle/>
                    <a:p>
                      <a:pPr indent="0" marL="0">
                        <a:lnSpc>
                          <a:spcPts val="1680"/>
                        </a:lnSpc>
                        <a:buNone/>
                      </a:pPr>
                      <a:r>
                        <a:rPr lang="en-US" sz="1200" dirty="0">
                          <a:solidFill>
                            <a:srgbClr val="B5521B"/>
                          </a:solidFill>
                          <a:latin typeface="IBM Plex Sans" pitchFamily="34" charset="0"/>
                          <a:ea typeface="IBM Plex Sans" pitchFamily="34" charset="-122"/>
                          <a:cs typeface="IBM Plex Sans" pitchFamily="34" charset="-120"/>
                        </a:rPr>
                        <a:t>Not done</a:t>
                      </a:r>
                      <a:endParaRPr lang="en-US" sz="1200" dirty="0">
                        <a:latin typeface="IBM Plex Sans" charset="0"/>
                        <a:ea typeface="IBM Plex Sans" charset="0"/>
                        <a:cs typeface="IBM Plex Sans" charset="0"/>
                      </a:endParaRPr>
                    </a:p>
                  </a:txBody>
                  <a:tcPr marL="127000" marR="127000" marT="88900" marB="88900" anchor="t">
                    <a:lnL w="12700" cap="flat" cmpd="sng" algn="ctr">
                      <a:solidFill>
                        <a:srgbClr val="C3C0BB"/>
                      </a:solidFill>
                      <a:prstDash val="solid"/>
                      <a:round/>
                      <a:headEnd type="none" w="med" len="med"/>
                      <a:tailEnd type="none" w="med" len="med"/>
                    </a:lnL>
                    <a:lnR w="12700" cap="flat" cmpd="sng" algn="ctr">
                      <a:solidFill>
                        <a:srgbClr val="C3C0BB"/>
                      </a:solidFill>
                      <a:prstDash val="solid"/>
                      <a:round/>
                      <a:headEnd type="none" w="med" len="med"/>
                      <a:tailEnd type="none" w="med" len="med"/>
                    </a:lnR>
                    <a:lnT w="12700" cap="flat" cmpd="sng" algn="ctr">
                      <a:solidFill>
                        <a:srgbClr val="C3C0BB"/>
                      </a:solidFill>
                      <a:prstDash val="solid"/>
                      <a:round/>
                      <a:headEnd type="none" w="med" len="med"/>
                      <a:tailEnd type="none" w="med" len="med"/>
                    </a:lnT>
                    <a:lnB w="12700" cap="flat" cmpd="sng" algn="ctr">
                      <a:solidFill>
                        <a:srgbClr val="C3C0BB"/>
                      </a:solidFill>
                      <a:prstDash val="solid"/>
                      <a:round/>
                      <a:headEnd type="none" w="med" len="med"/>
                      <a:tailEnd type="none" w="med" len="med"/>
                    </a:lnB>
                  </a:tcPr>
                </a:tc>
                <a:tc>
                  <a:txBody>
                    <a:bodyPr/>
                    <a:lstStyle/>
                    <a:p>
                      <a:pPr indent="0" marL="0">
                        <a:lnSpc>
                          <a:spcPts val="1680"/>
                        </a:lnSpc>
                        <a:buNone/>
                      </a:pPr>
                      <a:r>
                        <a:rPr lang="en-US" sz="1200" dirty="0">
                          <a:solidFill>
                            <a:srgbClr val="16222C"/>
                          </a:solidFill>
                          <a:latin typeface="IBM Plex Sans" pitchFamily="34" charset="0"/>
                          <a:ea typeface="IBM Plex Sans" pitchFamily="34" charset="-122"/>
                          <a:cs typeface="IBM Plex Sans" pitchFamily="34" charset="-120"/>
                        </a:rPr>
                        <a:t>Nothing about a Tunis crew or a specific crossing.</a:t>
                      </a:r>
                      <a:endParaRPr lang="en-US" sz="1200" dirty="0">
                        <a:latin typeface="IBM Plex Sans" charset="0"/>
                        <a:ea typeface="IBM Plex Sans" charset="0"/>
                        <a:cs typeface="IBM Plex Sans" charset="0"/>
                      </a:endParaRPr>
                    </a:p>
                  </a:txBody>
                  <a:tcPr marL="127000" marR="127000" marT="88900" marB="88900" anchor="t">
                    <a:lnL w="12700" cap="flat" cmpd="sng" algn="ctr">
                      <a:solidFill>
                        <a:srgbClr val="C3C0BB"/>
                      </a:solidFill>
                      <a:prstDash val="solid"/>
                      <a:round/>
                      <a:headEnd type="none" w="med" len="med"/>
                      <a:tailEnd type="none" w="med" len="med"/>
                    </a:lnL>
                    <a:lnR w="12700" cap="flat" cmpd="sng" algn="ctr">
                      <a:solidFill>
                        <a:srgbClr val="C3C0BB"/>
                      </a:solidFill>
                      <a:prstDash val="solid"/>
                      <a:round/>
                      <a:headEnd type="none" w="med" len="med"/>
                      <a:tailEnd type="none" w="med" len="med"/>
                    </a:lnR>
                    <a:lnT w="12700" cap="flat" cmpd="sng" algn="ctr">
                      <a:solidFill>
                        <a:srgbClr val="C3C0BB"/>
                      </a:solidFill>
                      <a:prstDash val="solid"/>
                      <a:round/>
                      <a:headEnd type="none" w="med" len="med"/>
                      <a:tailEnd type="none" w="med" len="med"/>
                    </a:lnT>
                    <a:lnB w="12700" cap="flat" cmpd="sng" algn="ctr">
                      <a:solidFill>
                        <a:srgbClr val="C3C0BB"/>
                      </a:solidFill>
                      <a:prstDash val="solid"/>
                      <a:round/>
                      <a:headEnd type="none" w="med" len="med"/>
                      <a:tailEnd type="none" w="med" len="med"/>
                    </a:lnB>
                  </a:tcPr>
                </a:tc>
              </a:tr>
              <a:tr h="843121">
                <a:tc>
                  <a:txBody>
                    <a:bodyPr/>
                    <a:lstStyle/>
                    <a:p>
                      <a:pPr indent="0" marL="0">
                        <a:lnSpc>
                          <a:spcPts val="1680"/>
                        </a:lnSpc>
                        <a:buNone/>
                      </a:pPr>
                      <a:r>
                        <a:rPr lang="en-US" sz="1200" dirty="0">
                          <a:solidFill>
                            <a:srgbClr val="16222C"/>
                          </a:solidFill>
                          <a:latin typeface="IBM Plex Sans" pitchFamily="34" charset="0"/>
                          <a:ea typeface="IBM Plex Sans" pitchFamily="34" charset="-122"/>
                          <a:cs typeface="IBM Plex Sans" pitchFamily="34" charset="-120"/>
                        </a:rPr>
                        <a:t>Existing data</a:t>
                      </a:r>
                      <a:endParaRPr lang="en-US" sz="1200" dirty="0">
                        <a:latin typeface="IBM Plex Sans" charset="0"/>
                        <a:ea typeface="IBM Plex Sans" charset="0"/>
                        <a:cs typeface="IBM Plex Sans" charset="0"/>
                      </a:endParaRPr>
                    </a:p>
                  </a:txBody>
                  <a:tcPr marL="127000" marR="127000" marT="88900" marB="88900" anchor="t">
                    <a:lnL w="12700" cap="flat" cmpd="sng" algn="ctr">
                      <a:solidFill>
                        <a:srgbClr val="C3C0BB"/>
                      </a:solidFill>
                      <a:prstDash val="solid"/>
                      <a:round/>
                      <a:headEnd type="none" w="med" len="med"/>
                      <a:tailEnd type="none" w="med" len="med"/>
                    </a:lnL>
                    <a:lnR w="12700" cap="flat" cmpd="sng" algn="ctr">
                      <a:solidFill>
                        <a:srgbClr val="C3C0BB"/>
                      </a:solidFill>
                      <a:prstDash val="solid"/>
                      <a:round/>
                      <a:headEnd type="none" w="med" len="med"/>
                      <a:tailEnd type="none" w="med" len="med"/>
                    </a:lnR>
                    <a:lnT w="12700" cap="flat" cmpd="sng" algn="ctr">
                      <a:solidFill>
                        <a:srgbClr val="C3C0BB"/>
                      </a:solidFill>
                      <a:prstDash val="solid"/>
                      <a:round/>
                      <a:headEnd type="none" w="med" len="med"/>
                      <a:tailEnd type="none" w="med" len="med"/>
                    </a:lnT>
                    <a:lnB w="12700" cap="flat" cmpd="sng" algn="ctr">
                      <a:solidFill>
                        <a:srgbClr val="C3C0BB"/>
                      </a:solidFill>
                      <a:prstDash val="solid"/>
                      <a:round/>
                      <a:headEnd type="none" w="med" len="med"/>
                      <a:tailEnd type="none" w="med" len="med"/>
                    </a:lnB>
                  </a:tcPr>
                </a:tc>
                <a:tc>
                  <a:txBody>
                    <a:bodyPr/>
                    <a:lstStyle/>
                    <a:p>
                      <a:pPr indent="0" marL="0">
                        <a:lnSpc>
                          <a:spcPts val="1680"/>
                        </a:lnSpc>
                        <a:buNone/>
                      </a:pPr>
                      <a:r>
                        <a:rPr lang="en-US" sz="1200" dirty="0">
                          <a:solidFill>
                            <a:srgbClr val="1F6B72"/>
                          </a:solidFill>
                          <a:latin typeface="IBM Plex Sans" pitchFamily="34" charset="0"/>
                          <a:ea typeface="IBM Plex Sans" pitchFamily="34" charset="-122"/>
                          <a:cs typeface="IBM Plex Sans" pitchFamily="34" charset="-120"/>
                        </a:rPr>
                        <a:t>Used</a:t>
                      </a:r>
                      <a:endParaRPr lang="en-US" sz="1200" dirty="0">
                        <a:latin typeface="IBM Plex Sans" charset="0"/>
                        <a:ea typeface="IBM Plex Sans" charset="0"/>
                        <a:cs typeface="IBM Plex Sans" charset="0"/>
                      </a:endParaRPr>
                    </a:p>
                  </a:txBody>
                  <a:tcPr marL="127000" marR="127000" marT="88900" marB="88900" anchor="t">
                    <a:lnL w="12700" cap="flat" cmpd="sng" algn="ctr">
                      <a:solidFill>
                        <a:srgbClr val="C3C0BB"/>
                      </a:solidFill>
                      <a:prstDash val="solid"/>
                      <a:round/>
                      <a:headEnd type="none" w="med" len="med"/>
                      <a:tailEnd type="none" w="med" len="med"/>
                    </a:lnL>
                    <a:lnR w="12700" cap="flat" cmpd="sng" algn="ctr">
                      <a:solidFill>
                        <a:srgbClr val="C3C0BB"/>
                      </a:solidFill>
                      <a:prstDash val="solid"/>
                      <a:round/>
                      <a:headEnd type="none" w="med" len="med"/>
                      <a:tailEnd type="none" w="med" len="med"/>
                    </a:lnR>
                    <a:lnT w="12700" cap="flat" cmpd="sng" algn="ctr">
                      <a:solidFill>
                        <a:srgbClr val="C3C0BB"/>
                      </a:solidFill>
                      <a:prstDash val="solid"/>
                      <a:round/>
                      <a:headEnd type="none" w="med" len="med"/>
                      <a:tailEnd type="none" w="med" len="med"/>
                    </a:lnT>
                    <a:lnB w="12700" cap="flat" cmpd="sng" algn="ctr">
                      <a:solidFill>
                        <a:srgbClr val="C3C0BB"/>
                      </a:solidFill>
                      <a:prstDash val="solid"/>
                      <a:round/>
                      <a:headEnd type="none" w="med" len="med"/>
                      <a:tailEnd type="none" w="med" len="med"/>
                    </a:lnB>
                  </a:tcPr>
                </a:tc>
                <a:tc>
                  <a:txBody>
                    <a:bodyPr/>
                    <a:lstStyle/>
                    <a:p>
                      <a:pPr indent="0" marL="0">
                        <a:lnSpc>
                          <a:spcPts val="1680"/>
                        </a:lnSpc>
                        <a:buNone/>
                      </a:pPr>
                      <a:r>
                        <a:rPr lang="en-US" sz="1200" dirty="0">
                          <a:solidFill>
                            <a:srgbClr val="16222C"/>
                          </a:solidFill>
                          <a:latin typeface="IBM Plex Sans" pitchFamily="34" charset="0"/>
                          <a:ea typeface="IBM Plex Sans" pitchFamily="34" charset="-122"/>
                          <a:cs typeface="IBM Plex Sans" pitchFamily="34" charset="-120"/>
                        </a:rPr>
                        <a:t>WHO country profile · WHO/UNIATF investment case quoting ONSR · La Presse briefing, 17 Jan 2025 · INS counts · TRANSTU 2018 report</a:t>
                      </a:r>
                      <a:endParaRPr lang="en-US" sz="1200" dirty="0">
                        <a:latin typeface="IBM Plex Sans" charset="0"/>
                        <a:ea typeface="IBM Plex Sans" charset="0"/>
                        <a:cs typeface="IBM Plex Sans" charset="0"/>
                      </a:endParaRPr>
                    </a:p>
                  </a:txBody>
                  <a:tcPr marL="127000" marR="127000" marT="88900" marB="88900" anchor="t">
                    <a:lnL w="12700" cap="flat" cmpd="sng" algn="ctr">
                      <a:solidFill>
                        <a:srgbClr val="C3C0BB"/>
                      </a:solidFill>
                      <a:prstDash val="solid"/>
                      <a:round/>
                      <a:headEnd type="none" w="med" len="med"/>
                      <a:tailEnd type="none" w="med" len="med"/>
                    </a:lnL>
                    <a:lnR w="12700" cap="flat" cmpd="sng" algn="ctr">
                      <a:solidFill>
                        <a:srgbClr val="C3C0BB"/>
                      </a:solidFill>
                      <a:prstDash val="solid"/>
                      <a:round/>
                      <a:headEnd type="none" w="med" len="med"/>
                      <a:tailEnd type="none" w="med" len="med"/>
                    </a:lnR>
                    <a:lnT w="12700" cap="flat" cmpd="sng" algn="ctr">
                      <a:solidFill>
                        <a:srgbClr val="C3C0BB"/>
                      </a:solidFill>
                      <a:prstDash val="solid"/>
                      <a:round/>
                      <a:headEnd type="none" w="med" len="med"/>
                      <a:tailEnd type="none" w="med" len="med"/>
                    </a:lnT>
                    <a:lnB w="12700" cap="flat" cmpd="sng" algn="ctr">
                      <a:solidFill>
                        <a:srgbClr val="C3C0BB"/>
                      </a:solidFill>
                      <a:prstDash val="solid"/>
                      <a:round/>
                      <a:headEnd type="none" w="med" len="med"/>
                      <a:tailEnd type="none" w="med" len="med"/>
                    </a:lnB>
                  </a:tcPr>
                </a:tc>
              </a:tr>
              <a:tr h="843121">
                <a:tc>
                  <a:txBody>
                    <a:bodyPr/>
                    <a:lstStyle/>
                    <a:p>
                      <a:pPr indent="0" marL="0">
                        <a:lnSpc>
                          <a:spcPts val="1680"/>
                        </a:lnSpc>
                        <a:buNone/>
                      </a:pPr>
                      <a:r>
                        <a:rPr lang="en-US" sz="1200" dirty="0">
                          <a:solidFill>
                            <a:srgbClr val="16222C"/>
                          </a:solidFill>
                          <a:latin typeface="IBM Plex Sans" pitchFamily="34" charset="0"/>
                          <a:ea typeface="IBM Plex Sans" pitchFamily="34" charset="-122"/>
                          <a:cs typeface="IBM Plex Sans" pitchFamily="34" charset="-120"/>
                        </a:rPr>
                        <a:t>Literature</a:t>
                      </a:r>
                      <a:endParaRPr lang="en-US" sz="1200" dirty="0">
                        <a:latin typeface="IBM Plex Sans" charset="0"/>
                        <a:ea typeface="IBM Plex Sans" charset="0"/>
                        <a:cs typeface="IBM Plex Sans" charset="0"/>
                      </a:endParaRPr>
                    </a:p>
                  </a:txBody>
                  <a:tcPr marL="127000" marR="127000" marT="88900" marB="88900" anchor="t">
                    <a:lnL w="12700" cap="flat" cmpd="sng" algn="ctr">
                      <a:solidFill>
                        <a:srgbClr val="C3C0BB"/>
                      </a:solidFill>
                      <a:prstDash val="solid"/>
                      <a:round/>
                      <a:headEnd type="none" w="med" len="med"/>
                      <a:tailEnd type="none" w="med" len="med"/>
                    </a:lnL>
                    <a:lnR w="12700" cap="flat" cmpd="sng" algn="ctr">
                      <a:solidFill>
                        <a:srgbClr val="C3C0BB"/>
                      </a:solidFill>
                      <a:prstDash val="solid"/>
                      <a:round/>
                      <a:headEnd type="none" w="med" len="med"/>
                      <a:tailEnd type="none" w="med" len="med"/>
                    </a:lnR>
                    <a:lnT w="12700" cap="flat" cmpd="sng" algn="ctr">
                      <a:solidFill>
                        <a:srgbClr val="C3C0BB"/>
                      </a:solidFill>
                      <a:prstDash val="solid"/>
                      <a:round/>
                      <a:headEnd type="none" w="med" len="med"/>
                      <a:tailEnd type="none" w="med" len="med"/>
                    </a:lnT>
                    <a:lnB w="12700" cap="flat" cmpd="sng" algn="ctr">
                      <a:solidFill>
                        <a:srgbClr val="C3C0BB"/>
                      </a:solidFill>
                      <a:prstDash val="solid"/>
                      <a:round/>
                      <a:headEnd type="none" w="med" len="med"/>
                      <a:tailEnd type="none" w="med" len="med"/>
                    </a:lnB>
                  </a:tcPr>
                </a:tc>
                <a:tc>
                  <a:txBody>
                    <a:bodyPr/>
                    <a:lstStyle/>
                    <a:p>
                      <a:pPr indent="0" marL="0">
                        <a:lnSpc>
                          <a:spcPts val="1680"/>
                        </a:lnSpc>
                        <a:buNone/>
                      </a:pPr>
                      <a:r>
                        <a:rPr lang="en-US" sz="1200" dirty="0">
                          <a:solidFill>
                            <a:srgbClr val="1F6B72"/>
                          </a:solidFill>
                          <a:latin typeface="IBM Plex Sans" pitchFamily="34" charset="0"/>
                          <a:ea typeface="IBM Plex Sans" pitchFamily="34" charset="-122"/>
                          <a:cs typeface="IBM Plex Sans" pitchFamily="34" charset="-120"/>
                        </a:rPr>
                        <a:t>Used</a:t>
                      </a:r>
                      <a:endParaRPr lang="en-US" sz="1200" dirty="0">
                        <a:latin typeface="IBM Plex Sans" charset="0"/>
                        <a:ea typeface="IBM Plex Sans" charset="0"/>
                        <a:cs typeface="IBM Plex Sans" charset="0"/>
                      </a:endParaRPr>
                    </a:p>
                  </a:txBody>
                  <a:tcPr marL="127000" marR="127000" marT="88900" marB="88900" anchor="t">
                    <a:lnL w="12700" cap="flat" cmpd="sng" algn="ctr">
                      <a:solidFill>
                        <a:srgbClr val="C3C0BB"/>
                      </a:solidFill>
                      <a:prstDash val="solid"/>
                      <a:round/>
                      <a:headEnd type="none" w="med" len="med"/>
                      <a:tailEnd type="none" w="med" len="med"/>
                    </a:lnL>
                    <a:lnR w="12700" cap="flat" cmpd="sng" algn="ctr">
                      <a:solidFill>
                        <a:srgbClr val="C3C0BB"/>
                      </a:solidFill>
                      <a:prstDash val="solid"/>
                      <a:round/>
                      <a:headEnd type="none" w="med" len="med"/>
                      <a:tailEnd type="none" w="med" len="med"/>
                    </a:lnR>
                    <a:lnT w="12700" cap="flat" cmpd="sng" algn="ctr">
                      <a:solidFill>
                        <a:srgbClr val="C3C0BB"/>
                      </a:solidFill>
                      <a:prstDash val="solid"/>
                      <a:round/>
                      <a:headEnd type="none" w="med" len="med"/>
                      <a:tailEnd type="none" w="med" len="med"/>
                    </a:lnT>
                    <a:lnB w="12700" cap="flat" cmpd="sng" algn="ctr">
                      <a:solidFill>
                        <a:srgbClr val="C3C0BB"/>
                      </a:solidFill>
                      <a:prstDash val="solid"/>
                      <a:round/>
                      <a:headEnd type="none" w="med" len="med"/>
                      <a:tailEnd type="none" w="med" len="med"/>
                    </a:lnB>
                  </a:tcPr>
                </a:tc>
                <a:tc>
                  <a:txBody>
                    <a:bodyPr/>
                    <a:lstStyle/>
                    <a:p>
                      <a:pPr indent="0" marL="0">
                        <a:lnSpc>
                          <a:spcPts val="1680"/>
                        </a:lnSpc>
                        <a:buNone/>
                      </a:pPr>
                      <a:r>
                        <a:rPr lang="en-US" sz="1200" dirty="0">
                          <a:solidFill>
                            <a:srgbClr val="16222C"/>
                          </a:solidFill>
                          <a:latin typeface="IBM Plex Sans" pitchFamily="34" charset="0"/>
                          <a:ea typeface="IBM Plex Sans" pitchFamily="34" charset="-122"/>
                          <a:cs typeface="IBM Plex Sans" pitchFamily="34" charset="-120"/>
                        </a:rPr>
                        <a:t>Clearance guidance · appraisal guidance on wait and reliability · SCATS audit-trail analogy · a Taipei EMS figure, labelled not Tunis</a:t>
                      </a:r>
                      <a:endParaRPr lang="en-US" sz="1200" dirty="0">
                        <a:latin typeface="IBM Plex Sans" charset="0"/>
                        <a:ea typeface="IBM Plex Sans" charset="0"/>
                        <a:cs typeface="IBM Plex Sans" charset="0"/>
                      </a:endParaRPr>
                    </a:p>
                  </a:txBody>
                  <a:tcPr marL="127000" marR="127000" marT="88900" marB="88900" anchor="t">
                    <a:lnL w="12700" cap="flat" cmpd="sng" algn="ctr">
                      <a:solidFill>
                        <a:srgbClr val="C3C0BB"/>
                      </a:solidFill>
                      <a:prstDash val="solid"/>
                      <a:round/>
                      <a:headEnd type="none" w="med" len="med"/>
                      <a:tailEnd type="none" w="med" len="med"/>
                    </a:lnL>
                    <a:lnR w="12700" cap="flat" cmpd="sng" algn="ctr">
                      <a:solidFill>
                        <a:srgbClr val="C3C0BB"/>
                      </a:solidFill>
                      <a:prstDash val="solid"/>
                      <a:round/>
                      <a:headEnd type="none" w="med" len="med"/>
                      <a:tailEnd type="none" w="med" len="med"/>
                    </a:lnR>
                    <a:lnT w="12700" cap="flat" cmpd="sng" algn="ctr">
                      <a:solidFill>
                        <a:srgbClr val="C3C0BB"/>
                      </a:solidFill>
                      <a:prstDash val="solid"/>
                      <a:round/>
                      <a:headEnd type="none" w="med" len="med"/>
                      <a:tailEnd type="none" w="med" len="med"/>
                    </a:lnT>
                    <a:lnB w="12700" cap="flat" cmpd="sng" algn="ctr">
                      <a:solidFill>
                        <a:srgbClr val="C3C0BB"/>
                      </a:solidFill>
                      <a:prstDash val="solid"/>
                      <a:round/>
                      <a:headEnd type="none" w="med" len="med"/>
                      <a:tailEnd type="none" w="med" len="med"/>
                    </a:lnB>
                  </a:tcPr>
                </a:tc>
              </a:tr>
              <a:tr h="629761">
                <a:tc>
                  <a:txBody>
                    <a:bodyPr/>
                    <a:lstStyle/>
                    <a:p>
                      <a:pPr indent="0" marL="0">
                        <a:lnSpc>
                          <a:spcPts val="1680"/>
                        </a:lnSpc>
                        <a:buNone/>
                      </a:pPr>
                      <a:r>
                        <a:rPr lang="en-US" sz="1200" dirty="0">
                          <a:solidFill>
                            <a:srgbClr val="16222C"/>
                          </a:solidFill>
                          <a:latin typeface="IBM Plex Sans" pitchFamily="34" charset="0"/>
                          <a:ea typeface="IBM Plex Sans" pitchFamily="34" charset="-122"/>
                          <a:cs typeface="IBM Plex Sans" pitchFamily="34" charset="-120"/>
                        </a:rPr>
                        <a:t>Our simulation</a:t>
                      </a:r>
                      <a:endParaRPr lang="en-US" sz="1200" dirty="0">
                        <a:latin typeface="IBM Plex Sans" charset="0"/>
                        <a:ea typeface="IBM Plex Sans" charset="0"/>
                        <a:cs typeface="IBM Plex Sans" charset="0"/>
                      </a:endParaRPr>
                    </a:p>
                  </a:txBody>
                  <a:tcPr marL="127000" marR="127000" marT="88900" marB="88900" anchor="t">
                    <a:lnL w="12700" cap="flat" cmpd="sng" algn="ctr">
                      <a:solidFill>
                        <a:srgbClr val="C3C0BB"/>
                      </a:solidFill>
                      <a:prstDash val="solid"/>
                      <a:round/>
                      <a:headEnd type="none" w="med" len="med"/>
                      <a:tailEnd type="none" w="med" len="med"/>
                    </a:lnL>
                    <a:lnR w="12700" cap="flat" cmpd="sng" algn="ctr">
                      <a:solidFill>
                        <a:srgbClr val="C3C0BB"/>
                      </a:solidFill>
                      <a:prstDash val="solid"/>
                      <a:round/>
                      <a:headEnd type="none" w="med" len="med"/>
                      <a:tailEnd type="none" w="med" len="med"/>
                    </a:lnR>
                    <a:lnT w="12700" cap="flat" cmpd="sng" algn="ctr">
                      <a:solidFill>
                        <a:srgbClr val="C3C0BB"/>
                      </a:solidFill>
                      <a:prstDash val="solid"/>
                      <a:round/>
                      <a:headEnd type="none" w="med" len="med"/>
                      <a:tailEnd type="none" w="med" len="med"/>
                    </a:lnT>
                    <a:lnB w="12700" cap="flat" cmpd="sng" algn="ctr">
                      <a:solidFill>
                        <a:srgbClr val="C3C0BB"/>
                      </a:solidFill>
                      <a:prstDash val="solid"/>
                      <a:round/>
                      <a:headEnd type="none" w="med" len="med"/>
                      <a:tailEnd type="none" w="med" len="med"/>
                    </a:lnB>
                  </a:tcPr>
                </a:tc>
                <a:tc>
                  <a:txBody>
                    <a:bodyPr/>
                    <a:lstStyle/>
                    <a:p>
                      <a:pPr indent="0" marL="0">
                        <a:lnSpc>
                          <a:spcPts val="1680"/>
                        </a:lnSpc>
                        <a:buNone/>
                      </a:pPr>
                      <a:r>
                        <a:rPr lang="en-US" sz="1200" dirty="0">
                          <a:solidFill>
                            <a:srgbClr val="16222C"/>
                          </a:solidFill>
                          <a:latin typeface="IBM Plex Sans" pitchFamily="34" charset="0"/>
                          <a:ea typeface="IBM Plex Sans" pitchFamily="34" charset="-122"/>
                          <a:cs typeface="IBM Plex Sans" pitchFamily="34" charset="-120"/>
                        </a:rPr>
                        <a:t>One matched seed</a:t>
                      </a:r>
                      <a:endParaRPr lang="en-US" sz="1200" dirty="0">
                        <a:latin typeface="IBM Plex Sans" charset="0"/>
                        <a:ea typeface="IBM Plex Sans" charset="0"/>
                        <a:cs typeface="IBM Plex Sans" charset="0"/>
                      </a:endParaRPr>
                    </a:p>
                  </a:txBody>
                  <a:tcPr marL="127000" marR="127000" marT="88900" marB="88900" anchor="t">
                    <a:lnL w="12700" cap="flat" cmpd="sng" algn="ctr">
                      <a:solidFill>
                        <a:srgbClr val="C3C0BB"/>
                      </a:solidFill>
                      <a:prstDash val="solid"/>
                      <a:round/>
                      <a:headEnd type="none" w="med" len="med"/>
                      <a:tailEnd type="none" w="med" len="med"/>
                    </a:lnL>
                    <a:lnR w="12700" cap="flat" cmpd="sng" algn="ctr">
                      <a:solidFill>
                        <a:srgbClr val="C3C0BB"/>
                      </a:solidFill>
                      <a:prstDash val="solid"/>
                      <a:round/>
                      <a:headEnd type="none" w="med" len="med"/>
                      <a:tailEnd type="none" w="med" len="med"/>
                    </a:lnR>
                    <a:lnT w="12700" cap="flat" cmpd="sng" algn="ctr">
                      <a:solidFill>
                        <a:srgbClr val="C3C0BB"/>
                      </a:solidFill>
                      <a:prstDash val="solid"/>
                      <a:round/>
                      <a:headEnd type="none" w="med" len="med"/>
                      <a:tailEnd type="none" w="med" len="med"/>
                    </a:lnT>
                    <a:lnB w="12700" cap="flat" cmpd="sng" algn="ctr">
                      <a:solidFill>
                        <a:srgbClr val="C3C0BB"/>
                      </a:solidFill>
                      <a:prstDash val="solid"/>
                      <a:round/>
                      <a:headEnd type="none" w="med" len="med"/>
                      <a:tailEnd type="none" w="med" len="med"/>
                    </a:lnB>
                  </a:tcPr>
                </a:tc>
                <a:tc>
                  <a:txBody>
                    <a:bodyPr/>
                    <a:lstStyle/>
                    <a:p>
                      <a:pPr indent="0" marL="0">
                        <a:lnSpc>
                          <a:spcPts val="1680"/>
                        </a:lnSpc>
                        <a:buNone/>
                      </a:pPr>
                      <a:r>
                        <a:rPr lang="en-US" sz="1200" dirty="0">
                          <a:solidFill>
                            <a:srgbClr val="16222C"/>
                          </a:solidFill>
                          <a:latin typeface="IBM Plex Sans" pitchFamily="34" charset="0"/>
                          <a:ea typeface="IBM Plex Sans" pitchFamily="34" charset="-122"/>
                          <a:cs typeface="IBM Plex Sans" pitchFamily="34" charset="-120"/>
                        </a:rPr>
                        <a:t>71, 84 and 70 of 84 trips finished. Mixed. No winner. Not a Tunis result.</a:t>
                      </a:r>
                      <a:endParaRPr lang="en-US" sz="1200" dirty="0">
                        <a:latin typeface="IBM Plex Sans" charset="0"/>
                        <a:ea typeface="IBM Plex Sans" charset="0"/>
                        <a:cs typeface="IBM Plex Sans" charset="0"/>
                      </a:endParaRPr>
                    </a:p>
                  </a:txBody>
                  <a:tcPr marL="127000" marR="127000" marT="88900" marB="88900" anchor="t">
                    <a:lnL w="12700" cap="flat" cmpd="sng" algn="ctr">
                      <a:solidFill>
                        <a:srgbClr val="C3C0BB"/>
                      </a:solidFill>
                      <a:prstDash val="solid"/>
                      <a:round/>
                      <a:headEnd type="none" w="med" len="med"/>
                      <a:tailEnd type="none" w="med" len="med"/>
                    </a:lnL>
                    <a:lnR w="12700" cap="flat" cmpd="sng" algn="ctr">
                      <a:solidFill>
                        <a:srgbClr val="C3C0BB"/>
                      </a:solidFill>
                      <a:prstDash val="solid"/>
                      <a:round/>
                      <a:headEnd type="none" w="med" len="med"/>
                      <a:tailEnd type="none" w="med" len="med"/>
                    </a:lnR>
                    <a:lnT w="12700" cap="flat" cmpd="sng" algn="ctr">
                      <a:solidFill>
                        <a:srgbClr val="C3C0BB"/>
                      </a:solidFill>
                      <a:prstDash val="solid"/>
                      <a:round/>
                      <a:headEnd type="none" w="med" len="med"/>
                      <a:tailEnd type="none" w="med" len="med"/>
                    </a:lnT>
                    <a:lnB w="12700" cap="flat" cmpd="sng" algn="ctr">
                      <a:solidFill>
                        <a:srgbClr val="C3C0BB"/>
                      </a:solidFill>
                      <a:prstDash val="solid"/>
                      <a:round/>
                      <a:headEnd type="none" w="med" len="med"/>
                      <a:tailEnd type="none" w="med" len="med"/>
                    </a:lnB>
                  </a:tcPr>
                </a:tc>
              </a:tr>
            </a:tbl>
          </a:graphicData>
        </a:graphic>
      </p:graphicFrame>
      <p:sp>
        <p:nvSpPr>
          <p:cNvPr id="5" name="Text 2"/>
          <p:cNvSpPr/>
          <p:nvPr/>
        </p:nvSpPr>
        <p:spPr>
          <a:xfrm>
            <a:off x="812800" y="6238239"/>
            <a:ext cx="3553699"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B73"/>
                </a:solidFill>
                <a:latin typeface="IBM Plex Sans" pitchFamily="34" charset="0"/>
                <a:ea typeface="IBM Plex Sans" pitchFamily="34" charset="-122"/>
                <a:cs typeface="IBM Plex Sans" pitchFamily="34" charset="-120"/>
              </a:rPr>
              <a:t>Primary research is the gap we name first, not last.</a:t>
            </a:r>
            <a:endParaRPr lang="en-US" sz="1200" dirty="0"/>
          </a:p>
        </p:txBody>
      </p:sp>
      <p:sp>
        <p:nvSpPr>
          <p:cNvPr id="6" name="Text 3"/>
          <p:cNvSpPr/>
          <p:nvPr/>
        </p:nvSpPr>
        <p:spPr>
          <a:xfrm>
            <a:off x="11196320" y="6238239"/>
            <a:ext cx="23368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B73"/>
                </a:solidFill>
                <a:latin typeface="IBM Plex Sans" pitchFamily="34" charset="0"/>
                <a:ea typeface="IBM Plex Sans" pitchFamily="34" charset="-122"/>
                <a:cs typeface="IBM Plex Sans" pitchFamily="34" charset="-120"/>
              </a:rPr>
              <a:t>06</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E9E4D8"/>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1F6B72"/>
                </a:solidFill>
                <a:latin typeface="IBM Plex Mono" pitchFamily="34" charset="0"/>
                <a:ea typeface="IBM Plex Mono" pitchFamily="34" charset="-122"/>
                <a:cs typeface="IBM Plex Mono" pitchFamily="34" charset="-120"/>
              </a:rPr>
              <a:t>EMPATHIZE · 1.3 EVIDENCE · EXISTING DATA</a:t>
            </a:r>
            <a:endParaRPr lang="en-US" sz="1200" dirty="0"/>
          </a:p>
        </p:txBody>
      </p:sp>
      <p:sp>
        <p:nvSpPr>
          <p:cNvPr id="3" name="Text 1"/>
          <p:cNvSpPr/>
          <p:nvPr/>
        </p:nvSpPr>
        <p:spPr>
          <a:xfrm>
            <a:off x="812800" y="1127761"/>
            <a:ext cx="10883392" cy="472440"/>
          </a:xfrm>
          <a:prstGeom prst="rect">
            <a:avLst/>
          </a:prstGeom>
          <a:noFill/>
          <a:ln/>
        </p:spPr>
        <p:txBody>
          <a:bodyPr wrap="square" lIns="0" tIns="0" rIns="0" bIns="0" rtlCol="0" anchor="t">
            <a:normAutofit/>
          </a:bodyPr>
          <a:lstStyle/>
          <a:p>
            <a:pPr algn="l" indent="0" marL="0">
              <a:lnSpc>
                <a:spcPts val="3520"/>
              </a:lnSpc>
              <a:buNone/>
            </a:pPr>
            <a:r>
              <a:rPr lang="en-US" sz="3200" b="1" dirty="0">
                <a:solidFill>
                  <a:srgbClr val="16222C"/>
                </a:solidFill>
                <a:latin typeface="Space Grotesk" pitchFamily="34" charset="0"/>
                <a:ea typeface="Space Grotesk" pitchFamily="34" charset="-122"/>
                <a:cs typeface="Space Grotesk" pitchFamily="34" charset="-120"/>
              </a:rPr>
              <a:t>2023: the same crashes, two death totals</a:t>
            </a:r>
            <a:endParaRPr lang="en-US" sz="3200" dirty="0"/>
          </a:p>
        </p:txBody>
      </p:sp>
      <p:sp>
        <p:nvSpPr>
          <p:cNvPr id="4" name="Shape 2"/>
          <p:cNvSpPr/>
          <p:nvPr/>
        </p:nvSpPr>
        <p:spPr>
          <a:xfrm>
            <a:off x="812800" y="1879600"/>
            <a:ext cx="3413760" cy="2092960"/>
          </a:xfrm>
          <a:prstGeom prst="roundRect">
            <a:avLst>
              <a:gd name="adj" fmla="val 4854"/>
            </a:avLst>
          </a:prstGeom>
          <a:solidFill>
            <a:srgbClr val="16222C"/>
          </a:solidFill>
          <a:ln/>
        </p:spPr>
      </p:sp>
      <p:sp>
        <p:nvSpPr>
          <p:cNvPr id="5" name="Text 3"/>
          <p:cNvSpPr/>
          <p:nvPr/>
        </p:nvSpPr>
        <p:spPr>
          <a:xfrm>
            <a:off x="1066800" y="2133600"/>
            <a:ext cx="2992933" cy="787400"/>
          </a:xfrm>
          <a:prstGeom prst="rect">
            <a:avLst/>
          </a:prstGeom>
          <a:noFill/>
          <a:ln/>
        </p:spPr>
        <p:txBody>
          <a:bodyPr wrap="square" lIns="0" tIns="0" rIns="0" bIns="0" rtlCol="0" anchor="t">
            <a:normAutofit/>
          </a:bodyPr>
          <a:lstStyle/>
          <a:p>
            <a:pPr algn="l" indent="0" marL="0">
              <a:lnSpc>
                <a:spcPts val="6000"/>
              </a:lnSpc>
              <a:buNone/>
            </a:pPr>
            <a:r>
              <a:rPr lang="en-US" sz="6000" b="1" dirty="0">
                <a:solidFill>
                  <a:srgbClr val="E8A33D"/>
                </a:solidFill>
                <a:latin typeface="Space Grotesk" pitchFamily="34" charset="0"/>
                <a:ea typeface="Space Grotesk" pitchFamily="34" charset="-122"/>
                <a:cs typeface="Space Grotesk" pitchFamily="34" charset="-120"/>
              </a:rPr>
              <a:t>5,796</a:t>
            </a:r>
            <a:endParaRPr lang="en-US" sz="6000" dirty="0"/>
          </a:p>
        </p:txBody>
      </p:sp>
      <p:sp>
        <p:nvSpPr>
          <p:cNvPr id="6" name="Text 4"/>
          <p:cNvSpPr/>
          <p:nvPr/>
        </p:nvSpPr>
        <p:spPr>
          <a:xfrm>
            <a:off x="1066800" y="2971800"/>
            <a:ext cx="2992933" cy="27432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F4F1EA"/>
                </a:solidFill>
                <a:latin typeface="IBM Plex Sans" pitchFamily="34" charset="0"/>
                <a:ea typeface="IBM Plex Sans" pitchFamily="34" charset="-122"/>
                <a:cs typeface="IBM Plex Sans" pitchFamily="34" charset="-120"/>
              </a:rPr>
              <a:t>crashes in 2023</a:t>
            </a:r>
            <a:endParaRPr lang="en-US" sz="1400" dirty="0"/>
          </a:p>
        </p:txBody>
      </p:sp>
      <p:sp>
        <p:nvSpPr>
          <p:cNvPr id="7" name="Text 5"/>
          <p:cNvSpPr/>
          <p:nvPr/>
        </p:nvSpPr>
        <p:spPr>
          <a:xfrm>
            <a:off x="1066800" y="3296921"/>
            <a:ext cx="2992933" cy="23114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A9B4BB"/>
                </a:solidFill>
                <a:latin typeface="IBM Plex Sans" pitchFamily="34" charset="0"/>
                <a:ea typeface="IBM Plex Sans" pitchFamily="34" charset="-122"/>
                <a:cs typeface="IBM Plex Sans" pitchFamily="34" charset="-120"/>
              </a:rPr>
              <a:t>Identical in both accounts</a:t>
            </a:r>
            <a:endParaRPr lang="en-US" sz="1200" dirty="0"/>
          </a:p>
        </p:txBody>
      </p:sp>
      <p:sp>
        <p:nvSpPr>
          <p:cNvPr id="8" name="Shape 6"/>
          <p:cNvSpPr/>
          <p:nvPr/>
        </p:nvSpPr>
        <p:spPr>
          <a:xfrm>
            <a:off x="4382135" y="1882775"/>
            <a:ext cx="3417570" cy="2086610"/>
          </a:xfrm>
          <a:prstGeom prst="roundRect">
            <a:avLst>
              <a:gd name="adj" fmla="val 4717"/>
            </a:avLst>
          </a:prstGeom>
          <a:solidFill>
            <a:srgbClr val="FBFAF6"/>
          </a:solidFill>
          <a:ln w="6350">
            <a:solidFill>
              <a:srgbClr val="DDD8CC"/>
            </a:solidFill>
            <a:prstDash val="solid"/>
          </a:ln>
        </p:spPr>
      </p:sp>
      <p:sp>
        <p:nvSpPr>
          <p:cNvPr id="9" name="Text 7"/>
          <p:cNvSpPr/>
          <p:nvPr/>
        </p:nvSpPr>
        <p:spPr>
          <a:xfrm>
            <a:off x="4638040" y="2138682"/>
            <a:ext cx="2992933" cy="787400"/>
          </a:xfrm>
          <a:prstGeom prst="rect">
            <a:avLst/>
          </a:prstGeom>
          <a:noFill/>
          <a:ln/>
        </p:spPr>
        <p:txBody>
          <a:bodyPr wrap="square" lIns="0" tIns="0" rIns="0" bIns="0" rtlCol="0" anchor="t">
            <a:normAutofit/>
          </a:bodyPr>
          <a:lstStyle/>
          <a:p>
            <a:pPr algn="l" indent="0" marL="0">
              <a:lnSpc>
                <a:spcPts val="6000"/>
              </a:lnSpc>
              <a:buNone/>
            </a:pPr>
            <a:r>
              <a:rPr lang="en-US" sz="6000" b="1" dirty="0">
                <a:solidFill>
                  <a:srgbClr val="16222C"/>
                </a:solidFill>
                <a:latin typeface="Space Grotesk" pitchFamily="34" charset="0"/>
                <a:ea typeface="Space Grotesk" pitchFamily="34" charset="-122"/>
                <a:cs typeface="Space Grotesk" pitchFamily="34" charset="-120"/>
              </a:rPr>
              <a:t>2,273</a:t>
            </a:r>
            <a:endParaRPr lang="en-US" sz="6000" dirty="0"/>
          </a:p>
        </p:txBody>
      </p:sp>
      <p:sp>
        <p:nvSpPr>
          <p:cNvPr id="10" name="Text 8"/>
          <p:cNvSpPr/>
          <p:nvPr/>
        </p:nvSpPr>
        <p:spPr>
          <a:xfrm>
            <a:off x="4638040" y="2976882"/>
            <a:ext cx="2992933" cy="27432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16222C"/>
                </a:solidFill>
                <a:latin typeface="IBM Plex Sans" pitchFamily="34" charset="0"/>
                <a:ea typeface="IBM Plex Sans" pitchFamily="34" charset="-122"/>
                <a:cs typeface="IBM Plex Sans" pitchFamily="34" charset="-120"/>
              </a:rPr>
              <a:t>deaths · 7,909 injuries</a:t>
            </a:r>
            <a:endParaRPr lang="en-US" sz="1400" dirty="0"/>
          </a:p>
        </p:txBody>
      </p:sp>
      <p:sp>
        <p:nvSpPr>
          <p:cNvPr id="11" name="Text 9"/>
          <p:cNvSpPr/>
          <p:nvPr/>
        </p:nvSpPr>
        <p:spPr>
          <a:xfrm>
            <a:off x="4638040" y="3302000"/>
            <a:ext cx="2992933" cy="43688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5E6B73"/>
                </a:solidFill>
                <a:latin typeface="IBM Plex Sans" pitchFamily="34" charset="0"/>
                <a:ea typeface="IBM Plex Sans" pitchFamily="34" charset="-122"/>
                <a:cs typeface="IBM Plex Sans" pitchFamily="34" charset="-120"/>
              </a:rPr>
              <a:t>WHO / Health / Interior investment case, quoting ONSR</a:t>
            </a:r>
            <a:endParaRPr lang="en-US" sz="1200" dirty="0"/>
          </a:p>
        </p:txBody>
      </p:sp>
      <p:sp>
        <p:nvSpPr>
          <p:cNvPr id="12" name="Shape 10"/>
          <p:cNvSpPr/>
          <p:nvPr/>
        </p:nvSpPr>
        <p:spPr>
          <a:xfrm>
            <a:off x="7958455" y="1882775"/>
            <a:ext cx="3417570" cy="2086610"/>
          </a:xfrm>
          <a:prstGeom prst="roundRect">
            <a:avLst>
              <a:gd name="adj" fmla="val 4717"/>
            </a:avLst>
          </a:prstGeom>
          <a:solidFill>
            <a:srgbClr val="FBFAF6"/>
          </a:solidFill>
          <a:ln w="6350">
            <a:solidFill>
              <a:srgbClr val="DDD8CC"/>
            </a:solidFill>
            <a:prstDash val="solid"/>
          </a:ln>
        </p:spPr>
      </p:sp>
      <p:sp>
        <p:nvSpPr>
          <p:cNvPr id="13" name="Text 11"/>
          <p:cNvSpPr/>
          <p:nvPr/>
        </p:nvSpPr>
        <p:spPr>
          <a:xfrm>
            <a:off x="8214360" y="2138682"/>
            <a:ext cx="2992933" cy="787400"/>
          </a:xfrm>
          <a:prstGeom prst="rect">
            <a:avLst/>
          </a:prstGeom>
          <a:noFill/>
          <a:ln/>
        </p:spPr>
        <p:txBody>
          <a:bodyPr wrap="square" lIns="0" tIns="0" rIns="0" bIns="0" rtlCol="0" anchor="t">
            <a:normAutofit/>
          </a:bodyPr>
          <a:lstStyle/>
          <a:p>
            <a:pPr algn="l" indent="0" marL="0">
              <a:lnSpc>
                <a:spcPts val="6000"/>
              </a:lnSpc>
              <a:buNone/>
            </a:pPr>
            <a:r>
              <a:rPr lang="en-US" sz="6000" b="1" dirty="0">
                <a:solidFill>
                  <a:srgbClr val="16222C"/>
                </a:solidFill>
                <a:latin typeface="Space Grotesk" pitchFamily="34" charset="0"/>
                <a:ea typeface="Space Grotesk" pitchFamily="34" charset="-122"/>
                <a:cs typeface="Space Grotesk" pitchFamily="34" charset="-120"/>
              </a:rPr>
              <a:t>1,216</a:t>
            </a:r>
            <a:endParaRPr lang="en-US" sz="6000" dirty="0"/>
          </a:p>
        </p:txBody>
      </p:sp>
      <p:sp>
        <p:nvSpPr>
          <p:cNvPr id="14" name="Text 12"/>
          <p:cNvSpPr/>
          <p:nvPr/>
        </p:nvSpPr>
        <p:spPr>
          <a:xfrm>
            <a:off x="8214360" y="2976882"/>
            <a:ext cx="2992933" cy="27432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16222C"/>
                </a:solidFill>
                <a:latin typeface="IBM Plex Sans" pitchFamily="34" charset="0"/>
                <a:ea typeface="IBM Plex Sans" pitchFamily="34" charset="-122"/>
                <a:cs typeface="IBM Plex Sans" pitchFamily="34" charset="-120"/>
              </a:rPr>
              <a:t>deaths</a:t>
            </a:r>
            <a:endParaRPr lang="en-US" sz="1400" dirty="0"/>
          </a:p>
        </p:txBody>
      </p:sp>
      <p:sp>
        <p:nvSpPr>
          <p:cNvPr id="15" name="Text 13"/>
          <p:cNvSpPr/>
          <p:nvPr/>
        </p:nvSpPr>
        <p:spPr>
          <a:xfrm>
            <a:off x="8214360" y="3302000"/>
            <a:ext cx="2992933" cy="23114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5E6B73"/>
                </a:solidFill>
                <a:latin typeface="IBM Plex Sans" pitchFamily="34" charset="0"/>
                <a:ea typeface="IBM Plex Sans" pitchFamily="34" charset="-122"/>
                <a:cs typeface="IBM Plex Sans" pitchFamily="34" charset="-120"/>
              </a:rPr>
              <a:t>La Presse briefing of ONSR, 17 Jan 2025</a:t>
            </a:r>
            <a:endParaRPr lang="en-US" sz="1200" dirty="0"/>
          </a:p>
        </p:txBody>
      </p:sp>
      <p:sp>
        <p:nvSpPr>
          <p:cNvPr id="16" name="Shape 14"/>
          <p:cNvSpPr/>
          <p:nvPr/>
        </p:nvSpPr>
        <p:spPr>
          <a:xfrm>
            <a:off x="838200" y="4277361"/>
            <a:ext cx="0" cy="739140"/>
          </a:xfrm>
          <a:prstGeom prst="line">
            <a:avLst/>
          </a:prstGeom>
          <a:noFill/>
          <a:ln w="50800">
            <a:solidFill>
              <a:srgbClr val="1F6B72"/>
            </a:solidFill>
            <a:prstDash val="solid"/>
          </a:ln>
        </p:spPr>
      </p:sp>
      <p:sp>
        <p:nvSpPr>
          <p:cNvPr id="17" name="Text 15"/>
          <p:cNvSpPr/>
          <p:nvPr/>
        </p:nvSpPr>
        <p:spPr>
          <a:xfrm>
            <a:off x="1066800" y="4328161"/>
            <a:ext cx="10621772" cy="381000"/>
          </a:xfrm>
          <a:prstGeom prst="rect">
            <a:avLst/>
          </a:prstGeom>
          <a:noFill/>
          <a:ln/>
        </p:spPr>
        <p:txBody>
          <a:bodyPr wrap="square" lIns="0" tIns="0" rIns="0" bIns="0" rtlCol="0" anchor="t">
            <a:normAutofit/>
          </a:bodyPr>
          <a:lstStyle/>
          <a:p>
            <a:pPr algn="l" indent="0" marL="0">
              <a:lnSpc>
                <a:spcPts val="2800"/>
              </a:lnSpc>
              <a:buNone/>
            </a:pPr>
            <a:r>
              <a:rPr lang="en-US" sz="2000" b="1" dirty="0">
                <a:solidFill>
                  <a:srgbClr val="16222C"/>
                </a:solidFill>
                <a:latin typeface="Space Grotesk" pitchFamily="34" charset="0"/>
                <a:ea typeface="Space Grotesk" pitchFamily="34" charset="-122"/>
                <a:cs typeface="Space Grotesk" pitchFamily="34" charset="-120"/>
              </a:rPr>
              <a:t>We show both. We do not average them.</a:t>
            </a:r>
            <a:endParaRPr lang="en-US" sz="2000" dirty="0"/>
          </a:p>
        </p:txBody>
      </p:sp>
      <p:sp>
        <p:nvSpPr>
          <p:cNvPr id="18" name="Text 16"/>
          <p:cNvSpPr/>
          <p:nvPr/>
        </p:nvSpPr>
        <p:spPr>
          <a:xfrm>
            <a:off x="1066800" y="4734561"/>
            <a:ext cx="10621772" cy="25654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3A4852"/>
                </a:solidFill>
                <a:latin typeface="IBM Plex Sans" pitchFamily="34" charset="0"/>
                <a:ea typeface="IBM Plex Sans" pitchFamily="34" charset="-122"/>
                <a:cs typeface="IBM Plex Sans" pitchFamily="34" charset="-120"/>
              </a:rPr>
              <a:t>A single number would hide a gap of 1,057 deaths between two official accounts.</a:t>
            </a:r>
            <a:endParaRPr lang="en-US" sz="1300" dirty="0"/>
          </a:p>
        </p:txBody>
      </p:sp>
      <p:sp>
        <p:nvSpPr>
          <p:cNvPr id="19" name="Text 17"/>
          <p:cNvSpPr/>
          <p:nvPr/>
        </p:nvSpPr>
        <p:spPr>
          <a:xfrm>
            <a:off x="812800" y="6238239"/>
            <a:ext cx="5552149"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B73"/>
                </a:solidFill>
                <a:latin typeface="IBM Plex Sans" pitchFamily="34" charset="0"/>
                <a:ea typeface="IBM Plex Sans" pitchFamily="34" charset="-122"/>
                <a:cs typeface="IBM Plex Sans" pitchFamily="34" charset="-120"/>
              </a:rPr>
              <a:t>Sources: WHO/UNIATF investment case quoting ONSR; La Presse, 17 Jan 2025</a:t>
            </a:r>
            <a:endParaRPr lang="en-US" sz="1200" dirty="0"/>
          </a:p>
        </p:txBody>
      </p:sp>
      <p:sp>
        <p:nvSpPr>
          <p:cNvPr id="20" name="Text 18"/>
          <p:cNvSpPr/>
          <p:nvPr/>
        </p:nvSpPr>
        <p:spPr>
          <a:xfrm>
            <a:off x="11196320" y="6238239"/>
            <a:ext cx="23368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B73"/>
                </a:solidFill>
                <a:latin typeface="IBM Plex Sans" pitchFamily="34" charset="0"/>
                <a:ea typeface="IBM Plex Sans" pitchFamily="34" charset="-122"/>
                <a:cs typeface="IBM Plex Sans" pitchFamily="34" charset="-120"/>
              </a:rPr>
              <a:t>07</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4F1EA"/>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1F6B72"/>
                </a:solidFill>
                <a:latin typeface="IBM Plex Mono" pitchFamily="34" charset="0"/>
                <a:ea typeface="IBM Plex Mono" pitchFamily="34" charset="-122"/>
                <a:cs typeface="IBM Plex Mono" pitchFamily="34" charset="-120"/>
              </a:rPr>
              <a:t>EMPATHIZE · 1.3 EVIDENCE · EXISTING DATA</a:t>
            </a:r>
            <a:endParaRPr lang="en-US" sz="1200" dirty="0"/>
          </a:p>
        </p:txBody>
      </p:sp>
      <p:sp>
        <p:nvSpPr>
          <p:cNvPr id="3" name="Text 1"/>
          <p:cNvSpPr/>
          <p:nvPr/>
        </p:nvSpPr>
        <p:spPr>
          <a:xfrm>
            <a:off x="812800" y="1127761"/>
            <a:ext cx="10883392" cy="472440"/>
          </a:xfrm>
          <a:prstGeom prst="rect">
            <a:avLst/>
          </a:prstGeom>
          <a:noFill/>
          <a:ln/>
        </p:spPr>
        <p:txBody>
          <a:bodyPr wrap="square" lIns="0" tIns="0" rIns="0" bIns="0" rtlCol="0" anchor="t">
            <a:normAutofit/>
          </a:bodyPr>
          <a:lstStyle/>
          <a:p>
            <a:pPr algn="l" indent="0" marL="0">
              <a:lnSpc>
                <a:spcPts val="3520"/>
              </a:lnSpc>
              <a:buNone/>
            </a:pPr>
            <a:r>
              <a:rPr lang="en-US" sz="3200" b="1" dirty="0">
                <a:solidFill>
                  <a:srgbClr val="16222C"/>
                </a:solidFill>
                <a:latin typeface="Space Grotesk" pitchFamily="34" charset="0"/>
                <a:ea typeface="Space Grotesk" pitchFamily="34" charset="-122"/>
                <a:cs typeface="Space Grotesk" pitchFamily="34" charset="-120"/>
              </a:rPr>
              <a:t>The least protected users carry the deaths</a:t>
            </a:r>
            <a:endParaRPr lang="en-US" sz="3200" dirty="0"/>
          </a:p>
        </p:txBody>
      </p:sp>
      <p:pic>
        <p:nvPicPr>
          <p:cNvPr id="4" name="Image 0" descr="Bar chart of share of 2023 road deaths: motorcyclists 32 percent, pedestrians 28 percent, cyclists 2 percent">    </p:cNvPr>
          <p:cNvPicPr>
            <a:picLocks noChangeAspect="1"/>
          </p:cNvPicPr>
          <p:nvPr/>
        </p:nvPicPr>
        <p:blipFill>
          <a:blip r:embed="rId1"/>
          <a:srcRect l="0" r="0" t="0" b="0"/>
          <a:stretch/>
        </p:blipFill>
        <p:spPr>
          <a:xfrm>
            <a:off x="812800" y="1879600"/>
            <a:ext cx="6096000" cy="2667000"/>
          </a:xfrm>
          <a:prstGeom prst="rect">
            <a:avLst/>
          </a:prstGeom>
        </p:spPr>
      </p:pic>
      <p:sp>
        <p:nvSpPr>
          <p:cNvPr id="5" name="Text 2"/>
          <p:cNvSpPr/>
          <p:nvPr/>
        </p:nvSpPr>
        <p:spPr>
          <a:xfrm>
            <a:off x="7315200" y="1879600"/>
            <a:ext cx="4185920" cy="523240"/>
          </a:xfrm>
          <a:prstGeom prst="rect">
            <a:avLst/>
          </a:prstGeom>
          <a:noFill/>
          <a:ln/>
        </p:spPr>
        <p:txBody>
          <a:bodyPr wrap="square" lIns="0" tIns="0" rIns="0" bIns="0" rtlCol="0" anchor="t">
            <a:normAutofit/>
          </a:bodyPr>
          <a:lstStyle/>
          <a:p>
            <a:pPr algn="l" indent="0" marL="0">
              <a:lnSpc>
                <a:spcPts val="3920"/>
              </a:lnSpc>
              <a:buNone/>
            </a:pPr>
            <a:r>
              <a:rPr lang="en-US" sz="2800" b="1" dirty="0">
                <a:solidFill>
                  <a:srgbClr val="16222C"/>
                </a:solidFill>
                <a:latin typeface="Space Grotesk" pitchFamily="34" charset="0"/>
                <a:ea typeface="Space Grotesk" pitchFamily="34" charset="-122"/>
                <a:cs typeface="Space Grotesk" pitchFamily="34" charset="-120"/>
              </a:rPr>
              <a:t>&gt;82%</a:t>
            </a:r>
            <a:endParaRPr lang="en-US" sz="2800" dirty="0"/>
          </a:p>
        </p:txBody>
      </p:sp>
      <p:sp>
        <p:nvSpPr>
          <p:cNvPr id="6" name="Text 3"/>
          <p:cNvSpPr/>
          <p:nvPr/>
        </p:nvSpPr>
        <p:spPr>
          <a:xfrm>
            <a:off x="7315200" y="2402839"/>
            <a:ext cx="4185920" cy="23114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3A4852"/>
                </a:solidFill>
                <a:latin typeface="IBM Plex Sans" pitchFamily="34" charset="0"/>
                <a:ea typeface="IBM Plex Sans" pitchFamily="34" charset="-122"/>
                <a:cs typeface="IBM Plex Sans" pitchFamily="34" charset="-120"/>
              </a:rPr>
              <a:t>of fatalities were male (investment case)</a:t>
            </a:r>
            <a:endParaRPr lang="en-US" sz="1200" dirty="0"/>
          </a:p>
        </p:txBody>
      </p:sp>
      <p:sp>
        <p:nvSpPr>
          <p:cNvPr id="7" name="Text 4"/>
          <p:cNvSpPr/>
          <p:nvPr/>
        </p:nvSpPr>
        <p:spPr>
          <a:xfrm>
            <a:off x="7315200" y="2811782"/>
            <a:ext cx="4185920" cy="523240"/>
          </a:xfrm>
          <a:prstGeom prst="rect">
            <a:avLst/>
          </a:prstGeom>
          <a:noFill/>
          <a:ln/>
        </p:spPr>
        <p:txBody>
          <a:bodyPr wrap="square" lIns="0" tIns="0" rIns="0" bIns="0" rtlCol="0" anchor="t">
            <a:normAutofit/>
          </a:bodyPr>
          <a:lstStyle/>
          <a:p>
            <a:pPr algn="l" indent="0" marL="0">
              <a:lnSpc>
                <a:spcPts val="3920"/>
              </a:lnSpc>
              <a:buNone/>
            </a:pPr>
            <a:r>
              <a:rPr lang="en-US" sz="2800" b="1" dirty="0">
                <a:solidFill>
                  <a:srgbClr val="16222C"/>
                </a:solidFill>
                <a:latin typeface="Space Grotesk" pitchFamily="34" charset="0"/>
                <a:ea typeface="Space Grotesk" pitchFamily="34" charset="-122"/>
                <a:cs typeface="Space Grotesk" pitchFamily="34" charset="-120"/>
              </a:rPr>
              <a:t>953 · 136</a:t>
            </a:r>
            <a:endParaRPr lang="en-US" sz="2800" dirty="0"/>
          </a:p>
        </p:txBody>
      </p:sp>
      <p:sp>
        <p:nvSpPr>
          <p:cNvPr id="8" name="Text 5"/>
          <p:cNvSpPr/>
          <p:nvPr/>
        </p:nvSpPr>
        <p:spPr>
          <a:xfrm>
            <a:off x="7315200" y="3335021"/>
            <a:ext cx="4185920" cy="43688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3A4852"/>
                </a:solidFill>
                <a:latin typeface="IBM Plex Sans" pitchFamily="34" charset="0"/>
                <a:ea typeface="IBM Plex Sans" pitchFamily="34" charset="-122"/>
                <a:cs typeface="IBM Plex Sans" pitchFamily="34" charset="-120"/>
              </a:rPr>
              <a:t>crashes · deaths, Tunis governorate 2024. Highest crash count; not one intersection.</a:t>
            </a:r>
            <a:endParaRPr lang="en-US" sz="1200" dirty="0"/>
          </a:p>
        </p:txBody>
      </p:sp>
      <p:sp>
        <p:nvSpPr>
          <p:cNvPr id="9" name="Text 6"/>
          <p:cNvSpPr/>
          <p:nvPr/>
        </p:nvSpPr>
        <p:spPr>
          <a:xfrm>
            <a:off x="7315200" y="3949700"/>
            <a:ext cx="4185920" cy="523240"/>
          </a:xfrm>
          <a:prstGeom prst="rect">
            <a:avLst/>
          </a:prstGeom>
          <a:noFill/>
          <a:ln/>
        </p:spPr>
        <p:txBody>
          <a:bodyPr wrap="square" lIns="0" tIns="0" rIns="0" bIns="0" rtlCol="0" anchor="t">
            <a:normAutofit/>
          </a:bodyPr>
          <a:lstStyle/>
          <a:p>
            <a:pPr algn="l" indent="0" marL="0">
              <a:lnSpc>
                <a:spcPts val="3920"/>
              </a:lnSpc>
              <a:buNone/>
            </a:pPr>
            <a:r>
              <a:rPr lang="en-US" sz="2800" b="1" dirty="0">
                <a:solidFill>
                  <a:srgbClr val="16222C"/>
                </a:solidFill>
                <a:latin typeface="Space Grotesk" pitchFamily="34" charset="0"/>
                <a:ea typeface="Space Grotesk" pitchFamily="34" charset="-122"/>
                <a:cs typeface="Space Grotesk" pitchFamily="34" charset="-120"/>
              </a:rPr>
              <a:t>2,004</a:t>
            </a:r>
            <a:endParaRPr lang="en-US" sz="2800" dirty="0"/>
          </a:p>
        </p:txBody>
      </p:sp>
      <p:sp>
        <p:nvSpPr>
          <p:cNvPr id="10" name="Text 7"/>
          <p:cNvSpPr/>
          <p:nvPr/>
        </p:nvSpPr>
        <p:spPr>
          <a:xfrm>
            <a:off x="7315200" y="4472942"/>
            <a:ext cx="4185920" cy="23114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3A4852"/>
                </a:solidFill>
                <a:latin typeface="IBM Plex Sans" pitchFamily="34" charset="0"/>
                <a:ea typeface="IBM Plex Sans" pitchFamily="34" charset="-122"/>
                <a:cs typeface="IBM Plex Sans" pitchFamily="34" charset="-120"/>
              </a:rPr>
              <a:t>WHO 2021 estimate (1,786–2,222), 16.3 per 100,000</a:t>
            </a:r>
            <a:endParaRPr lang="en-US" sz="1200" dirty="0"/>
          </a:p>
        </p:txBody>
      </p:sp>
      <p:sp>
        <p:nvSpPr>
          <p:cNvPr id="11" name="Text 8"/>
          <p:cNvSpPr/>
          <p:nvPr/>
        </p:nvSpPr>
        <p:spPr>
          <a:xfrm>
            <a:off x="812800" y="6238242"/>
            <a:ext cx="7474401"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B73"/>
                </a:solidFill>
                <a:latin typeface="IBM Plex Sans" pitchFamily="34" charset="0"/>
                <a:ea typeface="IBM Plex Sans" pitchFamily="34" charset="-122"/>
                <a:cs typeface="IBM Plex Sans" pitchFamily="34" charset="-120"/>
              </a:rPr>
              <a:t>Sources: WHO/UNIATF investment case quoting ONSR; La Presse, 17 Jan 2025; WHO country profile 2023</a:t>
            </a:r>
            <a:endParaRPr lang="en-US" sz="1200" dirty="0"/>
          </a:p>
        </p:txBody>
      </p:sp>
      <p:sp>
        <p:nvSpPr>
          <p:cNvPr id="12" name="Text 9"/>
          <p:cNvSpPr/>
          <p:nvPr/>
        </p:nvSpPr>
        <p:spPr>
          <a:xfrm>
            <a:off x="11196320" y="6238242"/>
            <a:ext cx="23368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B73"/>
                </a:solidFill>
                <a:latin typeface="IBM Plex Sans" pitchFamily="34" charset="0"/>
                <a:ea typeface="IBM Plex Sans" pitchFamily="34" charset="-122"/>
                <a:cs typeface="IBM Plex Sans" pitchFamily="34" charset="-120"/>
              </a:rPr>
              <a:t>08</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4F1EA"/>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1F6B72"/>
                </a:solidFill>
                <a:latin typeface="IBM Plex Mono" pitchFamily="34" charset="0"/>
                <a:ea typeface="IBM Plex Mono" pitchFamily="34" charset="-122"/>
                <a:cs typeface="IBM Plex Mono" pitchFamily="34" charset="-120"/>
              </a:rPr>
              <a:t>EMPATHIZE · 1.3 EVIDENCE · OUR SIMULATION</a:t>
            </a:r>
            <a:endParaRPr lang="en-US" sz="1200" dirty="0"/>
          </a:p>
        </p:txBody>
      </p:sp>
      <p:sp>
        <p:nvSpPr>
          <p:cNvPr id="3" name="Text 1"/>
          <p:cNvSpPr/>
          <p:nvPr/>
        </p:nvSpPr>
        <p:spPr>
          <a:xfrm>
            <a:off x="812800" y="1127764"/>
            <a:ext cx="10883392" cy="472440"/>
          </a:xfrm>
          <a:prstGeom prst="rect">
            <a:avLst/>
          </a:prstGeom>
          <a:noFill/>
          <a:ln/>
        </p:spPr>
        <p:txBody>
          <a:bodyPr wrap="square" lIns="0" tIns="0" rIns="0" bIns="0" rtlCol="0" anchor="t">
            <a:normAutofit/>
          </a:bodyPr>
          <a:lstStyle/>
          <a:p>
            <a:pPr algn="l" indent="0" marL="0">
              <a:lnSpc>
                <a:spcPts val="3520"/>
              </a:lnSpc>
              <a:buNone/>
            </a:pPr>
            <a:r>
              <a:rPr lang="en-US" sz="3200" b="1" dirty="0">
                <a:solidFill>
                  <a:srgbClr val="16222C"/>
                </a:solidFill>
                <a:latin typeface="Space Grotesk" pitchFamily="34" charset="0"/>
                <a:ea typeface="Space Grotesk" pitchFamily="34" charset="-122"/>
                <a:cs typeface="Space Grotesk" pitchFamily="34" charset="-120"/>
              </a:rPr>
              <a:t>Seed 37: a mixed result, reported as mixed</a:t>
            </a:r>
            <a:endParaRPr lang="en-US" sz="3200" dirty="0"/>
          </a:p>
        </p:txBody>
      </p:sp>
      <p:pic>
        <p:nvPicPr>
          <p:cNvPr id="4" name="Image 0" descr="Trips finished out of 84: fixed-time 71, actuated 84, cooperative Max-Pressure 70">    </p:cNvPr>
          <p:cNvPicPr>
            <a:picLocks noChangeAspect="1"/>
          </p:cNvPicPr>
          <p:nvPr/>
        </p:nvPicPr>
        <p:blipFill>
          <a:blip r:embed="rId1"/>
          <a:srcRect l="0" r="0" t="0" b="0"/>
          <a:stretch/>
        </p:blipFill>
        <p:spPr>
          <a:xfrm>
            <a:off x="812800" y="1828800"/>
            <a:ext cx="3302000" cy="2159000"/>
          </a:xfrm>
          <a:prstGeom prst="rect">
            <a:avLst/>
          </a:prstGeom>
        </p:spPr>
      </p:pic>
      <p:pic>
        <p:nvPicPr>
          <p:cNvPr id="5" name="Image 1" descr="Mean wait in seconds, lower is better: fixed-time 13.17, actuated 10.35, cooperative Max-Pressure 14.21">    </p:cNvPr>
          <p:cNvPicPr>
            <a:picLocks noChangeAspect="1"/>
          </p:cNvPicPr>
          <p:nvPr/>
        </p:nvPicPr>
        <p:blipFill>
          <a:blip r:embed="rId2"/>
          <a:srcRect l="0" r="0" t="0" b="0"/>
          <a:stretch/>
        </p:blipFill>
        <p:spPr>
          <a:xfrm>
            <a:off x="4445000" y="1828800"/>
            <a:ext cx="3302000" cy="2159000"/>
          </a:xfrm>
          <a:prstGeom prst="rect">
            <a:avLst/>
          </a:prstGeom>
        </p:spPr>
      </p:pic>
      <p:pic>
        <p:nvPicPr>
          <p:cNvPr id="6" name="Image 2" descr="P95 wait in seconds, lower is better: fixed-time 33, actuated 16, cooperative Max-Pressure 25">    </p:cNvPr>
          <p:cNvPicPr>
            <a:picLocks noChangeAspect="1"/>
          </p:cNvPicPr>
          <p:nvPr/>
        </p:nvPicPr>
        <p:blipFill>
          <a:blip r:embed="rId3"/>
          <a:srcRect l="0" r="0" t="0" b="0"/>
          <a:stretch/>
        </p:blipFill>
        <p:spPr>
          <a:xfrm>
            <a:off x="8077200" y="1828800"/>
            <a:ext cx="3302000" cy="2159000"/>
          </a:xfrm>
          <a:prstGeom prst="rect">
            <a:avLst/>
          </a:prstGeom>
        </p:spPr>
      </p:pic>
      <p:sp>
        <p:nvSpPr>
          <p:cNvPr id="7" name="Shape 2"/>
          <p:cNvSpPr/>
          <p:nvPr/>
        </p:nvSpPr>
        <p:spPr>
          <a:xfrm>
            <a:off x="815975" y="4244975"/>
            <a:ext cx="5200650" cy="1050290"/>
          </a:xfrm>
          <a:prstGeom prst="roundRect">
            <a:avLst>
              <a:gd name="adj" fmla="val 6953"/>
            </a:avLst>
          </a:prstGeom>
          <a:solidFill>
            <a:srgbClr val="FBFAF6"/>
          </a:solidFill>
          <a:ln w="6350">
            <a:solidFill>
              <a:srgbClr val="DDD8CC"/>
            </a:solidFill>
            <a:prstDash val="solid"/>
          </a:ln>
        </p:spPr>
      </p:sp>
      <p:sp>
        <p:nvSpPr>
          <p:cNvPr id="8" name="Text 3"/>
          <p:cNvSpPr/>
          <p:nvPr/>
        </p:nvSpPr>
        <p:spPr>
          <a:xfrm>
            <a:off x="1021080" y="4424679"/>
            <a:ext cx="4934153"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F6B72"/>
                </a:solidFill>
                <a:latin typeface="IBM Plex Mono" pitchFamily="34" charset="0"/>
                <a:ea typeface="IBM Plex Mono" pitchFamily="34" charset="-122"/>
                <a:cs typeface="IBM Plex Mono" pitchFamily="34" charset="-120"/>
              </a:rPr>
              <a:t>WHAT THE RUN SHOWS</a:t>
            </a:r>
            <a:endParaRPr lang="en-US" sz="1200" dirty="0"/>
          </a:p>
        </p:txBody>
      </p:sp>
      <p:sp>
        <p:nvSpPr>
          <p:cNvPr id="9" name="Text 4"/>
          <p:cNvSpPr/>
          <p:nvPr/>
        </p:nvSpPr>
        <p:spPr>
          <a:xfrm>
            <a:off x="1021080" y="4688842"/>
            <a:ext cx="4934153" cy="4521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6222C"/>
                </a:solidFill>
                <a:latin typeface="IBM Plex Sans" pitchFamily="34" charset="0"/>
                <a:ea typeface="IBM Plex Sans" pitchFamily="34" charset="-122"/>
                <a:cs typeface="IBM Plex Sans" pitchFamily="34" charset="-120"/>
              </a:rPr>
              <a:t>Actuated finished 84 of 84 trips with the lowest mean and P95 wait. Cooperative Max-Pressure did not win on this seed.</a:t>
            </a:r>
            <a:endParaRPr lang="en-US" sz="1200" dirty="0"/>
          </a:p>
        </p:txBody>
      </p:sp>
      <p:sp>
        <p:nvSpPr>
          <p:cNvPr id="10" name="Shape 5"/>
          <p:cNvSpPr/>
          <p:nvPr/>
        </p:nvSpPr>
        <p:spPr>
          <a:xfrm>
            <a:off x="6175375" y="4244975"/>
            <a:ext cx="5200650" cy="1050290"/>
          </a:xfrm>
          <a:prstGeom prst="roundRect">
            <a:avLst>
              <a:gd name="adj" fmla="val 6953"/>
            </a:avLst>
          </a:prstGeom>
          <a:solidFill>
            <a:srgbClr val="FBFAF6"/>
          </a:solidFill>
          <a:ln w="6350">
            <a:solidFill>
              <a:srgbClr val="DDD8CC"/>
            </a:solidFill>
            <a:prstDash val="solid"/>
          </a:ln>
        </p:spPr>
      </p:sp>
      <p:sp>
        <p:nvSpPr>
          <p:cNvPr id="11" name="Text 6"/>
          <p:cNvSpPr/>
          <p:nvPr/>
        </p:nvSpPr>
        <p:spPr>
          <a:xfrm>
            <a:off x="6380480" y="4424679"/>
            <a:ext cx="4934153"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B5521B"/>
                </a:solidFill>
                <a:latin typeface="IBM Plex Mono" pitchFamily="34" charset="0"/>
                <a:ea typeface="IBM Plex Mono" pitchFamily="34" charset="-122"/>
                <a:cs typeface="IBM Plex Mono" pitchFamily="34" charset="-120"/>
              </a:rPr>
              <a:t>WHAT WE REFUSE TO CONCLUDE</a:t>
            </a:r>
            <a:endParaRPr lang="en-US" sz="1200" dirty="0"/>
          </a:p>
        </p:txBody>
      </p:sp>
      <p:sp>
        <p:nvSpPr>
          <p:cNvPr id="12" name="Text 7"/>
          <p:cNvSpPr/>
          <p:nvPr/>
        </p:nvSpPr>
        <p:spPr>
          <a:xfrm>
            <a:off x="6380480" y="4688842"/>
            <a:ext cx="4934153" cy="4521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6222C"/>
                </a:solidFill>
                <a:latin typeface="IBM Plex Sans" pitchFamily="34" charset="0"/>
                <a:ea typeface="IBM Plex Sans" pitchFamily="34" charset="-122"/>
                <a:cs typeface="IBM Plex Sans" pitchFamily="34" charset="-120"/>
              </a:rPr>
              <a:t>One seed is not a winner. Unfinished trips stayed in the count. This is not a Tunis result.</a:t>
            </a:r>
            <a:endParaRPr lang="en-US" sz="1200" dirty="0"/>
          </a:p>
        </p:txBody>
      </p:sp>
      <p:sp>
        <p:nvSpPr>
          <p:cNvPr id="13" name="Text 8"/>
          <p:cNvSpPr/>
          <p:nvPr/>
        </p:nvSpPr>
        <p:spPr>
          <a:xfrm>
            <a:off x="812800" y="6238242"/>
            <a:ext cx="8633951"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B73"/>
                </a:solidFill>
                <a:latin typeface="IBM Plex Sans" pitchFamily="34" charset="0"/>
                <a:ea typeface="IBM Plex Sans" pitchFamily="34" charset="-122"/>
                <a:cs typeface="IBM Plex Sans" pitchFamily="34" charset="-120"/>
              </a:rPr>
              <a:t>Source: harness/work/10c-evidence-page/artifacts/evidence-page.txt · the classroom watch scene is seed 53, not this row</a:t>
            </a:r>
            <a:endParaRPr lang="en-US" sz="1200" dirty="0"/>
          </a:p>
        </p:txBody>
      </p:sp>
      <p:sp>
        <p:nvSpPr>
          <p:cNvPr id="14" name="Text 9"/>
          <p:cNvSpPr/>
          <p:nvPr/>
        </p:nvSpPr>
        <p:spPr>
          <a:xfrm>
            <a:off x="11196320" y="6238242"/>
            <a:ext cx="23368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B73"/>
                </a:solidFill>
                <a:latin typeface="IBM Plex Sans" pitchFamily="34" charset="0"/>
                <a:ea typeface="IBM Plex Sans" pitchFamily="34" charset="-122"/>
                <a:cs typeface="IBM Plex Sans" pitchFamily="34" charset="-120"/>
              </a:rPr>
              <a:t>09</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4F1EA"/>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1F6B72"/>
                </a:solidFill>
                <a:latin typeface="IBM Plex Mono" pitchFamily="34" charset="0"/>
                <a:ea typeface="IBM Plex Mono" pitchFamily="34" charset="-122"/>
                <a:cs typeface="IBM Plex Mono" pitchFamily="34" charset="-120"/>
              </a:rPr>
              <a:t>EMPATHIZE · 1.4 KEY FINDINGS</a:t>
            </a:r>
            <a:endParaRPr lang="en-US" sz="1200" dirty="0"/>
          </a:p>
        </p:txBody>
      </p:sp>
      <p:sp>
        <p:nvSpPr>
          <p:cNvPr id="3" name="Text 1"/>
          <p:cNvSpPr/>
          <p:nvPr/>
        </p:nvSpPr>
        <p:spPr>
          <a:xfrm>
            <a:off x="812800" y="1127764"/>
            <a:ext cx="10883392" cy="472440"/>
          </a:xfrm>
          <a:prstGeom prst="rect">
            <a:avLst/>
          </a:prstGeom>
          <a:noFill/>
          <a:ln/>
        </p:spPr>
        <p:txBody>
          <a:bodyPr wrap="square" lIns="0" tIns="0" rIns="0" bIns="0" rtlCol="0" anchor="t">
            <a:normAutofit/>
          </a:bodyPr>
          <a:lstStyle/>
          <a:p>
            <a:pPr algn="l" indent="0" marL="0">
              <a:lnSpc>
                <a:spcPts val="3520"/>
              </a:lnSpc>
              <a:buNone/>
            </a:pPr>
            <a:r>
              <a:rPr lang="en-US" sz="3200" b="1" dirty="0">
                <a:solidFill>
                  <a:srgbClr val="16222C"/>
                </a:solidFill>
                <a:latin typeface="Space Grotesk" pitchFamily="34" charset="0"/>
                <a:ea typeface="Space Grotesk" pitchFamily="34" charset="-122"/>
                <a:cs typeface="Space Grotesk" pitchFamily="34" charset="-120"/>
              </a:rPr>
              <a:t>Five findings we can defend</a:t>
            </a:r>
            <a:endParaRPr lang="en-US" sz="3200" dirty="0"/>
          </a:p>
        </p:txBody>
      </p:sp>
      <p:sp>
        <p:nvSpPr>
          <p:cNvPr id="4" name="Shape 2"/>
          <p:cNvSpPr/>
          <p:nvPr/>
        </p:nvSpPr>
        <p:spPr>
          <a:xfrm>
            <a:off x="812800" y="1882775"/>
            <a:ext cx="10566400" cy="0"/>
          </a:xfrm>
          <a:prstGeom prst="line">
            <a:avLst/>
          </a:prstGeom>
          <a:noFill/>
          <a:ln w="6350">
            <a:solidFill>
              <a:srgbClr val="C9C3B5"/>
            </a:solidFill>
            <a:prstDash val="solid"/>
          </a:ln>
        </p:spPr>
      </p:sp>
      <p:sp>
        <p:nvSpPr>
          <p:cNvPr id="5" name="Text 3"/>
          <p:cNvSpPr/>
          <p:nvPr/>
        </p:nvSpPr>
        <p:spPr>
          <a:xfrm>
            <a:off x="812800" y="2011679"/>
            <a:ext cx="558800" cy="452120"/>
          </a:xfrm>
          <a:prstGeom prst="rect">
            <a:avLst/>
          </a:prstGeom>
          <a:noFill/>
          <a:ln/>
        </p:spPr>
        <p:txBody>
          <a:bodyPr wrap="square" lIns="0" tIns="0" rIns="0" bIns="0" rtlCol="0" anchor="t">
            <a:normAutofit/>
          </a:bodyPr>
          <a:lstStyle/>
          <a:p>
            <a:pPr algn="l" indent="0" marL="0">
              <a:lnSpc>
                <a:spcPts val="3360"/>
              </a:lnSpc>
              <a:buNone/>
            </a:pPr>
            <a:r>
              <a:rPr lang="en-US" sz="2400" b="1" dirty="0">
                <a:solidFill>
                  <a:srgbClr val="1F6B72"/>
                </a:solidFill>
                <a:latin typeface="Space Grotesk" pitchFamily="34" charset="0"/>
                <a:ea typeface="Space Grotesk" pitchFamily="34" charset="-122"/>
                <a:cs typeface="Space Grotesk" pitchFamily="34" charset="-120"/>
              </a:rPr>
              <a:t>1</a:t>
            </a:r>
            <a:endParaRPr lang="en-US" sz="2400" dirty="0"/>
          </a:p>
        </p:txBody>
      </p:sp>
      <p:sp>
        <p:nvSpPr>
          <p:cNvPr id="6" name="Text 4"/>
          <p:cNvSpPr/>
          <p:nvPr/>
        </p:nvSpPr>
        <p:spPr>
          <a:xfrm>
            <a:off x="1524000" y="2143764"/>
            <a:ext cx="10150856" cy="505460"/>
          </a:xfrm>
          <a:prstGeom prst="rect">
            <a:avLst/>
          </a:prstGeom>
          <a:noFill/>
          <a:ln/>
        </p:spPr>
        <p:txBody>
          <a:bodyPr wrap="square" lIns="0" tIns="0" rIns="0" bIns="0" rtlCol="0" anchor="t">
            <a:normAutofit/>
          </a:bodyPr>
          <a:lstStyle/>
          <a:p>
            <a:pPr algn="l" indent="0" marL="0">
              <a:lnSpc>
                <a:spcPts val="1890"/>
              </a:lnSpc>
              <a:buNone/>
            </a:pPr>
            <a:r>
              <a:rPr lang="en-US" sz="1400" dirty="0">
                <a:solidFill>
                  <a:srgbClr val="16222C"/>
                </a:solidFill>
                <a:latin typeface="IBM Plex Sans" pitchFamily="34" charset="0"/>
                <a:ea typeface="IBM Plex Sans" pitchFamily="34" charset="-122"/>
                <a:cs typeface="IBM Plex Sans" pitchFamily="34" charset="-120"/>
              </a:rPr>
              <a:t>The people harmed are named in official counts: pedestrians, occupants and public-transport passengers. The 2024 strategy adds older people and people with disabilities.</a:t>
            </a:r>
            <a:endParaRPr lang="en-US" sz="1400" dirty="0"/>
          </a:p>
        </p:txBody>
      </p:sp>
      <p:sp>
        <p:nvSpPr>
          <p:cNvPr id="7" name="Shape 5"/>
          <p:cNvSpPr/>
          <p:nvPr/>
        </p:nvSpPr>
        <p:spPr>
          <a:xfrm>
            <a:off x="812800" y="2753996"/>
            <a:ext cx="10566400" cy="0"/>
          </a:xfrm>
          <a:prstGeom prst="line">
            <a:avLst/>
          </a:prstGeom>
          <a:noFill/>
          <a:ln w="6350">
            <a:solidFill>
              <a:srgbClr val="C9C3B5"/>
            </a:solidFill>
            <a:prstDash val="solid"/>
          </a:ln>
        </p:spPr>
      </p:sp>
      <p:sp>
        <p:nvSpPr>
          <p:cNvPr id="8" name="Text 6"/>
          <p:cNvSpPr/>
          <p:nvPr/>
        </p:nvSpPr>
        <p:spPr>
          <a:xfrm>
            <a:off x="812800" y="2882900"/>
            <a:ext cx="558800" cy="452120"/>
          </a:xfrm>
          <a:prstGeom prst="rect">
            <a:avLst/>
          </a:prstGeom>
          <a:noFill/>
          <a:ln/>
        </p:spPr>
        <p:txBody>
          <a:bodyPr wrap="square" lIns="0" tIns="0" rIns="0" bIns="0" rtlCol="0" anchor="t">
            <a:normAutofit/>
          </a:bodyPr>
          <a:lstStyle/>
          <a:p>
            <a:pPr algn="l" indent="0" marL="0">
              <a:lnSpc>
                <a:spcPts val="3360"/>
              </a:lnSpc>
              <a:buNone/>
            </a:pPr>
            <a:r>
              <a:rPr lang="en-US" sz="2400" b="1" dirty="0">
                <a:solidFill>
                  <a:srgbClr val="1F6B72"/>
                </a:solidFill>
                <a:latin typeface="Space Grotesk" pitchFamily="34" charset="0"/>
                <a:ea typeface="Space Grotesk" pitchFamily="34" charset="-122"/>
                <a:cs typeface="Space Grotesk" pitchFamily="34" charset="-120"/>
              </a:rPr>
              <a:t>2</a:t>
            </a:r>
            <a:endParaRPr lang="en-US" sz="2400" dirty="0"/>
          </a:p>
        </p:txBody>
      </p:sp>
      <p:sp>
        <p:nvSpPr>
          <p:cNvPr id="9" name="Text 7"/>
          <p:cNvSpPr/>
          <p:nvPr/>
        </p:nvSpPr>
        <p:spPr>
          <a:xfrm>
            <a:off x="1524000" y="3014979"/>
            <a:ext cx="10150856" cy="265430"/>
          </a:xfrm>
          <a:prstGeom prst="rect">
            <a:avLst/>
          </a:prstGeom>
          <a:noFill/>
          <a:ln/>
        </p:spPr>
        <p:txBody>
          <a:bodyPr wrap="square" lIns="0" tIns="0" rIns="0" bIns="0" rtlCol="0" anchor="t">
            <a:normAutofit/>
          </a:bodyPr>
          <a:lstStyle/>
          <a:p>
            <a:pPr algn="l" indent="0" marL="0">
              <a:lnSpc>
                <a:spcPts val="1890"/>
              </a:lnSpc>
              <a:buNone/>
            </a:pPr>
            <a:r>
              <a:rPr lang="en-US" sz="1400" dirty="0">
                <a:solidFill>
                  <a:srgbClr val="16222C"/>
                </a:solidFill>
                <a:latin typeface="IBM Plex Sans" pitchFamily="34" charset="0"/>
                <a:ea typeface="IBM Plex Sans" pitchFamily="34" charset="-122"/>
                <a:cs typeface="IBM Plex Sans" pitchFamily="34" charset="-120"/>
              </a:rPr>
              <a:t>Two 2023 death totals, 2,273 and 1,216, sit beside the same 5,796 crashes. A single number would hide that.</a:t>
            </a:r>
            <a:endParaRPr lang="en-US" sz="1400" dirty="0"/>
          </a:p>
        </p:txBody>
      </p:sp>
      <p:sp>
        <p:nvSpPr>
          <p:cNvPr id="10" name="Shape 8"/>
          <p:cNvSpPr/>
          <p:nvPr/>
        </p:nvSpPr>
        <p:spPr>
          <a:xfrm>
            <a:off x="812800" y="3439796"/>
            <a:ext cx="10566400" cy="0"/>
          </a:xfrm>
          <a:prstGeom prst="line">
            <a:avLst/>
          </a:prstGeom>
          <a:noFill/>
          <a:ln w="6350">
            <a:solidFill>
              <a:srgbClr val="C9C3B5"/>
            </a:solidFill>
            <a:prstDash val="solid"/>
          </a:ln>
        </p:spPr>
      </p:sp>
      <p:sp>
        <p:nvSpPr>
          <p:cNvPr id="11" name="Text 9"/>
          <p:cNvSpPr/>
          <p:nvPr/>
        </p:nvSpPr>
        <p:spPr>
          <a:xfrm>
            <a:off x="812800" y="3568700"/>
            <a:ext cx="558800" cy="452120"/>
          </a:xfrm>
          <a:prstGeom prst="rect">
            <a:avLst/>
          </a:prstGeom>
          <a:noFill/>
          <a:ln/>
        </p:spPr>
        <p:txBody>
          <a:bodyPr wrap="square" lIns="0" tIns="0" rIns="0" bIns="0" rtlCol="0" anchor="t">
            <a:normAutofit/>
          </a:bodyPr>
          <a:lstStyle/>
          <a:p>
            <a:pPr algn="l" indent="0" marL="0">
              <a:lnSpc>
                <a:spcPts val="3360"/>
              </a:lnSpc>
              <a:buNone/>
            </a:pPr>
            <a:r>
              <a:rPr lang="en-US" sz="2400" b="1" dirty="0">
                <a:solidFill>
                  <a:srgbClr val="1F6B72"/>
                </a:solidFill>
                <a:latin typeface="Space Grotesk" pitchFamily="34" charset="0"/>
                <a:ea typeface="Space Grotesk" pitchFamily="34" charset="-122"/>
                <a:cs typeface="Space Grotesk" pitchFamily="34" charset="-120"/>
              </a:rPr>
              <a:t>3</a:t>
            </a:r>
            <a:endParaRPr lang="en-US" sz="2400" dirty="0"/>
          </a:p>
        </p:txBody>
      </p:sp>
      <p:sp>
        <p:nvSpPr>
          <p:cNvPr id="12" name="Text 10"/>
          <p:cNvSpPr/>
          <p:nvPr/>
        </p:nvSpPr>
        <p:spPr>
          <a:xfrm>
            <a:off x="1524000" y="3700779"/>
            <a:ext cx="10150856" cy="265430"/>
          </a:xfrm>
          <a:prstGeom prst="rect">
            <a:avLst/>
          </a:prstGeom>
          <a:noFill/>
          <a:ln/>
        </p:spPr>
        <p:txBody>
          <a:bodyPr wrap="square" lIns="0" tIns="0" rIns="0" bIns="0" rtlCol="0" anchor="t">
            <a:normAutofit/>
          </a:bodyPr>
          <a:lstStyle/>
          <a:p>
            <a:pPr algn="l" indent="0" marL="0">
              <a:lnSpc>
                <a:spcPts val="1890"/>
              </a:lnSpc>
              <a:buNone/>
            </a:pPr>
            <a:r>
              <a:rPr lang="en-US" sz="1400" dirty="0">
                <a:solidFill>
                  <a:srgbClr val="16222C"/>
                </a:solidFill>
                <a:latin typeface="IBM Plex Sans" pitchFamily="34" charset="0"/>
                <a:ea typeface="IBM Plex Sans" pitchFamily="34" charset="-122"/>
                <a:cs typeface="IBM Plex Sans" pitchFamily="34" charset="-120"/>
              </a:rPr>
              <a:t>A mean can improve while trips stay unfinished. On seed 37, actuated finished more trips; Max-Pressure did not win.</a:t>
            </a:r>
            <a:endParaRPr lang="en-US" sz="1400" dirty="0"/>
          </a:p>
        </p:txBody>
      </p:sp>
      <p:sp>
        <p:nvSpPr>
          <p:cNvPr id="13" name="Shape 11"/>
          <p:cNvSpPr/>
          <p:nvPr/>
        </p:nvSpPr>
        <p:spPr>
          <a:xfrm>
            <a:off x="812800" y="4125596"/>
            <a:ext cx="10566400" cy="0"/>
          </a:xfrm>
          <a:prstGeom prst="line">
            <a:avLst/>
          </a:prstGeom>
          <a:noFill/>
          <a:ln w="6350">
            <a:solidFill>
              <a:srgbClr val="C9C3B5"/>
            </a:solidFill>
            <a:prstDash val="solid"/>
          </a:ln>
        </p:spPr>
      </p:sp>
      <p:sp>
        <p:nvSpPr>
          <p:cNvPr id="14" name="Text 12"/>
          <p:cNvSpPr/>
          <p:nvPr/>
        </p:nvSpPr>
        <p:spPr>
          <a:xfrm>
            <a:off x="812800" y="4254500"/>
            <a:ext cx="558800" cy="452120"/>
          </a:xfrm>
          <a:prstGeom prst="rect">
            <a:avLst/>
          </a:prstGeom>
          <a:noFill/>
          <a:ln/>
        </p:spPr>
        <p:txBody>
          <a:bodyPr wrap="square" lIns="0" tIns="0" rIns="0" bIns="0" rtlCol="0" anchor="t">
            <a:normAutofit/>
          </a:bodyPr>
          <a:lstStyle/>
          <a:p>
            <a:pPr algn="l" indent="0" marL="0">
              <a:lnSpc>
                <a:spcPts val="3360"/>
              </a:lnSpc>
              <a:buNone/>
            </a:pPr>
            <a:r>
              <a:rPr lang="en-US" sz="2400" b="1" dirty="0">
                <a:solidFill>
                  <a:srgbClr val="1F6B72"/>
                </a:solidFill>
                <a:latin typeface="Space Grotesk" pitchFamily="34" charset="0"/>
                <a:ea typeface="Space Grotesk" pitchFamily="34" charset="-122"/>
                <a:cs typeface="Space Grotesk" pitchFamily="34" charset="-120"/>
              </a:rPr>
              <a:t>4</a:t>
            </a:r>
            <a:endParaRPr lang="en-US" sz="2400" dirty="0"/>
          </a:p>
        </p:txBody>
      </p:sp>
      <p:sp>
        <p:nvSpPr>
          <p:cNvPr id="15" name="Text 13"/>
          <p:cNvSpPr/>
          <p:nvPr/>
        </p:nvSpPr>
        <p:spPr>
          <a:xfrm>
            <a:off x="1524000" y="4386579"/>
            <a:ext cx="10150856" cy="265430"/>
          </a:xfrm>
          <a:prstGeom prst="rect">
            <a:avLst/>
          </a:prstGeom>
          <a:noFill/>
          <a:ln/>
        </p:spPr>
        <p:txBody>
          <a:bodyPr wrap="square" lIns="0" tIns="0" rIns="0" bIns="0" rtlCol="0" anchor="t">
            <a:normAutofit/>
          </a:bodyPr>
          <a:lstStyle/>
          <a:p>
            <a:pPr algn="l" indent="0" marL="0">
              <a:lnSpc>
                <a:spcPts val="1890"/>
              </a:lnSpc>
              <a:buNone/>
            </a:pPr>
            <a:r>
              <a:rPr lang="en-US" sz="1400" dirty="0">
                <a:solidFill>
                  <a:srgbClr val="16222C"/>
                </a:solidFill>
                <a:latin typeface="IBM Plex Sans" pitchFamily="34" charset="0"/>
                <a:ea typeface="IBM Plex Sans" pitchFamily="34" charset="-122"/>
                <a:cs typeface="IBM Plex Sans" pitchFamily="34" charset="-120"/>
              </a:rPr>
              <a:t>No public adaptive-signal network in Tunis was found, and a 2018 passenger total is not today's bus gap.</a:t>
            </a:r>
            <a:endParaRPr lang="en-US" sz="1400" dirty="0"/>
          </a:p>
        </p:txBody>
      </p:sp>
      <p:sp>
        <p:nvSpPr>
          <p:cNvPr id="16" name="Shape 14"/>
          <p:cNvSpPr/>
          <p:nvPr/>
        </p:nvSpPr>
        <p:spPr>
          <a:xfrm>
            <a:off x="812800" y="4811396"/>
            <a:ext cx="10566400" cy="0"/>
          </a:xfrm>
          <a:prstGeom prst="line">
            <a:avLst/>
          </a:prstGeom>
          <a:noFill/>
          <a:ln w="6350">
            <a:solidFill>
              <a:srgbClr val="C9C3B5"/>
            </a:solidFill>
            <a:prstDash val="solid"/>
          </a:ln>
        </p:spPr>
      </p:sp>
      <p:sp>
        <p:nvSpPr>
          <p:cNvPr id="17" name="Shape 15"/>
          <p:cNvSpPr/>
          <p:nvPr/>
        </p:nvSpPr>
        <p:spPr>
          <a:xfrm>
            <a:off x="812800" y="5495926"/>
            <a:ext cx="10566400" cy="0"/>
          </a:xfrm>
          <a:prstGeom prst="line">
            <a:avLst/>
          </a:prstGeom>
          <a:noFill/>
          <a:ln w="6350">
            <a:solidFill>
              <a:srgbClr val="C9C3B5"/>
            </a:solidFill>
            <a:prstDash val="solid"/>
          </a:ln>
        </p:spPr>
      </p:sp>
      <p:sp>
        <p:nvSpPr>
          <p:cNvPr id="18" name="Text 16"/>
          <p:cNvSpPr/>
          <p:nvPr/>
        </p:nvSpPr>
        <p:spPr>
          <a:xfrm>
            <a:off x="812800" y="4940300"/>
            <a:ext cx="558800" cy="452120"/>
          </a:xfrm>
          <a:prstGeom prst="rect">
            <a:avLst/>
          </a:prstGeom>
          <a:noFill/>
          <a:ln/>
        </p:spPr>
        <p:txBody>
          <a:bodyPr wrap="square" lIns="0" tIns="0" rIns="0" bIns="0" rtlCol="0" anchor="t">
            <a:normAutofit/>
          </a:bodyPr>
          <a:lstStyle/>
          <a:p>
            <a:pPr algn="l" indent="0" marL="0">
              <a:lnSpc>
                <a:spcPts val="3360"/>
              </a:lnSpc>
              <a:buNone/>
            </a:pPr>
            <a:r>
              <a:rPr lang="en-US" sz="2400" b="1" dirty="0">
                <a:solidFill>
                  <a:srgbClr val="1F6B72"/>
                </a:solidFill>
                <a:latin typeface="Space Grotesk" pitchFamily="34" charset="0"/>
                <a:ea typeface="Space Grotesk" pitchFamily="34" charset="-122"/>
                <a:cs typeface="Space Grotesk" pitchFamily="34" charset="-120"/>
              </a:rPr>
              <a:t>5</a:t>
            </a:r>
            <a:endParaRPr lang="en-US" sz="2400" dirty="0"/>
          </a:p>
        </p:txBody>
      </p:sp>
      <p:sp>
        <p:nvSpPr>
          <p:cNvPr id="19" name="Text 17"/>
          <p:cNvSpPr/>
          <p:nvPr/>
        </p:nvSpPr>
        <p:spPr>
          <a:xfrm>
            <a:off x="1524000" y="5072379"/>
            <a:ext cx="10150856" cy="265430"/>
          </a:xfrm>
          <a:prstGeom prst="rect">
            <a:avLst/>
          </a:prstGeom>
          <a:noFill/>
          <a:ln/>
        </p:spPr>
        <p:txBody>
          <a:bodyPr wrap="square" lIns="0" tIns="0" rIns="0" bIns="0" rtlCol="0" anchor="t">
            <a:normAutofit/>
          </a:bodyPr>
          <a:lstStyle/>
          <a:p>
            <a:pPr algn="l" indent="0" marL="0">
              <a:lnSpc>
                <a:spcPts val="1890"/>
              </a:lnSpc>
              <a:buNone/>
            </a:pPr>
            <a:r>
              <a:rPr lang="en-US" sz="1400" dirty="0">
                <a:solidFill>
                  <a:srgbClr val="16222C"/>
                </a:solidFill>
                <a:latin typeface="IBM Plex Sans" pitchFamily="34" charset="0"/>
                <a:ea typeface="IBM Plex Sans" pitchFamily="34" charset="-122"/>
                <a:cs typeface="IBM Plex Sans" pitchFamily="34" charset="-120"/>
              </a:rPr>
              <a:t>An alert that names a cause, or a stale sensor shown as healthy, would go beyond the evidence.</a:t>
            </a:r>
            <a:endParaRPr lang="en-US" sz="1400" dirty="0"/>
          </a:p>
        </p:txBody>
      </p:sp>
      <p:sp>
        <p:nvSpPr>
          <p:cNvPr id="20" name="Text 18"/>
          <p:cNvSpPr/>
          <p:nvPr/>
        </p:nvSpPr>
        <p:spPr>
          <a:xfrm>
            <a:off x="812800" y="6238242"/>
            <a:ext cx="5998374"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B73"/>
                </a:solidFill>
                <a:latin typeface="IBM Plex Sans" pitchFamily="34" charset="0"/>
                <a:ea typeface="IBM Plex Sans" pitchFamily="34" charset="-122"/>
                <a:cs typeface="IBM Plex Sans" pitchFamily="34" charset="-120"/>
              </a:rPr>
              <a:t>Evidence: 1 → slides 05, 08 · 2 → slide 07 · 3 → slide 09 · 4 → slide 04 · 5 → slide 16</a:t>
            </a:r>
            <a:endParaRPr lang="en-US" sz="1200" dirty="0"/>
          </a:p>
        </p:txBody>
      </p:sp>
      <p:sp>
        <p:nvSpPr>
          <p:cNvPr id="21" name="Text 19"/>
          <p:cNvSpPr/>
          <p:nvPr/>
        </p:nvSpPr>
        <p:spPr>
          <a:xfrm>
            <a:off x="11196320" y="6238242"/>
            <a:ext cx="23368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B73"/>
                </a:solidFill>
                <a:latin typeface="IBM Plex Sans" pitchFamily="34" charset="0"/>
                <a:ea typeface="IBM Plex Sans" pitchFamily="34" charset="-122"/>
                <a:cs typeface="IBM Plex Sans" pitchFamily="34" charset="-120"/>
              </a:rPr>
              <a:t>10</a:t>
            </a:r>
            <a:endParaRPr lang="en-US" sz="1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4F1EA"/>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1F6B72"/>
                </a:solidFill>
                <a:latin typeface="IBM Plex Mono" pitchFamily="34" charset="0"/>
                <a:ea typeface="IBM Plex Mono" pitchFamily="34" charset="-122"/>
                <a:cs typeface="IBM Plex Mono" pitchFamily="34" charset="-120"/>
              </a:rPr>
              <a:t>EMPATHIZE · 1.5 PERSONAS · 1 OF 6</a:t>
            </a:r>
            <a:endParaRPr lang="en-US" sz="1200" dirty="0"/>
          </a:p>
        </p:txBody>
      </p:sp>
      <p:sp>
        <p:nvSpPr>
          <p:cNvPr id="3" name="Text 1"/>
          <p:cNvSpPr/>
          <p:nvPr/>
        </p:nvSpPr>
        <p:spPr>
          <a:xfrm>
            <a:off x="812800" y="1127764"/>
            <a:ext cx="10883392" cy="472440"/>
          </a:xfrm>
          <a:prstGeom prst="rect">
            <a:avLst/>
          </a:prstGeom>
          <a:noFill/>
          <a:ln/>
        </p:spPr>
        <p:txBody>
          <a:bodyPr wrap="square" lIns="0" tIns="0" rIns="0" bIns="0" rtlCol="0" anchor="t">
            <a:normAutofit/>
          </a:bodyPr>
          <a:lstStyle/>
          <a:p>
            <a:pPr algn="l" indent="0" marL="0">
              <a:lnSpc>
                <a:spcPts val="3520"/>
              </a:lnSpc>
              <a:buNone/>
            </a:pPr>
            <a:r>
              <a:rPr lang="en-US" sz="3200" b="1" dirty="0">
                <a:solidFill>
                  <a:srgbClr val="16222C"/>
                </a:solidFill>
                <a:latin typeface="Space Grotesk" pitchFamily="34" charset="0"/>
                <a:ea typeface="Space Grotesk" pitchFamily="34" charset="-122"/>
                <a:cs typeface="Space Grotesk" pitchFamily="34" charset="-120"/>
              </a:rPr>
              <a:t>Amara, the pedestrian still crossing</a:t>
            </a:r>
            <a:endParaRPr lang="en-US" sz="3200" dirty="0"/>
          </a:p>
        </p:txBody>
      </p:sp>
      <p:sp>
        <p:nvSpPr>
          <p:cNvPr id="4" name="Shape 2"/>
          <p:cNvSpPr/>
          <p:nvPr/>
        </p:nvSpPr>
        <p:spPr>
          <a:xfrm>
            <a:off x="822325" y="1838325"/>
            <a:ext cx="3028950" cy="3727450"/>
          </a:xfrm>
          <a:prstGeom prst="roundRect">
            <a:avLst>
              <a:gd name="adj" fmla="val 3040"/>
            </a:avLst>
          </a:prstGeom>
          <a:solidFill>
            <a:srgbClr val="E9E4D8"/>
          </a:solidFill>
          <a:ln w="19050">
            <a:solidFill>
              <a:srgbClr val="A7B0B5"/>
            </a:solidFill>
            <a:prstDash val="dash"/>
          </a:ln>
        </p:spPr>
      </p:sp>
      <p:sp>
        <p:nvSpPr>
          <p:cNvPr id="5" name="Shape 3"/>
          <p:cNvSpPr/>
          <p:nvPr/>
        </p:nvSpPr>
        <p:spPr>
          <a:xfrm>
            <a:off x="4191000" y="1828800"/>
            <a:ext cx="0" cy="574040"/>
          </a:xfrm>
          <a:prstGeom prst="line">
            <a:avLst/>
          </a:prstGeom>
          <a:noFill/>
          <a:ln w="50800">
            <a:solidFill>
              <a:srgbClr val="1F6B72"/>
            </a:solidFill>
            <a:prstDash val="solid"/>
          </a:ln>
        </p:spPr>
      </p:sp>
      <p:sp>
        <p:nvSpPr>
          <p:cNvPr id="6" name="Text 4"/>
          <p:cNvSpPr/>
          <p:nvPr/>
        </p:nvSpPr>
        <p:spPr>
          <a:xfrm>
            <a:off x="4368800" y="1828800"/>
            <a:ext cx="7220712" cy="3302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16222C"/>
                </a:solidFill>
                <a:latin typeface="Space Grotesk" pitchFamily="34" charset="0"/>
                <a:ea typeface="Space Grotesk" pitchFamily="34" charset="-122"/>
                <a:cs typeface="Space Grotesk" pitchFamily="34" charset="-120"/>
              </a:rPr>
              <a:t>Amara, 74</a:t>
            </a:r>
            <a:endParaRPr lang="en-US" sz="2000" dirty="0"/>
          </a:p>
        </p:txBody>
      </p:sp>
      <p:sp>
        <p:nvSpPr>
          <p:cNvPr id="7" name="Text 5"/>
          <p:cNvSpPr/>
          <p:nvPr/>
        </p:nvSpPr>
        <p:spPr>
          <a:xfrm>
            <a:off x="4368800" y="2171700"/>
            <a:ext cx="7220712" cy="25654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5E6B73"/>
                </a:solidFill>
                <a:latin typeface="IBM Plex Sans" pitchFamily="34" charset="0"/>
                <a:ea typeface="IBM Plex Sans" pitchFamily="34" charset="-122"/>
                <a:cs typeface="IBM Plex Sans" pitchFamily="34" charset="-120"/>
              </a:rPr>
              <a:t>Retired pedestrian · uses a cane</a:t>
            </a:r>
            <a:endParaRPr lang="en-US" sz="1300" dirty="0"/>
          </a:p>
        </p:txBody>
      </p:sp>
      <p:sp>
        <p:nvSpPr>
          <p:cNvPr id="8" name="Text 6"/>
          <p:cNvSpPr/>
          <p:nvPr/>
        </p:nvSpPr>
        <p:spPr>
          <a:xfrm>
            <a:off x="4165600" y="2529842"/>
            <a:ext cx="7430008" cy="289560"/>
          </a:xfrm>
          <a:prstGeom prst="rect">
            <a:avLst/>
          </a:prstGeom>
          <a:noFill/>
          <a:ln/>
        </p:spPr>
        <p:txBody>
          <a:bodyPr wrap="square" lIns="0" tIns="0" rIns="0" bIns="0" rtlCol="0" anchor="t">
            <a:normAutofit/>
          </a:bodyPr>
          <a:lstStyle/>
          <a:p>
            <a:pPr algn="l" indent="0" marL="0">
              <a:lnSpc>
                <a:spcPts val="2080"/>
              </a:lnSpc>
              <a:buNone/>
            </a:pPr>
            <a:r>
              <a:rPr lang="en-US" sz="1600" i="1" dirty="0">
                <a:solidFill>
                  <a:srgbClr val="16222C"/>
                </a:solidFill>
                <a:latin typeface="Space Grotesk" pitchFamily="34" charset="0"/>
                <a:ea typeface="Space Grotesk" pitchFamily="34" charset="-122"/>
                <a:cs typeface="Space Grotesk" pitchFamily="34" charset="-120"/>
              </a:rPr>
              <a:t>“I need enough time to finish crossing, even when traffic is busy.”</a:t>
            </a:r>
            <a:endParaRPr lang="en-US" sz="1600" dirty="0"/>
          </a:p>
        </p:txBody>
      </p:sp>
      <p:sp>
        <p:nvSpPr>
          <p:cNvPr id="9" name="Shape 7"/>
          <p:cNvSpPr/>
          <p:nvPr/>
        </p:nvSpPr>
        <p:spPr>
          <a:xfrm>
            <a:off x="4165600" y="2927350"/>
            <a:ext cx="3606800" cy="0"/>
          </a:xfrm>
          <a:prstGeom prst="line">
            <a:avLst/>
          </a:prstGeom>
          <a:noFill/>
          <a:ln w="12700">
            <a:solidFill>
              <a:srgbClr val="DDD8CC"/>
            </a:solidFill>
            <a:prstDash val="solid"/>
          </a:ln>
        </p:spPr>
      </p:sp>
      <p:sp>
        <p:nvSpPr>
          <p:cNvPr id="10" name="Text 8"/>
          <p:cNvSpPr/>
          <p:nvPr/>
        </p:nvSpPr>
        <p:spPr>
          <a:xfrm>
            <a:off x="4165600" y="3007364"/>
            <a:ext cx="3715004"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F6B72"/>
                </a:solidFill>
                <a:latin typeface="IBM Plex Mono" pitchFamily="34" charset="0"/>
                <a:ea typeface="IBM Plex Mono" pitchFamily="34" charset="-122"/>
                <a:cs typeface="IBM Plex Mono" pitchFamily="34" charset="-120"/>
              </a:rPr>
              <a:t>NEED</a:t>
            </a:r>
            <a:endParaRPr lang="en-US" sz="1200" dirty="0"/>
          </a:p>
        </p:txBody>
      </p:sp>
      <p:sp>
        <p:nvSpPr>
          <p:cNvPr id="11" name="Text 9"/>
          <p:cNvSpPr/>
          <p:nvPr/>
        </p:nvSpPr>
        <p:spPr>
          <a:xfrm>
            <a:off x="4165600" y="3258821"/>
            <a:ext cx="3715004" cy="43688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16222C"/>
                </a:solidFill>
                <a:latin typeface="IBM Plex Sans" pitchFamily="34" charset="0"/>
                <a:ea typeface="IBM Plex Sans" pitchFamily="34" charset="-122"/>
                <a:cs typeface="IBM Plex Sans" pitchFamily="34" charset="-120"/>
              </a:rPr>
              <a:t>Acknowledgement, shorter waits, enough clearance to finish.</a:t>
            </a:r>
            <a:endParaRPr lang="en-US" sz="1200" dirty="0"/>
          </a:p>
        </p:txBody>
      </p:sp>
      <p:sp>
        <p:nvSpPr>
          <p:cNvPr id="12" name="Shape 10"/>
          <p:cNvSpPr/>
          <p:nvPr/>
        </p:nvSpPr>
        <p:spPr>
          <a:xfrm>
            <a:off x="7772400" y="2927350"/>
            <a:ext cx="3606800" cy="0"/>
          </a:xfrm>
          <a:prstGeom prst="line">
            <a:avLst/>
          </a:prstGeom>
          <a:noFill/>
          <a:ln w="12700">
            <a:solidFill>
              <a:srgbClr val="DDD8CC"/>
            </a:solidFill>
            <a:prstDash val="solid"/>
          </a:ln>
        </p:spPr>
      </p:sp>
      <p:sp>
        <p:nvSpPr>
          <p:cNvPr id="13" name="Text 11"/>
          <p:cNvSpPr/>
          <p:nvPr/>
        </p:nvSpPr>
        <p:spPr>
          <a:xfrm>
            <a:off x="7772400" y="3007364"/>
            <a:ext cx="3715004"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F6B72"/>
                </a:solidFill>
                <a:latin typeface="IBM Plex Mono" pitchFamily="34" charset="0"/>
                <a:ea typeface="IBM Plex Mono" pitchFamily="34" charset="-122"/>
                <a:cs typeface="IBM Plex Mono" pitchFamily="34" charset="-120"/>
              </a:rPr>
              <a:t>PAIN POINT</a:t>
            </a:r>
            <a:endParaRPr lang="en-US" sz="1200" dirty="0"/>
          </a:p>
        </p:txBody>
      </p:sp>
      <p:sp>
        <p:nvSpPr>
          <p:cNvPr id="14" name="Text 12"/>
          <p:cNvSpPr/>
          <p:nvPr/>
        </p:nvSpPr>
        <p:spPr>
          <a:xfrm>
            <a:off x="7772400" y="3258821"/>
            <a:ext cx="3715004" cy="23114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16222C"/>
                </a:solidFill>
                <a:latin typeface="IBM Plex Sans" pitchFamily="34" charset="0"/>
                <a:ea typeface="IBM Plex Sans" pitchFamily="34" charset="-122"/>
                <a:cs typeface="IBM Plex Sans" pitchFamily="34" charset="-120"/>
              </a:rPr>
              <a:t>Cars get green while she is still in the crossing.</a:t>
            </a:r>
            <a:endParaRPr lang="en-US" sz="1200" dirty="0"/>
          </a:p>
        </p:txBody>
      </p:sp>
      <p:sp>
        <p:nvSpPr>
          <p:cNvPr id="15" name="Shape 13"/>
          <p:cNvSpPr/>
          <p:nvPr/>
        </p:nvSpPr>
        <p:spPr>
          <a:xfrm>
            <a:off x="4165600" y="3676650"/>
            <a:ext cx="3606800" cy="0"/>
          </a:xfrm>
          <a:prstGeom prst="line">
            <a:avLst/>
          </a:prstGeom>
          <a:noFill/>
          <a:ln w="12700">
            <a:solidFill>
              <a:srgbClr val="DDD8CC"/>
            </a:solidFill>
            <a:prstDash val="solid"/>
          </a:ln>
        </p:spPr>
      </p:sp>
      <p:sp>
        <p:nvSpPr>
          <p:cNvPr id="16" name="Text 14"/>
          <p:cNvSpPr/>
          <p:nvPr/>
        </p:nvSpPr>
        <p:spPr>
          <a:xfrm>
            <a:off x="4165600" y="3756664"/>
            <a:ext cx="3715004"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F6B72"/>
                </a:solidFill>
                <a:latin typeface="IBM Plex Mono" pitchFamily="34" charset="0"/>
                <a:ea typeface="IBM Plex Mono" pitchFamily="34" charset="-122"/>
                <a:cs typeface="IBM Plex Mono" pitchFamily="34" charset="-120"/>
              </a:rPr>
              <a:t>REJECTS</a:t>
            </a:r>
            <a:endParaRPr lang="en-US" sz="1200" dirty="0"/>
          </a:p>
        </p:txBody>
      </p:sp>
      <p:sp>
        <p:nvSpPr>
          <p:cNvPr id="17" name="Text 15"/>
          <p:cNvSpPr/>
          <p:nvPr/>
        </p:nvSpPr>
        <p:spPr>
          <a:xfrm>
            <a:off x="4165600" y="4008121"/>
            <a:ext cx="3715004" cy="43688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16222C"/>
                </a:solidFill>
                <a:latin typeface="IBM Plex Sans" pitchFamily="34" charset="0"/>
                <a:ea typeface="IBM Plex Sans" pitchFamily="34" charset="-122"/>
                <a:cs typeface="IBM Plex Sans" pitchFamily="34" charset="-120"/>
              </a:rPr>
              <a:t>Shortened clearance, inaccessible apps, invented success claims.</a:t>
            </a:r>
            <a:endParaRPr lang="en-US" sz="1200" dirty="0"/>
          </a:p>
        </p:txBody>
      </p:sp>
      <p:sp>
        <p:nvSpPr>
          <p:cNvPr id="18" name="Shape 16"/>
          <p:cNvSpPr/>
          <p:nvPr/>
        </p:nvSpPr>
        <p:spPr>
          <a:xfrm>
            <a:off x="7772400" y="3676650"/>
            <a:ext cx="3606800" cy="0"/>
          </a:xfrm>
          <a:prstGeom prst="line">
            <a:avLst/>
          </a:prstGeom>
          <a:noFill/>
          <a:ln w="12700">
            <a:solidFill>
              <a:srgbClr val="DDD8CC"/>
            </a:solidFill>
            <a:prstDash val="solid"/>
          </a:ln>
        </p:spPr>
      </p:sp>
      <p:sp>
        <p:nvSpPr>
          <p:cNvPr id="19" name="Text 17"/>
          <p:cNvSpPr/>
          <p:nvPr/>
        </p:nvSpPr>
        <p:spPr>
          <a:xfrm>
            <a:off x="7772400" y="3756664"/>
            <a:ext cx="3715004"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F6B72"/>
                </a:solidFill>
                <a:latin typeface="IBM Plex Mono" pitchFamily="34" charset="0"/>
                <a:ea typeface="IBM Plex Mono" pitchFamily="34" charset="-122"/>
                <a:cs typeface="IBM Plex Mono" pitchFamily="34" charset="-120"/>
              </a:rPr>
              <a:t>MEASURE</a:t>
            </a:r>
            <a:endParaRPr lang="en-US" sz="1200" dirty="0"/>
          </a:p>
        </p:txBody>
      </p:sp>
      <p:sp>
        <p:nvSpPr>
          <p:cNvPr id="20" name="Text 18"/>
          <p:cNvSpPr/>
          <p:nvPr/>
        </p:nvSpPr>
        <p:spPr>
          <a:xfrm>
            <a:off x="7772400" y="4008121"/>
            <a:ext cx="3715004" cy="23114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16222C"/>
                </a:solidFill>
                <a:latin typeface="IBM Plex Sans" pitchFamily="34" charset="0"/>
                <a:ea typeface="IBM Plex Sans" pitchFamily="34" charset="-122"/>
                <a:cs typeface="IBM Plex Sans" pitchFamily="34" charset="-120"/>
              </a:rPr>
              <a:t>Mean, P95, max wait · zero clearance truncations.</a:t>
            </a:r>
            <a:endParaRPr lang="en-US" sz="1200" dirty="0"/>
          </a:p>
        </p:txBody>
      </p:sp>
      <p:sp>
        <p:nvSpPr>
          <p:cNvPr id="21" name="Shape 19"/>
          <p:cNvSpPr/>
          <p:nvPr/>
        </p:nvSpPr>
        <p:spPr>
          <a:xfrm>
            <a:off x="4165600" y="4546600"/>
            <a:ext cx="7213600" cy="820420"/>
          </a:xfrm>
          <a:prstGeom prst="roundRect">
            <a:avLst>
              <a:gd name="adj" fmla="val 7740"/>
            </a:avLst>
          </a:prstGeom>
          <a:solidFill>
            <a:srgbClr val="EFEBE1"/>
          </a:solidFill>
          <a:ln/>
        </p:spPr>
      </p:sp>
      <p:sp>
        <p:nvSpPr>
          <p:cNvPr id="22" name="Text 20"/>
          <p:cNvSpPr/>
          <p:nvPr/>
        </p:nvSpPr>
        <p:spPr>
          <a:xfrm>
            <a:off x="4292600" y="4648200"/>
            <a:ext cx="876300" cy="6426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6222C"/>
                </a:solidFill>
                <a:latin typeface="IBM Plex Mono" pitchFamily="34" charset="0"/>
                <a:ea typeface="IBM Plex Mono" pitchFamily="34" charset="-122"/>
                <a:cs typeface="IBM Plex Mono" pitchFamily="34" charset="-120"/>
              </a:rPr>
              <a:t>BASED ON</a:t>
            </a:r>
            <a:endParaRPr lang="en-US" sz="1200" dirty="0"/>
          </a:p>
        </p:txBody>
      </p:sp>
      <p:sp>
        <p:nvSpPr>
          <p:cNvPr id="23" name="Text 21"/>
          <p:cNvSpPr/>
          <p:nvPr/>
        </p:nvSpPr>
        <p:spPr>
          <a:xfrm>
            <a:off x="5219700" y="4648200"/>
            <a:ext cx="6213475" cy="64262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16222C"/>
                </a:solidFill>
                <a:latin typeface="IBM Plex Sans" pitchFamily="34" charset="0"/>
                <a:ea typeface="IBM Plex Sans" pitchFamily="34" charset="-122"/>
                <a:cs typeface="IBM Plex Sans" pitchFamily="34" charset="-120"/>
              </a:rPr>
              <a:t>Pedestrians 28% of 2023 deaths (investment case, ONSR); the 2024 strategy names older people and people with disabilities; clearance guidance ≈1.07 m/s; perceived wait ≈2× observed in one New Zealand study.</a:t>
            </a:r>
            <a:endParaRPr lang="en-US" sz="1200" dirty="0"/>
          </a:p>
        </p:txBody>
      </p:sp>
      <p:sp>
        <p:nvSpPr>
          <p:cNvPr id="24" name="Text 22"/>
          <p:cNvSpPr/>
          <p:nvPr/>
        </p:nvSpPr>
        <p:spPr>
          <a:xfrm>
            <a:off x="812800" y="6238242"/>
            <a:ext cx="7531713"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B73"/>
                </a:solidFill>
                <a:latin typeface="IBM Plex Sans" pitchFamily="34" charset="0"/>
                <a:ea typeface="IBM Plex Sans" pitchFamily="34" charset="-122"/>
                <a:cs typeface="IBM Plex Sans" pitchFamily="34" charset="-120"/>
              </a:rPr>
              <a:t>Built from slides 05–09. Age, job and statement are design readings, not interviews. Photo is an illustration.</a:t>
            </a:r>
            <a:endParaRPr lang="en-US" sz="1200" dirty="0"/>
          </a:p>
        </p:txBody>
      </p:sp>
      <p:sp>
        <p:nvSpPr>
          <p:cNvPr id="25" name="Text 23"/>
          <p:cNvSpPr/>
          <p:nvPr/>
        </p:nvSpPr>
        <p:spPr>
          <a:xfrm>
            <a:off x="11196320" y="6238242"/>
            <a:ext cx="23368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B73"/>
                </a:solidFill>
                <a:latin typeface="IBM Plex Sans" pitchFamily="34" charset="0"/>
                <a:ea typeface="IBM Plex Sans" pitchFamily="34" charset="-122"/>
                <a:cs typeface="IBM Plex Sans" pitchFamily="34" charset="-120"/>
              </a:rPr>
              <a:t>11</a:t>
            </a:r>
            <a:endParaRPr lang="en-US" sz="1200" dirty="0"/>
          </a:p>
        </p:txBody>
      </p:sp>
      <p:pic>
        <p:nvPicPr>
          <p:cNvPr id="26" name="Picture 25" descr="image-4-1.png"/>
          <p:cNvPicPr>
            <a:picLocks noChangeAspect="1"/>
          </p:cNvPicPr>
          <p:nvPr/>
        </p:nvPicPr>
        <p:blipFill>
          <a:blip r:embed="rId3"/>
          <a:srcRect t="3852" b="3852"/>
          <a:stretch>
            <a:fillRect/>
          </a:stretch>
        </p:blipFill>
        <p:spPr>
          <a:xfrm>
            <a:off x="822325" y="1838325"/>
            <a:ext cx="3028950" cy="4038600"/>
          </a:xfrm>
          <a:prstGeom prst="rect">
            <a:avLst/>
          </a:prstGeom>
        </p:spPr>
      </p:pic>
      <p:sp>
        <p:nvSpPr>
          <p:cNvPr id="27" name="Rectangle 26"/>
          <p:cNvSpPr/>
          <p:nvPr/>
        </p:nvSpPr>
        <p:spPr>
          <a:xfrm>
            <a:off x="822325" y="1838325"/>
            <a:ext cx="3028950" cy="3727450"/>
          </a:xfrm>
          <a:prstGeom prst="rect">
            <a:avLst/>
          </a:prstGeom>
          <a:noFill/>
          <a:ln w="9144">
            <a:solidFill>
              <a:srgbClr val="A0AAA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4F1EA"/>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1F6B72"/>
                </a:solidFill>
                <a:latin typeface="IBM Plex Mono" pitchFamily="34" charset="0"/>
                <a:ea typeface="IBM Plex Mono" pitchFamily="34" charset="-122"/>
                <a:cs typeface="IBM Plex Mono" pitchFamily="34" charset="-120"/>
              </a:rPr>
              <a:t>EMPATHIZE · 1.5 PERSONAS · 2 OF 6</a:t>
            </a:r>
            <a:endParaRPr lang="en-US" sz="1200" dirty="0"/>
          </a:p>
        </p:txBody>
      </p:sp>
      <p:sp>
        <p:nvSpPr>
          <p:cNvPr id="3" name="Text 1"/>
          <p:cNvSpPr/>
          <p:nvPr/>
        </p:nvSpPr>
        <p:spPr>
          <a:xfrm>
            <a:off x="812800" y="1127764"/>
            <a:ext cx="10883392" cy="472440"/>
          </a:xfrm>
          <a:prstGeom prst="rect">
            <a:avLst/>
          </a:prstGeom>
          <a:noFill/>
          <a:ln/>
        </p:spPr>
        <p:txBody>
          <a:bodyPr wrap="square" lIns="0" tIns="0" rIns="0" bIns="0" rtlCol="0" anchor="t">
            <a:normAutofit/>
          </a:bodyPr>
          <a:lstStyle/>
          <a:p>
            <a:pPr algn="l" indent="0" marL="0">
              <a:lnSpc>
                <a:spcPts val="3520"/>
              </a:lnSpc>
              <a:buNone/>
            </a:pPr>
            <a:r>
              <a:rPr lang="en-US" sz="3200" b="1" dirty="0">
                <a:solidFill>
                  <a:srgbClr val="16222C"/>
                </a:solidFill>
                <a:latin typeface="Space Grotesk" pitchFamily="34" charset="0"/>
                <a:ea typeface="Space Grotesk" pitchFamily="34" charset="-122"/>
                <a:cs typeface="Space Grotesk" pitchFamily="34" charset="-120"/>
              </a:rPr>
              <a:t>David, the driver whose trip may not finish</a:t>
            </a:r>
            <a:endParaRPr lang="en-US" sz="3200" dirty="0"/>
          </a:p>
        </p:txBody>
      </p:sp>
      <p:sp>
        <p:nvSpPr>
          <p:cNvPr id="4" name="Shape 2"/>
          <p:cNvSpPr/>
          <p:nvPr/>
        </p:nvSpPr>
        <p:spPr>
          <a:xfrm>
            <a:off x="822325" y="1838325"/>
            <a:ext cx="3028950" cy="3727450"/>
          </a:xfrm>
          <a:prstGeom prst="roundRect">
            <a:avLst>
              <a:gd name="adj" fmla="val 3040"/>
            </a:avLst>
          </a:prstGeom>
          <a:solidFill>
            <a:srgbClr val="E9E4D8"/>
          </a:solidFill>
          <a:ln w="19050">
            <a:solidFill>
              <a:srgbClr val="A7B0B5"/>
            </a:solidFill>
            <a:prstDash val="dash"/>
          </a:ln>
        </p:spPr>
      </p:sp>
      <p:sp>
        <p:nvSpPr>
          <p:cNvPr id="5" name="Shape 3"/>
          <p:cNvSpPr/>
          <p:nvPr/>
        </p:nvSpPr>
        <p:spPr>
          <a:xfrm>
            <a:off x="4191000" y="1828800"/>
            <a:ext cx="0" cy="574040"/>
          </a:xfrm>
          <a:prstGeom prst="line">
            <a:avLst/>
          </a:prstGeom>
          <a:noFill/>
          <a:ln w="50800">
            <a:solidFill>
              <a:srgbClr val="1F6B72"/>
            </a:solidFill>
            <a:prstDash val="solid"/>
          </a:ln>
        </p:spPr>
      </p:sp>
      <p:sp>
        <p:nvSpPr>
          <p:cNvPr id="6" name="Text 4"/>
          <p:cNvSpPr/>
          <p:nvPr/>
        </p:nvSpPr>
        <p:spPr>
          <a:xfrm>
            <a:off x="4368800" y="1828800"/>
            <a:ext cx="7220712" cy="3302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16222C"/>
                </a:solidFill>
                <a:latin typeface="Space Grotesk" pitchFamily="34" charset="0"/>
                <a:ea typeface="Space Grotesk" pitchFamily="34" charset="-122"/>
                <a:cs typeface="Space Grotesk" pitchFamily="34" charset="-120"/>
              </a:rPr>
              <a:t>David, 41</a:t>
            </a:r>
            <a:endParaRPr lang="en-US" sz="2000" dirty="0"/>
          </a:p>
        </p:txBody>
      </p:sp>
      <p:sp>
        <p:nvSpPr>
          <p:cNvPr id="7" name="Text 5"/>
          <p:cNvSpPr/>
          <p:nvPr/>
        </p:nvSpPr>
        <p:spPr>
          <a:xfrm>
            <a:off x="4368800" y="2171700"/>
            <a:ext cx="7220712" cy="25654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5E6B73"/>
                </a:solidFill>
                <a:latin typeface="IBM Plex Sans" pitchFamily="34" charset="0"/>
                <a:ea typeface="IBM Plex Sans" pitchFamily="34" charset="-122"/>
                <a:cs typeface="IBM Plex Sans" pitchFamily="34" charset="-120"/>
              </a:rPr>
              <a:t>Delivery-van driver</a:t>
            </a:r>
            <a:endParaRPr lang="en-US" sz="1300" dirty="0"/>
          </a:p>
        </p:txBody>
      </p:sp>
      <p:sp>
        <p:nvSpPr>
          <p:cNvPr id="8" name="Text 6"/>
          <p:cNvSpPr/>
          <p:nvPr/>
        </p:nvSpPr>
        <p:spPr>
          <a:xfrm>
            <a:off x="4165600" y="2529842"/>
            <a:ext cx="7430008" cy="289560"/>
          </a:xfrm>
          <a:prstGeom prst="rect">
            <a:avLst/>
          </a:prstGeom>
          <a:noFill/>
          <a:ln/>
        </p:spPr>
        <p:txBody>
          <a:bodyPr wrap="square" lIns="0" tIns="0" rIns="0" bIns="0" rtlCol="0" anchor="t">
            <a:normAutofit/>
          </a:bodyPr>
          <a:lstStyle/>
          <a:p>
            <a:pPr algn="l" indent="0" marL="0">
              <a:lnSpc>
                <a:spcPts val="2080"/>
              </a:lnSpc>
              <a:buNone/>
            </a:pPr>
            <a:r>
              <a:rPr lang="en-US" sz="1600" i="1" dirty="0">
                <a:solidFill>
                  <a:srgbClr val="16222C"/>
                </a:solidFill>
                <a:latin typeface="Space Grotesk" pitchFamily="34" charset="0"/>
                <a:ea typeface="Space Grotesk" pitchFamily="34" charset="-122"/>
                <a:cs typeface="Space Grotesk" pitchFamily="34" charset="-120"/>
              </a:rPr>
              <a:t>“I can plan around a longer trip if I know how long it will actually take.”</a:t>
            </a:r>
            <a:endParaRPr lang="en-US" sz="1600" dirty="0"/>
          </a:p>
        </p:txBody>
      </p:sp>
      <p:sp>
        <p:nvSpPr>
          <p:cNvPr id="9" name="Shape 7"/>
          <p:cNvSpPr/>
          <p:nvPr/>
        </p:nvSpPr>
        <p:spPr>
          <a:xfrm>
            <a:off x="4165600" y="2927350"/>
            <a:ext cx="3606800" cy="0"/>
          </a:xfrm>
          <a:prstGeom prst="line">
            <a:avLst/>
          </a:prstGeom>
          <a:noFill/>
          <a:ln w="12700">
            <a:solidFill>
              <a:srgbClr val="DDD8CC"/>
            </a:solidFill>
            <a:prstDash val="solid"/>
          </a:ln>
        </p:spPr>
      </p:sp>
      <p:sp>
        <p:nvSpPr>
          <p:cNvPr id="10" name="Text 8"/>
          <p:cNvSpPr/>
          <p:nvPr/>
        </p:nvSpPr>
        <p:spPr>
          <a:xfrm>
            <a:off x="4165600" y="3007364"/>
            <a:ext cx="3715004"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F6B72"/>
                </a:solidFill>
                <a:latin typeface="IBM Plex Mono" pitchFamily="34" charset="0"/>
                <a:ea typeface="IBM Plex Mono" pitchFamily="34" charset="-122"/>
                <a:cs typeface="IBM Plex Mono" pitchFamily="34" charset="-120"/>
              </a:rPr>
              <a:t>NEED</a:t>
            </a:r>
            <a:endParaRPr lang="en-US" sz="1200" dirty="0"/>
          </a:p>
        </p:txBody>
      </p:sp>
      <p:sp>
        <p:nvSpPr>
          <p:cNvPr id="11" name="Text 9"/>
          <p:cNvSpPr/>
          <p:nvPr/>
        </p:nvSpPr>
        <p:spPr>
          <a:xfrm>
            <a:off x="4165600" y="3258821"/>
            <a:ext cx="3715004" cy="23114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16222C"/>
                </a:solidFill>
                <a:latin typeface="IBM Plex Sans" pitchFamily="34" charset="0"/>
                <a:ea typeface="IBM Plex Sans" pitchFamily="34" charset="-122"/>
                <a:cs typeface="IBM Plex Sans" pitchFamily="34" charset="-120"/>
              </a:rPr>
              <a:t>Predictable journeys, fewer stops, visible incidents.</a:t>
            </a:r>
            <a:endParaRPr lang="en-US" sz="1200" dirty="0"/>
          </a:p>
        </p:txBody>
      </p:sp>
      <p:sp>
        <p:nvSpPr>
          <p:cNvPr id="12" name="Shape 10"/>
          <p:cNvSpPr/>
          <p:nvPr/>
        </p:nvSpPr>
        <p:spPr>
          <a:xfrm>
            <a:off x="7772400" y="2927350"/>
            <a:ext cx="3606800" cy="0"/>
          </a:xfrm>
          <a:prstGeom prst="line">
            <a:avLst/>
          </a:prstGeom>
          <a:noFill/>
          <a:ln w="12700">
            <a:solidFill>
              <a:srgbClr val="DDD8CC"/>
            </a:solidFill>
            <a:prstDash val="solid"/>
          </a:ln>
        </p:spPr>
      </p:sp>
      <p:sp>
        <p:nvSpPr>
          <p:cNvPr id="13" name="Text 11"/>
          <p:cNvSpPr/>
          <p:nvPr/>
        </p:nvSpPr>
        <p:spPr>
          <a:xfrm>
            <a:off x="7772400" y="3007364"/>
            <a:ext cx="3715004"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F6B72"/>
                </a:solidFill>
                <a:latin typeface="IBM Plex Mono" pitchFamily="34" charset="0"/>
                <a:ea typeface="IBM Plex Mono" pitchFamily="34" charset="-122"/>
                <a:cs typeface="IBM Plex Mono" pitchFamily="34" charset="-120"/>
              </a:rPr>
              <a:t>PAIN POINT</a:t>
            </a:r>
            <a:endParaRPr lang="en-US" sz="1200" dirty="0"/>
          </a:p>
        </p:txBody>
      </p:sp>
      <p:sp>
        <p:nvSpPr>
          <p:cNvPr id="14" name="Text 12"/>
          <p:cNvSpPr/>
          <p:nvPr/>
        </p:nvSpPr>
        <p:spPr>
          <a:xfrm>
            <a:off x="7772400" y="3258821"/>
            <a:ext cx="3715004" cy="23114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16222C"/>
                </a:solidFill>
                <a:latin typeface="IBM Plex Sans" pitchFamily="34" charset="0"/>
                <a:ea typeface="IBM Plex Sans" pitchFamily="34" charset="-122"/>
                <a:cs typeface="IBM Plex Sans" pitchFamily="34" charset="-120"/>
              </a:rPr>
              <a:t>A better mean hides unfinished or extreme trips.</a:t>
            </a:r>
            <a:endParaRPr lang="en-US" sz="1200" dirty="0"/>
          </a:p>
        </p:txBody>
      </p:sp>
      <p:sp>
        <p:nvSpPr>
          <p:cNvPr id="15" name="Shape 13"/>
          <p:cNvSpPr/>
          <p:nvPr/>
        </p:nvSpPr>
        <p:spPr>
          <a:xfrm>
            <a:off x="4165600" y="3470914"/>
            <a:ext cx="3606800" cy="0"/>
          </a:xfrm>
          <a:prstGeom prst="line">
            <a:avLst/>
          </a:prstGeom>
          <a:noFill/>
          <a:ln w="12700">
            <a:solidFill>
              <a:srgbClr val="DDD8CC"/>
            </a:solidFill>
            <a:prstDash val="solid"/>
          </a:ln>
        </p:spPr>
      </p:sp>
      <p:sp>
        <p:nvSpPr>
          <p:cNvPr id="16" name="Text 14"/>
          <p:cNvSpPr/>
          <p:nvPr/>
        </p:nvSpPr>
        <p:spPr>
          <a:xfrm>
            <a:off x="4165600" y="3550921"/>
            <a:ext cx="3715004"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F6B72"/>
                </a:solidFill>
                <a:latin typeface="IBM Plex Mono" pitchFamily="34" charset="0"/>
                <a:ea typeface="IBM Plex Mono" pitchFamily="34" charset="-122"/>
                <a:cs typeface="IBM Plex Mono" pitchFamily="34" charset="-120"/>
              </a:rPr>
              <a:t>REJECTS</a:t>
            </a:r>
            <a:endParaRPr lang="en-US" sz="1200" dirty="0"/>
          </a:p>
        </p:txBody>
      </p:sp>
      <p:sp>
        <p:nvSpPr>
          <p:cNvPr id="17" name="Text 15"/>
          <p:cNvSpPr/>
          <p:nvPr/>
        </p:nvSpPr>
        <p:spPr>
          <a:xfrm>
            <a:off x="4165600" y="3802379"/>
            <a:ext cx="3715004" cy="23114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16222C"/>
                </a:solidFill>
                <a:latin typeface="IBM Plex Sans" pitchFamily="34" charset="0"/>
                <a:ea typeface="IBM Plex Sans" pitchFamily="34" charset="-122"/>
                <a:cs typeface="IBM Plex Sans" pitchFamily="34" charset="-120"/>
              </a:rPr>
              <a:t>Best-case headlines and deleted unfinished trips.</a:t>
            </a:r>
            <a:endParaRPr lang="en-US" sz="1200" dirty="0"/>
          </a:p>
        </p:txBody>
      </p:sp>
      <p:sp>
        <p:nvSpPr>
          <p:cNvPr id="18" name="Shape 16"/>
          <p:cNvSpPr/>
          <p:nvPr/>
        </p:nvSpPr>
        <p:spPr>
          <a:xfrm>
            <a:off x="7772400" y="3470914"/>
            <a:ext cx="3606800" cy="0"/>
          </a:xfrm>
          <a:prstGeom prst="line">
            <a:avLst/>
          </a:prstGeom>
          <a:noFill/>
          <a:ln w="12700">
            <a:solidFill>
              <a:srgbClr val="DDD8CC"/>
            </a:solidFill>
            <a:prstDash val="solid"/>
          </a:ln>
        </p:spPr>
      </p:sp>
      <p:sp>
        <p:nvSpPr>
          <p:cNvPr id="19" name="Text 17"/>
          <p:cNvSpPr/>
          <p:nvPr/>
        </p:nvSpPr>
        <p:spPr>
          <a:xfrm>
            <a:off x="7772400" y="3550921"/>
            <a:ext cx="3715004"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F6B72"/>
                </a:solidFill>
                <a:latin typeface="IBM Plex Mono" pitchFamily="34" charset="0"/>
                <a:ea typeface="IBM Plex Mono" pitchFamily="34" charset="-122"/>
                <a:cs typeface="IBM Plex Mono" pitchFamily="34" charset="-120"/>
              </a:rPr>
              <a:t>MEASURE</a:t>
            </a:r>
            <a:endParaRPr lang="en-US" sz="1200" dirty="0"/>
          </a:p>
        </p:txBody>
      </p:sp>
      <p:sp>
        <p:nvSpPr>
          <p:cNvPr id="20" name="Text 18"/>
          <p:cNvSpPr/>
          <p:nvPr/>
        </p:nvSpPr>
        <p:spPr>
          <a:xfrm>
            <a:off x="7772400" y="3802379"/>
            <a:ext cx="3715004" cy="43688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16222C"/>
                </a:solidFill>
                <a:latin typeface="IBM Plex Sans" pitchFamily="34" charset="0"/>
                <a:ea typeface="IBM Plex Sans" pitchFamily="34" charset="-122"/>
                <a:cs typeface="IBM Plex Sans" pitchFamily="34" charset="-120"/>
              </a:rPr>
              <a:t>Completed vs unfinished trips · P95, max duration · stops.</a:t>
            </a:r>
            <a:endParaRPr lang="en-US" sz="1200" dirty="0"/>
          </a:p>
        </p:txBody>
      </p:sp>
      <p:sp>
        <p:nvSpPr>
          <p:cNvPr id="21" name="Shape 19"/>
          <p:cNvSpPr/>
          <p:nvPr/>
        </p:nvSpPr>
        <p:spPr>
          <a:xfrm>
            <a:off x="4165600" y="4340864"/>
            <a:ext cx="7213600" cy="614680"/>
          </a:xfrm>
          <a:prstGeom prst="roundRect">
            <a:avLst>
              <a:gd name="adj" fmla="val 10331"/>
            </a:avLst>
          </a:prstGeom>
          <a:solidFill>
            <a:srgbClr val="EFEBE1"/>
          </a:solidFill>
          <a:ln/>
        </p:spPr>
      </p:sp>
      <p:sp>
        <p:nvSpPr>
          <p:cNvPr id="22" name="Text 20"/>
          <p:cNvSpPr/>
          <p:nvPr/>
        </p:nvSpPr>
        <p:spPr>
          <a:xfrm>
            <a:off x="4292600" y="4442464"/>
            <a:ext cx="876300" cy="43688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6222C"/>
                </a:solidFill>
                <a:latin typeface="IBM Plex Mono" pitchFamily="34" charset="0"/>
                <a:ea typeface="IBM Plex Mono" pitchFamily="34" charset="-122"/>
                <a:cs typeface="IBM Plex Mono" pitchFamily="34" charset="-120"/>
              </a:rPr>
              <a:t>BASED ON</a:t>
            </a:r>
            <a:endParaRPr lang="en-US" sz="1200" dirty="0"/>
          </a:p>
        </p:txBody>
      </p:sp>
      <p:sp>
        <p:nvSpPr>
          <p:cNvPr id="23" name="Text 21"/>
          <p:cNvSpPr/>
          <p:nvPr/>
        </p:nvSpPr>
        <p:spPr>
          <a:xfrm>
            <a:off x="5219700" y="4442464"/>
            <a:ext cx="6213475" cy="43688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16222C"/>
                </a:solidFill>
                <a:latin typeface="IBM Plex Sans" pitchFamily="34" charset="0"/>
                <a:ea typeface="IBM Plex Sans" pitchFamily="34" charset="-122"/>
                <a:cs typeface="IBM Plex Sans" pitchFamily="34" charset="-120"/>
              </a:rPr>
              <a:t>Vehicle occupants carry most of the health cost in the investment case; appraisal guidance uses 0.4 as a reliability ratio; seed 37: 71, 84 and 70 of 84 trips finished.</a:t>
            </a:r>
            <a:endParaRPr lang="en-US" sz="1200" dirty="0"/>
          </a:p>
        </p:txBody>
      </p:sp>
      <p:sp>
        <p:nvSpPr>
          <p:cNvPr id="24" name="Text 22"/>
          <p:cNvSpPr/>
          <p:nvPr/>
        </p:nvSpPr>
        <p:spPr>
          <a:xfrm>
            <a:off x="812800" y="6238242"/>
            <a:ext cx="7531713"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B73"/>
                </a:solidFill>
                <a:latin typeface="IBM Plex Sans" pitchFamily="34" charset="0"/>
                <a:ea typeface="IBM Plex Sans" pitchFamily="34" charset="-122"/>
                <a:cs typeface="IBM Plex Sans" pitchFamily="34" charset="-120"/>
              </a:rPr>
              <a:t>Built from slides 05–09. Age, job and statement are design readings, not interviews. Photo is an illustration.</a:t>
            </a:r>
            <a:endParaRPr lang="en-US" sz="1200" dirty="0"/>
          </a:p>
        </p:txBody>
      </p:sp>
      <p:sp>
        <p:nvSpPr>
          <p:cNvPr id="25" name="Text 23"/>
          <p:cNvSpPr/>
          <p:nvPr/>
        </p:nvSpPr>
        <p:spPr>
          <a:xfrm>
            <a:off x="11196320" y="6238242"/>
            <a:ext cx="23368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B73"/>
                </a:solidFill>
                <a:latin typeface="IBM Plex Sans" pitchFamily="34" charset="0"/>
                <a:ea typeface="IBM Plex Sans" pitchFamily="34" charset="-122"/>
                <a:cs typeface="IBM Plex Sans" pitchFamily="34" charset="-120"/>
              </a:rPr>
              <a:t>12</a:t>
            </a:r>
            <a:endParaRPr lang="en-US" sz="1200" dirty="0"/>
          </a:p>
        </p:txBody>
      </p:sp>
      <p:pic>
        <p:nvPicPr>
          <p:cNvPr id="26" name="Picture 25" descr="image-5-1.png"/>
          <p:cNvPicPr>
            <a:picLocks noChangeAspect="1"/>
          </p:cNvPicPr>
          <p:nvPr/>
        </p:nvPicPr>
        <p:blipFill>
          <a:blip r:embed="rId3"/>
          <a:srcRect t="3852" b="3852"/>
          <a:stretch>
            <a:fillRect/>
          </a:stretch>
        </p:blipFill>
        <p:spPr>
          <a:xfrm>
            <a:off x="822325" y="1838325"/>
            <a:ext cx="3028950" cy="4038600"/>
          </a:xfrm>
          <a:prstGeom prst="rect">
            <a:avLst/>
          </a:prstGeom>
        </p:spPr>
      </p:pic>
      <p:sp>
        <p:nvSpPr>
          <p:cNvPr id="27" name="Rectangle 26"/>
          <p:cNvSpPr/>
          <p:nvPr/>
        </p:nvSpPr>
        <p:spPr>
          <a:xfrm>
            <a:off x="822325" y="1838325"/>
            <a:ext cx="3028950" cy="3727450"/>
          </a:xfrm>
          <a:prstGeom prst="rect">
            <a:avLst/>
          </a:prstGeom>
          <a:noFill/>
          <a:ln w="9144">
            <a:solidFill>
              <a:srgbClr val="A0AAA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4F1EA"/>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1F6B72"/>
                </a:solidFill>
                <a:latin typeface="IBM Plex Mono" pitchFamily="34" charset="0"/>
                <a:ea typeface="IBM Plex Mono" pitchFamily="34" charset="-122"/>
                <a:cs typeface="IBM Plex Mono" pitchFamily="34" charset="-120"/>
              </a:rPr>
              <a:t>EMPATHIZE · 1.5 PERSONAS · 3 OF 6</a:t>
            </a:r>
            <a:endParaRPr lang="en-US" sz="1200" dirty="0"/>
          </a:p>
        </p:txBody>
      </p:sp>
      <p:sp>
        <p:nvSpPr>
          <p:cNvPr id="3" name="Text 1"/>
          <p:cNvSpPr/>
          <p:nvPr/>
        </p:nvSpPr>
        <p:spPr>
          <a:xfrm>
            <a:off x="812800" y="1127764"/>
            <a:ext cx="10883392" cy="472440"/>
          </a:xfrm>
          <a:prstGeom prst="rect">
            <a:avLst/>
          </a:prstGeom>
          <a:noFill/>
          <a:ln/>
        </p:spPr>
        <p:txBody>
          <a:bodyPr wrap="square" lIns="0" tIns="0" rIns="0" bIns="0" rtlCol="0" anchor="t">
            <a:normAutofit/>
          </a:bodyPr>
          <a:lstStyle/>
          <a:p>
            <a:pPr algn="l" indent="0" marL="0">
              <a:lnSpc>
                <a:spcPts val="3520"/>
              </a:lnSpc>
              <a:buNone/>
            </a:pPr>
            <a:r>
              <a:rPr lang="en-US" sz="3200" b="1" dirty="0">
                <a:solidFill>
                  <a:srgbClr val="16222C"/>
                </a:solidFill>
                <a:latin typeface="Space Grotesk" pitchFamily="34" charset="0"/>
                <a:ea typeface="Space Grotesk" pitchFamily="34" charset="-122"/>
                <a:cs typeface="Space Grotesk" pitchFamily="34" charset="-120"/>
              </a:rPr>
              <a:t>Chidi, the passenger waiting for a regular bus</a:t>
            </a:r>
            <a:endParaRPr lang="en-US" sz="3200" dirty="0"/>
          </a:p>
        </p:txBody>
      </p:sp>
      <p:sp>
        <p:nvSpPr>
          <p:cNvPr id="4" name="Shape 2"/>
          <p:cNvSpPr/>
          <p:nvPr/>
        </p:nvSpPr>
        <p:spPr>
          <a:xfrm>
            <a:off x="822325" y="1838325"/>
            <a:ext cx="3028950" cy="3727450"/>
          </a:xfrm>
          <a:prstGeom prst="roundRect">
            <a:avLst>
              <a:gd name="adj" fmla="val 3040"/>
            </a:avLst>
          </a:prstGeom>
          <a:solidFill>
            <a:srgbClr val="E9E4D8"/>
          </a:solidFill>
          <a:ln w="19050">
            <a:solidFill>
              <a:srgbClr val="A7B0B5"/>
            </a:solidFill>
            <a:prstDash val="dash"/>
          </a:ln>
        </p:spPr>
      </p:sp>
      <p:sp>
        <p:nvSpPr>
          <p:cNvPr id="5" name="Shape 3"/>
          <p:cNvSpPr/>
          <p:nvPr/>
        </p:nvSpPr>
        <p:spPr>
          <a:xfrm>
            <a:off x="4191000" y="1828800"/>
            <a:ext cx="0" cy="574040"/>
          </a:xfrm>
          <a:prstGeom prst="line">
            <a:avLst/>
          </a:prstGeom>
          <a:noFill/>
          <a:ln w="50800">
            <a:solidFill>
              <a:srgbClr val="1F6B72"/>
            </a:solidFill>
            <a:prstDash val="solid"/>
          </a:ln>
        </p:spPr>
      </p:sp>
      <p:sp>
        <p:nvSpPr>
          <p:cNvPr id="6" name="Text 4"/>
          <p:cNvSpPr/>
          <p:nvPr/>
        </p:nvSpPr>
        <p:spPr>
          <a:xfrm>
            <a:off x="4368800" y="1828800"/>
            <a:ext cx="7220712" cy="3302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16222C"/>
                </a:solidFill>
                <a:latin typeface="Space Grotesk" pitchFamily="34" charset="0"/>
                <a:ea typeface="Space Grotesk" pitchFamily="34" charset="-122"/>
                <a:cs typeface="Space Grotesk" pitchFamily="34" charset="-120"/>
              </a:rPr>
              <a:t>Chidi, 27</a:t>
            </a:r>
            <a:endParaRPr lang="en-US" sz="2000" dirty="0"/>
          </a:p>
        </p:txBody>
      </p:sp>
      <p:sp>
        <p:nvSpPr>
          <p:cNvPr id="7" name="Text 5"/>
          <p:cNvSpPr/>
          <p:nvPr/>
        </p:nvSpPr>
        <p:spPr>
          <a:xfrm>
            <a:off x="4368800" y="2171700"/>
            <a:ext cx="7220712" cy="25654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5E6B73"/>
                </a:solidFill>
                <a:latin typeface="IBM Plex Sans" pitchFamily="34" charset="0"/>
                <a:ea typeface="IBM Plex Sans" pitchFamily="34" charset="-122"/>
                <a:cs typeface="IBM Plex Sans" pitchFamily="34" charset="-120"/>
              </a:rPr>
              <a:t>Frequent bus passenger</a:t>
            </a:r>
            <a:endParaRPr lang="en-US" sz="1300" dirty="0"/>
          </a:p>
        </p:txBody>
      </p:sp>
      <p:sp>
        <p:nvSpPr>
          <p:cNvPr id="8" name="Text 6"/>
          <p:cNvSpPr/>
          <p:nvPr/>
        </p:nvSpPr>
        <p:spPr>
          <a:xfrm>
            <a:off x="4165600" y="2529842"/>
            <a:ext cx="7430008" cy="289560"/>
          </a:xfrm>
          <a:prstGeom prst="rect">
            <a:avLst/>
          </a:prstGeom>
          <a:noFill/>
          <a:ln/>
        </p:spPr>
        <p:txBody>
          <a:bodyPr wrap="square" lIns="0" tIns="0" rIns="0" bIns="0" rtlCol="0" anchor="t">
            <a:normAutofit/>
          </a:bodyPr>
          <a:lstStyle/>
          <a:p>
            <a:pPr algn="l" indent="0" marL="0">
              <a:lnSpc>
                <a:spcPts val="2080"/>
              </a:lnSpc>
              <a:buNone/>
            </a:pPr>
            <a:r>
              <a:rPr lang="en-US" sz="1600" i="1" dirty="0">
                <a:solidFill>
                  <a:srgbClr val="16222C"/>
                </a:solidFill>
                <a:latin typeface="Space Grotesk" pitchFamily="34" charset="0"/>
                <a:ea typeface="Space Grotesk" pitchFamily="34" charset="-122"/>
                <a:cs typeface="Space Grotesk" pitchFamily="34" charset="-120"/>
              </a:rPr>
              <a:t>“Buses should arrive regularly, not three at once after a long wait.”</a:t>
            </a:r>
            <a:endParaRPr lang="en-US" sz="1600" dirty="0"/>
          </a:p>
        </p:txBody>
      </p:sp>
      <p:sp>
        <p:nvSpPr>
          <p:cNvPr id="9" name="Shape 7"/>
          <p:cNvSpPr/>
          <p:nvPr/>
        </p:nvSpPr>
        <p:spPr>
          <a:xfrm>
            <a:off x="4165600" y="2927350"/>
            <a:ext cx="3606800" cy="0"/>
          </a:xfrm>
          <a:prstGeom prst="line">
            <a:avLst/>
          </a:prstGeom>
          <a:noFill/>
          <a:ln w="12700">
            <a:solidFill>
              <a:srgbClr val="DDD8CC"/>
            </a:solidFill>
            <a:prstDash val="solid"/>
          </a:ln>
        </p:spPr>
      </p:sp>
      <p:sp>
        <p:nvSpPr>
          <p:cNvPr id="10" name="Text 8"/>
          <p:cNvSpPr/>
          <p:nvPr/>
        </p:nvSpPr>
        <p:spPr>
          <a:xfrm>
            <a:off x="4165600" y="3007364"/>
            <a:ext cx="3715004"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F6B72"/>
                </a:solidFill>
                <a:latin typeface="IBM Plex Mono" pitchFamily="34" charset="0"/>
                <a:ea typeface="IBM Plex Mono" pitchFamily="34" charset="-122"/>
                <a:cs typeface="IBM Plex Mono" pitchFamily="34" charset="-120"/>
              </a:rPr>
              <a:t>NEED</a:t>
            </a:r>
            <a:endParaRPr lang="en-US" sz="1200" dirty="0"/>
          </a:p>
        </p:txBody>
      </p:sp>
      <p:sp>
        <p:nvSpPr>
          <p:cNvPr id="11" name="Text 9"/>
          <p:cNvSpPr/>
          <p:nvPr/>
        </p:nvSpPr>
        <p:spPr>
          <a:xfrm>
            <a:off x="4165600" y="3258821"/>
            <a:ext cx="3715004" cy="23114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16222C"/>
                </a:solidFill>
                <a:latin typeface="IBM Plex Sans" pitchFamily="34" charset="0"/>
                <a:ea typeface="IBM Plex Sans" pitchFamily="34" charset="-122"/>
                <a:cs typeface="IBM Plex Sans" pitchFamily="34" charset="-120"/>
              </a:rPr>
              <a:t>Priority only for a late bus or a large headway gap.</a:t>
            </a:r>
            <a:endParaRPr lang="en-US" sz="1200" dirty="0"/>
          </a:p>
        </p:txBody>
      </p:sp>
      <p:sp>
        <p:nvSpPr>
          <p:cNvPr id="12" name="Shape 10"/>
          <p:cNvSpPr/>
          <p:nvPr/>
        </p:nvSpPr>
        <p:spPr>
          <a:xfrm>
            <a:off x="7772400" y="2927350"/>
            <a:ext cx="3606800" cy="0"/>
          </a:xfrm>
          <a:prstGeom prst="line">
            <a:avLst/>
          </a:prstGeom>
          <a:noFill/>
          <a:ln w="12700">
            <a:solidFill>
              <a:srgbClr val="DDD8CC"/>
            </a:solidFill>
            <a:prstDash val="solid"/>
          </a:ln>
        </p:spPr>
      </p:sp>
      <p:sp>
        <p:nvSpPr>
          <p:cNvPr id="13" name="Text 11"/>
          <p:cNvSpPr/>
          <p:nvPr/>
        </p:nvSpPr>
        <p:spPr>
          <a:xfrm>
            <a:off x="7772400" y="3007364"/>
            <a:ext cx="3715004"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F6B72"/>
                </a:solidFill>
                <a:latin typeface="IBM Plex Mono" pitchFamily="34" charset="0"/>
                <a:ea typeface="IBM Plex Mono" pitchFamily="34" charset="-122"/>
                <a:cs typeface="IBM Plex Mono" pitchFamily="34" charset="-120"/>
              </a:rPr>
              <a:t>PAIN POINT</a:t>
            </a:r>
            <a:endParaRPr lang="en-US" sz="1200" dirty="0"/>
          </a:p>
        </p:txBody>
      </p:sp>
      <p:sp>
        <p:nvSpPr>
          <p:cNvPr id="14" name="Text 12"/>
          <p:cNvSpPr/>
          <p:nvPr/>
        </p:nvSpPr>
        <p:spPr>
          <a:xfrm>
            <a:off x="7772400" y="3258821"/>
            <a:ext cx="3715004" cy="23114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16222C"/>
                </a:solidFill>
                <a:latin typeface="IBM Plex Sans" pitchFamily="34" charset="0"/>
                <a:ea typeface="IBM Plex Sans" pitchFamily="34" charset="-122"/>
                <a:cs typeface="IBM Plex Sans" pitchFamily="34" charset="-120"/>
              </a:rPr>
              <a:t>Three buses arrive together after one long gap.</a:t>
            </a:r>
            <a:endParaRPr lang="en-US" sz="1200" dirty="0"/>
          </a:p>
        </p:txBody>
      </p:sp>
      <p:sp>
        <p:nvSpPr>
          <p:cNvPr id="15" name="Shape 13"/>
          <p:cNvSpPr/>
          <p:nvPr/>
        </p:nvSpPr>
        <p:spPr>
          <a:xfrm>
            <a:off x="4165600" y="3470914"/>
            <a:ext cx="3606800" cy="0"/>
          </a:xfrm>
          <a:prstGeom prst="line">
            <a:avLst/>
          </a:prstGeom>
          <a:noFill/>
          <a:ln w="12700">
            <a:solidFill>
              <a:srgbClr val="DDD8CC"/>
            </a:solidFill>
            <a:prstDash val="solid"/>
          </a:ln>
        </p:spPr>
      </p:sp>
      <p:sp>
        <p:nvSpPr>
          <p:cNvPr id="16" name="Text 14"/>
          <p:cNvSpPr/>
          <p:nvPr/>
        </p:nvSpPr>
        <p:spPr>
          <a:xfrm>
            <a:off x="4165600" y="3550921"/>
            <a:ext cx="3715004"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F6B72"/>
                </a:solidFill>
                <a:latin typeface="IBM Plex Mono" pitchFamily="34" charset="0"/>
                <a:ea typeface="IBM Plex Mono" pitchFamily="34" charset="-122"/>
                <a:cs typeface="IBM Plex Mono" pitchFamily="34" charset="-120"/>
              </a:rPr>
              <a:t>REJECTS</a:t>
            </a:r>
            <a:endParaRPr lang="en-US" sz="1200" dirty="0"/>
          </a:p>
        </p:txBody>
      </p:sp>
      <p:sp>
        <p:nvSpPr>
          <p:cNvPr id="17" name="Text 15"/>
          <p:cNvSpPr/>
          <p:nvPr/>
        </p:nvSpPr>
        <p:spPr>
          <a:xfrm>
            <a:off x="4165600" y="3802379"/>
            <a:ext cx="3715004" cy="23114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16222C"/>
                </a:solidFill>
                <a:latin typeface="IBM Plex Sans" pitchFamily="34" charset="0"/>
                <a:ea typeface="IBM Plex Sans" pitchFamily="34" charset="-122"/>
                <a:cs typeface="IBM Plex Sans" pitchFamily="34" charset="-120"/>
              </a:rPr>
              <a:t>Priority for every bus; clearance sacrificed for transit.</a:t>
            </a:r>
            <a:endParaRPr lang="en-US" sz="1200" dirty="0"/>
          </a:p>
        </p:txBody>
      </p:sp>
      <p:sp>
        <p:nvSpPr>
          <p:cNvPr id="18" name="Shape 16"/>
          <p:cNvSpPr/>
          <p:nvPr/>
        </p:nvSpPr>
        <p:spPr>
          <a:xfrm>
            <a:off x="7772400" y="3470914"/>
            <a:ext cx="3606800" cy="0"/>
          </a:xfrm>
          <a:prstGeom prst="line">
            <a:avLst/>
          </a:prstGeom>
          <a:noFill/>
          <a:ln w="12700">
            <a:solidFill>
              <a:srgbClr val="DDD8CC"/>
            </a:solidFill>
            <a:prstDash val="solid"/>
          </a:ln>
        </p:spPr>
      </p:sp>
      <p:sp>
        <p:nvSpPr>
          <p:cNvPr id="19" name="Text 17"/>
          <p:cNvSpPr/>
          <p:nvPr/>
        </p:nvSpPr>
        <p:spPr>
          <a:xfrm>
            <a:off x="7772400" y="3550921"/>
            <a:ext cx="3715004"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F6B72"/>
                </a:solidFill>
                <a:latin typeface="IBM Plex Mono" pitchFamily="34" charset="0"/>
                <a:ea typeface="IBM Plex Mono" pitchFamily="34" charset="-122"/>
                <a:cs typeface="IBM Plex Mono" pitchFamily="34" charset="-120"/>
              </a:rPr>
              <a:t>MEASURE</a:t>
            </a:r>
            <a:endParaRPr lang="en-US" sz="1200" dirty="0"/>
          </a:p>
        </p:txBody>
      </p:sp>
      <p:sp>
        <p:nvSpPr>
          <p:cNvPr id="20" name="Text 18"/>
          <p:cNvSpPr/>
          <p:nvPr/>
        </p:nvSpPr>
        <p:spPr>
          <a:xfrm>
            <a:off x="7772400" y="3802379"/>
            <a:ext cx="3715004" cy="23114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16222C"/>
                </a:solidFill>
                <a:latin typeface="IBM Plex Sans" pitchFamily="34" charset="0"/>
                <a:ea typeface="IBM Plex Sans" pitchFamily="34" charset="-122"/>
                <a:cs typeface="IBM Plex Sans" pitchFamily="34" charset="-120"/>
              </a:rPr>
              <a:t>Lateness · headway variation · passenger-wait proxy.</a:t>
            </a:r>
            <a:endParaRPr lang="en-US" sz="1200" dirty="0"/>
          </a:p>
        </p:txBody>
      </p:sp>
      <p:sp>
        <p:nvSpPr>
          <p:cNvPr id="21" name="Shape 19"/>
          <p:cNvSpPr/>
          <p:nvPr/>
        </p:nvSpPr>
        <p:spPr>
          <a:xfrm>
            <a:off x="4165600" y="4135121"/>
            <a:ext cx="7213600" cy="614680"/>
          </a:xfrm>
          <a:prstGeom prst="roundRect">
            <a:avLst>
              <a:gd name="adj" fmla="val 10331"/>
            </a:avLst>
          </a:prstGeom>
          <a:solidFill>
            <a:srgbClr val="EFEBE1"/>
          </a:solidFill>
          <a:ln/>
        </p:spPr>
      </p:sp>
      <p:sp>
        <p:nvSpPr>
          <p:cNvPr id="22" name="Text 20"/>
          <p:cNvSpPr/>
          <p:nvPr/>
        </p:nvSpPr>
        <p:spPr>
          <a:xfrm>
            <a:off x="4292600" y="4236721"/>
            <a:ext cx="876300" cy="43688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6222C"/>
                </a:solidFill>
                <a:latin typeface="IBM Plex Mono" pitchFamily="34" charset="0"/>
                <a:ea typeface="IBM Plex Mono" pitchFamily="34" charset="-122"/>
                <a:cs typeface="IBM Plex Mono" pitchFamily="34" charset="-120"/>
              </a:rPr>
              <a:t>BASED ON</a:t>
            </a:r>
            <a:endParaRPr lang="en-US" sz="1200" dirty="0"/>
          </a:p>
        </p:txBody>
      </p:sp>
      <p:sp>
        <p:nvSpPr>
          <p:cNvPr id="23" name="Text 21"/>
          <p:cNvSpPr/>
          <p:nvPr/>
        </p:nvSpPr>
        <p:spPr>
          <a:xfrm>
            <a:off x="5219700" y="4236721"/>
            <a:ext cx="6213475" cy="43688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16222C"/>
                </a:solidFill>
                <a:latin typeface="IBM Plex Sans" pitchFamily="34" charset="0"/>
                <a:ea typeface="IBM Plex Sans" pitchFamily="34" charset="-122"/>
                <a:cs typeface="IBM Plex Sans" pitchFamily="34" charset="-120"/>
              </a:rPr>
              <a:t>TRANSTU reported 187.4 million paying passengers in 2018 (not today's figure); appraisal guidance values waiting time above in-vehicle time.</a:t>
            </a:r>
            <a:endParaRPr lang="en-US" sz="1200" dirty="0"/>
          </a:p>
        </p:txBody>
      </p:sp>
      <p:sp>
        <p:nvSpPr>
          <p:cNvPr id="24" name="Text 22"/>
          <p:cNvSpPr/>
          <p:nvPr/>
        </p:nvSpPr>
        <p:spPr>
          <a:xfrm>
            <a:off x="812800" y="6238242"/>
            <a:ext cx="7531713"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B73"/>
                </a:solidFill>
                <a:latin typeface="IBM Plex Sans" pitchFamily="34" charset="0"/>
                <a:ea typeface="IBM Plex Sans" pitchFamily="34" charset="-122"/>
                <a:cs typeface="IBM Plex Sans" pitchFamily="34" charset="-120"/>
              </a:rPr>
              <a:t>Built from slides 05–09. Age, job and statement are design readings, not interviews. Photo is an illustration.</a:t>
            </a:r>
            <a:endParaRPr lang="en-US" sz="1200" dirty="0"/>
          </a:p>
        </p:txBody>
      </p:sp>
      <p:sp>
        <p:nvSpPr>
          <p:cNvPr id="25" name="Text 23"/>
          <p:cNvSpPr/>
          <p:nvPr/>
        </p:nvSpPr>
        <p:spPr>
          <a:xfrm>
            <a:off x="11196320" y="6238242"/>
            <a:ext cx="23368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B73"/>
                </a:solidFill>
                <a:latin typeface="IBM Plex Sans" pitchFamily="34" charset="0"/>
                <a:ea typeface="IBM Plex Sans" pitchFamily="34" charset="-122"/>
                <a:cs typeface="IBM Plex Sans" pitchFamily="34" charset="-120"/>
              </a:rPr>
              <a:t>13</a:t>
            </a:r>
            <a:endParaRPr lang="en-US" sz="1200" dirty="0"/>
          </a:p>
        </p:txBody>
      </p:sp>
      <p:pic>
        <p:nvPicPr>
          <p:cNvPr id="26" name="Picture 25" descr="image-6-1.png"/>
          <p:cNvPicPr>
            <a:picLocks noChangeAspect="1"/>
          </p:cNvPicPr>
          <p:nvPr/>
        </p:nvPicPr>
        <p:blipFill>
          <a:blip r:embed="rId3"/>
          <a:srcRect t="3852" b="3852"/>
          <a:stretch>
            <a:fillRect/>
          </a:stretch>
        </p:blipFill>
        <p:spPr>
          <a:xfrm>
            <a:off x="822325" y="1838325"/>
            <a:ext cx="3028950" cy="4038600"/>
          </a:xfrm>
          <a:prstGeom prst="rect">
            <a:avLst/>
          </a:prstGeom>
        </p:spPr>
      </p:pic>
      <p:sp>
        <p:nvSpPr>
          <p:cNvPr id="27" name="Rectangle 26"/>
          <p:cNvSpPr/>
          <p:nvPr/>
        </p:nvSpPr>
        <p:spPr>
          <a:xfrm>
            <a:off x="822325" y="1838325"/>
            <a:ext cx="3028950" cy="3727450"/>
          </a:xfrm>
          <a:prstGeom prst="rect">
            <a:avLst/>
          </a:prstGeom>
          <a:noFill/>
          <a:ln w="9144">
            <a:solidFill>
              <a:srgbClr val="A0AAA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4F1EA"/>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1F6B72"/>
                </a:solidFill>
                <a:latin typeface="IBM Plex Mono" pitchFamily="34" charset="0"/>
                <a:ea typeface="IBM Plex Mono" pitchFamily="34" charset="-122"/>
                <a:cs typeface="IBM Plex Mono" pitchFamily="34" charset="-120"/>
              </a:rPr>
              <a:t>EMPATHIZE · 1.5 PERSONAS · 4 OF 6</a:t>
            </a:r>
            <a:endParaRPr lang="en-US" sz="1200" dirty="0"/>
          </a:p>
        </p:txBody>
      </p:sp>
      <p:sp>
        <p:nvSpPr>
          <p:cNvPr id="3" name="Text 1"/>
          <p:cNvSpPr/>
          <p:nvPr/>
        </p:nvSpPr>
        <p:spPr>
          <a:xfrm>
            <a:off x="812800" y="1127764"/>
            <a:ext cx="10883392" cy="472440"/>
          </a:xfrm>
          <a:prstGeom prst="rect">
            <a:avLst/>
          </a:prstGeom>
          <a:noFill/>
          <a:ln/>
        </p:spPr>
        <p:txBody>
          <a:bodyPr wrap="square" lIns="0" tIns="0" rIns="0" bIns="0" rtlCol="0" anchor="t">
            <a:normAutofit/>
          </a:bodyPr>
          <a:lstStyle/>
          <a:p>
            <a:pPr algn="l" indent="0" marL="0">
              <a:lnSpc>
                <a:spcPts val="3520"/>
              </a:lnSpc>
              <a:buNone/>
            </a:pPr>
            <a:r>
              <a:rPr lang="en-US" sz="3200" b="1" dirty="0">
                <a:solidFill>
                  <a:srgbClr val="16222C"/>
                </a:solidFill>
                <a:latin typeface="Space Grotesk" pitchFamily="34" charset="0"/>
                <a:ea typeface="Space Grotesk" pitchFamily="34" charset="-122"/>
                <a:cs typeface="Space Grotesk" pitchFamily="34" charset="-120"/>
              </a:rPr>
              <a:t>Marcus, the crew facing a full exit</a:t>
            </a:r>
            <a:endParaRPr lang="en-US" sz="3200" dirty="0"/>
          </a:p>
        </p:txBody>
      </p:sp>
      <p:sp>
        <p:nvSpPr>
          <p:cNvPr id="4" name="Shape 2"/>
          <p:cNvSpPr/>
          <p:nvPr/>
        </p:nvSpPr>
        <p:spPr>
          <a:xfrm>
            <a:off x="822325" y="1838325"/>
            <a:ext cx="3028950" cy="3727450"/>
          </a:xfrm>
          <a:prstGeom prst="roundRect">
            <a:avLst>
              <a:gd name="adj" fmla="val 3040"/>
            </a:avLst>
          </a:prstGeom>
          <a:solidFill>
            <a:srgbClr val="E9E4D8"/>
          </a:solidFill>
          <a:ln w="19050">
            <a:solidFill>
              <a:srgbClr val="A7B0B5"/>
            </a:solidFill>
            <a:prstDash val="dash"/>
          </a:ln>
        </p:spPr>
      </p:sp>
      <p:sp>
        <p:nvSpPr>
          <p:cNvPr id="5" name="Shape 3"/>
          <p:cNvSpPr/>
          <p:nvPr/>
        </p:nvSpPr>
        <p:spPr>
          <a:xfrm>
            <a:off x="4191000" y="1828800"/>
            <a:ext cx="0" cy="574040"/>
          </a:xfrm>
          <a:prstGeom prst="line">
            <a:avLst/>
          </a:prstGeom>
          <a:noFill/>
          <a:ln w="50800">
            <a:solidFill>
              <a:srgbClr val="1F6B72"/>
            </a:solidFill>
            <a:prstDash val="solid"/>
          </a:ln>
        </p:spPr>
      </p:sp>
      <p:sp>
        <p:nvSpPr>
          <p:cNvPr id="6" name="Text 4"/>
          <p:cNvSpPr/>
          <p:nvPr/>
        </p:nvSpPr>
        <p:spPr>
          <a:xfrm>
            <a:off x="4368800" y="1828800"/>
            <a:ext cx="7220712" cy="3302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16222C"/>
                </a:solidFill>
                <a:latin typeface="Space Grotesk" pitchFamily="34" charset="0"/>
                <a:ea typeface="Space Grotesk" pitchFamily="34" charset="-122"/>
                <a:cs typeface="Space Grotesk" pitchFamily="34" charset="-120"/>
              </a:rPr>
              <a:t>Marcus, 34</a:t>
            </a:r>
            <a:endParaRPr lang="en-US" sz="2000" dirty="0"/>
          </a:p>
        </p:txBody>
      </p:sp>
      <p:sp>
        <p:nvSpPr>
          <p:cNvPr id="7" name="Text 5"/>
          <p:cNvSpPr/>
          <p:nvPr/>
        </p:nvSpPr>
        <p:spPr>
          <a:xfrm>
            <a:off x="4368800" y="2171700"/>
            <a:ext cx="7220712" cy="25654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5E6B73"/>
                </a:solidFill>
                <a:latin typeface="IBM Plex Sans" pitchFamily="34" charset="0"/>
                <a:ea typeface="IBM Plex Sans" pitchFamily="34" charset="-122"/>
                <a:cs typeface="IBM Plex Sans" pitchFamily="34" charset="-120"/>
              </a:rPr>
              <a:t>Urban ambulance crew</a:t>
            </a:r>
            <a:endParaRPr lang="en-US" sz="1300" dirty="0"/>
          </a:p>
        </p:txBody>
      </p:sp>
      <p:sp>
        <p:nvSpPr>
          <p:cNvPr id="8" name="Text 6"/>
          <p:cNvSpPr/>
          <p:nvPr/>
        </p:nvSpPr>
        <p:spPr>
          <a:xfrm>
            <a:off x="4165600" y="2529842"/>
            <a:ext cx="7430008" cy="289560"/>
          </a:xfrm>
          <a:prstGeom prst="rect">
            <a:avLst/>
          </a:prstGeom>
          <a:noFill/>
          <a:ln/>
        </p:spPr>
        <p:txBody>
          <a:bodyPr wrap="square" lIns="0" tIns="0" rIns="0" bIns="0" rtlCol="0" anchor="t">
            <a:normAutofit/>
          </a:bodyPr>
          <a:lstStyle/>
          <a:p>
            <a:pPr algn="l" indent="0" marL="0">
              <a:lnSpc>
                <a:spcPts val="2080"/>
              </a:lnSpc>
              <a:buNone/>
            </a:pPr>
            <a:r>
              <a:rPr lang="en-US" sz="1600" i="1" dirty="0">
                <a:solidFill>
                  <a:srgbClr val="16222C"/>
                </a:solidFill>
                <a:latin typeface="Space Grotesk" pitchFamily="34" charset="0"/>
                <a:ea typeface="Space Grotesk" pitchFamily="34" charset="-122"/>
                <a:cs typeface="Space Grotesk" pitchFamily="34" charset="-120"/>
              </a:rPr>
              <a:t>“Get us through safely, and make sure traffic recovers after we pass.”</a:t>
            </a:r>
            <a:endParaRPr lang="en-US" sz="1600" dirty="0"/>
          </a:p>
        </p:txBody>
      </p:sp>
      <p:sp>
        <p:nvSpPr>
          <p:cNvPr id="9" name="Shape 7"/>
          <p:cNvSpPr/>
          <p:nvPr/>
        </p:nvSpPr>
        <p:spPr>
          <a:xfrm>
            <a:off x="4165600" y="2927350"/>
            <a:ext cx="3606800" cy="0"/>
          </a:xfrm>
          <a:prstGeom prst="line">
            <a:avLst/>
          </a:prstGeom>
          <a:noFill/>
          <a:ln w="12700">
            <a:solidFill>
              <a:srgbClr val="DDD8CC"/>
            </a:solidFill>
            <a:prstDash val="solid"/>
          </a:ln>
        </p:spPr>
      </p:sp>
      <p:sp>
        <p:nvSpPr>
          <p:cNvPr id="10" name="Text 8"/>
          <p:cNvSpPr/>
          <p:nvPr/>
        </p:nvSpPr>
        <p:spPr>
          <a:xfrm>
            <a:off x="4165600" y="3007364"/>
            <a:ext cx="3715004"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F6B72"/>
                </a:solidFill>
                <a:latin typeface="IBM Plex Mono" pitchFamily="34" charset="0"/>
                <a:ea typeface="IBM Plex Mono" pitchFamily="34" charset="-122"/>
                <a:cs typeface="IBM Plex Mono" pitchFamily="34" charset="-120"/>
              </a:rPr>
              <a:t>NEED</a:t>
            </a:r>
            <a:endParaRPr lang="en-US" sz="1200" dirty="0"/>
          </a:p>
        </p:txBody>
      </p:sp>
      <p:sp>
        <p:nvSpPr>
          <p:cNvPr id="11" name="Text 9"/>
          <p:cNvSpPr/>
          <p:nvPr/>
        </p:nvSpPr>
        <p:spPr>
          <a:xfrm>
            <a:off x="4165600" y="3258821"/>
            <a:ext cx="3715004" cy="43688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16222C"/>
                </a:solidFill>
                <a:latin typeface="IBM Plex Sans" pitchFamily="34" charset="0"/>
                <a:ea typeface="IBM Plex Sans" pitchFamily="34" charset="-122"/>
                <a:cs typeface="IBM Plex Sans" pitchFamily="34" charset="-120"/>
              </a:rPr>
              <a:t>A trusted route and ETA request, a downstream check, controlled recovery.</a:t>
            </a:r>
            <a:endParaRPr lang="en-US" sz="1200" dirty="0"/>
          </a:p>
        </p:txBody>
      </p:sp>
      <p:sp>
        <p:nvSpPr>
          <p:cNvPr id="12" name="Shape 10"/>
          <p:cNvSpPr/>
          <p:nvPr/>
        </p:nvSpPr>
        <p:spPr>
          <a:xfrm>
            <a:off x="7772400" y="2927350"/>
            <a:ext cx="3606800" cy="0"/>
          </a:xfrm>
          <a:prstGeom prst="line">
            <a:avLst/>
          </a:prstGeom>
          <a:noFill/>
          <a:ln w="12700">
            <a:solidFill>
              <a:srgbClr val="DDD8CC"/>
            </a:solidFill>
            <a:prstDash val="solid"/>
          </a:ln>
        </p:spPr>
      </p:sp>
      <p:sp>
        <p:nvSpPr>
          <p:cNvPr id="13" name="Text 11"/>
          <p:cNvSpPr/>
          <p:nvPr/>
        </p:nvSpPr>
        <p:spPr>
          <a:xfrm>
            <a:off x="7772400" y="3007364"/>
            <a:ext cx="3715004"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F6B72"/>
                </a:solidFill>
                <a:latin typeface="IBM Plex Mono" pitchFamily="34" charset="0"/>
                <a:ea typeface="IBM Plex Mono" pitchFamily="34" charset="-122"/>
                <a:cs typeface="IBM Plex Mono" pitchFamily="34" charset="-120"/>
              </a:rPr>
              <a:t>PAIN POINT</a:t>
            </a:r>
            <a:endParaRPr lang="en-US" sz="1200" dirty="0"/>
          </a:p>
        </p:txBody>
      </p:sp>
      <p:sp>
        <p:nvSpPr>
          <p:cNvPr id="14" name="Text 12"/>
          <p:cNvSpPr/>
          <p:nvPr/>
        </p:nvSpPr>
        <p:spPr>
          <a:xfrm>
            <a:off x="7772400" y="3258821"/>
            <a:ext cx="3715004" cy="23114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16222C"/>
                </a:solidFill>
                <a:latin typeface="IBM Plex Sans" pitchFamily="34" charset="0"/>
                <a:ea typeface="IBM Plex Sans" pitchFamily="34" charset="-122"/>
                <a:cs typeface="IBM Plex Sans" pitchFamily="34" charset="-120"/>
              </a:rPr>
              <a:t>A green light into a full link only moves the queue.</a:t>
            </a:r>
            <a:endParaRPr lang="en-US" sz="1200" dirty="0"/>
          </a:p>
        </p:txBody>
      </p:sp>
      <p:sp>
        <p:nvSpPr>
          <p:cNvPr id="15" name="Shape 13"/>
          <p:cNvSpPr/>
          <p:nvPr/>
        </p:nvSpPr>
        <p:spPr>
          <a:xfrm>
            <a:off x="4165600" y="3676650"/>
            <a:ext cx="3606800" cy="0"/>
          </a:xfrm>
          <a:prstGeom prst="line">
            <a:avLst/>
          </a:prstGeom>
          <a:noFill/>
          <a:ln w="12700">
            <a:solidFill>
              <a:srgbClr val="DDD8CC"/>
            </a:solidFill>
            <a:prstDash val="solid"/>
          </a:ln>
        </p:spPr>
      </p:sp>
      <p:sp>
        <p:nvSpPr>
          <p:cNvPr id="16" name="Text 14"/>
          <p:cNvSpPr/>
          <p:nvPr/>
        </p:nvSpPr>
        <p:spPr>
          <a:xfrm>
            <a:off x="4165600" y="3756664"/>
            <a:ext cx="3715004"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F6B72"/>
                </a:solidFill>
                <a:latin typeface="IBM Plex Mono" pitchFamily="34" charset="0"/>
                <a:ea typeface="IBM Plex Mono" pitchFamily="34" charset="-122"/>
                <a:cs typeface="IBM Plex Mono" pitchFamily="34" charset="-120"/>
              </a:rPr>
              <a:t>REJECTS</a:t>
            </a:r>
            <a:endParaRPr lang="en-US" sz="1200" dirty="0"/>
          </a:p>
        </p:txBody>
      </p:sp>
      <p:sp>
        <p:nvSpPr>
          <p:cNvPr id="17" name="Text 15"/>
          <p:cNvSpPr/>
          <p:nvPr/>
        </p:nvSpPr>
        <p:spPr>
          <a:xfrm>
            <a:off x="4165600" y="4008121"/>
            <a:ext cx="3715004" cy="43688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16222C"/>
                </a:solidFill>
                <a:latin typeface="IBM Plex Sans" pitchFamily="34" charset="0"/>
                <a:ea typeface="IBM Plex Sans" pitchFamily="34" charset="-122"/>
                <a:cs typeface="IBM Plex Sans" pitchFamily="34" charset="-120"/>
              </a:rPr>
              <a:t>Cutting an occupied crossing; seconds turned into casualties.</a:t>
            </a:r>
            <a:endParaRPr lang="en-US" sz="1200" dirty="0"/>
          </a:p>
        </p:txBody>
      </p:sp>
      <p:sp>
        <p:nvSpPr>
          <p:cNvPr id="18" name="Shape 16"/>
          <p:cNvSpPr/>
          <p:nvPr/>
        </p:nvSpPr>
        <p:spPr>
          <a:xfrm>
            <a:off x="7772400" y="3676650"/>
            <a:ext cx="3606800" cy="0"/>
          </a:xfrm>
          <a:prstGeom prst="line">
            <a:avLst/>
          </a:prstGeom>
          <a:noFill/>
          <a:ln w="12700">
            <a:solidFill>
              <a:srgbClr val="DDD8CC"/>
            </a:solidFill>
            <a:prstDash val="solid"/>
          </a:ln>
        </p:spPr>
      </p:sp>
      <p:sp>
        <p:nvSpPr>
          <p:cNvPr id="19" name="Text 17"/>
          <p:cNvSpPr/>
          <p:nvPr/>
        </p:nvSpPr>
        <p:spPr>
          <a:xfrm>
            <a:off x="7772400" y="3756664"/>
            <a:ext cx="3715004"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F6B72"/>
                </a:solidFill>
                <a:latin typeface="IBM Plex Mono" pitchFamily="34" charset="0"/>
                <a:ea typeface="IBM Plex Mono" pitchFamily="34" charset="-122"/>
                <a:cs typeface="IBM Plex Mono" pitchFamily="34" charset="-120"/>
              </a:rPr>
              <a:t>MEASURE</a:t>
            </a:r>
            <a:endParaRPr lang="en-US" sz="1200" dirty="0"/>
          </a:p>
        </p:txBody>
      </p:sp>
      <p:sp>
        <p:nvSpPr>
          <p:cNvPr id="20" name="Text 18"/>
          <p:cNvSpPr/>
          <p:nvPr/>
        </p:nvSpPr>
        <p:spPr>
          <a:xfrm>
            <a:off x="7772400" y="4008121"/>
            <a:ext cx="3715004" cy="43688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16222C"/>
                </a:solidFill>
                <a:latin typeface="IBM Plex Sans" pitchFamily="34" charset="0"/>
                <a:ea typeface="IBM Plex Sans" pitchFamily="34" charset="-122"/>
                <a:cs typeface="IBM Plex Sans" pitchFamily="34" charset="-120"/>
              </a:rPr>
              <a:t>Emergency time · civilian delay · downstream rejection · recovery.</a:t>
            </a:r>
            <a:endParaRPr lang="en-US" sz="1200" dirty="0"/>
          </a:p>
        </p:txBody>
      </p:sp>
      <p:sp>
        <p:nvSpPr>
          <p:cNvPr id="21" name="Shape 19"/>
          <p:cNvSpPr/>
          <p:nvPr/>
        </p:nvSpPr>
        <p:spPr>
          <a:xfrm>
            <a:off x="4165600" y="4546600"/>
            <a:ext cx="7213600" cy="820420"/>
          </a:xfrm>
          <a:prstGeom prst="roundRect">
            <a:avLst>
              <a:gd name="adj" fmla="val 7740"/>
            </a:avLst>
          </a:prstGeom>
          <a:solidFill>
            <a:srgbClr val="EFEBE1"/>
          </a:solidFill>
          <a:ln/>
        </p:spPr>
      </p:sp>
      <p:sp>
        <p:nvSpPr>
          <p:cNvPr id="22" name="Text 20"/>
          <p:cNvSpPr/>
          <p:nvPr/>
        </p:nvSpPr>
        <p:spPr>
          <a:xfrm>
            <a:off x="4292600" y="4648200"/>
            <a:ext cx="876300" cy="6426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6222C"/>
                </a:solidFill>
                <a:latin typeface="IBM Plex Mono" pitchFamily="34" charset="0"/>
                <a:ea typeface="IBM Plex Mono" pitchFamily="34" charset="-122"/>
                <a:cs typeface="IBM Plex Mono" pitchFamily="34" charset="-120"/>
              </a:rPr>
              <a:t>BASED ON</a:t>
            </a:r>
            <a:endParaRPr lang="en-US" sz="1200" dirty="0"/>
          </a:p>
        </p:txBody>
      </p:sp>
      <p:sp>
        <p:nvSpPr>
          <p:cNvPr id="23" name="Text 21"/>
          <p:cNvSpPr/>
          <p:nvPr/>
        </p:nvSpPr>
        <p:spPr>
          <a:xfrm>
            <a:off x="5219700" y="4648200"/>
            <a:ext cx="6213475" cy="64262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16222C"/>
                </a:solidFill>
                <a:latin typeface="IBM Plex Sans" pitchFamily="34" charset="0"/>
                <a:ea typeface="IBM Plex Sans" pitchFamily="34" charset="-122"/>
                <a:cs typeface="IBM Plex Sans" pitchFamily="34" charset="-120"/>
              </a:rPr>
              <a:t>Civil Protection answers road emergencies (we did not ride with a crew); preemption can add network delay; one Taipei cohort: each extra ALS minute ≈7% lower adjusted odds, not a Tunis result.</a:t>
            </a:r>
            <a:endParaRPr lang="en-US" sz="1200" dirty="0"/>
          </a:p>
        </p:txBody>
      </p:sp>
      <p:sp>
        <p:nvSpPr>
          <p:cNvPr id="24" name="Text 22"/>
          <p:cNvSpPr/>
          <p:nvPr/>
        </p:nvSpPr>
        <p:spPr>
          <a:xfrm>
            <a:off x="812800" y="6238242"/>
            <a:ext cx="7531713"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B73"/>
                </a:solidFill>
                <a:latin typeface="IBM Plex Sans" pitchFamily="34" charset="0"/>
                <a:ea typeface="IBM Plex Sans" pitchFamily="34" charset="-122"/>
                <a:cs typeface="IBM Plex Sans" pitchFamily="34" charset="-120"/>
              </a:rPr>
              <a:t>Built from slides 05–09. Age, job and statement are design readings, not interviews. Photo is an illustration.</a:t>
            </a:r>
            <a:endParaRPr lang="en-US" sz="1200" dirty="0"/>
          </a:p>
        </p:txBody>
      </p:sp>
      <p:sp>
        <p:nvSpPr>
          <p:cNvPr id="25" name="Text 23"/>
          <p:cNvSpPr/>
          <p:nvPr/>
        </p:nvSpPr>
        <p:spPr>
          <a:xfrm>
            <a:off x="11196320" y="6238242"/>
            <a:ext cx="23368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B73"/>
                </a:solidFill>
                <a:latin typeface="IBM Plex Sans" pitchFamily="34" charset="0"/>
                <a:ea typeface="IBM Plex Sans" pitchFamily="34" charset="-122"/>
                <a:cs typeface="IBM Plex Sans" pitchFamily="34" charset="-120"/>
              </a:rPr>
              <a:t>14</a:t>
            </a:r>
            <a:endParaRPr lang="en-US" sz="1200" dirty="0"/>
          </a:p>
        </p:txBody>
      </p:sp>
      <p:pic>
        <p:nvPicPr>
          <p:cNvPr id="26" name="Picture 25" descr="image-8-1.png"/>
          <p:cNvPicPr>
            <a:picLocks noChangeAspect="1"/>
          </p:cNvPicPr>
          <p:nvPr/>
        </p:nvPicPr>
        <p:blipFill>
          <a:blip r:embed="rId3"/>
          <a:srcRect t="3852" b="3852"/>
          <a:stretch>
            <a:fillRect/>
          </a:stretch>
        </p:blipFill>
        <p:spPr>
          <a:xfrm>
            <a:off x="822325" y="1838325"/>
            <a:ext cx="3028950" cy="4038600"/>
          </a:xfrm>
          <a:prstGeom prst="rect">
            <a:avLst/>
          </a:prstGeom>
        </p:spPr>
      </p:pic>
      <p:sp>
        <p:nvSpPr>
          <p:cNvPr id="27" name="Rectangle 26"/>
          <p:cNvSpPr/>
          <p:nvPr/>
        </p:nvSpPr>
        <p:spPr>
          <a:xfrm>
            <a:off x="822325" y="1838325"/>
            <a:ext cx="3028950" cy="3727450"/>
          </a:xfrm>
          <a:prstGeom prst="rect">
            <a:avLst/>
          </a:prstGeom>
          <a:noFill/>
          <a:ln w="9144">
            <a:solidFill>
              <a:srgbClr val="A0AAA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4F1EA"/>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1F6B72"/>
                </a:solidFill>
                <a:latin typeface="IBM Plex Mono" pitchFamily="34" charset="0"/>
                <a:ea typeface="IBM Plex Mono" pitchFamily="34" charset="-122"/>
                <a:cs typeface="IBM Plex Mono" pitchFamily="34" charset="-120"/>
              </a:rPr>
              <a:t>EMPATHIZE · 1.5 PERSONAS · 5 OF 6</a:t>
            </a:r>
            <a:endParaRPr lang="en-US" sz="1200" dirty="0"/>
          </a:p>
        </p:txBody>
      </p:sp>
      <p:sp>
        <p:nvSpPr>
          <p:cNvPr id="3" name="Text 1"/>
          <p:cNvSpPr/>
          <p:nvPr/>
        </p:nvSpPr>
        <p:spPr>
          <a:xfrm>
            <a:off x="812800" y="1127764"/>
            <a:ext cx="10883392" cy="472440"/>
          </a:xfrm>
          <a:prstGeom prst="rect">
            <a:avLst/>
          </a:prstGeom>
          <a:noFill/>
          <a:ln/>
        </p:spPr>
        <p:txBody>
          <a:bodyPr wrap="square" lIns="0" tIns="0" rIns="0" bIns="0" rtlCol="0" anchor="t">
            <a:normAutofit/>
          </a:bodyPr>
          <a:lstStyle/>
          <a:p>
            <a:pPr algn="l" indent="0" marL="0">
              <a:lnSpc>
                <a:spcPts val="3520"/>
              </a:lnSpc>
              <a:buNone/>
            </a:pPr>
            <a:r>
              <a:rPr lang="en-US" sz="3200" b="1" dirty="0">
                <a:solidFill>
                  <a:srgbClr val="16222C"/>
                </a:solidFill>
                <a:latin typeface="Space Grotesk" pitchFamily="34" charset="0"/>
                <a:ea typeface="Space Grotesk" pitchFamily="34" charset="-122"/>
                <a:cs typeface="Space Grotesk" pitchFamily="34" charset="-120"/>
              </a:rPr>
              <a:t>Rosa, the reader of the refusal</a:t>
            </a:r>
            <a:endParaRPr lang="en-US" sz="3200" dirty="0"/>
          </a:p>
        </p:txBody>
      </p:sp>
      <p:sp>
        <p:nvSpPr>
          <p:cNvPr id="4" name="Shape 2"/>
          <p:cNvSpPr/>
          <p:nvPr/>
        </p:nvSpPr>
        <p:spPr>
          <a:xfrm>
            <a:off x="822325" y="1838325"/>
            <a:ext cx="3028950" cy="3727450"/>
          </a:xfrm>
          <a:prstGeom prst="roundRect">
            <a:avLst>
              <a:gd name="adj" fmla="val 3040"/>
            </a:avLst>
          </a:prstGeom>
          <a:solidFill>
            <a:srgbClr val="E9E4D8"/>
          </a:solidFill>
          <a:ln w="19050">
            <a:solidFill>
              <a:srgbClr val="A7B0B5"/>
            </a:solidFill>
            <a:prstDash val="dash"/>
          </a:ln>
        </p:spPr>
      </p:sp>
      <p:sp>
        <p:nvSpPr>
          <p:cNvPr id="5" name="Shape 3"/>
          <p:cNvSpPr/>
          <p:nvPr/>
        </p:nvSpPr>
        <p:spPr>
          <a:xfrm>
            <a:off x="4191000" y="1828800"/>
            <a:ext cx="0" cy="574040"/>
          </a:xfrm>
          <a:prstGeom prst="line">
            <a:avLst/>
          </a:prstGeom>
          <a:noFill/>
          <a:ln w="50800">
            <a:solidFill>
              <a:srgbClr val="3D5566"/>
            </a:solidFill>
            <a:prstDash val="solid"/>
          </a:ln>
        </p:spPr>
      </p:sp>
      <p:sp>
        <p:nvSpPr>
          <p:cNvPr id="6" name="Text 4"/>
          <p:cNvSpPr/>
          <p:nvPr/>
        </p:nvSpPr>
        <p:spPr>
          <a:xfrm>
            <a:off x="4368800" y="1828800"/>
            <a:ext cx="7220712" cy="3302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16222C"/>
                </a:solidFill>
                <a:latin typeface="Space Grotesk" pitchFamily="34" charset="0"/>
                <a:ea typeface="Space Grotesk" pitchFamily="34" charset="-122"/>
                <a:cs typeface="Space Grotesk" pitchFamily="34" charset="-120"/>
              </a:rPr>
              <a:t>Rosa, 52</a:t>
            </a:r>
            <a:endParaRPr lang="en-US" sz="2000" dirty="0"/>
          </a:p>
        </p:txBody>
      </p:sp>
      <p:sp>
        <p:nvSpPr>
          <p:cNvPr id="7" name="Text 5"/>
          <p:cNvSpPr/>
          <p:nvPr/>
        </p:nvSpPr>
        <p:spPr>
          <a:xfrm>
            <a:off x="4368800" y="2171700"/>
            <a:ext cx="7220712" cy="25654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5E6B73"/>
                </a:solidFill>
                <a:latin typeface="IBM Plex Sans" pitchFamily="34" charset="0"/>
                <a:ea typeface="IBM Plex Sans" pitchFamily="34" charset="-122"/>
                <a:cs typeface="IBM Plex Sans" pitchFamily="34" charset="-120"/>
              </a:rPr>
              <a:t>Incident-report reader · never changes the light</a:t>
            </a:r>
            <a:endParaRPr lang="en-US" sz="1300" dirty="0"/>
          </a:p>
        </p:txBody>
      </p:sp>
      <p:sp>
        <p:nvSpPr>
          <p:cNvPr id="8" name="Text 6"/>
          <p:cNvSpPr/>
          <p:nvPr/>
        </p:nvSpPr>
        <p:spPr>
          <a:xfrm>
            <a:off x="4165600" y="2529842"/>
            <a:ext cx="7430008" cy="553720"/>
          </a:xfrm>
          <a:prstGeom prst="rect">
            <a:avLst/>
          </a:prstGeom>
          <a:noFill/>
          <a:ln/>
        </p:spPr>
        <p:txBody>
          <a:bodyPr wrap="square" lIns="0" tIns="0" rIns="0" bIns="0" rtlCol="0" anchor="t">
            <a:normAutofit/>
          </a:bodyPr>
          <a:lstStyle/>
          <a:p>
            <a:pPr algn="l" indent="0" marL="0">
              <a:lnSpc>
                <a:spcPts val="2080"/>
              </a:lnSpc>
              <a:buNone/>
            </a:pPr>
            <a:r>
              <a:rPr lang="en-US" sz="1600" i="1" dirty="0">
                <a:solidFill>
                  <a:srgbClr val="16222C"/>
                </a:solidFill>
                <a:latin typeface="Space Grotesk" pitchFamily="34" charset="0"/>
                <a:ea typeface="Space Grotesk" pitchFamily="34" charset="-122"/>
                <a:cs typeface="Space Grotesk" pitchFamily="34" charset="-120"/>
              </a:rPr>
              <a:t>“Show me why priority was granted or denied, and let me respond safely.”</a:t>
            </a:r>
            <a:endParaRPr lang="en-US" sz="1600" dirty="0"/>
          </a:p>
        </p:txBody>
      </p:sp>
      <p:sp>
        <p:nvSpPr>
          <p:cNvPr id="9" name="Shape 7"/>
          <p:cNvSpPr/>
          <p:nvPr/>
        </p:nvSpPr>
        <p:spPr>
          <a:xfrm>
            <a:off x="4165600" y="3191514"/>
            <a:ext cx="3606800" cy="0"/>
          </a:xfrm>
          <a:prstGeom prst="line">
            <a:avLst/>
          </a:prstGeom>
          <a:noFill/>
          <a:ln w="12700">
            <a:solidFill>
              <a:srgbClr val="DDD8CC"/>
            </a:solidFill>
            <a:prstDash val="solid"/>
          </a:ln>
        </p:spPr>
      </p:sp>
      <p:sp>
        <p:nvSpPr>
          <p:cNvPr id="10" name="Text 8"/>
          <p:cNvSpPr/>
          <p:nvPr/>
        </p:nvSpPr>
        <p:spPr>
          <a:xfrm>
            <a:off x="4165600" y="3271521"/>
            <a:ext cx="3715004"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F6B72"/>
                </a:solidFill>
                <a:latin typeface="IBM Plex Mono" pitchFamily="34" charset="0"/>
                <a:ea typeface="IBM Plex Mono" pitchFamily="34" charset="-122"/>
                <a:cs typeface="IBM Plex Mono" pitchFamily="34" charset="-120"/>
              </a:rPr>
              <a:t>NEED</a:t>
            </a:r>
            <a:endParaRPr lang="en-US" sz="1200" dirty="0"/>
          </a:p>
        </p:txBody>
      </p:sp>
      <p:sp>
        <p:nvSpPr>
          <p:cNvPr id="11" name="Text 9"/>
          <p:cNvSpPr/>
          <p:nvPr/>
        </p:nvSpPr>
        <p:spPr>
          <a:xfrm>
            <a:off x="4165600" y="3522979"/>
            <a:ext cx="3715004" cy="43688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16222C"/>
                </a:solidFill>
                <a:latin typeface="IBM Plex Sans" pitchFamily="34" charset="0"/>
                <a:ea typeface="IBM Plex Sans" pitchFamily="34" charset="-122"/>
                <a:cs typeface="IBM Plex Sans" pitchFamily="34" charset="-120"/>
              </a:rPr>
              <a:t>Positions, headways, confidence, reason codes, a joined audit trail.</a:t>
            </a:r>
            <a:endParaRPr lang="en-US" sz="1200" dirty="0"/>
          </a:p>
        </p:txBody>
      </p:sp>
      <p:sp>
        <p:nvSpPr>
          <p:cNvPr id="12" name="Shape 10"/>
          <p:cNvSpPr/>
          <p:nvPr/>
        </p:nvSpPr>
        <p:spPr>
          <a:xfrm>
            <a:off x="7772400" y="3191514"/>
            <a:ext cx="3606800" cy="0"/>
          </a:xfrm>
          <a:prstGeom prst="line">
            <a:avLst/>
          </a:prstGeom>
          <a:noFill/>
          <a:ln w="12700">
            <a:solidFill>
              <a:srgbClr val="DDD8CC"/>
            </a:solidFill>
            <a:prstDash val="solid"/>
          </a:ln>
        </p:spPr>
      </p:sp>
      <p:sp>
        <p:nvSpPr>
          <p:cNvPr id="13" name="Text 11"/>
          <p:cNvSpPr/>
          <p:nvPr/>
        </p:nvSpPr>
        <p:spPr>
          <a:xfrm>
            <a:off x="7772400" y="3271521"/>
            <a:ext cx="3715004"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F6B72"/>
                </a:solidFill>
                <a:latin typeface="IBM Plex Mono" pitchFamily="34" charset="0"/>
                <a:ea typeface="IBM Plex Mono" pitchFamily="34" charset="-122"/>
                <a:cs typeface="IBM Plex Mono" pitchFamily="34" charset="-120"/>
              </a:rPr>
              <a:t>PAIN POINT</a:t>
            </a:r>
            <a:endParaRPr lang="en-US" sz="1200" dirty="0"/>
          </a:p>
        </p:txBody>
      </p:sp>
      <p:sp>
        <p:nvSpPr>
          <p:cNvPr id="14" name="Text 12"/>
          <p:cNvSpPr/>
          <p:nvPr/>
        </p:nvSpPr>
        <p:spPr>
          <a:xfrm>
            <a:off x="7772400" y="3522979"/>
            <a:ext cx="3715004" cy="23114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16222C"/>
                </a:solidFill>
                <a:latin typeface="IBM Plex Sans" pitchFamily="34" charset="0"/>
                <a:ea typeface="IBM Plex Sans" pitchFamily="34" charset="-122"/>
                <a:cs typeface="IBM Plex Sans" pitchFamily="34" charset="-120"/>
              </a:rPr>
              <a:t>A black box refuses priority and leaves no history.</a:t>
            </a:r>
            <a:endParaRPr lang="en-US" sz="1200" dirty="0"/>
          </a:p>
        </p:txBody>
      </p:sp>
      <p:sp>
        <p:nvSpPr>
          <p:cNvPr id="15" name="Shape 13"/>
          <p:cNvSpPr/>
          <p:nvPr/>
        </p:nvSpPr>
        <p:spPr>
          <a:xfrm>
            <a:off x="4165600" y="3940814"/>
            <a:ext cx="3606800" cy="0"/>
          </a:xfrm>
          <a:prstGeom prst="line">
            <a:avLst/>
          </a:prstGeom>
          <a:noFill/>
          <a:ln w="12700">
            <a:solidFill>
              <a:srgbClr val="DDD8CC"/>
            </a:solidFill>
            <a:prstDash val="solid"/>
          </a:ln>
        </p:spPr>
      </p:sp>
      <p:sp>
        <p:nvSpPr>
          <p:cNvPr id="16" name="Text 14"/>
          <p:cNvSpPr/>
          <p:nvPr/>
        </p:nvSpPr>
        <p:spPr>
          <a:xfrm>
            <a:off x="4165600" y="4020821"/>
            <a:ext cx="3715004"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F6B72"/>
                </a:solidFill>
                <a:latin typeface="IBM Plex Mono" pitchFamily="34" charset="0"/>
                <a:ea typeface="IBM Plex Mono" pitchFamily="34" charset="-122"/>
                <a:cs typeface="IBM Plex Mono" pitchFamily="34" charset="-120"/>
              </a:rPr>
              <a:t>REJECTS</a:t>
            </a:r>
            <a:endParaRPr lang="en-US" sz="1200" dirty="0"/>
          </a:p>
        </p:txBody>
      </p:sp>
      <p:sp>
        <p:nvSpPr>
          <p:cNvPr id="17" name="Text 15"/>
          <p:cNvSpPr/>
          <p:nvPr/>
        </p:nvSpPr>
        <p:spPr>
          <a:xfrm>
            <a:off x="4165600" y="4272279"/>
            <a:ext cx="3715004" cy="43688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16222C"/>
                </a:solidFill>
                <a:latin typeface="IBM Plex Sans" pitchFamily="34" charset="0"/>
                <a:ea typeface="IBM Plex Sans" pitchFamily="34" charset="-122"/>
                <a:cs typeface="IBM Plex Sans" pitchFamily="34" charset="-120"/>
              </a:rPr>
              <a:t>Unsupported predictions; overrides outside the safety mask.</a:t>
            </a:r>
            <a:endParaRPr lang="en-US" sz="1200" dirty="0"/>
          </a:p>
        </p:txBody>
      </p:sp>
      <p:sp>
        <p:nvSpPr>
          <p:cNvPr id="18" name="Shape 16"/>
          <p:cNvSpPr/>
          <p:nvPr/>
        </p:nvSpPr>
        <p:spPr>
          <a:xfrm>
            <a:off x="7772400" y="3940814"/>
            <a:ext cx="3606800" cy="0"/>
          </a:xfrm>
          <a:prstGeom prst="line">
            <a:avLst/>
          </a:prstGeom>
          <a:noFill/>
          <a:ln w="12700">
            <a:solidFill>
              <a:srgbClr val="DDD8CC"/>
            </a:solidFill>
            <a:prstDash val="solid"/>
          </a:ln>
        </p:spPr>
      </p:sp>
      <p:sp>
        <p:nvSpPr>
          <p:cNvPr id="19" name="Text 17"/>
          <p:cNvSpPr/>
          <p:nvPr/>
        </p:nvSpPr>
        <p:spPr>
          <a:xfrm>
            <a:off x="7772400" y="4020821"/>
            <a:ext cx="3715004"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F6B72"/>
                </a:solidFill>
                <a:latin typeface="IBM Plex Mono" pitchFamily="34" charset="0"/>
                <a:ea typeface="IBM Plex Mono" pitchFamily="34" charset="-122"/>
                <a:cs typeface="IBM Plex Mono" pitchFamily="34" charset="-120"/>
              </a:rPr>
              <a:t>MEASURE</a:t>
            </a:r>
            <a:endParaRPr lang="en-US" sz="1200" dirty="0"/>
          </a:p>
        </p:txBody>
      </p:sp>
      <p:sp>
        <p:nvSpPr>
          <p:cNvPr id="20" name="Text 18"/>
          <p:cNvSpPr/>
          <p:nvPr/>
        </p:nvSpPr>
        <p:spPr>
          <a:xfrm>
            <a:off x="7772400" y="4272279"/>
            <a:ext cx="3715004" cy="43688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16222C"/>
                </a:solidFill>
                <a:latin typeface="IBM Plex Sans" pitchFamily="34" charset="0"/>
                <a:ea typeface="IBM Plex Sans" pitchFamily="34" charset="-122"/>
                <a:cs typeface="IBM Plex Sans" pitchFamily="34" charset="-120"/>
              </a:rPr>
              <a:t>Reason-code coverage · one explained yes and one explained no.</a:t>
            </a:r>
            <a:endParaRPr lang="en-US" sz="1200" dirty="0"/>
          </a:p>
        </p:txBody>
      </p:sp>
      <p:sp>
        <p:nvSpPr>
          <p:cNvPr id="21" name="Shape 19"/>
          <p:cNvSpPr/>
          <p:nvPr/>
        </p:nvSpPr>
        <p:spPr>
          <a:xfrm>
            <a:off x="4165600" y="4810764"/>
            <a:ext cx="7213600" cy="614680"/>
          </a:xfrm>
          <a:prstGeom prst="roundRect">
            <a:avLst>
              <a:gd name="adj" fmla="val 10331"/>
            </a:avLst>
          </a:prstGeom>
          <a:solidFill>
            <a:srgbClr val="EFEBE1"/>
          </a:solidFill>
          <a:ln/>
        </p:spPr>
      </p:sp>
      <p:sp>
        <p:nvSpPr>
          <p:cNvPr id="22" name="Text 20"/>
          <p:cNvSpPr/>
          <p:nvPr/>
        </p:nvSpPr>
        <p:spPr>
          <a:xfrm>
            <a:off x="4292600" y="4912364"/>
            <a:ext cx="876300" cy="43688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6222C"/>
                </a:solidFill>
                <a:latin typeface="IBM Plex Mono" pitchFamily="34" charset="0"/>
                <a:ea typeface="IBM Plex Mono" pitchFamily="34" charset="-122"/>
                <a:cs typeface="IBM Plex Mono" pitchFamily="34" charset="-120"/>
              </a:rPr>
              <a:t>BASED ON</a:t>
            </a:r>
            <a:endParaRPr lang="en-US" sz="1200" dirty="0"/>
          </a:p>
        </p:txBody>
      </p:sp>
      <p:sp>
        <p:nvSpPr>
          <p:cNvPr id="23" name="Text 21"/>
          <p:cNvSpPr/>
          <p:nvPr/>
        </p:nvSpPr>
        <p:spPr>
          <a:xfrm>
            <a:off x="5219700" y="4912364"/>
            <a:ext cx="6213475" cy="43688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16222C"/>
                </a:solidFill>
                <a:latin typeface="IBM Plex Sans" pitchFamily="34" charset="0"/>
                <a:ea typeface="IBM Plex Sans" pitchFamily="34" charset="-122"/>
                <a:cs typeface="IBM Plex Sans" pitchFamily="34" charset="-120"/>
              </a:rPr>
              <a:t>ONSR compiles the national crash record; SCATS documents monitoring, manual intervention and audit trails (an analogy, not a Tunis control room we visited).</a:t>
            </a:r>
            <a:endParaRPr lang="en-US" sz="1200" dirty="0"/>
          </a:p>
        </p:txBody>
      </p:sp>
      <p:sp>
        <p:nvSpPr>
          <p:cNvPr id="24" name="Text 22"/>
          <p:cNvSpPr/>
          <p:nvPr/>
        </p:nvSpPr>
        <p:spPr>
          <a:xfrm>
            <a:off x="812800" y="6238242"/>
            <a:ext cx="7531713"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B73"/>
                </a:solidFill>
                <a:latin typeface="IBM Plex Sans" pitchFamily="34" charset="0"/>
                <a:ea typeface="IBM Plex Sans" pitchFamily="34" charset="-122"/>
                <a:cs typeface="IBM Plex Sans" pitchFamily="34" charset="-120"/>
              </a:rPr>
              <a:t>Built from slides 05–09. Age, job and statement are design readings, not interviews. Photo is an illustration.</a:t>
            </a:r>
            <a:endParaRPr lang="en-US" sz="1200" dirty="0"/>
          </a:p>
        </p:txBody>
      </p:sp>
      <p:sp>
        <p:nvSpPr>
          <p:cNvPr id="25" name="Text 23"/>
          <p:cNvSpPr/>
          <p:nvPr/>
        </p:nvSpPr>
        <p:spPr>
          <a:xfrm>
            <a:off x="11196320" y="6238242"/>
            <a:ext cx="23368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B73"/>
                </a:solidFill>
                <a:latin typeface="IBM Plex Sans" pitchFamily="34" charset="0"/>
                <a:ea typeface="IBM Plex Sans" pitchFamily="34" charset="-122"/>
                <a:cs typeface="IBM Plex Sans" pitchFamily="34" charset="-120"/>
              </a:rPr>
              <a:t>15</a:t>
            </a:r>
            <a:endParaRPr lang="en-US" sz="1200" dirty="0"/>
          </a:p>
        </p:txBody>
      </p:sp>
      <p:pic>
        <p:nvPicPr>
          <p:cNvPr id="26" name="Picture 25" descr="image-7-1.png"/>
          <p:cNvPicPr>
            <a:picLocks noChangeAspect="1"/>
          </p:cNvPicPr>
          <p:nvPr/>
        </p:nvPicPr>
        <p:blipFill>
          <a:blip r:embed="rId3"/>
          <a:srcRect t="3852" b="3852"/>
          <a:stretch>
            <a:fillRect/>
          </a:stretch>
        </p:blipFill>
        <p:spPr>
          <a:xfrm>
            <a:off x="822325" y="1838325"/>
            <a:ext cx="3028950" cy="4038600"/>
          </a:xfrm>
          <a:prstGeom prst="rect">
            <a:avLst/>
          </a:prstGeom>
        </p:spPr>
      </p:pic>
      <p:sp>
        <p:nvSpPr>
          <p:cNvPr id="27" name="Rectangle 26"/>
          <p:cNvSpPr/>
          <p:nvPr/>
        </p:nvSpPr>
        <p:spPr>
          <a:xfrm>
            <a:off x="822325" y="1838325"/>
            <a:ext cx="3028950" cy="3727450"/>
          </a:xfrm>
          <a:prstGeom prst="rect">
            <a:avLst/>
          </a:prstGeom>
          <a:noFill/>
          <a:ln w="9144">
            <a:solidFill>
              <a:srgbClr val="A0AAA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4F1EA"/>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1F6B72"/>
                </a:solidFill>
                <a:latin typeface="IBM Plex Mono" pitchFamily="34" charset="0"/>
                <a:ea typeface="IBM Plex Mono" pitchFamily="34" charset="-122"/>
                <a:cs typeface="IBM Plex Mono" pitchFamily="34" charset="-120"/>
              </a:rPr>
              <a:t>EMPATHIZE · 1.5 PERSONAS · 6 OF 6</a:t>
            </a:r>
            <a:endParaRPr lang="en-US" sz="1200" dirty="0"/>
          </a:p>
        </p:txBody>
      </p:sp>
      <p:sp>
        <p:nvSpPr>
          <p:cNvPr id="3" name="Text 1"/>
          <p:cNvSpPr/>
          <p:nvPr/>
        </p:nvSpPr>
        <p:spPr>
          <a:xfrm>
            <a:off x="812800" y="1127764"/>
            <a:ext cx="10883392" cy="472440"/>
          </a:xfrm>
          <a:prstGeom prst="rect">
            <a:avLst/>
          </a:prstGeom>
          <a:noFill/>
          <a:ln/>
        </p:spPr>
        <p:txBody>
          <a:bodyPr wrap="square" lIns="0" tIns="0" rIns="0" bIns="0" rtlCol="0" anchor="t">
            <a:normAutofit/>
          </a:bodyPr>
          <a:lstStyle/>
          <a:p>
            <a:pPr algn="l" indent="0" marL="0">
              <a:lnSpc>
                <a:spcPts val="3520"/>
              </a:lnSpc>
              <a:buNone/>
            </a:pPr>
            <a:r>
              <a:rPr lang="en-US" sz="3200" b="1" dirty="0">
                <a:solidFill>
                  <a:srgbClr val="16222C"/>
                </a:solidFill>
                <a:latin typeface="Space Grotesk" pitchFamily="34" charset="0"/>
                <a:ea typeface="Space Grotesk" pitchFamily="34" charset="-122"/>
                <a:cs typeface="Space Grotesk" pitchFamily="34" charset="-120"/>
              </a:rPr>
              <a:t>Omar, the officer who must trust the data</a:t>
            </a:r>
            <a:endParaRPr lang="en-US" sz="3200" dirty="0"/>
          </a:p>
        </p:txBody>
      </p:sp>
      <p:sp>
        <p:nvSpPr>
          <p:cNvPr id="4" name="Shape 2"/>
          <p:cNvSpPr/>
          <p:nvPr/>
        </p:nvSpPr>
        <p:spPr>
          <a:xfrm>
            <a:off x="822325" y="1838325"/>
            <a:ext cx="3028950" cy="3727450"/>
          </a:xfrm>
          <a:prstGeom prst="roundRect">
            <a:avLst>
              <a:gd name="adj" fmla="val 3040"/>
            </a:avLst>
          </a:prstGeom>
          <a:solidFill>
            <a:srgbClr val="E9E4D8"/>
          </a:solidFill>
          <a:ln w="19050">
            <a:solidFill>
              <a:srgbClr val="A7B0B5"/>
            </a:solidFill>
            <a:prstDash val="dash"/>
          </a:ln>
        </p:spPr>
      </p:sp>
      <p:sp>
        <p:nvSpPr>
          <p:cNvPr id="5" name="Shape 3"/>
          <p:cNvSpPr/>
          <p:nvPr/>
        </p:nvSpPr>
        <p:spPr>
          <a:xfrm>
            <a:off x="4191000" y="1828800"/>
            <a:ext cx="0" cy="574040"/>
          </a:xfrm>
          <a:prstGeom prst="line">
            <a:avLst/>
          </a:prstGeom>
          <a:noFill/>
          <a:ln w="50800">
            <a:solidFill>
              <a:srgbClr val="3D5566"/>
            </a:solidFill>
            <a:prstDash val="solid"/>
          </a:ln>
        </p:spPr>
      </p:sp>
      <p:sp>
        <p:nvSpPr>
          <p:cNvPr id="6" name="Text 4"/>
          <p:cNvSpPr/>
          <p:nvPr/>
        </p:nvSpPr>
        <p:spPr>
          <a:xfrm>
            <a:off x="4368800" y="1828800"/>
            <a:ext cx="7220712" cy="3302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16222C"/>
                </a:solidFill>
                <a:latin typeface="Space Grotesk" pitchFamily="34" charset="0"/>
                <a:ea typeface="Space Grotesk" pitchFamily="34" charset="-122"/>
                <a:cs typeface="Space Grotesk" pitchFamily="34" charset="-120"/>
              </a:rPr>
              <a:t>Omar, 55</a:t>
            </a:r>
            <a:endParaRPr lang="en-US" sz="2000" dirty="0"/>
          </a:p>
        </p:txBody>
      </p:sp>
      <p:sp>
        <p:nvSpPr>
          <p:cNvPr id="7" name="Text 5"/>
          <p:cNvSpPr/>
          <p:nvPr/>
        </p:nvSpPr>
        <p:spPr>
          <a:xfrm>
            <a:off x="4368800" y="2171700"/>
            <a:ext cx="7220712" cy="25654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5E6B73"/>
                </a:solidFill>
                <a:latin typeface="IBM Plex Sans" pitchFamily="34" charset="0"/>
                <a:ea typeface="IBM Plex Sans" pitchFamily="34" charset="-122"/>
                <a:cs typeface="IBM Plex Sans" pitchFamily="34" charset="-120"/>
              </a:rPr>
              <a:t>Network duty officer</a:t>
            </a:r>
            <a:endParaRPr lang="en-US" sz="1300" dirty="0"/>
          </a:p>
        </p:txBody>
      </p:sp>
      <p:sp>
        <p:nvSpPr>
          <p:cNvPr id="8" name="Text 6"/>
          <p:cNvSpPr/>
          <p:nvPr/>
        </p:nvSpPr>
        <p:spPr>
          <a:xfrm>
            <a:off x="4165600" y="2529842"/>
            <a:ext cx="7430008" cy="553720"/>
          </a:xfrm>
          <a:prstGeom prst="rect">
            <a:avLst/>
          </a:prstGeom>
          <a:noFill/>
          <a:ln/>
        </p:spPr>
        <p:txBody>
          <a:bodyPr wrap="square" lIns="0" tIns="0" rIns="0" bIns="0" rtlCol="0" anchor="t">
            <a:normAutofit/>
          </a:bodyPr>
          <a:lstStyle/>
          <a:p>
            <a:pPr algn="l" indent="0" marL="0">
              <a:lnSpc>
                <a:spcPts val="2080"/>
              </a:lnSpc>
              <a:buNone/>
            </a:pPr>
            <a:r>
              <a:rPr lang="en-US" sz="1600" i="1" dirty="0">
                <a:solidFill>
                  <a:srgbClr val="16222C"/>
                </a:solidFill>
                <a:latin typeface="Space Grotesk" pitchFamily="34" charset="0"/>
                <a:ea typeface="Space Grotesk" pitchFamily="34" charset="-122"/>
                <a:cs typeface="Space Grotesk" pitchFamily="34" charset="-120"/>
              </a:rPr>
              <a:t>“Tell me what is wrong, why you think so, and whether I can still trust the data.”</a:t>
            </a:r>
            <a:endParaRPr lang="en-US" sz="1600" dirty="0"/>
          </a:p>
        </p:txBody>
      </p:sp>
      <p:sp>
        <p:nvSpPr>
          <p:cNvPr id="9" name="Shape 7"/>
          <p:cNvSpPr/>
          <p:nvPr/>
        </p:nvSpPr>
        <p:spPr>
          <a:xfrm>
            <a:off x="4165600" y="3191508"/>
            <a:ext cx="3606800" cy="0"/>
          </a:xfrm>
          <a:prstGeom prst="line">
            <a:avLst/>
          </a:prstGeom>
          <a:noFill/>
          <a:ln w="12700">
            <a:solidFill>
              <a:srgbClr val="DDD8CC"/>
            </a:solidFill>
            <a:prstDash val="solid"/>
          </a:ln>
        </p:spPr>
      </p:sp>
      <p:sp>
        <p:nvSpPr>
          <p:cNvPr id="10" name="Text 8"/>
          <p:cNvSpPr/>
          <p:nvPr/>
        </p:nvSpPr>
        <p:spPr>
          <a:xfrm>
            <a:off x="4165600" y="3271527"/>
            <a:ext cx="3715004"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F6B72"/>
                </a:solidFill>
                <a:latin typeface="IBM Plex Mono" pitchFamily="34" charset="0"/>
                <a:ea typeface="IBM Plex Mono" pitchFamily="34" charset="-122"/>
                <a:cs typeface="IBM Plex Mono" pitchFamily="34" charset="-120"/>
              </a:rPr>
              <a:t>NEED</a:t>
            </a:r>
            <a:endParaRPr lang="en-US" sz="1200" dirty="0"/>
          </a:p>
        </p:txBody>
      </p:sp>
      <p:sp>
        <p:nvSpPr>
          <p:cNvPr id="11" name="Text 9"/>
          <p:cNvSpPr/>
          <p:nvPr/>
        </p:nvSpPr>
        <p:spPr>
          <a:xfrm>
            <a:off x="4165600" y="3522985"/>
            <a:ext cx="3715004" cy="43688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16222C"/>
                </a:solidFill>
                <a:latin typeface="IBM Plex Sans" pitchFamily="34" charset="0"/>
                <a:ea typeface="IBM Plex Sans" pitchFamily="34" charset="-122"/>
                <a:cs typeface="IBM Plex Sans" pitchFamily="34" charset="-120"/>
              </a:rPr>
              <a:t>Severity, observations, uncertainty, freshness, a data-health warning.</a:t>
            </a:r>
            <a:endParaRPr lang="en-US" sz="1200" dirty="0"/>
          </a:p>
        </p:txBody>
      </p:sp>
      <p:sp>
        <p:nvSpPr>
          <p:cNvPr id="12" name="Shape 10"/>
          <p:cNvSpPr/>
          <p:nvPr/>
        </p:nvSpPr>
        <p:spPr>
          <a:xfrm>
            <a:off x="7772400" y="3191508"/>
            <a:ext cx="3606800" cy="0"/>
          </a:xfrm>
          <a:prstGeom prst="line">
            <a:avLst/>
          </a:prstGeom>
          <a:noFill/>
          <a:ln w="12700">
            <a:solidFill>
              <a:srgbClr val="DDD8CC"/>
            </a:solidFill>
            <a:prstDash val="solid"/>
          </a:ln>
        </p:spPr>
      </p:sp>
      <p:sp>
        <p:nvSpPr>
          <p:cNvPr id="13" name="Text 11"/>
          <p:cNvSpPr/>
          <p:nvPr/>
        </p:nvSpPr>
        <p:spPr>
          <a:xfrm>
            <a:off x="7772400" y="3271527"/>
            <a:ext cx="3715004"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F6B72"/>
                </a:solidFill>
                <a:latin typeface="IBM Plex Mono" pitchFamily="34" charset="0"/>
                <a:ea typeface="IBM Plex Mono" pitchFamily="34" charset="-122"/>
                <a:cs typeface="IBM Plex Mono" pitchFamily="34" charset="-120"/>
              </a:rPr>
              <a:t>PAIN POINT</a:t>
            </a:r>
            <a:endParaRPr lang="en-US" sz="1200" dirty="0"/>
          </a:p>
        </p:txBody>
      </p:sp>
      <p:sp>
        <p:nvSpPr>
          <p:cNvPr id="14" name="Text 12"/>
          <p:cNvSpPr/>
          <p:nvPr/>
        </p:nvSpPr>
        <p:spPr>
          <a:xfrm>
            <a:off x="7772400" y="3522985"/>
            <a:ext cx="3715004" cy="43688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16222C"/>
                </a:solidFill>
                <a:latin typeface="IBM Plex Sans" pitchFamily="34" charset="0"/>
                <a:ea typeface="IBM Plex Sans" pitchFamily="34" charset="-122"/>
                <a:cs typeface="IBM Plex Sans" pitchFamily="34" charset="-120"/>
              </a:rPr>
              <a:t>False alarms, or a frozen screen hiding the real condition.</a:t>
            </a:r>
            <a:endParaRPr lang="en-US" sz="1200" dirty="0"/>
          </a:p>
        </p:txBody>
      </p:sp>
      <p:sp>
        <p:nvSpPr>
          <p:cNvPr id="15" name="Shape 13"/>
          <p:cNvSpPr/>
          <p:nvPr/>
        </p:nvSpPr>
        <p:spPr>
          <a:xfrm>
            <a:off x="4165600" y="3940808"/>
            <a:ext cx="3606800" cy="0"/>
          </a:xfrm>
          <a:prstGeom prst="line">
            <a:avLst/>
          </a:prstGeom>
          <a:noFill/>
          <a:ln w="12700">
            <a:solidFill>
              <a:srgbClr val="DDD8CC"/>
            </a:solidFill>
            <a:prstDash val="solid"/>
          </a:ln>
        </p:spPr>
      </p:sp>
      <p:sp>
        <p:nvSpPr>
          <p:cNvPr id="16" name="Text 14"/>
          <p:cNvSpPr/>
          <p:nvPr/>
        </p:nvSpPr>
        <p:spPr>
          <a:xfrm>
            <a:off x="4165600" y="4020827"/>
            <a:ext cx="3715004"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F6B72"/>
                </a:solidFill>
                <a:latin typeface="IBM Plex Mono" pitchFamily="34" charset="0"/>
                <a:ea typeface="IBM Plex Mono" pitchFamily="34" charset="-122"/>
                <a:cs typeface="IBM Plex Mono" pitchFamily="34" charset="-120"/>
              </a:rPr>
              <a:t>REJECTS</a:t>
            </a:r>
            <a:endParaRPr lang="en-US" sz="1200" dirty="0"/>
          </a:p>
        </p:txBody>
      </p:sp>
      <p:sp>
        <p:nvSpPr>
          <p:cNvPr id="17" name="Text 15"/>
          <p:cNvSpPr/>
          <p:nvPr/>
        </p:nvSpPr>
        <p:spPr>
          <a:xfrm>
            <a:off x="4165600" y="4272285"/>
            <a:ext cx="3715004" cy="43688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16222C"/>
                </a:solidFill>
                <a:latin typeface="IBM Plex Sans" pitchFamily="34" charset="0"/>
                <a:ea typeface="IBM Plex Sans" pitchFamily="34" charset="-122"/>
                <a:cs typeface="IBM Plex Sans" pitchFamily="34" charset="-120"/>
              </a:rPr>
              <a:t>Alerts without evidence; an anomaly presented as a cause.</a:t>
            </a:r>
            <a:endParaRPr lang="en-US" sz="1200" dirty="0"/>
          </a:p>
        </p:txBody>
      </p:sp>
      <p:sp>
        <p:nvSpPr>
          <p:cNvPr id="18" name="Shape 16"/>
          <p:cNvSpPr/>
          <p:nvPr/>
        </p:nvSpPr>
        <p:spPr>
          <a:xfrm>
            <a:off x="7772400" y="3940808"/>
            <a:ext cx="3606800" cy="0"/>
          </a:xfrm>
          <a:prstGeom prst="line">
            <a:avLst/>
          </a:prstGeom>
          <a:noFill/>
          <a:ln w="12700">
            <a:solidFill>
              <a:srgbClr val="DDD8CC"/>
            </a:solidFill>
            <a:prstDash val="solid"/>
          </a:ln>
        </p:spPr>
      </p:sp>
      <p:sp>
        <p:nvSpPr>
          <p:cNvPr id="19" name="Text 17"/>
          <p:cNvSpPr/>
          <p:nvPr/>
        </p:nvSpPr>
        <p:spPr>
          <a:xfrm>
            <a:off x="7772400" y="4020827"/>
            <a:ext cx="3715004"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F6B72"/>
                </a:solidFill>
                <a:latin typeface="IBM Plex Mono" pitchFamily="34" charset="0"/>
                <a:ea typeface="IBM Plex Mono" pitchFamily="34" charset="-122"/>
                <a:cs typeface="IBM Plex Mono" pitchFamily="34" charset="-120"/>
              </a:rPr>
              <a:t>MEASURE</a:t>
            </a:r>
            <a:endParaRPr lang="en-US" sz="1200" dirty="0"/>
          </a:p>
        </p:txBody>
      </p:sp>
      <p:sp>
        <p:nvSpPr>
          <p:cNvPr id="20" name="Text 18"/>
          <p:cNvSpPr/>
          <p:nvPr/>
        </p:nvSpPr>
        <p:spPr>
          <a:xfrm>
            <a:off x="7772400" y="4272285"/>
            <a:ext cx="3715004" cy="43688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16222C"/>
                </a:solidFill>
                <a:latin typeface="IBM Plex Sans" pitchFamily="34" charset="0"/>
                <a:ea typeface="IBM Plex Sans" pitchFamily="34" charset="-122"/>
                <a:cs typeface="IBM Plex Sans" pitchFamily="34" charset="-120"/>
              </a:rPr>
              <a:t>Detection delay · false alarms · misses · stale data · recovery.</a:t>
            </a:r>
            <a:endParaRPr lang="en-US" sz="1200" dirty="0"/>
          </a:p>
        </p:txBody>
      </p:sp>
      <p:sp>
        <p:nvSpPr>
          <p:cNvPr id="21" name="Shape 19"/>
          <p:cNvSpPr/>
          <p:nvPr/>
        </p:nvSpPr>
        <p:spPr>
          <a:xfrm>
            <a:off x="4165600" y="4810758"/>
            <a:ext cx="7213600" cy="614680"/>
          </a:xfrm>
          <a:prstGeom prst="roundRect">
            <a:avLst>
              <a:gd name="adj" fmla="val 10331"/>
            </a:avLst>
          </a:prstGeom>
          <a:solidFill>
            <a:srgbClr val="EFEBE1"/>
          </a:solidFill>
          <a:ln/>
        </p:spPr>
      </p:sp>
      <p:sp>
        <p:nvSpPr>
          <p:cNvPr id="22" name="Text 20"/>
          <p:cNvSpPr/>
          <p:nvPr/>
        </p:nvSpPr>
        <p:spPr>
          <a:xfrm>
            <a:off x="4292600" y="4912358"/>
            <a:ext cx="876300" cy="43688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6222C"/>
                </a:solidFill>
                <a:latin typeface="IBM Plex Mono" pitchFamily="34" charset="0"/>
                <a:ea typeface="IBM Plex Mono" pitchFamily="34" charset="-122"/>
                <a:cs typeface="IBM Plex Mono" pitchFamily="34" charset="-120"/>
              </a:rPr>
              <a:t>BASED ON</a:t>
            </a:r>
            <a:endParaRPr lang="en-US" sz="1200" dirty="0"/>
          </a:p>
        </p:txBody>
      </p:sp>
      <p:sp>
        <p:nvSpPr>
          <p:cNvPr id="23" name="Text 21"/>
          <p:cNvSpPr/>
          <p:nvPr/>
        </p:nvSpPr>
        <p:spPr>
          <a:xfrm>
            <a:off x="5219700" y="4912358"/>
            <a:ext cx="6213475" cy="43688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16222C"/>
                </a:solidFill>
                <a:latin typeface="IBM Plex Sans" pitchFamily="34" charset="0"/>
                <a:ea typeface="IBM Plex Sans" pitchFamily="34" charset="-122"/>
                <a:cs typeface="IBM Plex Sans" pitchFamily="34" charset="-120"/>
              </a:rPr>
              <a:t>The detector has classes; an anomaly does not name a cause; the estimate that incidents are ≈25–30% of congestion is a US citation, not a map of these junctions.</a:t>
            </a:r>
            <a:endParaRPr lang="en-US" sz="1200" dirty="0"/>
          </a:p>
        </p:txBody>
      </p:sp>
      <p:sp>
        <p:nvSpPr>
          <p:cNvPr id="24" name="Text 22"/>
          <p:cNvSpPr/>
          <p:nvPr/>
        </p:nvSpPr>
        <p:spPr>
          <a:xfrm>
            <a:off x="812800" y="6238242"/>
            <a:ext cx="7531713"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B73"/>
                </a:solidFill>
                <a:latin typeface="IBM Plex Sans" pitchFamily="34" charset="0"/>
                <a:ea typeface="IBM Plex Sans" pitchFamily="34" charset="-122"/>
                <a:cs typeface="IBM Plex Sans" pitchFamily="34" charset="-120"/>
              </a:rPr>
              <a:t>Built from slides 05–09. Age, job and statement are design readings, not interviews. Photo is an illustration.</a:t>
            </a:r>
            <a:endParaRPr lang="en-US" sz="1200" dirty="0"/>
          </a:p>
        </p:txBody>
      </p:sp>
      <p:sp>
        <p:nvSpPr>
          <p:cNvPr id="25" name="Text 23"/>
          <p:cNvSpPr/>
          <p:nvPr/>
        </p:nvSpPr>
        <p:spPr>
          <a:xfrm>
            <a:off x="11196320" y="6238242"/>
            <a:ext cx="23368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B73"/>
                </a:solidFill>
                <a:latin typeface="IBM Plex Sans" pitchFamily="34" charset="0"/>
                <a:ea typeface="IBM Plex Sans" pitchFamily="34" charset="-122"/>
                <a:cs typeface="IBM Plex Sans" pitchFamily="34" charset="-120"/>
              </a:rPr>
              <a:t>16</a:t>
            </a:r>
            <a:endParaRPr lang="en-US" sz="1200" dirty="0"/>
          </a:p>
        </p:txBody>
      </p:sp>
      <p:pic>
        <p:nvPicPr>
          <p:cNvPr id="26" name="Picture 25" descr="image-9-1.png"/>
          <p:cNvPicPr>
            <a:picLocks noChangeAspect="1"/>
          </p:cNvPicPr>
          <p:nvPr/>
        </p:nvPicPr>
        <p:blipFill>
          <a:blip r:embed="rId3"/>
          <a:srcRect t="3852" b="3852"/>
          <a:stretch>
            <a:fillRect/>
          </a:stretch>
        </p:blipFill>
        <p:spPr>
          <a:xfrm>
            <a:off x="822325" y="1838325"/>
            <a:ext cx="3028950" cy="4038600"/>
          </a:xfrm>
          <a:prstGeom prst="rect">
            <a:avLst/>
          </a:prstGeom>
        </p:spPr>
      </p:pic>
      <p:sp>
        <p:nvSpPr>
          <p:cNvPr id="27" name="Rectangle 26"/>
          <p:cNvSpPr/>
          <p:nvPr/>
        </p:nvSpPr>
        <p:spPr>
          <a:xfrm>
            <a:off x="822325" y="1838325"/>
            <a:ext cx="3028950" cy="3727450"/>
          </a:xfrm>
          <a:prstGeom prst="rect">
            <a:avLst/>
          </a:prstGeom>
          <a:noFill/>
          <a:ln w="9144">
            <a:solidFill>
              <a:srgbClr val="A0AAA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4F1EA"/>
        </a:solidFill>
      </p:bgPr>
    </p:bg>
    <p:spTree>
      <p:nvGrpSpPr>
        <p:cNvPr id="1" name=""/>
        <p:cNvGrpSpPr/>
        <p:nvPr/>
      </p:nvGrpSpPr>
      <p:grpSpPr>
        <a:xfrm>
          <a:off x="0" y="0"/>
          <a:ext cx="0" cy="0"/>
          <a:chOff x="0" y="0"/>
          <a:chExt cx="0" cy="0"/>
        </a:xfrm>
      </p:grpSpPr>
      <p:sp>
        <p:nvSpPr>
          <p:cNvPr id="2" name="Text 0"/>
          <p:cNvSpPr/>
          <p:nvPr/>
        </p:nvSpPr>
        <p:spPr>
          <a:xfrm>
            <a:off x="812800" y="812800"/>
            <a:ext cx="10883392" cy="193516"/>
          </a:xfrm>
          <a:prstGeom prst="rect">
            <a:avLst/>
          </a:prstGeom>
          <a:noFill/>
          <a:ln/>
        </p:spPr>
        <p:txBody>
          <a:bodyPr wrap="square" lIns="0" tIns="0" rIns="0" bIns="0" rtlCol="0" anchor="t">
            <a:normAutofit/>
          </a:bodyPr>
          <a:lstStyle/>
          <a:p>
            <a:pPr algn="l" indent="0" marL="0">
              <a:lnSpc>
                <a:spcPts val="1323"/>
              </a:lnSpc>
              <a:buNone/>
            </a:pPr>
            <a:r>
              <a:rPr lang="en-US" sz="945" spc="100" kern="0" dirty="0">
                <a:solidFill>
                  <a:srgbClr val="1F6B72"/>
                </a:solidFill>
                <a:latin typeface="IBM Plex Mono" pitchFamily="34" charset="0"/>
                <a:ea typeface="IBM Plex Mono" pitchFamily="34" charset="-122"/>
                <a:cs typeface="IBM Plex Mono" pitchFamily="34" charset="-120"/>
              </a:rPr>
              <a:t>EMPATHIZE · 1.6 USER NEEDS &amp; PAIN POINTS</a:t>
            </a:r>
            <a:endParaRPr lang="en-US" sz="945" dirty="0"/>
          </a:p>
        </p:txBody>
      </p:sp>
      <p:sp>
        <p:nvSpPr>
          <p:cNvPr id="3" name="Text 1"/>
          <p:cNvSpPr/>
          <p:nvPr/>
        </p:nvSpPr>
        <p:spPr>
          <a:xfrm>
            <a:off x="812800" y="1082514"/>
            <a:ext cx="10883392" cy="377587"/>
          </a:xfrm>
          <a:prstGeom prst="rect">
            <a:avLst/>
          </a:prstGeom>
          <a:noFill/>
          <a:ln/>
        </p:spPr>
        <p:txBody>
          <a:bodyPr wrap="square" lIns="0" tIns="0" rIns="0" bIns="0" rtlCol="0" anchor="t">
            <a:normAutofit/>
          </a:bodyPr>
          <a:lstStyle/>
          <a:p>
            <a:pPr algn="l" indent="0" marL="0">
              <a:lnSpc>
                <a:spcPts val="2772"/>
              </a:lnSpc>
              <a:buNone/>
            </a:pPr>
            <a:r>
              <a:rPr lang="en-US" sz="2520" b="1" dirty="0">
                <a:solidFill>
                  <a:srgbClr val="16222C"/>
                </a:solidFill>
                <a:latin typeface="Space Grotesk" pitchFamily="34" charset="0"/>
                <a:ea typeface="Space Grotesk" pitchFamily="34" charset="-122"/>
                <a:cs typeface="Space Grotesk" pitchFamily="34" charset="-120"/>
              </a:rPr>
              <a:t>Six needs, six pains, six expectations</a:t>
            </a:r>
            <a:endParaRPr lang="en-US" sz="252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22960" y="1749663"/>
          <a:ext cx="10556240" cy="4092337"/>
        </p:xfrm>
        <a:graphic>
          <a:graphicData uri="http://schemas.openxmlformats.org/drawingml/2006/table">
            <a:tbl>
              <a:tblPr/>
              <a:tblGrid>
                <a:gridCol w="2639060"/>
                <a:gridCol w="2639060"/>
                <a:gridCol w="2639060"/>
                <a:gridCol w="2639060"/>
              </a:tblGrid>
              <a:tr h="449977">
                <a:tc>
                  <a:txBody>
                    <a:bodyPr/>
                    <a:lstStyle/>
                    <a:p>
                      <a:pPr indent="0" marL="0">
                        <a:lnSpc>
                          <a:spcPts val="1855"/>
                        </a:lnSpc>
                        <a:buNone/>
                      </a:pPr>
                      <a:r>
                        <a:rPr lang="en-US" sz="1325" b="1" dirty="0">
                          <a:solidFill>
                            <a:srgbClr val="F4F1EA"/>
                          </a:solidFill>
                          <a:latin typeface="IBM Plex Sans" pitchFamily="34" charset="0"/>
                          <a:ea typeface="IBM Plex Sans" pitchFamily="34" charset="-122"/>
                          <a:cs typeface="IBM Plex Sans" pitchFamily="34" charset="-120"/>
                        </a:rPr>
                        <a:t>Who</a:t>
                      </a:r>
                      <a:endParaRPr lang="en-US" sz="1325" dirty="0">
                        <a:latin typeface="IBM Plex Sans" charset="0"/>
                        <a:ea typeface="IBM Plex Sans" charset="0"/>
                        <a:cs typeface="IBM Plex Sans" charset="0"/>
                      </a:endParaRPr>
                    </a:p>
                  </a:txBody>
                  <a:tcPr marL="127000" marR="127000" marT="88900" marB="88900" anchor="t">
                    <a:lnL w="12700" cap="flat" cmpd="sng" algn="ctr">
                      <a:solidFill>
                        <a:srgbClr val="C3C0BB"/>
                      </a:solidFill>
                      <a:prstDash val="solid"/>
                      <a:round/>
                      <a:headEnd type="none" w="med" len="med"/>
                      <a:tailEnd type="none" w="med" len="med"/>
                    </a:lnL>
                    <a:lnR w="12700" cap="flat" cmpd="sng" algn="ctr">
                      <a:solidFill>
                        <a:srgbClr val="B5B2AD"/>
                      </a:solidFill>
                      <a:prstDash val="solid"/>
                      <a:round/>
                      <a:headEnd type="none" w="med" len="med"/>
                      <a:tailEnd type="none" w="med" len="med"/>
                    </a:lnR>
                    <a:lnT w="12700" cap="flat" cmpd="sng" algn="ctr">
                      <a:solidFill>
                        <a:srgbClr val="C3C0BB"/>
                      </a:solidFill>
                      <a:prstDash val="solid"/>
                      <a:round/>
                      <a:headEnd type="none" w="med" len="med"/>
                      <a:tailEnd type="none" w="med" len="med"/>
                    </a:lnT>
                    <a:lnB w="12700" cap="flat" cmpd="sng" algn="ctr">
                      <a:solidFill>
                        <a:srgbClr val="B5B2AD"/>
                      </a:solidFill>
                      <a:prstDash val="solid"/>
                      <a:round/>
                      <a:headEnd type="none" w="med" len="med"/>
                      <a:tailEnd type="none" w="med" len="med"/>
                    </a:lnB>
                    <a:solidFill>
                      <a:srgbClr val="E2DFD9"/>
                    </a:solidFill>
                  </a:tcPr>
                </a:tc>
                <a:tc>
                  <a:txBody>
                    <a:bodyPr/>
                    <a:lstStyle/>
                    <a:p>
                      <a:pPr indent="0" marL="0">
                        <a:lnSpc>
                          <a:spcPts val="1855"/>
                        </a:lnSpc>
                        <a:buNone/>
                      </a:pPr>
                      <a:r>
                        <a:rPr lang="en-US" sz="1325" b="1" dirty="0">
                          <a:solidFill>
                            <a:srgbClr val="F4F1EA"/>
                          </a:solidFill>
                          <a:latin typeface="IBM Plex Sans" pitchFamily="34" charset="0"/>
                          <a:ea typeface="IBM Plex Sans" pitchFamily="34" charset="-122"/>
                          <a:cs typeface="IBM Plex Sans" pitchFamily="34" charset="-120"/>
                        </a:rPr>
                        <a:t>Need</a:t>
                      </a:r>
                      <a:endParaRPr lang="en-US" sz="1325" dirty="0">
                        <a:latin typeface="IBM Plex Sans" charset="0"/>
                        <a:ea typeface="IBM Plex Sans" charset="0"/>
                        <a:cs typeface="IBM Plex Sans" charset="0"/>
                      </a:endParaRPr>
                    </a:p>
                  </a:txBody>
                  <a:tcPr marL="127000" marR="127000" marT="88900" marB="88900" anchor="t">
                    <a:lnL w="12700" cap="flat" cmpd="sng" algn="ctr">
                      <a:solidFill>
                        <a:srgbClr val="B5B2AD"/>
                      </a:solidFill>
                      <a:prstDash val="solid"/>
                      <a:round/>
                      <a:headEnd type="none" w="med" len="med"/>
                      <a:tailEnd type="none" w="med" len="med"/>
                    </a:lnL>
                    <a:lnR w="12700" cap="flat" cmpd="sng" algn="ctr">
                      <a:solidFill>
                        <a:srgbClr val="B5B2AD"/>
                      </a:solidFill>
                      <a:prstDash val="solid"/>
                      <a:round/>
                      <a:headEnd type="none" w="med" len="med"/>
                      <a:tailEnd type="none" w="med" len="med"/>
                    </a:lnR>
                    <a:lnT w="12700" cap="flat" cmpd="sng" algn="ctr">
                      <a:solidFill>
                        <a:srgbClr val="C3C0BB"/>
                      </a:solidFill>
                      <a:prstDash val="solid"/>
                      <a:round/>
                      <a:headEnd type="none" w="med" len="med"/>
                      <a:tailEnd type="none" w="med" len="med"/>
                    </a:lnT>
                    <a:lnB w="12700" cap="flat" cmpd="sng" algn="ctr">
                      <a:solidFill>
                        <a:srgbClr val="B5B2AD"/>
                      </a:solidFill>
                      <a:prstDash val="solid"/>
                      <a:round/>
                      <a:headEnd type="none" w="med" len="med"/>
                      <a:tailEnd type="none" w="med" len="med"/>
                    </a:lnB>
                    <a:solidFill>
                      <a:srgbClr val="E2DFD9"/>
                    </a:solidFill>
                  </a:tcPr>
                </a:tc>
                <a:tc>
                  <a:txBody>
                    <a:bodyPr/>
                    <a:lstStyle/>
                    <a:p>
                      <a:pPr indent="0" marL="0">
                        <a:lnSpc>
                          <a:spcPts val="1855"/>
                        </a:lnSpc>
                        <a:buNone/>
                      </a:pPr>
                      <a:r>
                        <a:rPr lang="en-US" sz="1325" b="1" dirty="0">
                          <a:solidFill>
                            <a:srgbClr val="F4F1EA"/>
                          </a:solidFill>
                          <a:latin typeface="IBM Plex Sans" pitchFamily="34" charset="0"/>
                          <a:ea typeface="IBM Plex Sans" pitchFamily="34" charset="-122"/>
                          <a:cs typeface="IBM Plex Sans" pitchFamily="34" charset="-120"/>
                        </a:rPr>
                        <a:t>Pain</a:t>
                      </a:r>
                      <a:endParaRPr lang="en-US" sz="1325" dirty="0">
                        <a:latin typeface="IBM Plex Sans" charset="0"/>
                        <a:ea typeface="IBM Plex Sans" charset="0"/>
                        <a:cs typeface="IBM Plex Sans" charset="0"/>
                      </a:endParaRPr>
                    </a:p>
                  </a:txBody>
                  <a:tcPr marL="127000" marR="127000" marT="88900" marB="88900" anchor="t">
                    <a:lnL w="12700" cap="flat" cmpd="sng" algn="ctr">
                      <a:solidFill>
                        <a:srgbClr val="B5B2AD"/>
                      </a:solidFill>
                      <a:prstDash val="solid"/>
                      <a:round/>
                      <a:headEnd type="none" w="med" len="med"/>
                      <a:tailEnd type="none" w="med" len="med"/>
                    </a:lnL>
                    <a:lnR w="12700" cap="flat" cmpd="sng" algn="ctr">
                      <a:solidFill>
                        <a:srgbClr val="B5B2AD"/>
                      </a:solidFill>
                      <a:prstDash val="solid"/>
                      <a:round/>
                      <a:headEnd type="none" w="med" len="med"/>
                      <a:tailEnd type="none" w="med" len="med"/>
                    </a:lnR>
                    <a:lnT w="12700" cap="flat" cmpd="sng" algn="ctr">
                      <a:solidFill>
                        <a:srgbClr val="C3C0BB"/>
                      </a:solidFill>
                      <a:prstDash val="solid"/>
                      <a:round/>
                      <a:headEnd type="none" w="med" len="med"/>
                      <a:tailEnd type="none" w="med" len="med"/>
                    </a:lnT>
                    <a:lnB w="12700" cap="flat" cmpd="sng" algn="ctr">
                      <a:solidFill>
                        <a:srgbClr val="B5B2AD"/>
                      </a:solidFill>
                      <a:prstDash val="solid"/>
                      <a:round/>
                      <a:headEnd type="none" w="med" len="med"/>
                      <a:tailEnd type="none" w="med" len="med"/>
                    </a:lnB>
                    <a:solidFill>
                      <a:srgbClr val="E2DFD9"/>
                    </a:solidFill>
                  </a:tcPr>
                </a:tc>
                <a:tc>
                  <a:txBody>
                    <a:bodyPr/>
                    <a:lstStyle/>
                    <a:p>
                      <a:pPr indent="0" marL="0">
                        <a:lnSpc>
                          <a:spcPts val="1855"/>
                        </a:lnSpc>
                        <a:buNone/>
                      </a:pPr>
                      <a:r>
                        <a:rPr lang="en-US" sz="1325" b="1" dirty="0">
                          <a:solidFill>
                            <a:srgbClr val="F4F1EA"/>
                          </a:solidFill>
                          <a:latin typeface="IBM Plex Sans" pitchFamily="34" charset="0"/>
                          <a:ea typeface="IBM Plex Sans" pitchFamily="34" charset="-122"/>
                          <a:cs typeface="IBM Plex Sans" pitchFamily="34" charset="-120"/>
                        </a:rPr>
                        <a:t>Expectation</a:t>
                      </a:r>
                      <a:endParaRPr lang="en-US" sz="1325" dirty="0">
                        <a:latin typeface="IBM Plex Sans" charset="0"/>
                        <a:ea typeface="IBM Plex Sans" charset="0"/>
                        <a:cs typeface="IBM Plex Sans" charset="0"/>
                      </a:endParaRPr>
                    </a:p>
                  </a:txBody>
                  <a:tcPr marL="127000" marR="127000" marT="88900" marB="88900" anchor="t">
                    <a:lnL w="12700" cap="flat" cmpd="sng" algn="ctr">
                      <a:solidFill>
                        <a:srgbClr val="B5B2AD"/>
                      </a:solidFill>
                      <a:prstDash val="solid"/>
                      <a:round/>
                      <a:headEnd type="none" w="med" len="med"/>
                      <a:tailEnd type="none" w="med" len="med"/>
                    </a:lnL>
                    <a:lnR w="12700" cap="flat" cmpd="sng" algn="ctr">
                      <a:solidFill>
                        <a:srgbClr val="B5B2AD"/>
                      </a:solidFill>
                      <a:prstDash val="solid"/>
                      <a:round/>
                      <a:headEnd type="none" w="med" len="med"/>
                      <a:tailEnd type="none" w="med" len="med"/>
                    </a:lnR>
                    <a:lnT w="12700" cap="flat" cmpd="sng" algn="ctr">
                      <a:solidFill>
                        <a:srgbClr val="C3C0BB"/>
                      </a:solidFill>
                      <a:prstDash val="solid"/>
                      <a:round/>
                      <a:headEnd type="none" w="med" len="med"/>
                      <a:tailEnd type="none" w="med" len="med"/>
                    </a:lnT>
                    <a:lnB w="12700" cap="flat" cmpd="sng" algn="ctr">
                      <a:solidFill>
                        <a:srgbClr val="B5B2AD"/>
                      </a:solidFill>
                      <a:prstDash val="solid"/>
                      <a:round/>
                      <a:headEnd type="none" w="med" len="med"/>
                      <a:tailEnd type="none" w="med" len="med"/>
                    </a:lnB>
                    <a:solidFill>
                      <a:srgbClr val="E2DFD9"/>
                    </a:solidFill>
                  </a:tcPr>
                </a:tc>
              </a:tr>
              <a:tr h="685562">
                <a:tc>
                  <a:txBody>
                    <a:bodyPr/>
                    <a:lstStyle/>
                    <a:p>
                      <a:pPr indent="0" marL="0">
                        <a:lnSpc>
                          <a:spcPts val="1855"/>
                        </a:lnSpc>
                        <a:buNone/>
                      </a:pPr>
                      <a:r>
                        <a:rPr lang="en-US" sz="1325" dirty="0">
                          <a:solidFill>
                            <a:srgbClr val="16222C"/>
                          </a:solidFill>
                          <a:latin typeface="IBM Plex Sans" pitchFamily="34" charset="0"/>
                          <a:ea typeface="IBM Plex Sans" pitchFamily="34" charset="-122"/>
                          <a:cs typeface="IBM Plex Sans" pitchFamily="34" charset="-120"/>
                        </a:rPr>
                        <a:t>Amara</a:t>
                      </a:r>
                      <a:endParaRPr lang="en-US" sz="1325" dirty="0">
                        <a:latin typeface="IBM Plex Sans" charset="0"/>
                        <a:ea typeface="IBM Plex Sans" charset="0"/>
                        <a:cs typeface="IBM Plex Sans" charset="0"/>
                      </a:endParaRPr>
                    </a:p>
                  </a:txBody>
                  <a:tcPr marL="127000" marR="127000" marT="88900" marB="88900" anchor="t">
                    <a:lnL w="12700" cap="flat" cmpd="sng" algn="ctr">
                      <a:solidFill>
                        <a:srgbClr val="C3C0BB"/>
                      </a:solidFill>
                      <a:prstDash val="solid"/>
                      <a:round/>
                      <a:headEnd type="none" w="med" len="med"/>
                      <a:tailEnd type="none" w="med" len="med"/>
                    </a:lnL>
                    <a:lnR w="12700" cap="flat" cmpd="sng" algn="ctr">
                      <a:solidFill>
                        <a:srgbClr val="C3C0BB"/>
                      </a:solidFill>
                      <a:prstDash val="solid"/>
                      <a:round/>
                      <a:headEnd type="none" w="med" len="med"/>
                      <a:tailEnd type="none" w="med" len="med"/>
                    </a:lnR>
                    <a:lnT w="12700" cap="flat" cmpd="sng" algn="ctr">
                      <a:solidFill>
                        <a:srgbClr val="B5B2AD"/>
                      </a:solidFill>
                      <a:prstDash val="solid"/>
                      <a:round/>
                      <a:headEnd type="none" w="med" len="med"/>
                      <a:tailEnd type="none" w="med" len="med"/>
                    </a:lnT>
                    <a:lnB w="12700" cap="flat" cmpd="sng" algn="ctr">
                      <a:solidFill>
                        <a:srgbClr val="C3C0BB"/>
                      </a:solidFill>
                      <a:prstDash val="solid"/>
                      <a:round/>
                      <a:headEnd type="none" w="med" len="med"/>
                      <a:tailEnd type="none" w="med" len="med"/>
                    </a:lnB>
                  </a:tcPr>
                </a:tc>
                <a:tc>
                  <a:txBody>
                    <a:bodyPr/>
                    <a:lstStyle/>
                    <a:p>
                      <a:pPr indent="0" marL="0">
                        <a:lnSpc>
                          <a:spcPts val="1855"/>
                        </a:lnSpc>
                        <a:buNone/>
                      </a:pPr>
                      <a:r>
                        <a:rPr lang="en-US" sz="1325" dirty="0">
                          <a:solidFill>
                            <a:srgbClr val="16222C"/>
                          </a:solidFill>
                          <a:latin typeface="IBM Plex Sans" pitchFamily="34" charset="0"/>
                          <a:ea typeface="IBM Plex Sans" pitchFamily="34" charset="-122"/>
                          <a:cs typeface="IBM Plex Sans" pitchFamily="34" charset="-120"/>
                        </a:rPr>
                        <a:t>Enough time to finish</a:t>
                      </a:r>
                      <a:endParaRPr lang="en-US" sz="1325" dirty="0">
                        <a:latin typeface="IBM Plex Sans" charset="0"/>
                        <a:ea typeface="IBM Plex Sans" charset="0"/>
                        <a:cs typeface="IBM Plex Sans" charset="0"/>
                      </a:endParaRPr>
                    </a:p>
                  </a:txBody>
                  <a:tcPr marL="127000" marR="127000" marT="88900" marB="88900" anchor="t">
                    <a:lnL w="12700" cap="flat" cmpd="sng" algn="ctr">
                      <a:solidFill>
                        <a:srgbClr val="C3C0BB"/>
                      </a:solidFill>
                      <a:prstDash val="solid"/>
                      <a:round/>
                      <a:headEnd type="none" w="med" len="med"/>
                      <a:tailEnd type="none" w="med" len="med"/>
                    </a:lnL>
                    <a:lnR w="12700" cap="flat" cmpd="sng" algn="ctr">
                      <a:solidFill>
                        <a:srgbClr val="C3C0BB"/>
                      </a:solidFill>
                      <a:prstDash val="solid"/>
                      <a:round/>
                      <a:headEnd type="none" w="med" len="med"/>
                      <a:tailEnd type="none" w="med" len="med"/>
                    </a:lnR>
                    <a:lnT w="12700" cap="flat" cmpd="sng" algn="ctr">
                      <a:solidFill>
                        <a:srgbClr val="B5B2AD"/>
                      </a:solidFill>
                      <a:prstDash val="solid"/>
                      <a:round/>
                      <a:headEnd type="none" w="med" len="med"/>
                      <a:tailEnd type="none" w="med" len="med"/>
                    </a:lnT>
                    <a:lnB w="12700" cap="flat" cmpd="sng" algn="ctr">
                      <a:solidFill>
                        <a:srgbClr val="C3C0BB"/>
                      </a:solidFill>
                      <a:prstDash val="solid"/>
                      <a:round/>
                      <a:headEnd type="none" w="med" len="med"/>
                      <a:tailEnd type="none" w="med" len="med"/>
                    </a:lnB>
                  </a:tcPr>
                </a:tc>
                <a:tc>
                  <a:txBody>
                    <a:bodyPr/>
                    <a:lstStyle/>
                    <a:p>
                      <a:pPr indent="0" marL="0">
                        <a:lnSpc>
                          <a:spcPts val="1855"/>
                        </a:lnSpc>
                        <a:buNone/>
                      </a:pPr>
                      <a:r>
                        <a:rPr lang="en-US" sz="1325" dirty="0">
                          <a:solidFill>
                            <a:srgbClr val="16222C"/>
                          </a:solidFill>
                          <a:latin typeface="IBM Plex Sans" pitchFamily="34" charset="0"/>
                          <a:ea typeface="IBM Plex Sans" pitchFamily="34" charset="-122"/>
                          <a:cs typeface="IBM Plex Sans" pitchFamily="34" charset="-120"/>
                        </a:rPr>
                        <a:t>Cars go green while she is still crossing</a:t>
                      </a:r>
                      <a:endParaRPr lang="en-US" sz="1325" dirty="0">
                        <a:latin typeface="IBM Plex Sans" charset="0"/>
                        <a:ea typeface="IBM Plex Sans" charset="0"/>
                        <a:cs typeface="IBM Plex Sans" charset="0"/>
                      </a:endParaRPr>
                    </a:p>
                  </a:txBody>
                  <a:tcPr marL="127000" marR="127000" marT="88900" marB="88900" anchor="t">
                    <a:lnL w="12700" cap="flat" cmpd="sng" algn="ctr">
                      <a:solidFill>
                        <a:srgbClr val="C3C0BB"/>
                      </a:solidFill>
                      <a:prstDash val="solid"/>
                      <a:round/>
                      <a:headEnd type="none" w="med" len="med"/>
                      <a:tailEnd type="none" w="med" len="med"/>
                    </a:lnL>
                    <a:lnR w="12700" cap="flat" cmpd="sng" algn="ctr">
                      <a:solidFill>
                        <a:srgbClr val="C3C0BB"/>
                      </a:solidFill>
                      <a:prstDash val="solid"/>
                      <a:round/>
                      <a:headEnd type="none" w="med" len="med"/>
                      <a:tailEnd type="none" w="med" len="med"/>
                    </a:lnR>
                    <a:lnT w="12700" cap="flat" cmpd="sng" algn="ctr">
                      <a:solidFill>
                        <a:srgbClr val="B5B2AD"/>
                      </a:solidFill>
                      <a:prstDash val="solid"/>
                      <a:round/>
                      <a:headEnd type="none" w="med" len="med"/>
                      <a:tailEnd type="none" w="med" len="med"/>
                    </a:lnT>
                    <a:lnB w="12700" cap="flat" cmpd="sng" algn="ctr">
                      <a:solidFill>
                        <a:srgbClr val="C3C0BB"/>
                      </a:solidFill>
                      <a:prstDash val="solid"/>
                      <a:round/>
                      <a:headEnd type="none" w="med" len="med"/>
                      <a:tailEnd type="none" w="med" len="med"/>
                    </a:lnB>
                  </a:tcPr>
                </a:tc>
                <a:tc>
                  <a:txBody>
                    <a:bodyPr/>
                    <a:lstStyle/>
                    <a:p>
                      <a:pPr indent="0" marL="0">
                        <a:lnSpc>
                          <a:spcPts val="1855"/>
                        </a:lnSpc>
                        <a:buNone/>
                      </a:pPr>
                      <a:r>
                        <a:rPr lang="en-US" sz="1325" dirty="0">
                          <a:solidFill>
                            <a:srgbClr val="1F6B72"/>
                          </a:solidFill>
                          <a:latin typeface="IBM Plex Sans" pitchFamily="34" charset="0"/>
                          <a:ea typeface="IBM Plex Sans" pitchFamily="34" charset="-122"/>
                          <a:cs typeface="IBM Plex Sans" pitchFamily="34" charset="-120"/>
                        </a:rPr>
                        <a:t>The conflicting green stays held</a:t>
                      </a:r>
                      <a:endParaRPr lang="en-US" sz="1325" dirty="0">
                        <a:latin typeface="IBM Plex Sans" charset="0"/>
                        <a:ea typeface="IBM Plex Sans" charset="0"/>
                        <a:cs typeface="IBM Plex Sans" charset="0"/>
                      </a:endParaRPr>
                    </a:p>
                  </a:txBody>
                  <a:tcPr marL="127000" marR="127000" marT="88900" marB="88900" anchor="t">
                    <a:lnL w="12700" cap="flat" cmpd="sng" algn="ctr">
                      <a:solidFill>
                        <a:srgbClr val="C3C0BB"/>
                      </a:solidFill>
                      <a:prstDash val="solid"/>
                      <a:round/>
                      <a:headEnd type="none" w="med" len="med"/>
                      <a:tailEnd type="none" w="med" len="med"/>
                    </a:lnL>
                    <a:lnR w="12700" cap="flat" cmpd="sng" algn="ctr">
                      <a:solidFill>
                        <a:srgbClr val="C3C0BB"/>
                      </a:solidFill>
                      <a:prstDash val="solid"/>
                      <a:round/>
                      <a:headEnd type="none" w="med" len="med"/>
                      <a:tailEnd type="none" w="med" len="med"/>
                    </a:lnR>
                    <a:lnT w="12700" cap="flat" cmpd="sng" algn="ctr">
                      <a:solidFill>
                        <a:srgbClr val="B5B2AD"/>
                      </a:solidFill>
                      <a:prstDash val="solid"/>
                      <a:round/>
                      <a:headEnd type="none" w="med" len="med"/>
                      <a:tailEnd type="none" w="med" len="med"/>
                    </a:lnT>
                    <a:lnB w="12700" cap="flat" cmpd="sng" algn="ctr">
                      <a:solidFill>
                        <a:srgbClr val="C3C0BB"/>
                      </a:solidFill>
                      <a:prstDash val="solid"/>
                      <a:round/>
                      <a:headEnd type="none" w="med" len="med"/>
                      <a:tailEnd type="none" w="med" len="med"/>
                    </a:lnB>
                  </a:tcPr>
                </a:tc>
              </a:tr>
              <a:tr h="685562">
                <a:tc>
                  <a:txBody>
                    <a:bodyPr/>
                    <a:lstStyle/>
                    <a:p>
                      <a:pPr indent="0" marL="0">
                        <a:lnSpc>
                          <a:spcPts val="1855"/>
                        </a:lnSpc>
                        <a:buNone/>
                      </a:pPr>
                      <a:r>
                        <a:rPr lang="en-US" sz="1325" dirty="0">
                          <a:solidFill>
                            <a:srgbClr val="16222C"/>
                          </a:solidFill>
                          <a:latin typeface="IBM Plex Sans" pitchFamily="34" charset="0"/>
                          <a:ea typeface="IBM Plex Sans" pitchFamily="34" charset="-122"/>
                          <a:cs typeface="IBM Plex Sans" pitchFamily="34" charset="-120"/>
                        </a:rPr>
                        <a:t>David</a:t>
                      </a:r>
                      <a:endParaRPr lang="en-US" sz="1325" dirty="0">
                        <a:latin typeface="IBM Plex Sans" charset="0"/>
                        <a:ea typeface="IBM Plex Sans" charset="0"/>
                        <a:cs typeface="IBM Plex Sans" charset="0"/>
                      </a:endParaRPr>
                    </a:p>
                  </a:txBody>
                  <a:tcPr marL="127000" marR="127000" marT="88900" marB="88900" anchor="t">
                    <a:lnL w="12700" cap="flat" cmpd="sng" algn="ctr">
                      <a:solidFill>
                        <a:srgbClr val="C3C0BB"/>
                      </a:solidFill>
                      <a:prstDash val="solid"/>
                      <a:round/>
                      <a:headEnd type="none" w="med" len="med"/>
                      <a:tailEnd type="none" w="med" len="med"/>
                    </a:lnL>
                    <a:lnR w="12700" cap="flat" cmpd="sng" algn="ctr">
                      <a:solidFill>
                        <a:srgbClr val="C3C0BB"/>
                      </a:solidFill>
                      <a:prstDash val="solid"/>
                      <a:round/>
                      <a:headEnd type="none" w="med" len="med"/>
                      <a:tailEnd type="none" w="med" len="med"/>
                    </a:lnR>
                    <a:lnT w="12700" cap="flat" cmpd="sng" algn="ctr">
                      <a:solidFill>
                        <a:srgbClr val="C3C0BB"/>
                      </a:solidFill>
                      <a:prstDash val="solid"/>
                      <a:round/>
                      <a:headEnd type="none" w="med" len="med"/>
                      <a:tailEnd type="none" w="med" len="med"/>
                    </a:lnT>
                    <a:lnB w="12700" cap="flat" cmpd="sng" algn="ctr">
                      <a:solidFill>
                        <a:srgbClr val="C3C0BB"/>
                      </a:solidFill>
                      <a:prstDash val="solid"/>
                      <a:round/>
                      <a:headEnd type="none" w="med" len="med"/>
                      <a:tailEnd type="none" w="med" len="med"/>
                    </a:lnB>
                  </a:tcPr>
                </a:tc>
                <a:tc>
                  <a:txBody>
                    <a:bodyPr/>
                    <a:lstStyle/>
                    <a:p>
                      <a:pPr indent="0" marL="0">
                        <a:lnSpc>
                          <a:spcPts val="1855"/>
                        </a:lnSpc>
                        <a:buNone/>
                      </a:pPr>
                      <a:r>
                        <a:rPr lang="en-US" sz="1325" dirty="0">
                          <a:solidFill>
                            <a:srgbClr val="16222C"/>
                          </a:solidFill>
                          <a:latin typeface="IBM Plex Sans" pitchFamily="34" charset="0"/>
                          <a:ea typeface="IBM Plex Sans" pitchFamily="34" charset="-122"/>
                          <a:cs typeface="IBM Plex Sans" pitchFamily="34" charset="-120"/>
                        </a:rPr>
                        <a:t>The real duration, bad trip included</a:t>
                      </a:r>
                      <a:endParaRPr lang="en-US" sz="1325" dirty="0">
                        <a:latin typeface="IBM Plex Sans" charset="0"/>
                        <a:ea typeface="IBM Plex Sans" charset="0"/>
                        <a:cs typeface="IBM Plex Sans" charset="0"/>
                      </a:endParaRPr>
                    </a:p>
                  </a:txBody>
                  <a:tcPr marL="127000" marR="127000" marT="88900" marB="88900" anchor="t">
                    <a:lnL w="12700" cap="flat" cmpd="sng" algn="ctr">
                      <a:solidFill>
                        <a:srgbClr val="C3C0BB"/>
                      </a:solidFill>
                      <a:prstDash val="solid"/>
                      <a:round/>
                      <a:headEnd type="none" w="med" len="med"/>
                      <a:tailEnd type="none" w="med" len="med"/>
                    </a:lnL>
                    <a:lnR w="12700" cap="flat" cmpd="sng" algn="ctr">
                      <a:solidFill>
                        <a:srgbClr val="C3C0BB"/>
                      </a:solidFill>
                      <a:prstDash val="solid"/>
                      <a:round/>
                      <a:headEnd type="none" w="med" len="med"/>
                      <a:tailEnd type="none" w="med" len="med"/>
                    </a:lnR>
                    <a:lnT w="12700" cap="flat" cmpd="sng" algn="ctr">
                      <a:solidFill>
                        <a:srgbClr val="C3C0BB"/>
                      </a:solidFill>
                      <a:prstDash val="solid"/>
                      <a:round/>
                      <a:headEnd type="none" w="med" len="med"/>
                      <a:tailEnd type="none" w="med" len="med"/>
                    </a:lnT>
                    <a:lnB w="12700" cap="flat" cmpd="sng" algn="ctr">
                      <a:solidFill>
                        <a:srgbClr val="C3C0BB"/>
                      </a:solidFill>
                      <a:prstDash val="solid"/>
                      <a:round/>
                      <a:headEnd type="none" w="med" len="med"/>
                      <a:tailEnd type="none" w="med" len="med"/>
                    </a:lnB>
                  </a:tcPr>
                </a:tc>
                <a:tc>
                  <a:txBody>
                    <a:bodyPr/>
                    <a:lstStyle/>
                    <a:p>
                      <a:pPr indent="0" marL="0">
                        <a:lnSpc>
                          <a:spcPts val="1855"/>
                        </a:lnSpc>
                        <a:buNone/>
                      </a:pPr>
                      <a:r>
                        <a:rPr lang="en-US" sz="1325" dirty="0">
                          <a:solidFill>
                            <a:srgbClr val="16222C"/>
                          </a:solidFill>
                          <a:latin typeface="IBM Plex Sans" pitchFamily="34" charset="0"/>
                          <a:ea typeface="IBM Plex Sans" pitchFamily="34" charset="-122"/>
                          <a:cs typeface="IBM Plex Sans" pitchFamily="34" charset="-120"/>
                        </a:rPr>
                        <a:t>A better mean hides the unfinished trip</a:t>
                      </a:r>
                      <a:endParaRPr lang="en-US" sz="1325" dirty="0">
                        <a:latin typeface="IBM Plex Sans" charset="0"/>
                        <a:ea typeface="IBM Plex Sans" charset="0"/>
                        <a:cs typeface="IBM Plex Sans" charset="0"/>
                      </a:endParaRPr>
                    </a:p>
                  </a:txBody>
                  <a:tcPr marL="127000" marR="127000" marT="88900" marB="88900" anchor="t">
                    <a:lnL w="12700" cap="flat" cmpd="sng" algn="ctr">
                      <a:solidFill>
                        <a:srgbClr val="C3C0BB"/>
                      </a:solidFill>
                      <a:prstDash val="solid"/>
                      <a:round/>
                      <a:headEnd type="none" w="med" len="med"/>
                      <a:tailEnd type="none" w="med" len="med"/>
                    </a:lnL>
                    <a:lnR w="12700" cap="flat" cmpd="sng" algn="ctr">
                      <a:solidFill>
                        <a:srgbClr val="C3C0BB"/>
                      </a:solidFill>
                      <a:prstDash val="solid"/>
                      <a:round/>
                      <a:headEnd type="none" w="med" len="med"/>
                      <a:tailEnd type="none" w="med" len="med"/>
                    </a:lnR>
                    <a:lnT w="12700" cap="flat" cmpd="sng" algn="ctr">
                      <a:solidFill>
                        <a:srgbClr val="C3C0BB"/>
                      </a:solidFill>
                      <a:prstDash val="solid"/>
                      <a:round/>
                      <a:headEnd type="none" w="med" len="med"/>
                      <a:tailEnd type="none" w="med" len="med"/>
                    </a:lnT>
                    <a:lnB w="12700" cap="flat" cmpd="sng" algn="ctr">
                      <a:solidFill>
                        <a:srgbClr val="C3C0BB"/>
                      </a:solidFill>
                      <a:prstDash val="solid"/>
                      <a:round/>
                      <a:headEnd type="none" w="med" len="med"/>
                      <a:tailEnd type="none" w="med" len="med"/>
                    </a:lnB>
                  </a:tcPr>
                </a:tc>
                <a:tc>
                  <a:txBody>
                    <a:bodyPr/>
                    <a:lstStyle/>
                    <a:p>
                      <a:pPr indent="0" marL="0">
                        <a:lnSpc>
                          <a:spcPts val="1855"/>
                        </a:lnSpc>
                        <a:buNone/>
                      </a:pPr>
                      <a:r>
                        <a:rPr lang="en-US" sz="1325" dirty="0">
                          <a:solidFill>
                            <a:srgbClr val="1F6B72"/>
                          </a:solidFill>
                          <a:latin typeface="IBM Plex Sans" pitchFamily="34" charset="0"/>
                          <a:ea typeface="IBM Plex Sans" pitchFamily="34" charset="-122"/>
                          <a:cs typeface="IBM Plex Sans" pitchFamily="34" charset="-120"/>
                        </a:rPr>
                        <a:t>Unfinished trips stay on the page</a:t>
                      </a:r>
                      <a:endParaRPr lang="en-US" sz="1325" dirty="0">
                        <a:latin typeface="IBM Plex Sans" charset="0"/>
                        <a:ea typeface="IBM Plex Sans" charset="0"/>
                        <a:cs typeface="IBM Plex Sans" charset="0"/>
                      </a:endParaRPr>
                    </a:p>
                  </a:txBody>
                  <a:tcPr marL="127000" marR="127000" marT="88900" marB="88900" anchor="t">
                    <a:lnL w="12700" cap="flat" cmpd="sng" algn="ctr">
                      <a:solidFill>
                        <a:srgbClr val="C3C0BB"/>
                      </a:solidFill>
                      <a:prstDash val="solid"/>
                      <a:round/>
                      <a:headEnd type="none" w="med" len="med"/>
                      <a:tailEnd type="none" w="med" len="med"/>
                    </a:lnL>
                    <a:lnR w="12700" cap="flat" cmpd="sng" algn="ctr">
                      <a:solidFill>
                        <a:srgbClr val="C3C0BB"/>
                      </a:solidFill>
                      <a:prstDash val="solid"/>
                      <a:round/>
                      <a:headEnd type="none" w="med" len="med"/>
                      <a:tailEnd type="none" w="med" len="med"/>
                    </a:lnR>
                    <a:lnT w="12700" cap="flat" cmpd="sng" algn="ctr">
                      <a:solidFill>
                        <a:srgbClr val="C3C0BB"/>
                      </a:solidFill>
                      <a:prstDash val="solid"/>
                      <a:round/>
                      <a:headEnd type="none" w="med" len="med"/>
                      <a:tailEnd type="none" w="med" len="med"/>
                    </a:lnT>
                    <a:lnB w="12700" cap="flat" cmpd="sng" algn="ctr">
                      <a:solidFill>
                        <a:srgbClr val="C3C0BB"/>
                      </a:solidFill>
                      <a:prstDash val="solid"/>
                      <a:round/>
                      <a:headEnd type="none" w="med" len="med"/>
                      <a:tailEnd type="none" w="med" len="med"/>
                    </a:lnB>
                  </a:tcPr>
                </a:tc>
              </a:tr>
              <a:tr h="449977">
                <a:tc>
                  <a:txBody>
                    <a:bodyPr/>
                    <a:lstStyle/>
                    <a:p>
                      <a:pPr indent="0" marL="0">
                        <a:lnSpc>
                          <a:spcPts val="1855"/>
                        </a:lnSpc>
                        <a:buNone/>
                      </a:pPr>
                      <a:r>
                        <a:rPr lang="en-US" sz="1325" dirty="0">
                          <a:solidFill>
                            <a:srgbClr val="16222C"/>
                          </a:solidFill>
                          <a:latin typeface="IBM Plex Sans" pitchFamily="34" charset="0"/>
                          <a:ea typeface="IBM Plex Sans" pitchFamily="34" charset="-122"/>
                          <a:cs typeface="IBM Plex Sans" pitchFamily="34" charset="-120"/>
                        </a:rPr>
                        <a:t>Chidi</a:t>
                      </a:r>
                      <a:endParaRPr lang="en-US" sz="1325" dirty="0">
                        <a:latin typeface="IBM Plex Sans" charset="0"/>
                        <a:ea typeface="IBM Plex Sans" charset="0"/>
                        <a:cs typeface="IBM Plex Sans" charset="0"/>
                      </a:endParaRPr>
                    </a:p>
                  </a:txBody>
                  <a:tcPr marL="127000" marR="127000" marT="88900" marB="88900" anchor="t">
                    <a:lnL w="12700" cap="flat" cmpd="sng" algn="ctr">
                      <a:solidFill>
                        <a:srgbClr val="C3C0BB"/>
                      </a:solidFill>
                      <a:prstDash val="solid"/>
                      <a:round/>
                      <a:headEnd type="none" w="med" len="med"/>
                      <a:tailEnd type="none" w="med" len="med"/>
                    </a:lnL>
                    <a:lnR w="12700" cap="flat" cmpd="sng" algn="ctr">
                      <a:solidFill>
                        <a:srgbClr val="C3C0BB"/>
                      </a:solidFill>
                      <a:prstDash val="solid"/>
                      <a:round/>
                      <a:headEnd type="none" w="med" len="med"/>
                      <a:tailEnd type="none" w="med" len="med"/>
                    </a:lnR>
                    <a:lnT w="12700" cap="flat" cmpd="sng" algn="ctr">
                      <a:solidFill>
                        <a:srgbClr val="C3C0BB"/>
                      </a:solidFill>
                      <a:prstDash val="solid"/>
                      <a:round/>
                      <a:headEnd type="none" w="med" len="med"/>
                      <a:tailEnd type="none" w="med" len="med"/>
                    </a:lnT>
                    <a:lnB w="12700" cap="flat" cmpd="sng" algn="ctr">
                      <a:solidFill>
                        <a:srgbClr val="C3C0BB"/>
                      </a:solidFill>
                      <a:prstDash val="solid"/>
                      <a:round/>
                      <a:headEnd type="none" w="med" len="med"/>
                      <a:tailEnd type="none" w="med" len="med"/>
                    </a:lnB>
                  </a:tcPr>
                </a:tc>
                <a:tc>
                  <a:txBody>
                    <a:bodyPr/>
                    <a:lstStyle/>
                    <a:p>
                      <a:pPr indent="0" marL="0">
                        <a:lnSpc>
                          <a:spcPts val="1855"/>
                        </a:lnSpc>
                        <a:buNone/>
                      </a:pPr>
                      <a:r>
                        <a:rPr lang="en-US" sz="1325" dirty="0">
                          <a:solidFill>
                            <a:srgbClr val="16222C"/>
                          </a:solidFill>
                          <a:latin typeface="IBM Plex Sans" pitchFamily="34" charset="0"/>
                          <a:ea typeface="IBM Plex Sans" pitchFamily="34" charset="-122"/>
                          <a:cs typeface="IBM Plex Sans" pitchFamily="34" charset="-120"/>
                        </a:rPr>
                        <a:t>A regular gap</a:t>
                      </a:r>
                      <a:endParaRPr lang="en-US" sz="1325" dirty="0">
                        <a:latin typeface="IBM Plex Sans" charset="0"/>
                        <a:ea typeface="IBM Plex Sans" charset="0"/>
                        <a:cs typeface="IBM Plex Sans" charset="0"/>
                      </a:endParaRPr>
                    </a:p>
                  </a:txBody>
                  <a:tcPr marL="127000" marR="127000" marT="88900" marB="88900" anchor="t">
                    <a:lnL w="12700" cap="flat" cmpd="sng" algn="ctr">
                      <a:solidFill>
                        <a:srgbClr val="C3C0BB"/>
                      </a:solidFill>
                      <a:prstDash val="solid"/>
                      <a:round/>
                      <a:headEnd type="none" w="med" len="med"/>
                      <a:tailEnd type="none" w="med" len="med"/>
                    </a:lnL>
                    <a:lnR w="12700" cap="flat" cmpd="sng" algn="ctr">
                      <a:solidFill>
                        <a:srgbClr val="C3C0BB"/>
                      </a:solidFill>
                      <a:prstDash val="solid"/>
                      <a:round/>
                      <a:headEnd type="none" w="med" len="med"/>
                      <a:tailEnd type="none" w="med" len="med"/>
                    </a:lnR>
                    <a:lnT w="12700" cap="flat" cmpd="sng" algn="ctr">
                      <a:solidFill>
                        <a:srgbClr val="C3C0BB"/>
                      </a:solidFill>
                      <a:prstDash val="solid"/>
                      <a:round/>
                      <a:headEnd type="none" w="med" len="med"/>
                      <a:tailEnd type="none" w="med" len="med"/>
                    </a:lnT>
                    <a:lnB w="12700" cap="flat" cmpd="sng" algn="ctr">
                      <a:solidFill>
                        <a:srgbClr val="C3C0BB"/>
                      </a:solidFill>
                      <a:prstDash val="solid"/>
                      <a:round/>
                      <a:headEnd type="none" w="med" len="med"/>
                      <a:tailEnd type="none" w="med" len="med"/>
                    </a:lnB>
                  </a:tcPr>
                </a:tc>
                <a:tc>
                  <a:txBody>
                    <a:bodyPr/>
                    <a:lstStyle/>
                    <a:p>
                      <a:pPr indent="0" marL="0">
                        <a:lnSpc>
                          <a:spcPts val="1855"/>
                        </a:lnSpc>
                        <a:buNone/>
                      </a:pPr>
                      <a:r>
                        <a:rPr lang="en-US" sz="1325" dirty="0">
                          <a:solidFill>
                            <a:srgbClr val="16222C"/>
                          </a:solidFill>
                          <a:latin typeface="IBM Plex Sans" pitchFamily="34" charset="0"/>
                          <a:ea typeface="IBM Plex Sans" pitchFamily="34" charset="-122"/>
                          <a:cs typeface="IBM Plex Sans" pitchFamily="34" charset="-120"/>
                        </a:rPr>
                        <a:t>Three buses after one long wait</a:t>
                      </a:r>
                      <a:endParaRPr lang="en-US" sz="1325" dirty="0">
                        <a:latin typeface="IBM Plex Sans" charset="0"/>
                        <a:ea typeface="IBM Plex Sans" charset="0"/>
                        <a:cs typeface="IBM Plex Sans" charset="0"/>
                      </a:endParaRPr>
                    </a:p>
                  </a:txBody>
                  <a:tcPr marL="127000" marR="127000" marT="88900" marB="88900" anchor="t">
                    <a:lnL w="12700" cap="flat" cmpd="sng" algn="ctr">
                      <a:solidFill>
                        <a:srgbClr val="C3C0BB"/>
                      </a:solidFill>
                      <a:prstDash val="solid"/>
                      <a:round/>
                      <a:headEnd type="none" w="med" len="med"/>
                      <a:tailEnd type="none" w="med" len="med"/>
                    </a:lnL>
                    <a:lnR w="12700" cap="flat" cmpd="sng" algn="ctr">
                      <a:solidFill>
                        <a:srgbClr val="C3C0BB"/>
                      </a:solidFill>
                      <a:prstDash val="solid"/>
                      <a:round/>
                      <a:headEnd type="none" w="med" len="med"/>
                      <a:tailEnd type="none" w="med" len="med"/>
                    </a:lnR>
                    <a:lnT w="12700" cap="flat" cmpd="sng" algn="ctr">
                      <a:solidFill>
                        <a:srgbClr val="C3C0BB"/>
                      </a:solidFill>
                      <a:prstDash val="solid"/>
                      <a:round/>
                      <a:headEnd type="none" w="med" len="med"/>
                      <a:tailEnd type="none" w="med" len="med"/>
                    </a:lnT>
                    <a:lnB w="12700" cap="flat" cmpd="sng" algn="ctr">
                      <a:solidFill>
                        <a:srgbClr val="C3C0BB"/>
                      </a:solidFill>
                      <a:prstDash val="solid"/>
                      <a:round/>
                      <a:headEnd type="none" w="med" len="med"/>
                      <a:tailEnd type="none" w="med" len="med"/>
                    </a:lnB>
                  </a:tcPr>
                </a:tc>
                <a:tc>
                  <a:txBody>
                    <a:bodyPr/>
                    <a:lstStyle/>
                    <a:p>
                      <a:pPr indent="0" marL="0">
                        <a:lnSpc>
                          <a:spcPts val="1855"/>
                        </a:lnSpc>
                        <a:buNone/>
                      </a:pPr>
                      <a:r>
                        <a:rPr lang="en-US" sz="1325" dirty="0">
                          <a:solidFill>
                            <a:srgbClr val="1F6B72"/>
                          </a:solidFill>
                          <a:latin typeface="IBM Plex Sans" pitchFamily="34" charset="0"/>
                          <a:ea typeface="IBM Plex Sans" pitchFamily="34" charset="-122"/>
                          <a:cs typeface="IBM Plex Sans" pitchFamily="34" charset="-120"/>
                        </a:rPr>
                        <a:t>An early bus gets nothing</a:t>
                      </a:r>
                      <a:endParaRPr lang="en-US" sz="1325" dirty="0">
                        <a:latin typeface="IBM Plex Sans" charset="0"/>
                        <a:ea typeface="IBM Plex Sans" charset="0"/>
                        <a:cs typeface="IBM Plex Sans" charset="0"/>
                      </a:endParaRPr>
                    </a:p>
                  </a:txBody>
                  <a:tcPr marL="127000" marR="127000" marT="88900" marB="88900" anchor="t">
                    <a:lnL w="12700" cap="flat" cmpd="sng" algn="ctr">
                      <a:solidFill>
                        <a:srgbClr val="C3C0BB"/>
                      </a:solidFill>
                      <a:prstDash val="solid"/>
                      <a:round/>
                      <a:headEnd type="none" w="med" len="med"/>
                      <a:tailEnd type="none" w="med" len="med"/>
                    </a:lnL>
                    <a:lnR w="12700" cap="flat" cmpd="sng" algn="ctr">
                      <a:solidFill>
                        <a:srgbClr val="C3C0BB"/>
                      </a:solidFill>
                      <a:prstDash val="solid"/>
                      <a:round/>
                      <a:headEnd type="none" w="med" len="med"/>
                      <a:tailEnd type="none" w="med" len="med"/>
                    </a:lnR>
                    <a:lnT w="12700" cap="flat" cmpd="sng" algn="ctr">
                      <a:solidFill>
                        <a:srgbClr val="C3C0BB"/>
                      </a:solidFill>
                      <a:prstDash val="solid"/>
                      <a:round/>
                      <a:headEnd type="none" w="med" len="med"/>
                      <a:tailEnd type="none" w="med" len="med"/>
                    </a:lnT>
                    <a:lnB w="12700" cap="flat" cmpd="sng" algn="ctr">
                      <a:solidFill>
                        <a:srgbClr val="C3C0BB"/>
                      </a:solidFill>
                      <a:prstDash val="solid"/>
                      <a:round/>
                      <a:headEnd type="none" w="med" len="med"/>
                      <a:tailEnd type="none" w="med" len="med"/>
                    </a:lnB>
                  </a:tcPr>
                </a:tc>
              </a:tr>
              <a:tr h="449977">
                <a:tc>
                  <a:txBody>
                    <a:bodyPr/>
                    <a:lstStyle/>
                    <a:p>
                      <a:pPr indent="0" marL="0">
                        <a:lnSpc>
                          <a:spcPts val="1855"/>
                        </a:lnSpc>
                        <a:buNone/>
                      </a:pPr>
                      <a:r>
                        <a:rPr lang="en-US" sz="1325" dirty="0">
                          <a:solidFill>
                            <a:srgbClr val="16222C"/>
                          </a:solidFill>
                          <a:latin typeface="IBM Plex Sans" pitchFamily="34" charset="0"/>
                          <a:ea typeface="IBM Plex Sans" pitchFamily="34" charset="-122"/>
                          <a:cs typeface="IBM Plex Sans" pitchFamily="34" charset="-120"/>
                        </a:rPr>
                        <a:t>Rosa</a:t>
                      </a:r>
                      <a:endParaRPr lang="en-US" sz="1325" dirty="0">
                        <a:latin typeface="IBM Plex Sans" charset="0"/>
                        <a:ea typeface="IBM Plex Sans" charset="0"/>
                        <a:cs typeface="IBM Plex Sans" charset="0"/>
                      </a:endParaRPr>
                    </a:p>
                  </a:txBody>
                  <a:tcPr marL="127000" marR="127000" marT="88900" marB="88900" anchor="t">
                    <a:lnL w="12700" cap="flat" cmpd="sng" algn="ctr">
                      <a:solidFill>
                        <a:srgbClr val="C3C0BB"/>
                      </a:solidFill>
                      <a:prstDash val="solid"/>
                      <a:round/>
                      <a:headEnd type="none" w="med" len="med"/>
                      <a:tailEnd type="none" w="med" len="med"/>
                    </a:lnL>
                    <a:lnR w="12700" cap="flat" cmpd="sng" algn="ctr">
                      <a:solidFill>
                        <a:srgbClr val="C3C0BB"/>
                      </a:solidFill>
                      <a:prstDash val="solid"/>
                      <a:round/>
                      <a:headEnd type="none" w="med" len="med"/>
                      <a:tailEnd type="none" w="med" len="med"/>
                    </a:lnR>
                    <a:lnT w="12700" cap="flat" cmpd="sng" algn="ctr">
                      <a:solidFill>
                        <a:srgbClr val="C3C0BB"/>
                      </a:solidFill>
                      <a:prstDash val="solid"/>
                      <a:round/>
                      <a:headEnd type="none" w="med" len="med"/>
                      <a:tailEnd type="none" w="med" len="med"/>
                    </a:lnT>
                    <a:lnB w="12700" cap="flat" cmpd="sng" algn="ctr">
                      <a:solidFill>
                        <a:srgbClr val="C3C0BB"/>
                      </a:solidFill>
                      <a:prstDash val="solid"/>
                      <a:round/>
                      <a:headEnd type="none" w="med" len="med"/>
                      <a:tailEnd type="none" w="med" len="med"/>
                    </a:lnB>
                  </a:tcPr>
                </a:tc>
                <a:tc>
                  <a:txBody>
                    <a:bodyPr/>
                    <a:lstStyle/>
                    <a:p>
                      <a:pPr indent="0" marL="0">
                        <a:lnSpc>
                          <a:spcPts val="1855"/>
                        </a:lnSpc>
                        <a:buNone/>
                      </a:pPr>
                      <a:r>
                        <a:rPr lang="en-US" sz="1325" dirty="0">
                          <a:solidFill>
                            <a:srgbClr val="16222C"/>
                          </a:solidFill>
                          <a:latin typeface="IBM Plex Sans" pitchFamily="34" charset="0"/>
                          <a:ea typeface="IBM Plex Sans" pitchFamily="34" charset="-122"/>
                          <a:cs typeface="IBM Plex Sans" pitchFamily="34" charset="-120"/>
                        </a:rPr>
                        <a:t>A reason she can read later</a:t>
                      </a:r>
                      <a:endParaRPr lang="en-US" sz="1325" dirty="0">
                        <a:latin typeface="IBM Plex Sans" charset="0"/>
                        <a:ea typeface="IBM Plex Sans" charset="0"/>
                        <a:cs typeface="IBM Plex Sans" charset="0"/>
                      </a:endParaRPr>
                    </a:p>
                  </a:txBody>
                  <a:tcPr marL="127000" marR="127000" marT="88900" marB="88900" anchor="t">
                    <a:lnL w="12700" cap="flat" cmpd="sng" algn="ctr">
                      <a:solidFill>
                        <a:srgbClr val="C3C0BB"/>
                      </a:solidFill>
                      <a:prstDash val="solid"/>
                      <a:round/>
                      <a:headEnd type="none" w="med" len="med"/>
                      <a:tailEnd type="none" w="med" len="med"/>
                    </a:lnL>
                    <a:lnR w="12700" cap="flat" cmpd="sng" algn="ctr">
                      <a:solidFill>
                        <a:srgbClr val="C3C0BB"/>
                      </a:solidFill>
                      <a:prstDash val="solid"/>
                      <a:round/>
                      <a:headEnd type="none" w="med" len="med"/>
                      <a:tailEnd type="none" w="med" len="med"/>
                    </a:lnR>
                    <a:lnT w="12700" cap="flat" cmpd="sng" algn="ctr">
                      <a:solidFill>
                        <a:srgbClr val="C3C0BB"/>
                      </a:solidFill>
                      <a:prstDash val="solid"/>
                      <a:round/>
                      <a:headEnd type="none" w="med" len="med"/>
                      <a:tailEnd type="none" w="med" len="med"/>
                    </a:lnT>
                    <a:lnB w="12700" cap="flat" cmpd="sng" algn="ctr">
                      <a:solidFill>
                        <a:srgbClr val="C3C0BB"/>
                      </a:solidFill>
                      <a:prstDash val="solid"/>
                      <a:round/>
                      <a:headEnd type="none" w="med" len="med"/>
                      <a:tailEnd type="none" w="med" len="med"/>
                    </a:lnB>
                  </a:tcPr>
                </a:tc>
                <a:tc>
                  <a:txBody>
                    <a:bodyPr/>
                    <a:lstStyle/>
                    <a:p>
                      <a:pPr indent="0" marL="0">
                        <a:lnSpc>
                          <a:spcPts val="1855"/>
                        </a:lnSpc>
                        <a:buNone/>
                      </a:pPr>
                      <a:r>
                        <a:rPr lang="en-US" sz="1325" dirty="0">
                          <a:solidFill>
                            <a:srgbClr val="16222C"/>
                          </a:solidFill>
                          <a:latin typeface="IBM Plex Sans" pitchFamily="34" charset="0"/>
                          <a:ea typeface="IBM Plex Sans" pitchFamily="34" charset="-122"/>
                          <a:cs typeface="IBM Plex Sans" pitchFamily="34" charset="-120"/>
                        </a:rPr>
                        <a:t>A refusal with no history</a:t>
                      </a:r>
                      <a:endParaRPr lang="en-US" sz="1325" dirty="0">
                        <a:latin typeface="IBM Plex Sans" charset="0"/>
                        <a:ea typeface="IBM Plex Sans" charset="0"/>
                        <a:cs typeface="IBM Plex Sans" charset="0"/>
                      </a:endParaRPr>
                    </a:p>
                  </a:txBody>
                  <a:tcPr marL="127000" marR="127000" marT="88900" marB="88900" anchor="t">
                    <a:lnL w="12700" cap="flat" cmpd="sng" algn="ctr">
                      <a:solidFill>
                        <a:srgbClr val="C3C0BB"/>
                      </a:solidFill>
                      <a:prstDash val="solid"/>
                      <a:round/>
                      <a:headEnd type="none" w="med" len="med"/>
                      <a:tailEnd type="none" w="med" len="med"/>
                    </a:lnL>
                    <a:lnR w="12700" cap="flat" cmpd="sng" algn="ctr">
                      <a:solidFill>
                        <a:srgbClr val="C3C0BB"/>
                      </a:solidFill>
                      <a:prstDash val="solid"/>
                      <a:round/>
                      <a:headEnd type="none" w="med" len="med"/>
                      <a:tailEnd type="none" w="med" len="med"/>
                    </a:lnR>
                    <a:lnT w="12700" cap="flat" cmpd="sng" algn="ctr">
                      <a:solidFill>
                        <a:srgbClr val="C3C0BB"/>
                      </a:solidFill>
                      <a:prstDash val="solid"/>
                      <a:round/>
                      <a:headEnd type="none" w="med" len="med"/>
                      <a:tailEnd type="none" w="med" len="med"/>
                    </a:lnT>
                    <a:lnB w="12700" cap="flat" cmpd="sng" algn="ctr">
                      <a:solidFill>
                        <a:srgbClr val="C3C0BB"/>
                      </a:solidFill>
                      <a:prstDash val="solid"/>
                      <a:round/>
                      <a:headEnd type="none" w="med" len="med"/>
                      <a:tailEnd type="none" w="med" len="med"/>
                    </a:lnB>
                  </a:tcPr>
                </a:tc>
                <a:tc>
                  <a:txBody>
                    <a:bodyPr/>
                    <a:lstStyle/>
                    <a:p>
                      <a:pPr indent="0" marL="0">
                        <a:lnSpc>
                          <a:spcPts val="1855"/>
                        </a:lnSpc>
                        <a:buNone/>
                      </a:pPr>
                      <a:r>
                        <a:rPr lang="en-US" sz="1325" dirty="0">
                          <a:solidFill>
                            <a:srgbClr val="1F6B72"/>
                          </a:solidFill>
                          <a:latin typeface="IBM Plex Sans" pitchFamily="34" charset="0"/>
                          <a:ea typeface="IBM Plex Sans" pitchFamily="34" charset="-122"/>
                          <a:cs typeface="IBM Plex Sans" pitchFamily="34" charset="-120"/>
                        </a:rPr>
                        <a:t>A citation, or an abstention</a:t>
                      </a:r>
                      <a:endParaRPr lang="en-US" sz="1325" dirty="0">
                        <a:latin typeface="IBM Plex Sans" charset="0"/>
                        <a:ea typeface="IBM Plex Sans" charset="0"/>
                        <a:cs typeface="IBM Plex Sans" charset="0"/>
                      </a:endParaRPr>
                    </a:p>
                  </a:txBody>
                  <a:tcPr marL="127000" marR="127000" marT="88900" marB="88900" anchor="t">
                    <a:lnL w="12700" cap="flat" cmpd="sng" algn="ctr">
                      <a:solidFill>
                        <a:srgbClr val="C3C0BB"/>
                      </a:solidFill>
                      <a:prstDash val="solid"/>
                      <a:round/>
                      <a:headEnd type="none" w="med" len="med"/>
                      <a:tailEnd type="none" w="med" len="med"/>
                    </a:lnL>
                    <a:lnR w="12700" cap="flat" cmpd="sng" algn="ctr">
                      <a:solidFill>
                        <a:srgbClr val="C3C0BB"/>
                      </a:solidFill>
                      <a:prstDash val="solid"/>
                      <a:round/>
                      <a:headEnd type="none" w="med" len="med"/>
                      <a:tailEnd type="none" w="med" len="med"/>
                    </a:lnR>
                    <a:lnT w="12700" cap="flat" cmpd="sng" algn="ctr">
                      <a:solidFill>
                        <a:srgbClr val="C3C0BB"/>
                      </a:solidFill>
                      <a:prstDash val="solid"/>
                      <a:round/>
                      <a:headEnd type="none" w="med" len="med"/>
                      <a:tailEnd type="none" w="med" len="med"/>
                    </a:lnT>
                    <a:lnB w="12700" cap="flat" cmpd="sng" algn="ctr">
                      <a:solidFill>
                        <a:srgbClr val="C3C0BB"/>
                      </a:solidFill>
                      <a:prstDash val="solid"/>
                      <a:round/>
                      <a:headEnd type="none" w="med" len="med"/>
                      <a:tailEnd type="none" w="med" len="med"/>
                    </a:lnB>
                  </a:tcPr>
                </a:tc>
              </a:tr>
              <a:tr h="685641">
                <a:tc>
                  <a:txBody>
                    <a:bodyPr/>
                    <a:lstStyle/>
                    <a:p>
                      <a:pPr indent="0" marL="0">
                        <a:lnSpc>
                          <a:spcPts val="1855"/>
                        </a:lnSpc>
                        <a:buNone/>
                      </a:pPr>
                      <a:r>
                        <a:rPr lang="en-US" sz="1325" dirty="0">
                          <a:solidFill>
                            <a:srgbClr val="16222C"/>
                          </a:solidFill>
                          <a:latin typeface="IBM Plex Sans" pitchFamily="34" charset="0"/>
                          <a:ea typeface="IBM Plex Sans" pitchFamily="34" charset="-122"/>
                          <a:cs typeface="IBM Plex Sans" pitchFamily="34" charset="-120"/>
                        </a:rPr>
                        <a:t>Marcus</a:t>
                      </a:r>
                      <a:endParaRPr lang="en-US" sz="1325" dirty="0">
                        <a:latin typeface="IBM Plex Sans" charset="0"/>
                        <a:ea typeface="IBM Plex Sans" charset="0"/>
                        <a:cs typeface="IBM Plex Sans" charset="0"/>
                      </a:endParaRPr>
                    </a:p>
                  </a:txBody>
                  <a:tcPr marL="127000" marR="127000" marT="88900" marB="88900" anchor="t">
                    <a:lnL w="12700" cap="flat" cmpd="sng" algn="ctr">
                      <a:solidFill>
                        <a:srgbClr val="C3C0BB"/>
                      </a:solidFill>
                      <a:prstDash val="solid"/>
                      <a:round/>
                      <a:headEnd type="none" w="med" len="med"/>
                      <a:tailEnd type="none" w="med" len="med"/>
                    </a:lnL>
                    <a:lnR w="12700" cap="flat" cmpd="sng" algn="ctr">
                      <a:solidFill>
                        <a:srgbClr val="C3C0BB"/>
                      </a:solidFill>
                      <a:prstDash val="solid"/>
                      <a:round/>
                      <a:headEnd type="none" w="med" len="med"/>
                      <a:tailEnd type="none" w="med" len="med"/>
                    </a:lnR>
                    <a:lnT w="12700" cap="flat" cmpd="sng" algn="ctr">
                      <a:solidFill>
                        <a:srgbClr val="C3C0BB"/>
                      </a:solidFill>
                      <a:prstDash val="solid"/>
                      <a:round/>
                      <a:headEnd type="none" w="med" len="med"/>
                      <a:tailEnd type="none" w="med" len="med"/>
                    </a:lnT>
                    <a:lnB w="12700" cap="flat" cmpd="sng" algn="ctr">
                      <a:solidFill>
                        <a:srgbClr val="C3C0BB"/>
                      </a:solidFill>
                      <a:prstDash val="solid"/>
                      <a:round/>
                      <a:headEnd type="none" w="med" len="med"/>
                      <a:tailEnd type="none" w="med" len="med"/>
                    </a:lnB>
                  </a:tcPr>
                </a:tc>
                <a:tc>
                  <a:txBody>
                    <a:bodyPr/>
                    <a:lstStyle/>
                    <a:p>
                      <a:pPr indent="0" marL="0">
                        <a:lnSpc>
                          <a:spcPts val="1855"/>
                        </a:lnSpc>
                        <a:buNone/>
                      </a:pPr>
                      <a:r>
                        <a:rPr lang="en-US" sz="1325" dirty="0">
                          <a:solidFill>
                            <a:srgbClr val="16222C"/>
                          </a:solidFill>
                          <a:latin typeface="IBM Plex Sans" pitchFamily="34" charset="0"/>
                          <a:ea typeface="IBM Plex Sans" pitchFamily="34" charset="-122"/>
                          <a:cs typeface="IBM Plex Sans" pitchFamily="34" charset="-120"/>
                        </a:rPr>
                        <a:t>A path through, then recovery</a:t>
                      </a:r>
                      <a:endParaRPr lang="en-US" sz="1325" dirty="0">
                        <a:latin typeface="IBM Plex Sans" charset="0"/>
                        <a:ea typeface="IBM Plex Sans" charset="0"/>
                        <a:cs typeface="IBM Plex Sans" charset="0"/>
                      </a:endParaRPr>
                    </a:p>
                  </a:txBody>
                  <a:tcPr marL="127000" marR="127000" marT="88900" marB="88900" anchor="t">
                    <a:lnL w="12700" cap="flat" cmpd="sng" algn="ctr">
                      <a:solidFill>
                        <a:srgbClr val="C3C0BB"/>
                      </a:solidFill>
                      <a:prstDash val="solid"/>
                      <a:round/>
                      <a:headEnd type="none" w="med" len="med"/>
                      <a:tailEnd type="none" w="med" len="med"/>
                    </a:lnL>
                    <a:lnR w="12700" cap="flat" cmpd="sng" algn="ctr">
                      <a:solidFill>
                        <a:srgbClr val="C3C0BB"/>
                      </a:solidFill>
                      <a:prstDash val="solid"/>
                      <a:round/>
                      <a:headEnd type="none" w="med" len="med"/>
                      <a:tailEnd type="none" w="med" len="med"/>
                    </a:lnR>
                    <a:lnT w="12700" cap="flat" cmpd="sng" algn="ctr">
                      <a:solidFill>
                        <a:srgbClr val="C3C0BB"/>
                      </a:solidFill>
                      <a:prstDash val="solid"/>
                      <a:round/>
                      <a:headEnd type="none" w="med" len="med"/>
                      <a:tailEnd type="none" w="med" len="med"/>
                    </a:lnT>
                    <a:lnB w="12700" cap="flat" cmpd="sng" algn="ctr">
                      <a:solidFill>
                        <a:srgbClr val="C3C0BB"/>
                      </a:solidFill>
                      <a:prstDash val="solid"/>
                      <a:round/>
                      <a:headEnd type="none" w="med" len="med"/>
                      <a:tailEnd type="none" w="med" len="med"/>
                    </a:lnB>
                  </a:tcPr>
                </a:tc>
                <a:tc>
                  <a:txBody>
                    <a:bodyPr/>
                    <a:lstStyle/>
                    <a:p>
                      <a:pPr indent="0" marL="0">
                        <a:lnSpc>
                          <a:spcPts val="1855"/>
                        </a:lnSpc>
                        <a:buNone/>
                      </a:pPr>
                      <a:r>
                        <a:rPr lang="en-US" sz="1325" dirty="0">
                          <a:solidFill>
                            <a:srgbClr val="16222C"/>
                          </a:solidFill>
                          <a:latin typeface="IBM Plex Sans" pitchFamily="34" charset="0"/>
                          <a:ea typeface="IBM Plex Sans" pitchFamily="34" charset="-122"/>
                          <a:cs typeface="IBM Plex Sans" pitchFamily="34" charset="-120"/>
                        </a:rPr>
                        <a:t>Green into a full exit</a:t>
                      </a:r>
                      <a:endParaRPr lang="en-US" sz="1325" dirty="0">
                        <a:latin typeface="IBM Plex Sans" charset="0"/>
                        <a:ea typeface="IBM Plex Sans" charset="0"/>
                        <a:cs typeface="IBM Plex Sans" charset="0"/>
                      </a:endParaRPr>
                    </a:p>
                  </a:txBody>
                  <a:tcPr marL="127000" marR="127000" marT="88900" marB="88900" anchor="t">
                    <a:lnL w="12700" cap="flat" cmpd="sng" algn="ctr">
                      <a:solidFill>
                        <a:srgbClr val="C3C0BB"/>
                      </a:solidFill>
                      <a:prstDash val="solid"/>
                      <a:round/>
                      <a:headEnd type="none" w="med" len="med"/>
                      <a:tailEnd type="none" w="med" len="med"/>
                    </a:lnL>
                    <a:lnR w="12700" cap="flat" cmpd="sng" algn="ctr">
                      <a:solidFill>
                        <a:srgbClr val="C3C0BB"/>
                      </a:solidFill>
                      <a:prstDash val="solid"/>
                      <a:round/>
                      <a:headEnd type="none" w="med" len="med"/>
                      <a:tailEnd type="none" w="med" len="med"/>
                    </a:lnR>
                    <a:lnT w="12700" cap="flat" cmpd="sng" algn="ctr">
                      <a:solidFill>
                        <a:srgbClr val="C3C0BB"/>
                      </a:solidFill>
                      <a:prstDash val="solid"/>
                      <a:round/>
                      <a:headEnd type="none" w="med" len="med"/>
                      <a:tailEnd type="none" w="med" len="med"/>
                    </a:lnT>
                    <a:lnB w="12700" cap="flat" cmpd="sng" algn="ctr">
                      <a:solidFill>
                        <a:srgbClr val="C3C0BB"/>
                      </a:solidFill>
                      <a:prstDash val="solid"/>
                      <a:round/>
                      <a:headEnd type="none" w="med" len="med"/>
                      <a:tailEnd type="none" w="med" len="med"/>
                    </a:lnB>
                  </a:tcPr>
                </a:tc>
                <a:tc>
                  <a:txBody>
                    <a:bodyPr/>
                    <a:lstStyle/>
                    <a:p>
                      <a:pPr indent="0" marL="0">
                        <a:lnSpc>
                          <a:spcPts val="1855"/>
                        </a:lnSpc>
                        <a:buNone/>
                      </a:pPr>
                      <a:r>
                        <a:rPr lang="en-US" sz="1325" dirty="0">
                          <a:solidFill>
                            <a:srgbClr val="1F6B72"/>
                          </a:solidFill>
                          <a:latin typeface="IBM Plex Sans" pitchFamily="34" charset="0"/>
                          <a:ea typeface="IBM Plex Sans" pitchFamily="34" charset="-122"/>
                          <a:cs typeface="IBM Plex Sans" pitchFamily="34" charset="-120"/>
                        </a:rPr>
                        <a:t>Exit checked; delay to others logged</a:t>
                      </a:r>
                      <a:endParaRPr lang="en-US" sz="1325" dirty="0">
                        <a:latin typeface="IBM Plex Sans" charset="0"/>
                        <a:ea typeface="IBM Plex Sans" charset="0"/>
                        <a:cs typeface="IBM Plex Sans" charset="0"/>
                      </a:endParaRPr>
                    </a:p>
                  </a:txBody>
                  <a:tcPr marL="127000" marR="127000" marT="88900" marB="88900" anchor="t">
                    <a:lnL w="12700" cap="flat" cmpd="sng" algn="ctr">
                      <a:solidFill>
                        <a:srgbClr val="C3C0BB"/>
                      </a:solidFill>
                      <a:prstDash val="solid"/>
                      <a:round/>
                      <a:headEnd type="none" w="med" len="med"/>
                      <a:tailEnd type="none" w="med" len="med"/>
                    </a:lnL>
                    <a:lnR w="12700" cap="flat" cmpd="sng" algn="ctr">
                      <a:solidFill>
                        <a:srgbClr val="C3C0BB"/>
                      </a:solidFill>
                      <a:prstDash val="solid"/>
                      <a:round/>
                      <a:headEnd type="none" w="med" len="med"/>
                      <a:tailEnd type="none" w="med" len="med"/>
                    </a:lnR>
                    <a:lnT w="12700" cap="flat" cmpd="sng" algn="ctr">
                      <a:solidFill>
                        <a:srgbClr val="C3C0BB"/>
                      </a:solidFill>
                      <a:prstDash val="solid"/>
                      <a:round/>
                      <a:headEnd type="none" w="med" len="med"/>
                      <a:tailEnd type="none" w="med" len="med"/>
                    </a:lnT>
                    <a:lnB w="12700" cap="flat" cmpd="sng" algn="ctr">
                      <a:solidFill>
                        <a:srgbClr val="C3C0BB"/>
                      </a:solidFill>
                      <a:prstDash val="solid"/>
                      <a:round/>
                      <a:headEnd type="none" w="med" len="med"/>
                      <a:tailEnd type="none" w="med" len="med"/>
                    </a:lnB>
                  </a:tcPr>
                </a:tc>
              </a:tr>
              <a:tr h="685641">
                <a:tc>
                  <a:txBody>
                    <a:bodyPr/>
                    <a:lstStyle/>
                    <a:p>
                      <a:pPr indent="0" marL="0">
                        <a:lnSpc>
                          <a:spcPts val="1855"/>
                        </a:lnSpc>
                        <a:buNone/>
                      </a:pPr>
                      <a:r>
                        <a:rPr lang="en-US" sz="1325" dirty="0">
                          <a:solidFill>
                            <a:srgbClr val="16222C"/>
                          </a:solidFill>
                          <a:latin typeface="IBM Plex Sans" pitchFamily="34" charset="0"/>
                          <a:ea typeface="IBM Plex Sans" pitchFamily="34" charset="-122"/>
                          <a:cs typeface="IBM Plex Sans" pitchFamily="34" charset="-120"/>
                        </a:rPr>
                        <a:t>Omar</a:t>
                      </a:r>
                      <a:endParaRPr lang="en-US" sz="1325" dirty="0">
                        <a:latin typeface="IBM Plex Sans" charset="0"/>
                        <a:ea typeface="IBM Plex Sans" charset="0"/>
                        <a:cs typeface="IBM Plex Sans" charset="0"/>
                      </a:endParaRPr>
                    </a:p>
                  </a:txBody>
                  <a:tcPr marL="127000" marR="127000" marT="88900" marB="88900" anchor="t">
                    <a:lnL w="12700" cap="flat" cmpd="sng" algn="ctr">
                      <a:solidFill>
                        <a:srgbClr val="C3C0BB"/>
                      </a:solidFill>
                      <a:prstDash val="solid"/>
                      <a:round/>
                      <a:headEnd type="none" w="med" len="med"/>
                      <a:tailEnd type="none" w="med" len="med"/>
                    </a:lnL>
                    <a:lnR w="12700" cap="flat" cmpd="sng" algn="ctr">
                      <a:solidFill>
                        <a:srgbClr val="C3C0BB"/>
                      </a:solidFill>
                      <a:prstDash val="solid"/>
                      <a:round/>
                      <a:headEnd type="none" w="med" len="med"/>
                      <a:tailEnd type="none" w="med" len="med"/>
                    </a:lnR>
                    <a:lnT w="12700" cap="flat" cmpd="sng" algn="ctr">
                      <a:solidFill>
                        <a:srgbClr val="C3C0BB"/>
                      </a:solidFill>
                      <a:prstDash val="solid"/>
                      <a:round/>
                      <a:headEnd type="none" w="med" len="med"/>
                      <a:tailEnd type="none" w="med" len="med"/>
                    </a:lnT>
                    <a:lnB w="12700" cap="flat" cmpd="sng" algn="ctr">
                      <a:solidFill>
                        <a:srgbClr val="C3C0BB"/>
                      </a:solidFill>
                      <a:prstDash val="solid"/>
                      <a:round/>
                      <a:headEnd type="none" w="med" len="med"/>
                      <a:tailEnd type="none" w="med" len="med"/>
                    </a:lnB>
                  </a:tcPr>
                </a:tc>
                <a:tc>
                  <a:txBody>
                    <a:bodyPr/>
                    <a:lstStyle/>
                    <a:p>
                      <a:pPr indent="0" marL="0">
                        <a:lnSpc>
                          <a:spcPts val="1855"/>
                        </a:lnSpc>
                        <a:buNone/>
                      </a:pPr>
                      <a:r>
                        <a:rPr lang="en-US" sz="1325" dirty="0">
                          <a:solidFill>
                            <a:srgbClr val="16222C"/>
                          </a:solidFill>
                          <a:latin typeface="IBM Plex Sans" pitchFamily="34" charset="0"/>
                          <a:ea typeface="IBM Plex Sans" pitchFamily="34" charset="-122"/>
                          <a:cs typeface="IBM Plex Sans" pitchFamily="34" charset="-120"/>
                        </a:rPr>
                        <a:t>A class he can trust</a:t>
                      </a:r>
                      <a:endParaRPr lang="en-US" sz="1325" dirty="0">
                        <a:latin typeface="IBM Plex Sans" charset="0"/>
                        <a:ea typeface="IBM Plex Sans" charset="0"/>
                        <a:cs typeface="IBM Plex Sans" charset="0"/>
                      </a:endParaRPr>
                    </a:p>
                  </a:txBody>
                  <a:tcPr marL="127000" marR="127000" marT="88900" marB="88900" anchor="t">
                    <a:lnL w="12700" cap="flat" cmpd="sng" algn="ctr">
                      <a:solidFill>
                        <a:srgbClr val="C3C0BB"/>
                      </a:solidFill>
                      <a:prstDash val="solid"/>
                      <a:round/>
                      <a:headEnd type="none" w="med" len="med"/>
                      <a:tailEnd type="none" w="med" len="med"/>
                    </a:lnL>
                    <a:lnR w="12700" cap="flat" cmpd="sng" algn="ctr">
                      <a:solidFill>
                        <a:srgbClr val="C3C0BB"/>
                      </a:solidFill>
                      <a:prstDash val="solid"/>
                      <a:round/>
                      <a:headEnd type="none" w="med" len="med"/>
                      <a:tailEnd type="none" w="med" len="med"/>
                    </a:lnR>
                    <a:lnT w="12700" cap="flat" cmpd="sng" algn="ctr">
                      <a:solidFill>
                        <a:srgbClr val="C3C0BB"/>
                      </a:solidFill>
                      <a:prstDash val="solid"/>
                      <a:round/>
                      <a:headEnd type="none" w="med" len="med"/>
                      <a:tailEnd type="none" w="med" len="med"/>
                    </a:lnT>
                    <a:lnB w="12700" cap="flat" cmpd="sng" algn="ctr">
                      <a:solidFill>
                        <a:srgbClr val="C3C0BB"/>
                      </a:solidFill>
                      <a:prstDash val="solid"/>
                      <a:round/>
                      <a:headEnd type="none" w="med" len="med"/>
                      <a:tailEnd type="none" w="med" len="med"/>
                    </a:lnB>
                  </a:tcPr>
                </a:tc>
                <a:tc>
                  <a:txBody>
                    <a:bodyPr/>
                    <a:lstStyle/>
                    <a:p>
                      <a:pPr indent="0" marL="0">
                        <a:lnSpc>
                          <a:spcPts val="1855"/>
                        </a:lnSpc>
                        <a:buNone/>
                      </a:pPr>
                      <a:r>
                        <a:rPr lang="en-US" sz="1325" dirty="0">
                          <a:solidFill>
                            <a:srgbClr val="16222C"/>
                          </a:solidFill>
                          <a:latin typeface="IBM Plex Sans" pitchFamily="34" charset="0"/>
                          <a:ea typeface="IBM Plex Sans" pitchFamily="34" charset="-122"/>
                          <a:cs typeface="IBM Plex Sans" pitchFamily="34" charset="-120"/>
                        </a:rPr>
                        <a:t>A frozen screen, or a guessed cause</a:t>
                      </a:r>
                      <a:endParaRPr lang="en-US" sz="1325" dirty="0">
                        <a:latin typeface="IBM Plex Sans" charset="0"/>
                        <a:ea typeface="IBM Plex Sans" charset="0"/>
                        <a:cs typeface="IBM Plex Sans" charset="0"/>
                      </a:endParaRPr>
                    </a:p>
                  </a:txBody>
                  <a:tcPr marL="127000" marR="127000" marT="88900" marB="88900" anchor="t">
                    <a:lnL w="12700" cap="flat" cmpd="sng" algn="ctr">
                      <a:solidFill>
                        <a:srgbClr val="C3C0BB"/>
                      </a:solidFill>
                      <a:prstDash val="solid"/>
                      <a:round/>
                      <a:headEnd type="none" w="med" len="med"/>
                      <a:tailEnd type="none" w="med" len="med"/>
                    </a:lnL>
                    <a:lnR w="12700" cap="flat" cmpd="sng" algn="ctr">
                      <a:solidFill>
                        <a:srgbClr val="C3C0BB"/>
                      </a:solidFill>
                      <a:prstDash val="solid"/>
                      <a:round/>
                      <a:headEnd type="none" w="med" len="med"/>
                      <a:tailEnd type="none" w="med" len="med"/>
                    </a:lnR>
                    <a:lnT w="12700" cap="flat" cmpd="sng" algn="ctr">
                      <a:solidFill>
                        <a:srgbClr val="C3C0BB"/>
                      </a:solidFill>
                      <a:prstDash val="solid"/>
                      <a:round/>
                      <a:headEnd type="none" w="med" len="med"/>
                      <a:tailEnd type="none" w="med" len="med"/>
                    </a:lnT>
                    <a:lnB w="12700" cap="flat" cmpd="sng" algn="ctr">
                      <a:solidFill>
                        <a:srgbClr val="C3C0BB"/>
                      </a:solidFill>
                      <a:prstDash val="solid"/>
                      <a:round/>
                      <a:headEnd type="none" w="med" len="med"/>
                      <a:tailEnd type="none" w="med" len="med"/>
                    </a:lnB>
                  </a:tcPr>
                </a:tc>
                <a:tc>
                  <a:txBody>
                    <a:bodyPr/>
                    <a:lstStyle/>
                    <a:p>
                      <a:pPr indent="0" marL="0">
                        <a:lnSpc>
                          <a:spcPts val="1855"/>
                        </a:lnSpc>
                        <a:buNone/>
                      </a:pPr>
                      <a:r>
                        <a:rPr lang="en-US" sz="1325" dirty="0">
                          <a:solidFill>
                            <a:srgbClr val="1F6B72"/>
                          </a:solidFill>
                          <a:latin typeface="IBM Plex Sans" pitchFamily="34" charset="0"/>
                          <a:ea typeface="IBM Plex Sans" pitchFamily="34" charset="-122"/>
                          <a:cs typeface="IBM Plex Sans" pitchFamily="34" charset="-120"/>
                        </a:rPr>
                        <a:t>Freshness shown; stale stays stale</a:t>
                      </a:r>
                      <a:endParaRPr lang="en-US" sz="1325" dirty="0">
                        <a:latin typeface="IBM Plex Sans" charset="0"/>
                        <a:ea typeface="IBM Plex Sans" charset="0"/>
                        <a:cs typeface="IBM Plex Sans" charset="0"/>
                      </a:endParaRPr>
                    </a:p>
                  </a:txBody>
                  <a:tcPr marL="127000" marR="127000" marT="88900" marB="88900" anchor="t">
                    <a:lnL w="12700" cap="flat" cmpd="sng" algn="ctr">
                      <a:solidFill>
                        <a:srgbClr val="C3C0BB"/>
                      </a:solidFill>
                      <a:prstDash val="solid"/>
                      <a:round/>
                      <a:headEnd type="none" w="med" len="med"/>
                      <a:tailEnd type="none" w="med" len="med"/>
                    </a:lnL>
                    <a:lnR w="12700" cap="flat" cmpd="sng" algn="ctr">
                      <a:solidFill>
                        <a:srgbClr val="C3C0BB"/>
                      </a:solidFill>
                      <a:prstDash val="solid"/>
                      <a:round/>
                      <a:headEnd type="none" w="med" len="med"/>
                      <a:tailEnd type="none" w="med" len="med"/>
                    </a:lnR>
                    <a:lnT w="12700" cap="flat" cmpd="sng" algn="ctr">
                      <a:solidFill>
                        <a:srgbClr val="C3C0BB"/>
                      </a:solidFill>
                      <a:prstDash val="solid"/>
                      <a:round/>
                      <a:headEnd type="none" w="med" len="med"/>
                      <a:tailEnd type="none" w="med" len="med"/>
                    </a:lnT>
                    <a:lnB w="12700" cap="flat" cmpd="sng" algn="ctr">
                      <a:solidFill>
                        <a:srgbClr val="C3C0BB"/>
                      </a:solidFill>
                      <a:prstDash val="solid"/>
                      <a:round/>
                      <a:headEnd type="none" w="med" len="med"/>
                      <a:tailEnd type="none" w="med" len="med"/>
                    </a:lnB>
                  </a:tcPr>
                </a:tc>
              </a:tr>
            </a:tbl>
          </a:graphicData>
        </a:graphic>
      </p:graphicFrame>
      <p:sp>
        <p:nvSpPr>
          <p:cNvPr id="5" name="Text 2"/>
          <p:cNvSpPr/>
          <p:nvPr/>
        </p:nvSpPr>
        <p:spPr>
          <a:xfrm>
            <a:off x="812800" y="6238242"/>
            <a:ext cx="5131431"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B73"/>
                </a:solidFill>
                <a:latin typeface="IBM Plex Sans" pitchFamily="34" charset="0"/>
                <a:ea typeface="IBM Plex Sans" pitchFamily="34" charset="-122"/>
                <a:cs typeface="IBM Plex Sans" pitchFamily="34" charset="-120"/>
              </a:rPr>
              <a:t>Each row comes from the persona card and its evidence on slides 11–16.</a:t>
            </a:r>
            <a:endParaRPr lang="en-US" sz="1200" dirty="0"/>
          </a:p>
        </p:txBody>
      </p:sp>
      <p:sp>
        <p:nvSpPr>
          <p:cNvPr id="6" name="Text 3"/>
          <p:cNvSpPr/>
          <p:nvPr/>
        </p:nvSpPr>
        <p:spPr>
          <a:xfrm>
            <a:off x="11196320" y="6238242"/>
            <a:ext cx="23368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B73"/>
                </a:solidFill>
                <a:latin typeface="IBM Plex Sans" pitchFamily="34" charset="0"/>
                <a:ea typeface="IBM Plex Sans" pitchFamily="34" charset="-122"/>
                <a:cs typeface="IBM Plex Sans" pitchFamily="34" charset="-120"/>
              </a:rPr>
              <a:t>17</a:t>
            </a:r>
            <a:endParaRPr lang="en-US" sz="12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14202B"/>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spc="150" kern="0" dirty="0">
                <a:solidFill>
                  <a:srgbClr val="E8A33D"/>
                </a:solidFill>
                <a:latin typeface="IBM Plex Mono" pitchFamily="34" charset="0"/>
                <a:ea typeface="IBM Plex Mono" pitchFamily="34" charset="-122"/>
                <a:cs typeface="IBM Plex Mono" pitchFamily="34" charset="-120"/>
              </a:rPr>
              <a:t>PHASE 2</a:t>
            </a:r>
            <a:endParaRPr lang="en-US" sz="1200" dirty="0"/>
          </a:p>
        </p:txBody>
      </p:sp>
      <p:sp>
        <p:nvSpPr>
          <p:cNvPr id="3" name="Text 1"/>
          <p:cNvSpPr/>
          <p:nvPr/>
        </p:nvSpPr>
        <p:spPr>
          <a:xfrm>
            <a:off x="812800" y="2586992"/>
            <a:ext cx="10883392" cy="939800"/>
          </a:xfrm>
          <a:prstGeom prst="rect">
            <a:avLst/>
          </a:prstGeom>
          <a:noFill/>
          <a:ln/>
        </p:spPr>
        <p:txBody>
          <a:bodyPr wrap="square" lIns="0" tIns="0" rIns="0" bIns="0" rtlCol="0" anchor="t">
            <a:normAutofit/>
          </a:bodyPr>
          <a:lstStyle/>
          <a:p>
            <a:pPr algn="l" indent="0" marL="0">
              <a:lnSpc>
                <a:spcPts val="7200"/>
              </a:lnSpc>
              <a:buNone/>
            </a:pPr>
            <a:r>
              <a:rPr lang="en-US" sz="7200" b="1" dirty="0">
                <a:solidFill>
                  <a:srgbClr val="F4F1EA"/>
                </a:solidFill>
                <a:latin typeface="Space Grotesk" pitchFamily="34" charset="0"/>
                <a:ea typeface="Space Grotesk" pitchFamily="34" charset="-122"/>
                <a:cs typeface="Space Grotesk" pitchFamily="34" charset="-120"/>
              </a:rPr>
              <a:t>Ideation</a:t>
            </a:r>
            <a:endParaRPr lang="en-US" sz="7200" dirty="0"/>
          </a:p>
        </p:txBody>
      </p:sp>
      <p:sp>
        <p:nvSpPr>
          <p:cNvPr id="4" name="Text 2"/>
          <p:cNvSpPr/>
          <p:nvPr/>
        </p:nvSpPr>
        <p:spPr>
          <a:xfrm>
            <a:off x="812800" y="3653792"/>
            <a:ext cx="8502650" cy="642620"/>
          </a:xfrm>
          <a:prstGeom prst="rect">
            <a:avLst/>
          </a:prstGeom>
          <a:noFill/>
          <a:ln/>
        </p:spPr>
        <p:txBody>
          <a:bodyPr wrap="square" lIns="0" tIns="0" rIns="0" bIns="0" rtlCol="0" anchor="t">
            <a:normAutofit/>
          </a:bodyPr>
          <a:lstStyle/>
          <a:p>
            <a:pPr algn="l" indent="0" marL="0">
              <a:lnSpc>
                <a:spcPts val="2430"/>
              </a:lnSpc>
              <a:buNone/>
            </a:pPr>
            <a:r>
              <a:rPr lang="en-US" sz="1800" dirty="0">
                <a:solidFill>
                  <a:srgbClr val="C9D1D6"/>
                </a:solidFill>
                <a:latin typeface="IBM Plex Sans" pitchFamily="34" charset="0"/>
                <a:ea typeface="IBM Plex Sans" pitchFamily="34" charset="-122"/>
                <a:cs typeface="IBM Plex Sans" pitchFamily="34" charset="-120"/>
              </a:rPr>
              <a:t>From the needs table to a problem statement, fifteen ideas, five filters and one selected concept.</a:t>
            </a:r>
            <a:endParaRPr lang="en-US" sz="1800" dirty="0"/>
          </a:p>
        </p:txBody>
      </p:sp>
      <p:sp>
        <p:nvSpPr>
          <p:cNvPr id="5" name="Text 3"/>
          <p:cNvSpPr/>
          <p:nvPr/>
        </p:nvSpPr>
        <p:spPr>
          <a:xfrm>
            <a:off x="812800" y="5831842"/>
            <a:ext cx="10883392"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A9B4BB"/>
                </a:solidFill>
                <a:latin typeface="IBM Plex Mono" pitchFamily="34" charset="0"/>
                <a:ea typeface="IBM Plex Mono" pitchFamily="34" charset="-122"/>
                <a:cs typeface="IBM Plex Mono" pitchFamily="34" charset="-120"/>
              </a:rPr>
              <a:t>2.1 Problem · 2.2 HMW · 2.3 Ideas · 2.4 Evidence · 2.5 Selection · 2.6 Final idea</a:t>
            </a:r>
            <a:endParaRPr lang="en-US" sz="12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14202B"/>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E8A33D"/>
                </a:solidFill>
                <a:latin typeface="IBM Plex Mono" pitchFamily="34" charset="0"/>
                <a:ea typeface="IBM Plex Mono" pitchFamily="34" charset="-122"/>
                <a:cs typeface="IBM Plex Mono" pitchFamily="34" charset="-120"/>
              </a:rPr>
              <a:t>IDEATION · 2.1 PROBLEM STATEMENT</a:t>
            </a:r>
            <a:endParaRPr lang="en-US" sz="1200" dirty="0"/>
          </a:p>
        </p:txBody>
      </p:sp>
      <p:sp>
        <p:nvSpPr>
          <p:cNvPr id="3" name="Text 1"/>
          <p:cNvSpPr/>
          <p:nvPr/>
        </p:nvSpPr>
        <p:spPr>
          <a:xfrm>
            <a:off x="812800" y="2071377"/>
            <a:ext cx="10464800" cy="2006600"/>
          </a:xfrm>
          <a:prstGeom prst="rect">
            <a:avLst/>
          </a:prstGeom>
          <a:noFill/>
          <a:ln/>
        </p:spPr>
        <p:txBody>
          <a:bodyPr wrap="square" lIns="0" tIns="0" rIns="0" bIns="0" rtlCol="0" anchor="t">
            <a:normAutofit/>
          </a:bodyPr>
          <a:lstStyle/>
          <a:p>
            <a:pPr algn="l" indent="0" marL="0">
              <a:lnSpc>
                <a:spcPts val="3120"/>
              </a:lnSpc>
              <a:buNone/>
            </a:pPr>
            <a:r>
              <a:rPr lang="en-US" sz="2400" dirty="0">
                <a:solidFill>
                  <a:srgbClr val="F4F1EA"/>
                </a:solidFill>
                <a:latin typeface="Space Grotesk" pitchFamily="34" charset="0"/>
                <a:ea typeface="Space Grotesk" pitchFamily="34" charset="-122"/>
                <a:cs typeface="Space Grotesk" pitchFamily="34" charset="-120"/>
              </a:rPr>
              <a:t>How might a simulated signal serve the person still crossing, the unfinished trip, the bus gap, the reader of the refusal, the crew at a full exit, and the officer who must not be told a residual is a cause — </a:t>
            </a:r>
            <a:r>
              <a:rPr lang="en-US" sz="2400" dirty="0">
                <a:solidFill>
                  <a:srgbClr val="E8A33D"/>
                </a:solidFill>
                <a:latin typeface="Space Grotesk" pitchFamily="34" charset="0"/>
                <a:ea typeface="Space Grotesk" pitchFamily="34" charset="-122"/>
                <a:cs typeface="Space Grotesk" pitchFamily="34" charset="-120"/>
              </a:rPr>
              <a:t>while only one component writes the light, and every decision keeps a source?</a:t>
            </a:r>
            <a:endParaRPr lang="en-US" sz="2400" dirty="0"/>
          </a:p>
        </p:txBody>
      </p:sp>
      <p:sp>
        <p:nvSpPr>
          <p:cNvPr id="4" name="Shape 2"/>
          <p:cNvSpPr/>
          <p:nvPr/>
        </p:nvSpPr>
        <p:spPr>
          <a:xfrm>
            <a:off x="831850" y="5097785"/>
            <a:ext cx="0" cy="744220"/>
          </a:xfrm>
          <a:prstGeom prst="line">
            <a:avLst/>
          </a:prstGeom>
          <a:noFill/>
          <a:ln w="38100">
            <a:solidFill>
              <a:srgbClr val="E8A33D"/>
            </a:solidFill>
            <a:prstDash val="solid"/>
          </a:ln>
        </p:spPr>
      </p:sp>
      <p:sp>
        <p:nvSpPr>
          <p:cNvPr id="5" name="Text 3"/>
          <p:cNvSpPr/>
          <p:nvPr/>
        </p:nvSpPr>
        <p:spPr>
          <a:xfrm>
            <a:off x="1026160" y="5097785"/>
            <a:ext cx="5091125"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A9B4BB"/>
                </a:solidFill>
                <a:latin typeface="IBM Plex Mono" pitchFamily="34" charset="0"/>
                <a:ea typeface="IBM Plex Mono" pitchFamily="34" charset="-122"/>
                <a:cs typeface="IBM Plex Mono" pitchFamily="34" charset="-120"/>
              </a:rPr>
              <a:t>NOT THE PROBLEM</a:t>
            </a:r>
            <a:endParaRPr lang="en-US" sz="1200" dirty="0"/>
          </a:p>
        </p:txBody>
      </p:sp>
      <p:sp>
        <p:nvSpPr>
          <p:cNvPr id="6" name="Text 4"/>
          <p:cNvSpPr/>
          <p:nvPr/>
        </p:nvSpPr>
        <p:spPr>
          <a:xfrm>
            <a:off x="1026160" y="5361942"/>
            <a:ext cx="5091125" cy="505460"/>
          </a:xfrm>
          <a:prstGeom prst="rect">
            <a:avLst/>
          </a:prstGeom>
          <a:noFill/>
          <a:ln/>
        </p:spPr>
        <p:txBody>
          <a:bodyPr wrap="square" lIns="0" tIns="0" rIns="0" bIns="0" rtlCol="0" anchor="t">
            <a:normAutofit/>
          </a:bodyPr>
          <a:lstStyle/>
          <a:p>
            <a:pPr algn="l" indent="0" marL="0">
              <a:lnSpc>
                <a:spcPts val="1890"/>
              </a:lnSpc>
              <a:buNone/>
            </a:pPr>
            <a:r>
              <a:rPr lang="en-US" sz="1400" dirty="0">
                <a:solidFill>
                  <a:srgbClr val="F4F1EA"/>
                </a:solidFill>
                <a:latin typeface="IBM Plex Sans" pitchFamily="34" charset="0"/>
                <a:ea typeface="IBM Plex Sans" pitchFamily="34" charset="-122"/>
                <a:cs typeface="IBM Plex Sans" pitchFamily="34" charset="-120"/>
              </a:rPr>
              <a:t>“Reduce deaths in Tunisia.” This evidence cannot support that result.</a:t>
            </a:r>
            <a:endParaRPr lang="en-US" sz="1400" dirty="0"/>
          </a:p>
        </p:txBody>
      </p:sp>
      <p:sp>
        <p:nvSpPr>
          <p:cNvPr id="7" name="Shape 5"/>
          <p:cNvSpPr/>
          <p:nvPr/>
        </p:nvSpPr>
        <p:spPr>
          <a:xfrm>
            <a:off x="6242050" y="5097785"/>
            <a:ext cx="0" cy="744220"/>
          </a:xfrm>
          <a:prstGeom prst="line">
            <a:avLst/>
          </a:prstGeom>
          <a:noFill/>
          <a:ln w="38100">
            <a:solidFill>
              <a:srgbClr val="A9B4BB"/>
            </a:solidFill>
            <a:prstDash val="solid"/>
          </a:ln>
        </p:spPr>
      </p:sp>
      <p:sp>
        <p:nvSpPr>
          <p:cNvPr id="8" name="Text 6"/>
          <p:cNvSpPr/>
          <p:nvPr/>
        </p:nvSpPr>
        <p:spPr>
          <a:xfrm>
            <a:off x="6436360" y="5097785"/>
            <a:ext cx="5091125"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A9B4BB"/>
                </a:solidFill>
                <a:latin typeface="IBM Plex Mono" pitchFamily="34" charset="0"/>
                <a:ea typeface="IBM Plex Mono" pitchFamily="34" charset="-122"/>
                <a:cs typeface="IBM Plex Mono" pitchFamily="34" charset="-120"/>
              </a:rPr>
              <a:t>OUT OF SCOPE FOR THE CLAIM</a:t>
            </a:r>
            <a:endParaRPr lang="en-US" sz="1200" dirty="0"/>
          </a:p>
        </p:txBody>
      </p:sp>
      <p:sp>
        <p:nvSpPr>
          <p:cNvPr id="9" name="Text 7"/>
          <p:cNvSpPr/>
          <p:nvPr/>
        </p:nvSpPr>
        <p:spPr>
          <a:xfrm>
            <a:off x="6436360" y="5361942"/>
            <a:ext cx="5091125" cy="505460"/>
          </a:xfrm>
          <a:prstGeom prst="rect">
            <a:avLst/>
          </a:prstGeom>
          <a:noFill/>
          <a:ln/>
        </p:spPr>
        <p:txBody>
          <a:bodyPr wrap="square" lIns="0" tIns="0" rIns="0" bIns="0" rtlCol="0" anchor="t">
            <a:normAutofit/>
          </a:bodyPr>
          <a:lstStyle/>
          <a:p>
            <a:pPr algn="l" indent="0" marL="0">
              <a:lnSpc>
                <a:spcPts val="1890"/>
              </a:lnSpc>
              <a:buNone/>
            </a:pPr>
            <a:r>
              <a:rPr lang="en-US" sz="1400" dirty="0">
                <a:solidFill>
                  <a:srgbClr val="F4F1EA"/>
                </a:solidFill>
                <a:latin typeface="IBM Plex Sans" pitchFamily="34" charset="0"/>
                <a:ea typeface="IBM Plex Sans" pitchFamily="34" charset="-122"/>
                <a:cs typeface="IBM Plex Sans" pitchFamily="34" charset="-120"/>
              </a:rPr>
              <a:t>Lives saved · measured air · a Tunis deployment · a winner from one seed.</a:t>
            </a:r>
            <a:endParaRPr lang="en-US" sz="1400" dirty="0"/>
          </a:p>
        </p:txBody>
      </p:sp>
      <p:sp>
        <p:nvSpPr>
          <p:cNvPr id="10" name="Text 8"/>
          <p:cNvSpPr/>
          <p:nvPr/>
        </p:nvSpPr>
        <p:spPr>
          <a:xfrm>
            <a:off x="812800" y="6238242"/>
            <a:ext cx="3642568"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A9B4BB"/>
                </a:solidFill>
                <a:latin typeface="IBM Plex Sans" pitchFamily="34" charset="0"/>
                <a:ea typeface="IBM Plex Sans" pitchFamily="34" charset="-122"/>
                <a:cs typeface="IBM Plex Sans" pitchFamily="34" charset="-120"/>
              </a:rPr>
              <a:t>Each clause is one row of the needs table (slide 17).</a:t>
            </a:r>
            <a:endParaRPr lang="en-US" sz="1200" dirty="0"/>
          </a:p>
        </p:txBody>
      </p:sp>
      <p:sp>
        <p:nvSpPr>
          <p:cNvPr id="11" name="Text 9"/>
          <p:cNvSpPr/>
          <p:nvPr/>
        </p:nvSpPr>
        <p:spPr>
          <a:xfrm>
            <a:off x="11196320" y="6238242"/>
            <a:ext cx="23368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A9B4BB"/>
                </a:solidFill>
                <a:latin typeface="IBM Plex Sans" pitchFamily="34" charset="0"/>
                <a:ea typeface="IBM Plex Sans" pitchFamily="34" charset="-122"/>
                <a:cs typeface="IBM Plex Sans" pitchFamily="34" charset="-120"/>
              </a:rPr>
              <a:t>19</a:t>
            </a:r>
            <a:endParaRPr lang="en-US" sz="12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4F1EA"/>
        </a:solidFill>
      </p:bgPr>
    </p:bg>
    <p:spTree>
      <p:nvGrpSpPr>
        <p:cNvPr id="1" name=""/>
        <p:cNvGrpSpPr/>
        <p:nvPr/>
      </p:nvGrpSpPr>
      <p:grpSpPr>
        <a:xfrm>
          <a:off x="0" y="0"/>
          <a:ext cx="0" cy="0"/>
          <a:chOff x="0" y="0"/>
          <a:chExt cx="0" cy="0"/>
        </a:xfrm>
      </p:grpSpPr>
      <p:sp>
        <p:nvSpPr>
          <p:cNvPr id="2" name="Text 0"/>
          <p:cNvSpPr/>
          <p:nvPr/>
        </p:nvSpPr>
        <p:spPr>
          <a:xfrm>
            <a:off x="812800" y="812800"/>
            <a:ext cx="10883392" cy="187484"/>
          </a:xfrm>
          <a:prstGeom prst="rect">
            <a:avLst/>
          </a:prstGeom>
          <a:noFill/>
          <a:ln/>
        </p:spPr>
        <p:txBody>
          <a:bodyPr wrap="square" lIns="0" tIns="0" rIns="0" bIns="0" rtlCol="0" anchor="t">
            <a:normAutofit/>
          </a:bodyPr>
          <a:lstStyle/>
          <a:p>
            <a:pPr algn="l" indent="0" marL="0">
              <a:lnSpc>
                <a:spcPts val="1323"/>
              </a:lnSpc>
              <a:buNone/>
            </a:pPr>
            <a:r>
              <a:rPr lang="en-US" sz="945" spc="100" kern="0" dirty="0">
                <a:solidFill>
                  <a:srgbClr val="1F6B72"/>
                </a:solidFill>
                <a:latin typeface="IBM Plex Mono" pitchFamily="34" charset="0"/>
                <a:ea typeface="IBM Plex Mono" pitchFamily="34" charset="-122"/>
                <a:cs typeface="IBM Plex Mono" pitchFamily="34" charset="-120"/>
              </a:rPr>
              <a:t>IDEATION · 2.2 HOW MIGHT WE QUESTIONS</a:t>
            </a:r>
            <a:endParaRPr lang="en-US" sz="945" dirty="0"/>
          </a:p>
        </p:txBody>
      </p:sp>
      <p:sp>
        <p:nvSpPr>
          <p:cNvPr id="3" name="Text 1"/>
          <p:cNvSpPr/>
          <p:nvPr/>
        </p:nvSpPr>
        <p:spPr>
          <a:xfrm>
            <a:off x="812800" y="1076486"/>
            <a:ext cx="10883392" cy="365046"/>
          </a:xfrm>
          <a:prstGeom prst="rect">
            <a:avLst/>
          </a:prstGeom>
          <a:noFill/>
          <a:ln/>
        </p:spPr>
        <p:txBody>
          <a:bodyPr wrap="square" lIns="0" tIns="0" rIns="0" bIns="0" rtlCol="0" anchor="t">
            <a:normAutofit/>
          </a:bodyPr>
          <a:lstStyle/>
          <a:p>
            <a:pPr algn="l" indent="0" marL="0">
              <a:lnSpc>
                <a:spcPts val="2673"/>
              </a:lnSpc>
              <a:buNone/>
            </a:pPr>
            <a:r>
              <a:rPr lang="en-US" sz="2430" b="1" dirty="0">
                <a:solidFill>
                  <a:srgbClr val="16222C"/>
                </a:solidFill>
                <a:latin typeface="Space Grotesk" pitchFamily="34" charset="0"/>
                <a:ea typeface="Space Grotesk" pitchFamily="34" charset="-122"/>
                <a:cs typeface="Space Grotesk" pitchFamily="34" charset="-120"/>
              </a:rPr>
              <a:t>Six questions, one per persona</a:t>
            </a:r>
            <a:endParaRPr lang="en-US" sz="243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22960" y="1731097"/>
          <a:ext cx="10556240" cy="4110911"/>
        </p:xfrm>
        <a:graphic>
          <a:graphicData uri="http://schemas.openxmlformats.org/drawingml/2006/table">
            <a:tbl>
              <a:tblPr/>
              <a:tblGrid>
                <a:gridCol w="5278120"/>
                <a:gridCol w="5278120"/>
              </a:tblGrid>
              <a:tr h="457676">
                <a:tc>
                  <a:txBody>
                    <a:bodyPr/>
                    <a:lstStyle/>
                    <a:p>
                      <a:pPr indent="0" marL="0">
                        <a:lnSpc>
                          <a:spcPts val="1785"/>
                        </a:lnSpc>
                        <a:buNone/>
                      </a:pPr>
                      <a:r>
                        <a:rPr lang="en-US" sz="1275" b="1" dirty="0">
                          <a:solidFill>
                            <a:srgbClr val="F4F1EA"/>
                          </a:solidFill>
                          <a:latin typeface="IBM Plex Sans" pitchFamily="34" charset="0"/>
                          <a:ea typeface="IBM Plex Sans" pitchFamily="34" charset="-122"/>
                          <a:cs typeface="IBM Plex Sans" pitchFamily="34" charset="-120"/>
                        </a:rPr>
                        <a:t>Who</a:t>
                      </a:r>
                      <a:endParaRPr lang="en-US" sz="1275" dirty="0">
                        <a:latin typeface="IBM Plex Sans" charset="0"/>
                        <a:ea typeface="IBM Plex Sans" charset="0"/>
                        <a:cs typeface="IBM Plex Sans" charset="0"/>
                      </a:endParaRPr>
                    </a:p>
                  </a:txBody>
                  <a:tcPr marL="127000" marR="127000" marT="101600" marB="101600" anchor="t">
                    <a:lnL w="12700" cap="flat" cmpd="sng" algn="ctr">
                      <a:solidFill>
                        <a:srgbClr val="C3C0BB"/>
                      </a:solidFill>
                      <a:prstDash val="solid"/>
                      <a:round/>
                      <a:headEnd type="none" w="med" len="med"/>
                      <a:tailEnd type="none" w="med" len="med"/>
                    </a:lnL>
                    <a:lnR w="12700" cap="flat" cmpd="sng" algn="ctr">
                      <a:solidFill>
                        <a:srgbClr val="B5B2AD"/>
                      </a:solidFill>
                      <a:prstDash val="solid"/>
                      <a:round/>
                      <a:headEnd type="none" w="med" len="med"/>
                      <a:tailEnd type="none" w="med" len="med"/>
                    </a:lnR>
                    <a:lnT w="12700" cap="flat" cmpd="sng" algn="ctr">
                      <a:solidFill>
                        <a:srgbClr val="C3C0BB"/>
                      </a:solidFill>
                      <a:prstDash val="solid"/>
                      <a:round/>
                      <a:headEnd type="none" w="med" len="med"/>
                      <a:tailEnd type="none" w="med" len="med"/>
                    </a:lnT>
                    <a:lnB w="12700" cap="flat" cmpd="sng" algn="ctr">
                      <a:solidFill>
                        <a:srgbClr val="B5B2AD"/>
                      </a:solidFill>
                      <a:prstDash val="solid"/>
                      <a:round/>
                      <a:headEnd type="none" w="med" len="med"/>
                      <a:tailEnd type="none" w="med" len="med"/>
                    </a:lnB>
                    <a:solidFill>
                      <a:srgbClr val="E2DFD9"/>
                    </a:solidFill>
                  </a:tcPr>
                </a:tc>
                <a:tc>
                  <a:txBody>
                    <a:bodyPr/>
                    <a:lstStyle/>
                    <a:p>
                      <a:pPr indent="0" marL="0">
                        <a:lnSpc>
                          <a:spcPts val="1785"/>
                        </a:lnSpc>
                        <a:buNone/>
                      </a:pPr>
                      <a:r>
                        <a:rPr lang="en-US" sz="1275" b="1" dirty="0">
                          <a:solidFill>
                            <a:srgbClr val="F4F1EA"/>
                          </a:solidFill>
                          <a:latin typeface="IBM Plex Sans" pitchFamily="34" charset="0"/>
                          <a:ea typeface="IBM Plex Sans" pitchFamily="34" charset="-122"/>
                          <a:cs typeface="IBM Plex Sans" pitchFamily="34" charset="-120"/>
                        </a:rPr>
                        <a:t>How might we…</a:t>
                      </a:r>
                      <a:endParaRPr lang="en-US" sz="1275" dirty="0">
                        <a:latin typeface="IBM Plex Sans" charset="0"/>
                        <a:ea typeface="IBM Plex Sans" charset="0"/>
                        <a:cs typeface="IBM Plex Sans" charset="0"/>
                      </a:endParaRPr>
                    </a:p>
                  </a:txBody>
                  <a:tcPr marL="127000" marR="127000" marT="101600" marB="101600" anchor="t">
                    <a:lnL w="12700" cap="flat" cmpd="sng" algn="ctr">
                      <a:solidFill>
                        <a:srgbClr val="B5B2AD"/>
                      </a:solidFill>
                      <a:prstDash val="solid"/>
                      <a:round/>
                      <a:headEnd type="none" w="med" len="med"/>
                      <a:tailEnd type="none" w="med" len="med"/>
                    </a:lnL>
                    <a:lnR w="12700" cap="flat" cmpd="sng" algn="ctr">
                      <a:solidFill>
                        <a:srgbClr val="B5B2AD"/>
                      </a:solidFill>
                      <a:prstDash val="solid"/>
                      <a:round/>
                      <a:headEnd type="none" w="med" len="med"/>
                      <a:tailEnd type="none" w="med" len="med"/>
                    </a:lnR>
                    <a:lnT w="12700" cap="flat" cmpd="sng" algn="ctr">
                      <a:solidFill>
                        <a:srgbClr val="C3C0BB"/>
                      </a:solidFill>
                      <a:prstDash val="solid"/>
                      <a:round/>
                      <a:headEnd type="none" w="med" len="med"/>
                      <a:tailEnd type="none" w="med" len="med"/>
                    </a:lnT>
                    <a:lnB w="12700" cap="flat" cmpd="sng" algn="ctr">
                      <a:solidFill>
                        <a:srgbClr val="B5B2AD"/>
                      </a:solidFill>
                      <a:prstDash val="solid"/>
                      <a:round/>
                      <a:headEnd type="none" w="med" len="med"/>
                      <a:tailEnd type="none" w="med" len="med"/>
                    </a:lnB>
                    <a:solidFill>
                      <a:srgbClr val="E2DFD9"/>
                    </a:solidFill>
                  </a:tcPr>
                </a:tc>
              </a:tr>
              <a:tr h="684371">
                <a:tc>
                  <a:txBody>
                    <a:bodyPr/>
                    <a:lstStyle/>
                    <a:p>
                      <a:pPr indent="0" marL="0">
                        <a:lnSpc>
                          <a:spcPts val="1785"/>
                        </a:lnSpc>
                        <a:buNone/>
                      </a:pPr>
                      <a:r>
                        <a:rPr lang="en-US" sz="1275" dirty="0">
                          <a:solidFill>
                            <a:srgbClr val="16222C"/>
                          </a:solidFill>
                          <a:latin typeface="IBM Plex Sans" pitchFamily="34" charset="0"/>
                          <a:ea typeface="IBM Plex Sans" pitchFamily="34" charset="-122"/>
                          <a:cs typeface="IBM Plex Sans" pitchFamily="34" charset="-120"/>
                        </a:rPr>
                        <a:t>Amara</a:t>
                      </a:r>
                      <a:endParaRPr lang="en-US" sz="1275" dirty="0">
                        <a:latin typeface="IBM Plex Sans" charset="0"/>
                        <a:ea typeface="IBM Plex Sans" charset="0"/>
                        <a:cs typeface="IBM Plex Sans" charset="0"/>
                      </a:endParaRPr>
                    </a:p>
                  </a:txBody>
                  <a:tcPr marL="127000" marR="127000" marT="101600" marB="101600" anchor="t">
                    <a:lnL w="12700" cap="flat" cmpd="sng" algn="ctr">
                      <a:solidFill>
                        <a:srgbClr val="C3C0BB"/>
                      </a:solidFill>
                      <a:prstDash val="solid"/>
                      <a:round/>
                      <a:headEnd type="none" w="med" len="med"/>
                      <a:tailEnd type="none" w="med" len="med"/>
                    </a:lnL>
                    <a:lnR w="12700" cap="flat" cmpd="sng" algn="ctr">
                      <a:solidFill>
                        <a:srgbClr val="C3C0BB"/>
                      </a:solidFill>
                      <a:prstDash val="solid"/>
                      <a:round/>
                      <a:headEnd type="none" w="med" len="med"/>
                      <a:tailEnd type="none" w="med" len="med"/>
                    </a:lnR>
                    <a:lnT w="12700" cap="flat" cmpd="sng" algn="ctr">
                      <a:solidFill>
                        <a:srgbClr val="B5B2AD"/>
                      </a:solidFill>
                      <a:prstDash val="solid"/>
                      <a:round/>
                      <a:headEnd type="none" w="med" len="med"/>
                      <a:tailEnd type="none" w="med" len="med"/>
                    </a:lnT>
                    <a:lnB w="12700" cap="flat" cmpd="sng" algn="ctr">
                      <a:solidFill>
                        <a:srgbClr val="C3C0BB"/>
                      </a:solidFill>
                      <a:prstDash val="solid"/>
                      <a:round/>
                      <a:headEnd type="none" w="med" len="med"/>
                      <a:tailEnd type="none" w="med" len="med"/>
                    </a:lnB>
                  </a:tcPr>
                </a:tc>
                <a:tc>
                  <a:txBody>
                    <a:bodyPr/>
                    <a:lstStyle/>
                    <a:p>
                      <a:pPr indent="0" marL="0">
                        <a:lnSpc>
                          <a:spcPts val="1785"/>
                        </a:lnSpc>
                        <a:buNone/>
                      </a:pPr>
                      <a:r>
                        <a:rPr lang="en-US" sz="1275" dirty="0">
                          <a:solidFill>
                            <a:srgbClr val="16222C"/>
                          </a:solidFill>
                          <a:latin typeface="IBM Plex Sans" pitchFamily="34" charset="0"/>
                          <a:ea typeface="IBM Plex Sans" pitchFamily="34" charset="-122"/>
                          <a:cs typeface="IBM Plex Sans" pitchFamily="34" charset="-120"/>
                        </a:rPr>
                        <a:t>…hold the conflicting green until the crossing finishes, and count every time it is cut?</a:t>
                      </a:r>
                      <a:endParaRPr lang="en-US" sz="1275" dirty="0">
                        <a:latin typeface="IBM Plex Sans" charset="0"/>
                        <a:ea typeface="IBM Plex Sans" charset="0"/>
                        <a:cs typeface="IBM Plex Sans" charset="0"/>
                      </a:endParaRPr>
                    </a:p>
                  </a:txBody>
                  <a:tcPr marL="127000" marR="127000" marT="101600" marB="101600" anchor="t">
                    <a:lnL w="12700" cap="flat" cmpd="sng" algn="ctr">
                      <a:solidFill>
                        <a:srgbClr val="C3C0BB"/>
                      </a:solidFill>
                      <a:prstDash val="solid"/>
                      <a:round/>
                      <a:headEnd type="none" w="med" len="med"/>
                      <a:tailEnd type="none" w="med" len="med"/>
                    </a:lnL>
                    <a:lnR w="12700" cap="flat" cmpd="sng" algn="ctr">
                      <a:solidFill>
                        <a:srgbClr val="C3C0BB"/>
                      </a:solidFill>
                      <a:prstDash val="solid"/>
                      <a:round/>
                      <a:headEnd type="none" w="med" len="med"/>
                      <a:tailEnd type="none" w="med" len="med"/>
                    </a:lnR>
                    <a:lnT w="12700" cap="flat" cmpd="sng" algn="ctr">
                      <a:solidFill>
                        <a:srgbClr val="B5B2AD"/>
                      </a:solidFill>
                      <a:prstDash val="solid"/>
                      <a:round/>
                      <a:headEnd type="none" w="med" len="med"/>
                      <a:tailEnd type="none" w="med" len="med"/>
                    </a:lnT>
                    <a:lnB w="12700" cap="flat" cmpd="sng" algn="ctr">
                      <a:solidFill>
                        <a:srgbClr val="C3C0BB"/>
                      </a:solidFill>
                      <a:prstDash val="solid"/>
                      <a:round/>
                      <a:headEnd type="none" w="med" len="med"/>
                      <a:tailEnd type="none" w="med" len="med"/>
                    </a:lnB>
                  </a:tcPr>
                </a:tc>
              </a:tr>
              <a:tr h="684451">
                <a:tc>
                  <a:txBody>
                    <a:bodyPr/>
                    <a:lstStyle/>
                    <a:p>
                      <a:pPr indent="0" marL="0">
                        <a:lnSpc>
                          <a:spcPts val="1785"/>
                        </a:lnSpc>
                        <a:buNone/>
                      </a:pPr>
                      <a:r>
                        <a:rPr lang="en-US" sz="1275" dirty="0">
                          <a:solidFill>
                            <a:srgbClr val="16222C"/>
                          </a:solidFill>
                          <a:latin typeface="IBM Plex Sans" pitchFamily="34" charset="0"/>
                          <a:ea typeface="IBM Plex Sans" pitchFamily="34" charset="-122"/>
                          <a:cs typeface="IBM Plex Sans" pitchFamily="34" charset="-120"/>
                        </a:rPr>
                        <a:t>David</a:t>
                      </a:r>
                      <a:endParaRPr lang="en-US" sz="1275" dirty="0">
                        <a:latin typeface="IBM Plex Sans" charset="0"/>
                        <a:ea typeface="IBM Plex Sans" charset="0"/>
                        <a:cs typeface="IBM Plex Sans" charset="0"/>
                      </a:endParaRPr>
                    </a:p>
                  </a:txBody>
                  <a:tcPr marL="127000" marR="127000" marT="101600" marB="101600" anchor="t">
                    <a:lnL w="12700" cap="flat" cmpd="sng" algn="ctr">
                      <a:solidFill>
                        <a:srgbClr val="C3C0BB"/>
                      </a:solidFill>
                      <a:prstDash val="solid"/>
                      <a:round/>
                      <a:headEnd type="none" w="med" len="med"/>
                      <a:tailEnd type="none" w="med" len="med"/>
                    </a:lnL>
                    <a:lnR w="12700" cap="flat" cmpd="sng" algn="ctr">
                      <a:solidFill>
                        <a:srgbClr val="C3C0BB"/>
                      </a:solidFill>
                      <a:prstDash val="solid"/>
                      <a:round/>
                      <a:headEnd type="none" w="med" len="med"/>
                      <a:tailEnd type="none" w="med" len="med"/>
                    </a:lnR>
                    <a:lnT w="12700" cap="flat" cmpd="sng" algn="ctr">
                      <a:solidFill>
                        <a:srgbClr val="C3C0BB"/>
                      </a:solidFill>
                      <a:prstDash val="solid"/>
                      <a:round/>
                      <a:headEnd type="none" w="med" len="med"/>
                      <a:tailEnd type="none" w="med" len="med"/>
                    </a:lnT>
                    <a:lnB w="12700" cap="flat" cmpd="sng" algn="ctr">
                      <a:solidFill>
                        <a:srgbClr val="C3C0BB"/>
                      </a:solidFill>
                      <a:prstDash val="solid"/>
                      <a:round/>
                      <a:headEnd type="none" w="med" len="med"/>
                      <a:tailEnd type="none" w="med" len="med"/>
                    </a:lnB>
                  </a:tcPr>
                </a:tc>
                <a:tc>
                  <a:txBody>
                    <a:bodyPr/>
                    <a:lstStyle/>
                    <a:p>
                      <a:pPr indent="0" marL="0">
                        <a:lnSpc>
                          <a:spcPts val="1785"/>
                        </a:lnSpc>
                        <a:buNone/>
                      </a:pPr>
                      <a:r>
                        <a:rPr lang="en-US" sz="1275" dirty="0">
                          <a:solidFill>
                            <a:srgbClr val="16222C"/>
                          </a:solidFill>
                          <a:latin typeface="IBM Plex Sans" pitchFamily="34" charset="0"/>
                          <a:ea typeface="IBM Plex Sans" pitchFamily="34" charset="-122"/>
                          <a:cs typeface="IBM Plex Sans" pitchFamily="34" charset="-120"/>
                        </a:rPr>
                        <a:t>…show unfinished trips beside the mean, so a better average cannot hide the tail?</a:t>
                      </a:r>
                      <a:endParaRPr lang="en-US" sz="1275" dirty="0">
                        <a:latin typeface="IBM Plex Sans" charset="0"/>
                        <a:ea typeface="IBM Plex Sans" charset="0"/>
                        <a:cs typeface="IBM Plex Sans" charset="0"/>
                      </a:endParaRPr>
                    </a:p>
                  </a:txBody>
                  <a:tcPr marL="127000" marR="127000" marT="101600" marB="101600" anchor="t">
                    <a:lnL w="12700" cap="flat" cmpd="sng" algn="ctr">
                      <a:solidFill>
                        <a:srgbClr val="C3C0BB"/>
                      </a:solidFill>
                      <a:prstDash val="solid"/>
                      <a:round/>
                      <a:headEnd type="none" w="med" len="med"/>
                      <a:tailEnd type="none" w="med" len="med"/>
                    </a:lnL>
                    <a:lnR w="12700" cap="flat" cmpd="sng" algn="ctr">
                      <a:solidFill>
                        <a:srgbClr val="C3C0BB"/>
                      </a:solidFill>
                      <a:prstDash val="solid"/>
                      <a:round/>
                      <a:headEnd type="none" w="med" len="med"/>
                      <a:tailEnd type="none" w="med" len="med"/>
                    </a:lnR>
                    <a:lnT w="12700" cap="flat" cmpd="sng" algn="ctr">
                      <a:solidFill>
                        <a:srgbClr val="C3C0BB"/>
                      </a:solidFill>
                      <a:prstDash val="solid"/>
                      <a:round/>
                      <a:headEnd type="none" w="med" len="med"/>
                      <a:tailEnd type="none" w="med" len="med"/>
                    </a:lnT>
                    <a:lnB w="12700" cap="flat" cmpd="sng" algn="ctr">
                      <a:solidFill>
                        <a:srgbClr val="C3C0BB"/>
                      </a:solidFill>
                      <a:prstDash val="solid"/>
                      <a:round/>
                      <a:headEnd type="none" w="med" len="med"/>
                      <a:tailEnd type="none" w="med" len="med"/>
                    </a:lnB>
                  </a:tcPr>
                </a:tc>
              </a:tr>
              <a:tr h="457756">
                <a:tc>
                  <a:txBody>
                    <a:bodyPr/>
                    <a:lstStyle/>
                    <a:p>
                      <a:pPr indent="0" marL="0">
                        <a:lnSpc>
                          <a:spcPts val="1785"/>
                        </a:lnSpc>
                        <a:buNone/>
                      </a:pPr>
                      <a:r>
                        <a:rPr lang="en-US" sz="1275" dirty="0">
                          <a:solidFill>
                            <a:srgbClr val="16222C"/>
                          </a:solidFill>
                          <a:latin typeface="IBM Plex Sans" pitchFamily="34" charset="0"/>
                          <a:ea typeface="IBM Plex Sans" pitchFamily="34" charset="-122"/>
                          <a:cs typeface="IBM Plex Sans" pitchFamily="34" charset="-120"/>
                        </a:rPr>
                        <a:t>Chidi</a:t>
                      </a:r>
                      <a:endParaRPr lang="en-US" sz="1275" dirty="0">
                        <a:latin typeface="IBM Plex Sans" charset="0"/>
                        <a:ea typeface="IBM Plex Sans" charset="0"/>
                        <a:cs typeface="IBM Plex Sans" charset="0"/>
                      </a:endParaRPr>
                    </a:p>
                  </a:txBody>
                  <a:tcPr marL="127000" marR="127000" marT="101600" marB="101600" anchor="t">
                    <a:lnL w="12700" cap="flat" cmpd="sng" algn="ctr">
                      <a:solidFill>
                        <a:srgbClr val="C3C0BB"/>
                      </a:solidFill>
                      <a:prstDash val="solid"/>
                      <a:round/>
                      <a:headEnd type="none" w="med" len="med"/>
                      <a:tailEnd type="none" w="med" len="med"/>
                    </a:lnL>
                    <a:lnR w="12700" cap="flat" cmpd="sng" algn="ctr">
                      <a:solidFill>
                        <a:srgbClr val="C3C0BB"/>
                      </a:solidFill>
                      <a:prstDash val="solid"/>
                      <a:round/>
                      <a:headEnd type="none" w="med" len="med"/>
                      <a:tailEnd type="none" w="med" len="med"/>
                    </a:lnR>
                    <a:lnT w="12700" cap="flat" cmpd="sng" algn="ctr">
                      <a:solidFill>
                        <a:srgbClr val="C3C0BB"/>
                      </a:solidFill>
                      <a:prstDash val="solid"/>
                      <a:round/>
                      <a:headEnd type="none" w="med" len="med"/>
                      <a:tailEnd type="none" w="med" len="med"/>
                    </a:lnT>
                    <a:lnB w="12700" cap="flat" cmpd="sng" algn="ctr">
                      <a:solidFill>
                        <a:srgbClr val="C3C0BB"/>
                      </a:solidFill>
                      <a:prstDash val="solid"/>
                      <a:round/>
                      <a:headEnd type="none" w="med" len="med"/>
                      <a:tailEnd type="none" w="med" len="med"/>
                    </a:lnB>
                  </a:tcPr>
                </a:tc>
                <a:tc>
                  <a:txBody>
                    <a:bodyPr/>
                    <a:lstStyle/>
                    <a:p>
                      <a:pPr indent="0" marL="0">
                        <a:lnSpc>
                          <a:spcPts val="1785"/>
                        </a:lnSpc>
                        <a:buNone/>
                      </a:pPr>
                      <a:r>
                        <a:rPr lang="en-US" sz="1275" dirty="0">
                          <a:solidFill>
                            <a:srgbClr val="16222C"/>
                          </a:solidFill>
                          <a:latin typeface="IBM Plex Sans" pitchFamily="34" charset="0"/>
                          <a:ea typeface="IBM Plex Sans" pitchFamily="34" charset="-122"/>
                          <a:cs typeface="IBM Plex Sans" pitchFamily="34" charset="-120"/>
                        </a:rPr>
                        <a:t>…give green only after an unusual gap, and give an early bus nothing?</a:t>
                      </a:r>
                      <a:endParaRPr lang="en-US" sz="1275" dirty="0">
                        <a:latin typeface="IBM Plex Sans" charset="0"/>
                        <a:ea typeface="IBM Plex Sans" charset="0"/>
                        <a:cs typeface="IBM Plex Sans" charset="0"/>
                      </a:endParaRPr>
                    </a:p>
                  </a:txBody>
                  <a:tcPr marL="127000" marR="127000" marT="101600" marB="101600" anchor="t">
                    <a:lnL w="12700" cap="flat" cmpd="sng" algn="ctr">
                      <a:solidFill>
                        <a:srgbClr val="C3C0BB"/>
                      </a:solidFill>
                      <a:prstDash val="solid"/>
                      <a:round/>
                      <a:headEnd type="none" w="med" len="med"/>
                      <a:tailEnd type="none" w="med" len="med"/>
                    </a:lnL>
                    <a:lnR w="12700" cap="flat" cmpd="sng" algn="ctr">
                      <a:solidFill>
                        <a:srgbClr val="C3C0BB"/>
                      </a:solidFill>
                      <a:prstDash val="solid"/>
                      <a:round/>
                      <a:headEnd type="none" w="med" len="med"/>
                      <a:tailEnd type="none" w="med" len="med"/>
                    </a:lnR>
                    <a:lnT w="12700" cap="flat" cmpd="sng" algn="ctr">
                      <a:solidFill>
                        <a:srgbClr val="C3C0BB"/>
                      </a:solidFill>
                      <a:prstDash val="solid"/>
                      <a:round/>
                      <a:headEnd type="none" w="med" len="med"/>
                      <a:tailEnd type="none" w="med" len="med"/>
                    </a:lnT>
                    <a:lnB w="12700" cap="flat" cmpd="sng" algn="ctr">
                      <a:solidFill>
                        <a:srgbClr val="C3C0BB"/>
                      </a:solidFill>
                      <a:prstDash val="solid"/>
                      <a:round/>
                      <a:headEnd type="none" w="med" len="med"/>
                      <a:tailEnd type="none" w="med" len="med"/>
                    </a:lnB>
                  </a:tcPr>
                </a:tc>
              </a:tr>
              <a:tr h="457756">
                <a:tc>
                  <a:txBody>
                    <a:bodyPr/>
                    <a:lstStyle/>
                    <a:p>
                      <a:pPr indent="0" marL="0">
                        <a:lnSpc>
                          <a:spcPts val="1785"/>
                        </a:lnSpc>
                        <a:buNone/>
                      </a:pPr>
                      <a:r>
                        <a:rPr lang="en-US" sz="1275" dirty="0">
                          <a:solidFill>
                            <a:srgbClr val="16222C"/>
                          </a:solidFill>
                          <a:latin typeface="IBM Plex Sans" pitchFamily="34" charset="0"/>
                          <a:ea typeface="IBM Plex Sans" pitchFamily="34" charset="-122"/>
                          <a:cs typeface="IBM Plex Sans" pitchFamily="34" charset="-120"/>
                        </a:rPr>
                        <a:t>Rosa</a:t>
                      </a:r>
                      <a:endParaRPr lang="en-US" sz="1275" dirty="0">
                        <a:latin typeface="IBM Plex Sans" charset="0"/>
                        <a:ea typeface="IBM Plex Sans" charset="0"/>
                        <a:cs typeface="IBM Plex Sans" charset="0"/>
                      </a:endParaRPr>
                    </a:p>
                  </a:txBody>
                  <a:tcPr marL="127000" marR="127000" marT="101600" marB="101600" anchor="t">
                    <a:lnL w="12700" cap="flat" cmpd="sng" algn="ctr">
                      <a:solidFill>
                        <a:srgbClr val="C3C0BB"/>
                      </a:solidFill>
                      <a:prstDash val="solid"/>
                      <a:round/>
                      <a:headEnd type="none" w="med" len="med"/>
                      <a:tailEnd type="none" w="med" len="med"/>
                    </a:lnL>
                    <a:lnR w="12700" cap="flat" cmpd="sng" algn="ctr">
                      <a:solidFill>
                        <a:srgbClr val="C3C0BB"/>
                      </a:solidFill>
                      <a:prstDash val="solid"/>
                      <a:round/>
                      <a:headEnd type="none" w="med" len="med"/>
                      <a:tailEnd type="none" w="med" len="med"/>
                    </a:lnR>
                    <a:lnT w="12700" cap="flat" cmpd="sng" algn="ctr">
                      <a:solidFill>
                        <a:srgbClr val="C3C0BB"/>
                      </a:solidFill>
                      <a:prstDash val="solid"/>
                      <a:round/>
                      <a:headEnd type="none" w="med" len="med"/>
                      <a:tailEnd type="none" w="med" len="med"/>
                    </a:lnT>
                    <a:lnB w="12700" cap="flat" cmpd="sng" algn="ctr">
                      <a:solidFill>
                        <a:srgbClr val="C3C0BB"/>
                      </a:solidFill>
                      <a:prstDash val="solid"/>
                      <a:round/>
                      <a:headEnd type="none" w="med" len="med"/>
                      <a:tailEnd type="none" w="med" len="med"/>
                    </a:lnB>
                  </a:tcPr>
                </a:tc>
                <a:tc>
                  <a:txBody>
                    <a:bodyPr/>
                    <a:lstStyle/>
                    <a:p>
                      <a:pPr indent="0" marL="0">
                        <a:lnSpc>
                          <a:spcPts val="1785"/>
                        </a:lnSpc>
                        <a:buNone/>
                      </a:pPr>
                      <a:r>
                        <a:rPr lang="en-US" sz="1275" dirty="0">
                          <a:solidFill>
                            <a:srgbClr val="16222C"/>
                          </a:solidFill>
                          <a:latin typeface="IBM Plex Sans" pitchFamily="34" charset="0"/>
                          <a:ea typeface="IBM Plex Sans" pitchFamily="34" charset="-122"/>
                          <a:cs typeface="IBM Plex Sans" pitchFamily="34" charset="-120"/>
                        </a:rPr>
                        <a:t>…explain one grant or one denial with a reason code, or abstain?</a:t>
                      </a:r>
                      <a:endParaRPr lang="en-US" sz="1275" dirty="0">
                        <a:latin typeface="IBM Plex Sans" charset="0"/>
                        <a:ea typeface="IBM Plex Sans" charset="0"/>
                        <a:cs typeface="IBM Plex Sans" charset="0"/>
                      </a:endParaRPr>
                    </a:p>
                  </a:txBody>
                  <a:tcPr marL="127000" marR="127000" marT="101600" marB="101600" anchor="t">
                    <a:lnL w="12700" cap="flat" cmpd="sng" algn="ctr">
                      <a:solidFill>
                        <a:srgbClr val="C3C0BB"/>
                      </a:solidFill>
                      <a:prstDash val="solid"/>
                      <a:round/>
                      <a:headEnd type="none" w="med" len="med"/>
                      <a:tailEnd type="none" w="med" len="med"/>
                    </a:lnL>
                    <a:lnR w="12700" cap="flat" cmpd="sng" algn="ctr">
                      <a:solidFill>
                        <a:srgbClr val="C3C0BB"/>
                      </a:solidFill>
                      <a:prstDash val="solid"/>
                      <a:round/>
                      <a:headEnd type="none" w="med" len="med"/>
                      <a:tailEnd type="none" w="med" len="med"/>
                    </a:lnR>
                    <a:lnT w="12700" cap="flat" cmpd="sng" algn="ctr">
                      <a:solidFill>
                        <a:srgbClr val="C3C0BB"/>
                      </a:solidFill>
                      <a:prstDash val="solid"/>
                      <a:round/>
                      <a:headEnd type="none" w="med" len="med"/>
                      <a:tailEnd type="none" w="med" len="med"/>
                    </a:lnT>
                    <a:lnB w="12700" cap="flat" cmpd="sng" algn="ctr">
                      <a:solidFill>
                        <a:srgbClr val="C3C0BB"/>
                      </a:solidFill>
                      <a:prstDash val="solid"/>
                      <a:round/>
                      <a:headEnd type="none" w="med" len="med"/>
                      <a:tailEnd type="none" w="med" len="med"/>
                    </a:lnB>
                  </a:tcPr>
                </a:tc>
              </a:tr>
              <a:tr h="684451">
                <a:tc>
                  <a:txBody>
                    <a:bodyPr/>
                    <a:lstStyle/>
                    <a:p>
                      <a:pPr indent="0" marL="0">
                        <a:lnSpc>
                          <a:spcPts val="1785"/>
                        </a:lnSpc>
                        <a:buNone/>
                      </a:pPr>
                      <a:r>
                        <a:rPr lang="en-US" sz="1275" dirty="0">
                          <a:solidFill>
                            <a:srgbClr val="16222C"/>
                          </a:solidFill>
                          <a:latin typeface="IBM Plex Sans" pitchFamily="34" charset="0"/>
                          <a:ea typeface="IBM Plex Sans" pitchFamily="34" charset="-122"/>
                          <a:cs typeface="IBM Plex Sans" pitchFamily="34" charset="-120"/>
                        </a:rPr>
                        <a:t>Marcus</a:t>
                      </a:r>
                      <a:endParaRPr lang="en-US" sz="1275" dirty="0">
                        <a:latin typeface="IBM Plex Sans" charset="0"/>
                        <a:ea typeface="IBM Plex Sans" charset="0"/>
                        <a:cs typeface="IBM Plex Sans" charset="0"/>
                      </a:endParaRPr>
                    </a:p>
                  </a:txBody>
                  <a:tcPr marL="127000" marR="127000" marT="101600" marB="101600" anchor="t">
                    <a:lnL w="12700" cap="flat" cmpd="sng" algn="ctr">
                      <a:solidFill>
                        <a:srgbClr val="C3C0BB"/>
                      </a:solidFill>
                      <a:prstDash val="solid"/>
                      <a:round/>
                      <a:headEnd type="none" w="med" len="med"/>
                      <a:tailEnd type="none" w="med" len="med"/>
                    </a:lnL>
                    <a:lnR w="12700" cap="flat" cmpd="sng" algn="ctr">
                      <a:solidFill>
                        <a:srgbClr val="C3C0BB"/>
                      </a:solidFill>
                      <a:prstDash val="solid"/>
                      <a:round/>
                      <a:headEnd type="none" w="med" len="med"/>
                      <a:tailEnd type="none" w="med" len="med"/>
                    </a:lnR>
                    <a:lnT w="12700" cap="flat" cmpd="sng" algn="ctr">
                      <a:solidFill>
                        <a:srgbClr val="C3C0BB"/>
                      </a:solidFill>
                      <a:prstDash val="solid"/>
                      <a:round/>
                      <a:headEnd type="none" w="med" len="med"/>
                      <a:tailEnd type="none" w="med" len="med"/>
                    </a:lnT>
                    <a:lnB w="12700" cap="flat" cmpd="sng" algn="ctr">
                      <a:solidFill>
                        <a:srgbClr val="C3C0BB"/>
                      </a:solidFill>
                      <a:prstDash val="solid"/>
                      <a:round/>
                      <a:headEnd type="none" w="med" len="med"/>
                      <a:tailEnd type="none" w="med" len="med"/>
                    </a:lnB>
                  </a:tcPr>
                </a:tc>
                <a:tc>
                  <a:txBody>
                    <a:bodyPr/>
                    <a:lstStyle/>
                    <a:p>
                      <a:pPr indent="0" marL="0">
                        <a:lnSpc>
                          <a:spcPts val="1785"/>
                        </a:lnSpc>
                        <a:buNone/>
                      </a:pPr>
                      <a:r>
                        <a:rPr lang="en-US" sz="1275" dirty="0">
                          <a:solidFill>
                            <a:srgbClr val="16222C"/>
                          </a:solidFill>
                          <a:latin typeface="IBM Plex Sans" pitchFamily="34" charset="0"/>
                          <a:ea typeface="IBM Plex Sans" pitchFamily="34" charset="-122"/>
                          <a:cs typeface="IBM Plex Sans" pitchFamily="34" charset="-120"/>
                        </a:rPr>
                        <a:t>…check the exit before green, then recover, without cutting the crossing?</a:t>
                      </a:r>
                      <a:endParaRPr lang="en-US" sz="1275" dirty="0">
                        <a:latin typeface="IBM Plex Sans" charset="0"/>
                        <a:ea typeface="IBM Plex Sans" charset="0"/>
                        <a:cs typeface="IBM Plex Sans" charset="0"/>
                      </a:endParaRPr>
                    </a:p>
                  </a:txBody>
                  <a:tcPr marL="127000" marR="127000" marT="101600" marB="101600" anchor="t">
                    <a:lnL w="12700" cap="flat" cmpd="sng" algn="ctr">
                      <a:solidFill>
                        <a:srgbClr val="C3C0BB"/>
                      </a:solidFill>
                      <a:prstDash val="solid"/>
                      <a:round/>
                      <a:headEnd type="none" w="med" len="med"/>
                      <a:tailEnd type="none" w="med" len="med"/>
                    </a:lnL>
                    <a:lnR w="12700" cap="flat" cmpd="sng" algn="ctr">
                      <a:solidFill>
                        <a:srgbClr val="C3C0BB"/>
                      </a:solidFill>
                      <a:prstDash val="solid"/>
                      <a:round/>
                      <a:headEnd type="none" w="med" len="med"/>
                      <a:tailEnd type="none" w="med" len="med"/>
                    </a:lnR>
                    <a:lnT w="12700" cap="flat" cmpd="sng" algn="ctr">
                      <a:solidFill>
                        <a:srgbClr val="C3C0BB"/>
                      </a:solidFill>
                      <a:prstDash val="solid"/>
                      <a:round/>
                      <a:headEnd type="none" w="med" len="med"/>
                      <a:tailEnd type="none" w="med" len="med"/>
                    </a:lnT>
                    <a:lnB w="12700" cap="flat" cmpd="sng" algn="ctr">
                      <a:solidFill>
                        <a:srgbClr val="C3C0BB"/>
                      </a:solidFill>
                      <a:prstDash val="solid"/>
                      <a:round/>
                      <a:headEnd type="none" w="med" len="med"/>
                      <a:tailEnd type="none" w="med" len="med"/>
                    </a:lnB>
                  </a:tcPr>
                </a:tc>
              </a:tr>
              <a:tr h="684451">
                <a:tc>
                  <a:txBody>
                    <a:bodyPr/>
                    <a:lstStyle/>
                    <a:p>
                      <a:pPr indent="0" marL="0">
                        <a:lnSpc>
                          <a:spcPts val="1785"/>
                        </a:lnSpc>
                        <a:buNone/>
                      </a:pPr>
                      <a:r>
                        <a:rPr lang="en-US" sz="1275" dirty="0">
                          <a:solidFill>
                            <a:srgbClr val="16222C"/>
                          </a:solidFill>
                          <a:latin typeface="IBM Plex Sans" pitchFamily="34" charset="0"/>
                          <a:ea typeface="IBM Plex Sans" pitchFamily="34" charset="-122"/>
                          <a:cs typeface="IBM Plex Sans" pitchFamily="34" charset="-120"/>
                        </a:rPr>
                        <a:t>Omar</a:t>
                      </a:r>
                      <a:endParaRPr lang="en-US" sz="1275" dirty="0">
                        <a:latin typeface="IBM Plex Sans" charset="0"/>
                        <a:ea typeface="IBM Plex Sans" charset="0"/>
                        <a:cs typeface="IBM Plex Sans" charset="0"/>
                      </a:endParaRPr>
                    </a:p>
                  </a:txBody>
                  <a:tcPr marL="127000" marR="127000" marT="101600" marB="101600" anchor="t">
                    <a:lnL w="12700" cap="flat" cmpd="sng" algn="ctr">
                      <a:solidFill>
                        <a:srgbClr val="C3C0BB"/>
                      </a:solidFill>
                      <a:prstDash val="solid"/>
                      <a:round/>
                      <a:headEnd type="none" w="med" len="med"/>
                      <a:tailEnd type="none" w="med" len="med"/>
                    </a:lnL>
                    <a:lnR w="12700" cap="flat" cmpd="sng" algn="ctr">
                      <a:solidFill>
                        <a:srgbClr val="C3C0BB"/>
                      </a:solidFill>
                      <a:prstDash val="solid"/>
                      <a:round/>
                      <a:headEnd type="none" w="med" len="med"/>
                      <a:tailEnd type="none" w="med" len="med"/>
                    </a:lnR>
                    <a:lnT w="12700" cap="flat" cmpd="sng" algn="ctr">
                      <a:solidFill>
                        <a:srgbClr val="C3C0BB"/>
                      </a:solidFill>
                      <a:prstDash val="solid"/>
                      <a:round/>
                      <a:headEnd type="none" w="med" len="med"/>
                      <a:tailEnd type="none" w="med" len="med"/>
                    </a:lnT>
                    <a:lnB w="12700" cap="flat" cmpd="sng" algn="ctr">
                      <a:solidFill>
                        <a:srgbClr val="C3C0BB"/>
                      </a:solidFill>
                      <a:prstDash val="solid"/>
                      <a:round/>
                      <a:headEnd type="none" w="med" len="med"/>
                      <a:tailEnd type="none" w="med" len="med"/>
                    </a:lnB>
                  </a:tcPr>
                </a:tc>
                <a:tc>
                  <a:txBody>
                    <a:bodyPr/>
                    <a:lstStyle/>
                    <a:p>
                      <a:pPr indent="0" marL="0">
                        <a:lnSpc>
                          <a:spcPts val="1785"/>
                        </a:lnSpc>
                        <a:buNone/>
                      </a:pPr>
                      <a:r>
                        <a:rPr lang="en-US" sz="1275" dirty="0">
                          <a:solidFill>
                            <a:srgbClr val="16222C"/>
                          </a:solidFill>
                          <a:latin typeface="IBM Plex Sans" pitchFamily="34" charset="0"/>
                          <a:ea typeface="IBM Plex Sans" pitchFamily="34" charset="-122"/>
                          <a:cs typeface="IBM Plex Sans" pitchFamily="34" charset="-120"/>
                        </a:rPr>
                        <a:t>…publish the class, the confidence and the freshness, and refuse to name the cause?</a:t>
                      </a:r>
                      <a:endParaRPr lang="en-US" sz="1275" dirty="0">
                        <a:latin typeface="IBM Plex Sans" charset="0"/>
                        <a:ea typeface="IBM Plex Sans" charset="0"/>
                        <a:cs typeface="IBM Plex Sans" charset="0"/>
                      </a:endParaRPr>
                    </a:p>
                  </a:txBody>
                  <a:tcPr marL="127000" marR="127000" marT="101600" marB="101600" anchor="t">
                    <a:lnL w="12700" cap="flat" cmpd="sng" algn="ctr">
                      <a:solidFill>
                        <a:srgbClr val="C3C0BB"/>
                      </a:solidFill>
                      <a:prstDash val="solid"/>
                      <a:round/>
                      <a:headEnd type="none" w="med" len="med"/>
                      <a:tailEnd type="none" w="med" len="med"/>
                    </a:lnL>
                    <a:lnR w="12700" cap="flat" cmpd="sng" algn="ctr">
                      <a:solidFill>
                        <a:srgbClr val="C3C0BB"/>
                      </a:solidFill>
                      <a:prstDash val="solid"/>
                      <a:round/>
                      <a:headEnd type="none" w="med" len="med"/>
                      <a:tailEnd type="none" w="med" len="med"/>
                    </a:lnR>
                    <a:lnT w="12700" cap="flat" cmpd="sng" algn="ctr">
                      <a:solidFill>
                        <a:srgbClr val="C3C0BB"/>
                      </a:solidFill>
                      <a:prstDash val="solid"/>
                      <a:round/>
                      <a:headEnd type="none" w="med" len="med"/>
                      <a:tailEnd type="none" w="med" len="med"/>
                    </a:lnT>
                    <a:lnB w="12700" cap="flat" cmpd="sng" algn="ctr">
                      <a:solidFill>
                        <a:srgbClr val="C3C0BB"/>
                      </a:solidFill>
                      <a:prstDash val="solid"/>
                      <a:round/>
                      <a:headEnd type="none" w="med" len="med"/>
                      <a:tailEnd type="none" w="med" len="med"/>
                    </a:lnB>
                  </a:tcPr>
                </a:tc>
              </a:tr>
            </a:tbl>
          </a:graphicData>
        </a:graphic>
      </p:graphicFrame>
      <p:sp>
        <p:nvSpPr>
          <p:cNvPr id="5" name="Text 2"/>
          <p:cNvSpPr/>
          <p:nvPr/>
        </p:nvSpPr>
        <p:spPr>
          <a:xfrm>
            <a:off x="812800" y="6238242"/>
            <a:ext cx="5537514"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B73"/>
                </a:solidFill>
                <a:latin typeface="IBM Plex Sans" pitchFamily="34" charset="0"/>
                <a:ea typeface="IBM Plex Sans" pitchFamily="34" charset="-122"/>
                <a:cs typeface="IBM Plex Sans" pitchFamily="34" charset="-120"/>
              </a:rPr>
              <a:t>Written from the needs table (slide 17), not collected in a workshop with users.</a:t>
            </a:r>
            <a:endParaRPr lang="en-US" sz="1200" dirty="0"/>
          </a:p>
        </p:txBody>
      </p:sp>
      <p:sp>
        <p:nvSpPr>
          <p:cNvPr id="6" name="Text 3"/>
          <p:cNvSpPr/>
          <p:nvPr/>
        </p:nvSpPr>
        <p:spPr>
          <a:xfrm>
            <a:off x="11196320" y="6238242"/>
            <a:ext cx="23368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B73"/>
                </a:solidFill>
                <a:latin typeface="IBM Plex Sans" pitchFamily="34" charset="0"/>
                <a:ea typeface="IBM Plex Sans" pitchFamily="34" charset="-122"/>
                <a:cs typeface="IBM Plex Sans" pitchFamily="34" charset="-120"/>
              </a:rPr>
              <a:t>20</a:t>
            </a:r>
            <a:endParaRPr lang="en-US" sz="12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4F1EA"/>
        </a:solidFill>
      </p:bgPr>
    </p:bg>
    <p:spTree>
      <p:nvGrpSpPr>
        <p:cNvPr id="1" name=""/>
        <p:cNvGrpSpPr/>
        <p:nvPr/>
      </p:nvGrpSpPr>
      <p:grpSpPr>
        <a:xfrm>
          <a:off x="0" y="0"/>
          <a:ext cx="0" cy="0"/>
          <a:chOff x="0" y="0"/>
          <a:chExt cx="0" cy="0"/>
        </a:xfrm>
      </p:grpSpPr>
      <p:sp>
        <p:nvSpPr>
          <p:cNvPr id="2" name="Text 0"/>
          <p:cNvSpPr/>
          <p:nvPr/>
        </p:nvSpPr>
        <p:spPr>
          <a:xfrm>
            <a:off x="812800" y="812800"/>
            <a:ext cx="10883392" cy="155893"/>
          </a:xfrm>
          <a:prstGeom prst="rect">
            <a:avLst/>
          </a:prstGeom>
          <a:noFill/>
          <a:ln/>
        </p:spPr>
        <p:txBody>
          <a:bodyPr wrap="square" lIns="0" tIns="0" rIns="0" bIns="0" rtlCol="0" anchor="t">
            <a:normAutofit/>
          </a:bodyPr>
          <a:lstStyle/>
          <a:p>
            <a:pPr algn="l" indent="0" marL="0">
              <a:lnSpc>
                <a:spcPts val="1071"/>
              </a:lnSpc>
              <a:buNone/>
            </a:pPr>
            <a:r>
              <a:rPr lang="en-US" sz="765" spc="100" kern="0" dirty="0">
                <a:solidFill>
                  <a:srgbClr val="1F6B72"/>
                </a:solidFill>
                <a:latin typeface="IBM Plex Mono" pitchFamily="34" charset="0"/>
                <a:ea typeface="IBM Plex Mono" pitchFamily="34" charset="-122"/>
                <a:cs typeface="IBM Plex Mono" pitchFamily="34" charset="-120"/>
              </a:rPr>
              <a:t>IDEATION · 2.3 IDEAS GENERATED</a:t>
            </a:r>
            <a:endParaRPr lang="en-US" sz="765" dirty="0"/>
          </a:p>
        </p:txBody>
      </p:sp>
      <p:sp>
        <p:nvSpPr>
          <p:cNvPr id="3" name="Text 1"/>
          <p:cNvSpPr/>
          <p:nvPr/>
        </p:nvSpPr>
        <p:spPr>
          <a:xfrm>
            <a:off x="812800" y="1044897"/>
            <a:ext cx="10883392" cy="298767"/>
          </a:xfrm>
          <a:prstGeom prst="rect">
            <a:avLst/>
          </a:prstGeom>
          <a:noFill/>
          <a:ln/>
        </p:spPr>
        <p:txBody>
          <a:bodyPr wrap="square" lIns="0" tIns="0" rIns="0" bIns="0" rtlCol="0" anchor="t">
            <a:normAutofit/>
          </a:bodyPr>
          <a:lstStyle/>
          <a:p>
            <a:pPr algn="l" indent="0" marL="0">
              <a:lnSpc>
                <a:spcPts val="2167"/>
              </a:lnSpc>
              <a:buNone/>
            </a:pPr>
            <a:r>
              <a:rPr lang="en-US" sz="1970" b="1" dirty="0">
                <a:solidFill>
                  <a:srgbClr val="16222C"/>
                </a:solidFill>
                <a:latin typeface="Space Grotesk" pitchFamily="34" charset="0"/>
                <a:ea typeface="Space Grotesk" pitchFamily="34" charset="-122"/>
                <a:cs typeface="Space Grotesk" pitchFamily="34" charset="-120"/>
              </a:rPr>
              <a:t>15 ideas generated: 6 kept, 9 refused</a:t>
            </a:r>
            <a:endParaRPr lang="en-US" sz="197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22960" y="1582418"/>
          <a:ext cx="10556240" cy="4259580"/>
        </p:xfrm>
        <a:graphic>
          <a:graphicData uri="http://schemas.openxmlformats.org/drawingml/2006/table">
            <a:tbl>
              <a:tblPr/>
              <a:tblGrid>
                <a:gridCol w="2639060"/>
                <a:gridCol w="2639060"/>
                <a:gridCol w="2639060"/>
                <a:gridCol w="2639060"/>
              </a:tblGrid>
              <a:tr h="375047">
                <a:tc>
                  <a:txBody>
                    <a:bodyPr/>
                    <a:lstStyle/>
                    <a:p>
                      <a:pPr indent="0" marL="0">
                        <a:lnSpc>
                          <a:spcPts val="1652"/>
                        </a:lnSpc>
                        <a:buNone/>
                      </a:pPr>
                      <a:r>
                        <a:rPr lang="en-US" sz="1180" b="1" dirty="0">
                          <a:solidFill>
                            <a:srgbClr val="F4F1EA"/>
                          </a:solidFill>
                          <a:latin typeface="IBM Plex Sans" pitchFamily="34" charset="0"/>
                          <a:ea typeface="IBM Plex Sans" pitchFamily="34" charset="-122"/>
                          <a:cs typeface="IBM Plex Sans" pitchFamily="34" charset="-120"/>
                        </a:rPr>
                        <a:t>Who</a:t>
                      </a:r>
                      <a:endParaRPr lang="en-US" sz="1180" dirty="0">
                        <a:latin typeface="IBM Plex Sans" charset="0"/>
                        <a:ea typeface="IBM Plex Sans" charset="0"/>
                        <a:cs typeface="IBM Plex Sans" charset="0"/>
                      </a:endParaRPr>
                    </a:p>
                  </a:txBody>
                  <a:tcPr marL="114300" marR="114300" marT="76200" marB="76200" anchor="t">
                    <a:lnL w="12700" cap="flat" cmpd="sng" algn="ctr">
                      <a:solidFill>
                        <a:srgbClr val="C3C0BB"/>
                      </a:solidFill>
                      <a:prstDash val="solid"/>
                      <a:round/>
                      <a:headEnd type="none" w="med" len="med"/>
                      <a:tailEnd type="none" w="med" len="med"/>
                    </a:lnL>
                    <a:lnR w="12700" cap="flat" cmpd="sng" algn="ctr">
                      <a:solidFill>
                        <a:srgbClr val="B5B2AD"/>
                      </a:solidFill>
                      <a:prstDash val="solid"/>
                      <a:round/>
                      <a:headEnd type="none" w="med" len="med"/>
                      <a:tailEnd type="none" w="med" len="med"/>
                    </a:lnR>
                    <a:lnT w="12700" cap="flat" cmpd="sng" algn="ctr">
                      <a:solidFill>
                        <a:srgbClr val="C3C0BB"/>
                      </a:solidFill>
                      <a:prstDash val="solid"/>
                      <a:round/>
                      <a:headEnd type="none" w="med" len="med"/>
                      <a:tailEnd type="none" w="med" len="med"/>
                    </a:lnT>
                    <a:lnB w="12700" cap="flat" cmpd="sng" algn="ctr">
                      <a:solidFill>
                        <a:srgbClr val="B5B2AD"/>
                      </a:solidFill>
                      <a:prstDash val="solid"/>
                      <a:round/>
                      <a:headEnd type="none" w="med" len="med"/>
                      <a:tailEnd type="none" w="med" len="med"/>
                    </a:lnB>
                    <a:solidFill>
                      <a:srgbClr val="E2DFD9"/>
                    </a:solidFill>
                  </a:tcPr>
                </a:tc>
                <a:tc>
                  <a:txBody>
                    <a:bodyPr/>
                    <a:lstStyle/>
                    <a:p>
                      <a:pPr indent="0" marL="0">
                        <a:lnSpc>
                          <a:spcPts val="1652"/>
                        </a:lnSpc>
                        <a:buNone/>
                      </a:pPr>
                      <a:r>
                        <a:rPr lang="en-US" sz="1180" b="1" dirty="0">
                          <a:solidFill>
                            <a:srgbClr val="F4F1EA"/>
                          </a:solidFill>
                          <a:latin typeface="IBM Plex Sans" pitchFamily="34" charset="0"/>
                          <a:ea typeface="IBM Plex Sans" pitchFamily="34" charset="-122"/>
                          <a:cs typeface="IBM Plex Sans" pitchFamily="34" charset="-120"/>
                        </a:rPr>
                        <a:t>✓ Kept</a:t>
                      </a:r>
                      <a:endParaRPr lang="en-US" sz="1180" dirty="0">
                        <a:latin typeface="IBM Plex Sans" charset="0"/>
                        <a:ea typeface="IBM Plex Sans" charset="0"/>
                        <a:cs typeface="IBM Plex Sans" charset="0"/>
                      </a:endParaRPr>
                    </a:p>
                  </a:txBody>
                  <a:tcPr marL="114300" marR="114300" marT="76200" marB="76200" anchor="t">
                    <a:lnL w="12700" cap="flat" cmpd="sng" algn="ctr">
                      <a:solidFill>
                        <a:srgbClr val="B5B2AD"/>
                      </a:solidFill>
                      <a:prstDash val="solid"/>
                      <a:round/>
                      <a:headEnd type="none" w="med" len="med"/>
                      <a:tailEnd type="none" w="med" len="med"/>
                    </a:lnL>
                    <a:lnR w="12700" cap="flat" cmpd="sng" algn="ctr">
                      <a:solidFill>
                        <a:srgbClr val="B5B2AD"/>
                      </a:solidFill>
                      <a:prstDash val="solid"/>
                      <a:round/>
                      <a:headEnd type="none" w="med" len="med"/>
                      <a:tailEnd type="none" w="med" len="med"/>
                    </a:lnR>
                    <a:lnT w="12700" cap="flat" cmpd="sng" algn="ctr">
                      <a:solidFill>
                        <a:srgbClr val="C3C0BB"/>
                      </a:solidFill>
                      <a:prstDash val="solid"/>
                      <a:round/>
                      <a:headEnd type="none" w="med" len="med"/>
                      <a:tailEnd type="none" w="med" len="med"/>
                    </a:lnT>
                    <a:lnB w="12700" cap="flat" cmpd="sng" algn="ctr">
                      <a:solidFill>
                        <a:srgbClr val="B5B2AD"/>
                      </a:solidFill>
                      <a:prstDash val="solid"/>
                      <a:round/>
                      <a:headEnd type="none" w="med" len="med"/>
                      <a:tailEnd type="none" w="med" len="med"/>
                    </a:lnB>
                    <a:solidFill>
                      <a:srgbClr val="E2DFD9"/>
                    </a:solidFill>
                  </a:tcPr>
                </a:tc>
                <a:tc>
                  <a:txBody>
                    <a:bodyPr/>
                    <a:lstStyle/>
                    <a:p>
                      <a:pPr indent="0" marL="0">
                        <a:lnSpc>
                          <a:spcPts val="1652"/>
                        </a:lnSpc>
                        <a:buNone/>
                      </a:pPr>
                      <a:r>
                        <a:rPr lang="en-US" sz="1180" b="1" dirty="0">
                          <a:solidFill>
                            <a:srgbClr val="F4F1EA"/>
                          </a:solidFill>
                          <a:latin typeface="IBM Plex Sans" pitchFamily="34" charset="0"/>
                          <a:ea typeface="IBM Plex Sans" pitchFamily="34" charset="-122"/>
                          <a:cs typeface="IBM Plex Sans" pitchFamily="34" charset="-120"/>
                        </a:rPr>
                        <a:t>✕ Refused</a:t>
                      </a:r>
                      <a:endParaRPr lang="en-US" sz="1180" dirty="0">
                        <a:latin typeface="IBM Plex Sans" charset="0"/>
                        <a:ea typeface="IBM Plex Sans" charset="0"/>
                        <a:cs typeface="IBM Plex Sans" charset="0"/>
                      </a:endParaRPr>
                    </a:p>
                  </a:txBody>
                  <a:tcPr marL="114300" marR="114300" marT="76200" marB="76200" anchor="t">
                    <a:lnL w="12700" cap="flat" cmpd="sng" algn="ctr">
                      <a:solidFill>
                        <a:srgbClr val="B5B2AD"/>
                      </a:solidFill>
                      <a:prstDash val="solid"/>
                      <a:round/>
                      <a:headEnd type="none" w="med" len="med"/>
                      <a:tailEnd type="none" w="med" len="med"/>
                    </a:lnL>
                    <a:lnR w="12700" cap="flat" cmpd="sng" algn="ctr">
                      <a:solidFill>
                        <a:srgbClr val="B5B2AD"/>
                      </a:solidFill>
                      <a:prstDash val="solid"/>
                      <a:round/>
                      <a:headEnd type="none" w="med" len="med"/>
                      <a:tailEnd type="none" w="med" len="med"/>
                    </a:lnR>
                    <a:lnT w="12700" cap="flat" cmpd="sng" algn="ctr">
                      <a:solidFill>
                        <a:srgbClr val="C3C0BB"/>
                      </a:solidFill>
                      <a:prstDash val="solid"/>
                      <a:round/>
                      <a:headEnd type="none" w="med" len="med"/>
                      <a:tailEnd type="none" w="med" len="med"/>
                    </a:lnT>
                    <a:lnB w="12700" cap="flat" cmpd="sng" algn="ctr">
                      <a:solidFill>
                        <a:srgbClr val="B5B2AD"/>
                      </a:solidFill>
                      <a:prstDash val="solid"/>
                      <a:round/>
                      <a:headEnd type="none" w="med" len="med"/>
                      <a:tailEnd type="none" w="med" len="med"/>
                    </a:lnB>
                    <a:solidFill>
                      <a:srgbClr val="E2DFD9"/>
                    </a:solidFill>
                  </a:tcPr>
                </a:tc>
                <a:tc>
                  <a:txBody>
                    <a:bodyPr/>
                    <a:lstStyle/>
                    <a:p>
                      <a:pPr indent="0" marL="0">
                        <a:lnSpc>
                          <a:spcPts val="1652"/>
                        </a:lnSpc>
                        <a:buNone/>
                      </a:pPr>
                      <a:r>
                        <a:rPr lang="en-US" sz="1180" b="1" dirty="0">
                          <a:solidFill>
                            <a:srgbClr val="F4F1EA"/>
                          </a:solidFill>
                          <a:latin typeface="IBM Plex Sans" pitchFamily="34" charset="0"/>
                          <a:ea typeface="IBM Plex Sans" pitchFamily="34" charset="-122"/>
                          <a:cs typeface="IBM Plex Sans" pitchFamily="34" charset="-120"/>
                        </a:rPr>
                        <a:t>Why refused</a:t>
                      </a:r>
                      <a:endParaRPr lang="en-US" sz="1180" dirty="0">
                        <a:latin typeface="IBM Plex Sans" charset="0"/>
                        <a:ea typeface="IBM Plex Sans" charset="0"/>
                        <a:cs typeface="IBM Plex Sans" charset="0"/>
                      </a:endParaRPr>
                    </a:p>
                  </a:txBody>
                  <a:tcPr marL="114300" marR="114300" marT="76200" marB="76200" anchor="t">
                    <a:lnL w="12700" cap="flat" cmpd="sng" algn="ctr">
                      <a:solidFill>
                        <a:srgbClr val="B5B2AD"/>
                      </a:solidFill>
                      <a:prstDash val="solid"/>
                      <a:round/>
                      <a:headEnd type="none" w="med" len="med"/>
                      <a:tailEnd type="none" w="med" len="med"/>
                    </a:lnL>
                    <a:lnR w="12700" cap="flat" cmpd="sng" algn="ctr">
                      <a:solidFill>
                        <a:srgbClr val="B5B2AD"/>
                      </a:solidFill>
                      <a:prstDash val="solid"/>
                      <a:round/>
                      <a:headEnd type="none" w="med" len="med"/>
                      <a:tailEnd type="none" w="med" len="med"/>
                    </a:lnR>
                    <a:lnT w="12700" cap="flat" cmpd="sng" algn="ctr">
                      <a:solidFill>
                        <a:srgbClr val="C3C0BB"/>
                      </a:solidFill>
                      <a:prstDash val="solid"/>
                      <a:round/>
                      <a:headEnd type="none" w="med" len="med"/>
                      <a:tailEnd type="none" w="med" len="med"/>
                    </a:lnT>
                    <a:lnB w="12700" cap="flat" cmpd="sng" algn="ctr">
                      <a:solidFill>
                        <a:srgbClr val="B5B2AD"/>
                      </a:solidFill>
                      <a:prstDash val="solid"/>
                      <a:round/>
                      <a:headEnd type="none" w="med" len="med"/>
                      <a:tailEnd type="none" w="med" len="med"/>
                    </a:lnB>
                    <a:solidFill>
                      <a:srgbClr val="E2DFD9"/>
                    </a:solidFill>
                  </a:tcPr>
                </a:tc>
              </a:tr>
              <a:tr h="375047">
                <a:tc>
                  <a:txBody>
                    <a:bodyPr/>
                    <a:lstStyle/>
                    <a:p>
                      <a:pPr indent="0" marL="0">
                        <a:lnSpc>
                          <a:spcPts val="1652"/>
                        </a:lnSpc>
                        <a:buNone/>
                      </a:pPr>
                      <a:r>
                        <a:rPr lang="en-US" sz="1180" dirty="0">
                          <a:solidFill>
                            <a:srgbClr val="16222C"/>
                          </a:solidFill>
                          <a:latin typeface="IBM Plex Sans" pitchFamily="34" charset="0"/>
                          <a:ea typeface="IBM Plex Sans" pitchFamily="34" charset="-122"/>
                          <a:cs typeface="IBM Plex Sans" pitchFamily="34" charset="-120"/>
                        </a:rPr>
                        <a:t>Amara</a:t>
                      </a:r>
                      <a:endParaRPr lang="en-US" sz="1180" dirty="0">
                        <a:latin typeface="IBM Plex Sans" charset="0"/>
                        <a:ea typeface="IBM Plex Sans" charset="0"/>
                        <a:cs typeface="IBM Plex Sans" charset="0"/>
                      </a:endParaRPr>
                    </a:p>
                  </a:txBody>
                  <a:tcPr marL="114300" marR="114300" marT="76200" marB="76200" anchor="t">
                    <a:lnL w="12700" cap="flat" cmpd="sng" algn="ctr">
                      <a:solidFill>
                        <a:srgbClr val="C3C0BB"/>
                      </a:solidFill>
                      <a:prstDash val="solid"/>
                      <a:round/>
                      <a:headEnd type="none" w="med" len="med"/>
                      <a:tailEnd type="none" w="med" len="med"/>
                    </a:lnL>
                    <a:lnR w="12700" cap="flat" cmpd="sng" algn="ctr">
                      <a:solidFill>
                        <a:srgbClr val="C3C0BB"/>
                      </a:solidFill>
                      <a:prstDash val="solid"/>
                      <a:round/>
                      <a:headEnd type="none" w="med" len="med"/>
                      <a:tailEnd type="none" w="med" len="med"/>
                    </a:lnR>
                    <a:lnT w="12700" cap="flat" cmpd="sng" algn="ctr">
                      <a:solidFill>
                        <a:srgbClr val="B5B2AD"/>
                      </a:solidFill>
                      <a:prstDash val="solid"/>
                      <a:round/>
                      <a:headEnd type="none" w="med" len="med"/>
                      <a:tailEnd type="none" w="med" len="med"/>
                    </a:lnT>
                    <a:lnB w="12700" cap="flat" cmpd="sng" algn="ctr">
                      <a:solidFill>
                        <a:srgbClr val="C3C0BB"/>
                      </a:solidFill>
                      <a:prstDash val="solid"/>
                      <a:round/>
                      <a:headEnd type="none" w="med" len="med"/>
                      <a:tailEnd type="none" w="med" len="med"/>
                    </a:lnB>
                  </a:tcPr>
                </a:tc>
                <a:tc>
                  <a:txBody>
                    <a:bodyPr/>
                    <a:lstStyle/>
                    <a:p>
                      <a:pPr indent="0" marL="0">
                        <a:lnSpc>
                          <a:spcPts val="1652"/>
                        </a:lnSpc>
                        <a:buNone/>
                      </a:pPr>
                      <a:r>
                        <a:rPr lang="en-US" sz="1180" dirty="0">
                          <a:solidFill>
                            <a:srgbClr val="16222C"/>
                          </a:solidFill>
                          <a:latin typeface="IBM Plex Sans" pitchFamily="34" charset="0"/>
                          <a:ea typeface="IBM Plex Sans" pitchFamily="34" charset="-122"/>
                          <a:cs typeface="IBM Plex Sans" pitchFamily="34" charset="-120"/>
                        </a:rPr>
                        <a:t>Hold the green, count truncations</a:t>
                      </a:r>
                      <a:endParaRPr lang="en-US" sz="1180" dirty="0">
                        <a:latin typeface="IBM Plex Sans" charset="0"/>
                        <a:ea typeface="IBM Plex Sans" charset="0"/>
                        <a:cs typeface="IBM Plex Sans" charset="0"/>
                      </a:endParaRPr>
                    </a:p>
                  </a:txBody>
                  <a:tcPr marL="114300" marR="114300" marT="76200" marB="76200" anchor="t">
                    <a:lnL w="12700" cap="flat" cmpd="sng" algn="ctr">
                      <a:solidFill>
                        <a:srgbClr val="C3C0BB"/>
                      </a:solidFill>
                      <a:prstDash val="solid"/>
                      <a:round/>
                      <a:headEnd type="none" w="med" len="med"/>
                      <a:tailEnd type="none" w="med" len="med"/>
                    </a:lnL>
                    <a:lnR w="12700" cap="flat" cmpd="sng" algn="ctr">
                      <a:solidFill>
                        <a:srgbClr val="C3C0BB"/>
                      </a:solidFill>
                      <a:prstDash val="solid"/>
                      <a:round/>
                      <a:headEnd type="none" w="med" len="med"/>
                      <a:tailEnd type="none" w="med" len="med"/>
                    </a:lnR>
                    <a:lnT w="12700" cap="flat" cmpd="sng" algn="ctr">
                      <a:solidFill>
                        <a:srgbClr val="B5B2AD"/>
                      </a:solidFill>
                      <a:prstDash val="solid"/>
                      <a:round/>
                      <a:headEnd type="none" w="med" len="med"/>
                      <a:tailEnd type="none" w="med" len="med"/>
                    </a:lnT>
                    <a:lnB w="12700" cap="flat" cmpd="sng" algn="ctr">
                      <a:solidFill>
                        <a:srgbClr val="C3C0BB"/>
                      </a:solidFill>
                      <a:prstDash val="solid"/>
                      <a:round/>
                      <a:headEnd type="none" w="med" len="med"/>
                      <a:tailEnd type="none" w="med" len="med"/>
                    </a:lnB>
                  </a:tcPr>
                </a:tc>
                <a:tc>
                  <a:txBody>
                    <a:bodyPr/>
                    <a:lstStyle/>
                    <a:p>
                      <a:pPr indent="0" marL="0">
                        <a:lnSpc>
                          <a:spcPts val="1652"/>
                        </a:lnSpc>
                        <a:buNone/>
                      </a:pPr>
                      <a:r>
                        <a:rPr lang="en-US" sz="1180" dirty="0">
                          <a:solidFill>
                            <a:srgbClr val="16222C"/>
                          </a:solidFill>
                          <a:latin typeface="IBM Plex Sans" pitchFamily="34" charset="0"/>
                          <a:ea typeface="IBM Plex Sans" pitchFamily="34" charset="-122"/>
                          <a:cs typeface="IBM Plex Sans" pitchFamily="34" charset="-120"/>
                        </a:rPr>
                        <a:t>A camera that guesses her ability</a:t>
                      </a:r>
                      <a:endParaRPr lang="en-US" sz="1180" dirty="0">
                        <a:latin typeface="IBM Plex Sans" charset="0"/>
                        <a:ea typeface="IBM Plex Sans" charset="0"/>
                        <a:cs typeface="IBM Plex Sans" charset="0"/>
                      </a:endParaRPr>
                    </a:p>
                  </a:txBody>
                  <a:tcPr marL="114300" marR="114300" marT="76200" marB="76200" anchor="t">
                    <a:lnL w="12700" cap="flat" cmpd="sng" algn="ctr">
                      <a:solidFill>
                        <a:srgbClr val="C3C0BB"/>
                      </a:solidFill>
                      <a:prstDash val="solid"/>
                      <a:round/>
                      <a:headEnd type="none" w="med" len="med"/>
                      <a:tailEnd type="none" w="med" len="med"/>
                    </a:lnL>
                    <a:lnR w="12700" cap="flat" cmpd="sng" algn="ctr">
                      <a:solidFill>
                        <a:srgbClr val="C3C0BB"/>
                      </a:solidFill>
                      <a:prstDash val="solid"/>
                      <a:round/>
                      <a:headEnd type="none" w="med" len="med"/>
                      <a:tailEnd type="none" w="med" len="med"/>
                    </a:lnR>
                    <a:lnT w="12700" cap="flat" cmpd="sng" algn="ctr">
                      <a:solidFill>
                        <a:srgbClr val="B5B2AD"/>
                      </a:solidFill>
                      <a:prstDash val="solid"/>
                      <a:round/>
                      <a:headEnd type="none" w="med" len="med"/>
                      <a:tailEnd type="none" w="med" len="med"/>
                    </a:lnT>
                    <a:lnB w="12700" cap="flat" cmpd="sng" algn="ctr">
                      <a:solidFill>
                        <a:srgbClr val="C3C0BB"/>
                      </a:solidFill>
                      <a:prstDash val="solid"/>
                      <a:round/>
                      <a:headEnd type="none" w="med" len="med"/>
                      <a:tailEnd type="none" w="med" len="med"/>
                    </a:lnB>
                  </a:tcPr>
                </a:tc>
                <a:tc>
                  <a:txBody>
                    <a:bodyPr/>
                    <a:lstStyle/>
                    <a:p>
                      <a:pPr indent="0" marL="0">
                        <a:lnSpc>
                          <a:spcPts val="1652"/>
                        </a:lnSpc>
                        <a:buNone/>
                      </a:pPr>
                      <a:r>
                        <a:rPr lang="en-US" sz="1180" dirty="0">
                          <a:solidFill>
                            <a:srgbClr val="8A3E14"/>
                          </a:solidFill>
                          <a:latin typeface="IBM Plex Sans" pitchFamily="34" charset="0"/>
                          <a:ea typeface="IBM Plex Sans" pitchFamily="34" charset="-122"/>
                          <a:cs typeface="IBM Plex Sans" pitchFamily="34" charset="-120"/>
                        </a:rPr>
                        <a:t>Invents data about her</a:t>
                      </a:r>
                      <a:endParaRPr lang="en-US" sz="1180" dirty="0">
                        <a:latin typeface="IBM Plex Sans" charset="0"/>
                        <a:ea typeface="IBM Plex Sans" charset="0"/>
                        <a:cs typeface="IBM Plex Sans" charset="0"/>
                      </a:endParaRPr>
                    </a:p>
                  </a:txBody>
                  <a:tcPr marL="114300" marR="114300" marT="76200" marB="76200" anchor="t">
                    <a:lnL w="12700" cap="flat" cmpd="sng" algn="ctr">
                      <a:solidFill>
                        <a:srgbClr val="C3C0BB"/>
                      </a:solidFill>
                      <a:prstDash val="solid"/>
                      <a:round/>
                      <a:headEnd type="none" w="med" len="med"/>
                      <a:tailEnd type="none" w="med" len="med"/>
                    </a:lnL>
                    <a:lnR w="12700" cap="flat" cmpd="sng" algn="ctr">
                      <a:solidFill>
                        <a:srgbClr val="C3C0BB"/>
                      </a:solidFill>
                      <a:prstDash val="solid"/>
                      <a:round/>
                      <a:headEnd type="none" w="med" len="med"/>
                      <a:tailEnd type="none" w="med" len="med"/>
                    </a:lnR>
                    <a:lnT w="12700" cap="flat" cmpd="sng" algn="ctr">
                      <a:solidFill>
                        <a:srgbClr val="B5B2AD"/>
                      </a:solidFill>
                      <a:prstDash val="solid"/>
                      <a:round/>
                      <a:headEnd type="none" w="med" len="med"/>
                      <a:tailEnd type="none" w="med" len="med"/>
                    </a:lnT>
                    <a:lnB w="12700" cap="flat" cmpd="sng" algn="ctr">
                      <a:solidFill>
                        <a:srgbClr val="C3C0BB"/>
                      </a:solidFill>
                      <a:prstDash val="solid"/>
                      <a:round/>
                      <a:headEnd type="none" w="med" len="med"/>
                      <a:tailEnd type="none" w="med" len="med"/>
                    </a:lnB>
                  </a:tcPr>
                </a:tc>
              </a:tr>
              <a:tr h="584914">
                <a:tc>
                  <a:txBody>
                    <a:bodyPr/>
                    <a:lstStyle/>
                    <a:p>
                      <a:pPr indent="0" marL="0">
                        <a:lnSpc>
                          <a:spcPts val="1652"/>
                        </a:lnSpc>
                        <a:buNone/>
                      </a:pPr>
                      <a:r>
                        <a:rPr lang="en-US" sz="1180" dirty="0">
                          <a:solidFill>
                            <a:srgbClr val="16222C"/>
                          </a:solidFill>
                          <a:latin typeface="IBM Plex Sans" pitchFamily="34" charset="0"/>
                          <a:ea typeface="IBM Plex Sans" pitchFamily="34" charset="-122"/>
                          <a:cs typeface="IBM Plex Sans" pitchFamily="34" charset="-120"/>
                        </a:rPr>
                        <a:t>David</a:t>
                      </a:r>
                      <a:endParaRPr lang="en-US" sz="1180" dirty="0">
                        <a:latin typeface="IBM Plex Sans" charset="0"/>
                        <a:ea typeface="IBM Plex Sans" charset="0"/>
                        <a:cs typeface="IBM Plex Sans" charset="0"/>
                      </a:endParaRPr>
                    </a:p>
                  </a:txBody>
                  <a:tcPr marL="114300" marR="114300" marT="76200" marB="76200" anchor="t">
                    <a:lnL w="12700" cap="flat" cmpd="sng" algn="ctr">
                      <a:solidFill>
                        <a:srgbClr val="C3C0BB"/>
                      </a:solidFill>
                      <a:prstDash val="solid"/>
                      <a:round/>
                      <a:headEnd type="none" w="med" len="med"/>
                      <a:tailEnd type="none" w="med" len="med"/>
                    </a:lnL>
                    <a:lnR w="12700" cap="flat" cmpd="sng" algn="ctr">
                      <a:solidFill>
                        <a:srgbClr val="C3C0BB"/>
                      </a:solidFill>
                      <a:prstDash val="solid"/>
                      <a:round/>
                      <a:headEnd type="none" w="med" len="med"/>
                      <a:tailEnd type="none" w="med" len="med"/>
                    </a:lnR>
                    <a:lnT w="12700" cap="flat" cmpd="sng" algn="ctr">
                      <a:solidFill>
                        <a:srgbClr val="C3C0BB"/>
                      </a:solidFill>
                      <a:prstDash val="solid"/>
                      <a:round/>
                      <a:headEnd type="none" w="med" len="med"/>
                      <a:tailEnd type="none" w="med" len="med"/>
                    </a:lnT>
                    <a:lnB w="12700" cap="flat" cmpd="sng" algn="ctr">
                      <a:solidFill>
                        <a:srgbClr val="C3C0BB"/>
                      </a:solidFill>
                      <a:prstDash val="solid"/>
                      <a:round/>
                      <a:headEnd type="none" w="med" len="med"/>
                      <a:tailEnd type="none" w="med" len="med"/>
                    </a:lnB>
                  </a:tcPr>
                </a:tc>
                <a:tc>
                  <a:txBody>
                    <a:bodyPr/>
                    <a:lstStyle/>
                    <a:p>
                      <a:pPr indent="0" marL="0">
                        <a:lnSpc>
                          <a:spcPts val="1652"/>
                        </a:lnSpc>
                        <a:buNone/>
                      </a:pPr>
                      <a:r>
                        <a:rPr lang="en-US" sz="1180" dirty="0">
                          <a:solidFill>
                            <a:srgbClr val="16222C"/>
                          </a:solidFill>
                          <a:latin typeface="IBM Plex Sans" pitchFamily="34" charset="0"/>
                          <a:ea typeface="IBM Plex Sans" pitchFamily="34" charset="-122"/>
                          <a:cs typeface="IBM Plex Sans" pitchFamily="34" charset="-120"/>
                        </a:rPr>
                        <a:t>Keep unfinished trips in the count</a:t>
                      </a:r>
                      <a:endParaRPr lang="en-US" sz="1180" dirty="0">
                        <a:latin typeface="IBM Plex Sans" charset="0"/>
                        <a:ea typeface="IBM Plex Sans" charset="0"/>
                        <a:cs typeface="IBM Plex Sans" charset="0"/>
                      </a:endParaRPr>
                    </a:p>
                  </a:txBody>
                  <a:tcPr marL="114300" marR="114300" marT="76200" marB="76200" anchor="t">
                    <a:lnL w="12700" cap="flat" cmpd="sng" algn="ctr">
                      <a:solidFill>
                        <a:srgbClr val="C3C0BB"/>
                      </a:solidFill>
                      <a:prstDash val="solid"/>
                      <a:round/>
                      <a:headEnd type="none" w="med" len="med"/>
                      <a:tailEnd type="none" w="med" len="med"/>
                    </a:lnL>
                    <a:lnR w="12700" cap="flat" cmpd="sng" algn="ctr">
                      <a:solidFill>
                        <a:srgbClr val="C3C0BB"/>
                      </a:solidFill>
                      <a:prstDash val="solid"/>
                      <a:round/>
                      <a:headEnd type="none" w="med" len="med"/>
                      <a:tailEnd type="none" w="med" len="med"/>
                    </a:lnR>
                    <a:lnT w="12700" cap="flat" cmpd="sng" algn="ctr">
                      <a:solidFill>
                        <a:srgbClr val="C3C0BB"/>
                      </a:solidFill>
                      <a:prstDash val="solid"/>
                      <a:round/>
                      <a:headEnd type="none" w="med" len="med"/>
                      <a:tailEnd type="none" w="med" len="med"/>
                    </a:lnT>
                    <a:lnB w="12700" cap="flat" cmpd="sng" algn="ctr">
                      <a:solidFill>
                        <a:srgbClr val="C3C0BB"/>
                      </a:solidFill>
                      <a:prstDash val="solid"/>
                      <a:round/>
                      <a:headEnd type="none" w="med" len="med"/>
                      <a:tailEnd type="none" w="med" len="med"/>
                    </a:lnB>
                  </a:tcPr>
                </a:tc>
                <a:tc>
                  <a:txBody>
                    <a:bodyPr/>
                    <a:lstStyle/>
                    <a:p>
                      <a:pPr indent="0" marL="0">
                        <a:lnSpc>
                          <a:spcPts val="1652"/>
                        </a:lnSpc>
                        <a:buNone/>
                      </a:pPr>
                      <a:r>
                        <a:rPr lang="en-US" sz="1180" dirty="0">
                          <a:solidFill>
                            <a:srgbClr val="16222C"/>
                          </a:solidFill>
                          <a:latin typeface="IBM Plex Sans" pitchFamily="34" charset="0"/>
                          <a:ea typeface="IBM Plex Sans" pitchFamily="34" charset="-122"/>
                          <a:cs typeface="IBM Plex Sans" pitchFamily="34" charset="-120"/>
                        </a:rPr>
                        <a:t>A scraped live map treated as his trip</a:t>
                      </a:r>
                      <a:endParaRPr lang="en-US" sz="1180" dirty="0">
                        <a:latin typeface="IBM Plex Sans" charset="0"/>
                        <a:ea typeface="IBM Plex Sans" charset="0"/>
                        <a:cs typeface="IBM Plex Sans" charset="0"/>
                      </a:endParaRPr>
                    </a:p>
                  </a:txBody>
                  <a:tcPr marL="114300" marR="114300" marT="76200" marB="76200" anchor="t">
                    <a:lnL w="12700" cap="flat" cmpd="sng" algn="ctr">
                      <a:solidFill>
                        <a:srgbClr val="C3C0BB"/>
                      </a:solidFill>
                      <a:prstDash val="solid"/>
                      <a:round/>
                      <a:headEnd type="none" w="med" len="med"/>
                      <a:tailEnd type="none" w="med" len="med"/>
                    </a:lnL>
                    <a:lnR w="12700" cap="flat" cmpd="sng" algn="ctr">
                      <a:solidFill>
                        <a:srgbClr val="C3C0BB"/>
                      </a:solidFill>
                      <a:prstDash val="solid"/>
                      <a:round/>
                      <a:headEnd type="none" w="med" len="med"/>
                      <a:tailEnd type="none" w="med" len="med"/>
                    </a:lnR>
                    <a:lnT w="12700" cap="flat" cmpd="sng" algn="ctr">
                      <a:solidFill>
                        <a:srgbClr val="C3C0BB"/>
                      </a:solidFill>
                      <a:prstDash val="solid"/>
                      <a:round/>
                      <a:headEnd type="none" w="med" len="med"/>
                      <a:tailEnd type="none" w="med" len="med"/>
                    </a:lnT>
                    <a:lnB w="12700" cap="flat" cmpd="sng" algn="ctr">
                      <a:solidFill>
                        <a:srgbClr val="C3C0BB"/>
                      </a:solidFill>
                      <a:prstDash val="solid"/>
                      <a:round/>
                      <a:headEnd type="none" w="med" len="med"/>
                      <a:tailEnd type="none" w="med" len="med"/>
                    </a:lnB>
                  </a:tcPr>
                </a:tc>
                <a:tc>
                  <a:txBody>
                    <a:bodyPr/>
                    <a:lstStyle/>
                    <a:p>
                      <a:pPr indent="0" marL="0">
                        <a:lnSpc>
                          <a:spcPts val="1652"/>
                        </a:lnSpc>
                        <a:buNone/>
                      </a:pPr>
                      <a:r>
                        <a:rPr lang="en-US" sz="1180" dirty="0">
                          <a:solidFill>
                            <a:srgbClr val="8A3E14"/>
                          </a:solidFill>
                          <a:latin typeface="IBM Plex Sans" pitchFamily="34" charset="0"/>
                          <a:ea typeface="IBM Plex Sans" pitchFamily="34" charset="-122"/>
                          <a:cs typeface="IBM Plex Sans" pitchFamily="34" charset="-120"/>
                        </a:rPr>
                        <a:t>Not his trip; no source</a:t>
                      </a:r>
                      <a:endParaRPr lang="en-US" sz="1180" dirty="0">
                        <a:latin typeface="IBM Plex Sans" charset="0"/>
                        <a:ea typeface="IBM Plex Sans" charset="0"/>
                        <a:cs typeface="IBM Plex Sans" charset="0"/>
                      </a:endParaRPr>
                    </a:p>
                  </a:txBody>
                  <a:tcPr marL="114300" marR="114300" marT="76200" marB="76200" anchor="t">
                    <a:lnL w="12700" cap="flat" cmpd="sng" algn="ctr">
                      <a:solidFill>
                        <a:srgbClr val="C3C0BB"/>
                      </a:solidFill>
                      <a:prstDash val="solid"/>
                      <a:round/>
                      <a:headEnd type="none" w="med" len="med"/>
                      <a:tailEnd type="none" w="med" len="med"/>
                    </a:lnL>
                    <a:lnR w="12700" cap="flat" cmpd="sng" algn="ctr">
                      <a:solidFill>
                        <a:srgbClr val="C3C0BB"/>
                      </a:solidFill>
                      <a:prstDash val="solid"/>
                      <a:round/>
                      <a:headEnd type="none" w="med" len="med"/>
                      <a:tailEnd type="none" w="med" len="med"/>
                    </a:lnR>
                    <a:lnT w="12700" cap="flat" cmpd="sng" algn="ctr">
                      <a:solidFill>
                        <a:srgbClr val="C3C0BB"/>
                      </a:solidFill>
                      <a:prstDash val="solid"/>
                      <a:round/>
                      <a:headEnd type="none" w="med" len="med"/>
                      <a:tailEnd type="none" w="med" len="med"/>
                    </a:lnT>
                    <a:lnB w="12700" cap="flat" cmpd="sng" algn="ctr">
                      <a:solidFill>
                        <a:srgbClr val="C3C0BB"/>
                      </a:solidFill>
                      <a:prstDash val="solid"/>
                      <a:round/>
                      <a:headEnd type="none" w="med" len="med"/>
                      <a:tailEnd type="none" w="med" len="med"/>
                    </a:lnB>
                  </a:tcPr>
                </a:tc>
              </a:tr>
              <a:tr h="375126">
                <a:tc>
                  <a:txBody>
                    <a:bodyPr/>
                    <a:lstStyle/>
                    <a:p>
                      <a:pPr indent="0" marL="0">
                        <a:lnSpc>
                          <a:spcPts val="1652"/>
                        </a:lnSpc>
                        <a:buNone/>
                      </a:pPr>
                      <a:r>
                        <a:rPr lang="en-US" sz="1180" dirty="0">
                          <a:solidFill>
                            <a:srgbClr val="16222C"/>
                          </a:solidFill>
                          <a:latin typeface="IBM Plex Sans" pitchFamily="34" charset="0"/>
                          <a:ea typeface="IBM Plex Sans" pitchFamily="34" charset="-122"/>
                          <a:cs typeface="IBM Plex Sans" pitchFamily="34" charset="-120"/>
                        </a:rPr>
                        <a:t>Chidi</a:t>
                      </a:r>
                      <a:endParaRPr lang="en-US" sz="1180" dirty="0">
                        <a:latin typeface="IBM Plex Sans" charset="0"/>
                        <a:ea typeface="IBM Plex Sans" charset="0"/>
                        <a:cs typeface="IBM Plex Sans" charset="0"/>
                      </a:endParaRPr>
                    </a:p>
                  </a:txBody>
                  <a:tcPr marL="114300" marR="114300" marT="76200" marB="76200" anchor="t">
                    <a:lnL w="12700" cap="flat" cmpd="sng" algn="ctr">
                      <a:solidFill>
                        <a:srgbClr val="C3C0BB"/>
                      </a:solidFill>
                      <a:prstDash val="solid"/>
                      <a:round/>
                      <a:headEnd type="none" w="med" len="med"/>
                      <a:tailEnd type="none" w="med" len="med"/>
                    </a:lnL>
                    <a:lnR w="12700" cap="flat" cmpd="sng" algn="ctr">
                      <a:solidFill>
                        <a:srgbClr val="C3C0BB"/>
                      </a:solidFill>
                      <a:prstDash val="solid"/>
                      <a:round/>
                      <a:headEnd type="none" w="med" len="med"/>
                      <a:tailEnd type="none" w="med" len="med"/>
                    </a:lnR>
                    <a:lnT w="12700" cap="flat" cmpd="sng" algn="ctr">
                      <a:solidFill>
                        <a:srgbClr val="C3C0BB"/>
                      </a:solidFill>
                      <a:prstDash val="solid"/>
                      <a:round/>
                      <a:headEnd type="none" w="med" len="med"/>
                      <a:tailEnd type="none" w="med" len="med"/>
                    </a:lnT>
                    <a:lnB w="12700" cap="flat" cmpd="sng" algn="ctr">
                      <a:solidFill>
                        <a:srgbClr val="C3C0BB"/>
                      </a:solidFill>
                      <a:prstDash val="solid"/>
                      <a:round/>
                      <a:headEnd type="none" w="med" len="med"/>
                      <a:tailEnd type="none" w="med" len="med"/>
                    </a:lnB>
                  </a:tcPr>
                </a:tc>
                <a:tc>
                  <a:txBody>
                    <a:bodyPr/>
                    <a:lstStyle/>
                    <a:p>
                      <a:pPr indent="0" marL="0">
                        <a:lnSpc>
                          <a:spcPts val="1652"/>
                        </a:lnSpc>
                        <a:buNone/>
                      </a:pPr>
                      <a:r>
                        <a:rPr lang="en-US" sz="1180" dirty="0">
                          <a:solidFill>
                            <a:srgbClr val="16222C"/>
                          </a:solidFill>
                          <a:latin typeface="IBM Plex Sans" pitchFamily="34" charset="0"/>
                          <a:ea typeface="IBM Plex Sans" pitchFamily="34" charset="-122"/>
                          <a:cs typeface="IBM Plex Sans" pitchFamily="34" charset="-120"/>
                        </a:rPr>
                        <a:t>Priority only after a real gap</a:t>
                      </a:r>
                      <a:endParaRPr lang="en-US" sz="1180" dirty="0">
                        <a:latin typeface="IBM Plex Sans" charset="0"/>
                        <a:ea typeface="IBM Plex Sans" charset="0"/>
                        <a:cs typeface="IBM Plex Sans" charset="0"/>
                      </a:endParaRPr>
                    </a:p>
                  </a:txBody>
                  <a:tcPr marL="114300" marR="114300" marT="76200" marB="76200" anchor="t">
                    <a:lnL w="12700" cap="flat" cmpd="sng" algn="ctr">
                      <a:solidFill>
                        <a:srgbClr val="C3C0BB"/>
                      </a:solidFill>
                      <a:prstDash val="solid"/>
                      <a:round/>
                      <a:headEnd type="none" w="med" len="med"/>
                      <a:tailEnd type="none" w="med" len="med"/>
                    </a:lnL>
                    <a:lnR w="12700" cap="flat" cmpd="sng" algn="ctr">
                      <a:solidFill>
                        <a:srgbClr val="C3C0BB"/>
                      </a:solidFill>
                      <a:prstDash val="solid"/>
                      <a:round/>
                      <a:headEnd type="none" w="med" len="med"/>
                      <a:tailEnd type="none" w="med" len="med"/>
                    </a:lnR>
                    <a:lnT w="12700" cap="flat" cmpd="sng" algn="ctr">
                      <a:solidFill>
                        <a:srgbClr val="C3C0BB"/>
                      </a:solidFill>
                      <a:prstDash val="solid"/>
                      <a:round/>
                      <a:headEnd type="none" w="med" len="med"/>
                      <a:tailEnd type="none" w="med" len="med"/>
                    </a:lnT>
                    <a:lnB w="12700" cap="flat" cmpd="sng" algn="ctr">
                      <a:solidFill>
                        <a:srgbClr val="C3C0BB"/>
                      </a:solidFill>
                      <a:prstDash val="solid"/>
                      <a:round/>
                      <a:headEnd type="none" w="med" len="med"/>
                      <a:tailEnd type="none" w="med" len="med"/>
                    </a:lnB>
                  </a:tcPr>
                </a:tc>
                <a:tc>
                  <a:txBody>
                    <a:bodyPr/>
                    <a:lstStyle/>
                    <a:p>
                      <a:pPr indent="0" marL="0">
                        <a:lnSpc>
                          <a:spcPts val="1652"/>
                        </a:lnSpc>
                        <a:buNone/>
                      </a:pPr>
                      <a:r>
                        <a:rPr lang="en-US" sz="1180" dirty="0">
                          <a:solidFill>
                            <a:srgbClr val="16222C"/>
                          </a:solidFill>
                          <a:latin typeface="IBM Plex Sans" pitchFamily="34" charset="0"/>
                          <a:ea typeface="IBM Plex Sans" pitchFamily="34" charset="-122"/>
                          <a:cs typeface="IBM Plex Sans" pitchFamily="34" charset="-120"/>
                        </a:rPr>
                        <a:t>Green for every bus</a:t>
                      </a:r>
                      <a:endParaRPr lang="en-US" sz="1180" dirty="0">
                        <a:latin typeface="IBM Plex Sans" charset="0"/>
                        <a:ea typeface="IBM Plex Sans" charset="0"/>
                        <a:cs typeface="IBM Plex Sans" charset="0"/>
                      </a:endParaRPr>
                    </a:p>
                  </a:txBody>
                  <a:tcPr marL="114300" marR="114300" marT="76200" marB="76200" anchor="t">
                    <a:lnL w="12700" cap="flat" cmpd="sng" algn="ctr">
                      <a:solidFill>
                        <a:srgbClr val="C3C0BB"/>
                      </a:solidFill>
                      <a:prstDash val="solid"/>
                      <a:round/>
                      <a:headEnd type="none" w="med" len="med"/>
                      <a:tailEnd type="none" w="med" len="med"/>
                    </a:lnL>
                    <a:lnR w="12700" cap="flat" cmpd="sng" algn="ctr">
                      <a:solidFill>
                        <a:srgbClr val="C3C0BB"/>
                      </a:solidFill>
                      <a:prstDash val="solid"/>
                      <a:round/>
                      <a:headEnd type="none" w="med" len="med"/>
                      <a:tailEnd type="none" w="med" len="med"/>
                    </a:lnR>
                    <a:lnT w="12700" cap="flat" cmpd="sng" algn="ctr">
                      <a:solidFill>
                        <a:srgbClr val="C3C0BB"/>
                      </a:solidFill>
                      <a:prstDash val="solid"/>
                      <a:round/>
                      <a:headEnd type="none" w="med" len="med"/>
                      <a:tailEnd type="none" w="med" len="med"/>
                    </a:lnT>
                    <a:lnB w="12700" cap="flat" cmpd="sng" algn="ctr">
                      <a:solidFill>
                        <a:srgbClr val="C3C0BB"/>
                      </a:solidFill>
                      <a:prstDash val="solid"/>
                      <a:round/>
                      <a:headEnd type="none" w="med" len="med"/>
                      <a:tailEnd type="none" w="med" len="med"/>
                    </a:lnB>
                  </a:tcPr>
                </a:tc>
                <a:tc>
                  <a:txBody>
                    <a:bodyPr/>
                    <a:lstStyle/>
                    <a:p>
                      <a:pPr indent="0" marL="0">
                        <a:lnSpc>
                          <a:spcPts val="1652"/>
                        </a:lnSpc>
                        <a:buNone/>
                      </a:pPr>
                      <a:r>
                        <a:rPr lang="en-US" sz="1180" dirty="0">
                          <a:solidFill>
                            <a:srgbClr val="8A3E14"/>
                          </a:solidFill>
                          <a:latin typeface="IBM Plex Sans" pitchFamily="34" charset="0"/>
                          <a:ea typeface="IBM Plex Sans" pitchFamily="34" charset="-122"/>
                          <a:cs typeface="IBM Plex Sans" pitchFamily="34" charset="-120"/>
                        </a:rPr>
                        <a:t>Rewards the early bus</a:t>
                      </a:r>
                      <a:endParaRPr lang="en-US" sz="1180" dirty="0">
                        <a:latin typeface="IBM Plex Sans" charset="0"/>
                        <a:ea typeface="IBM Plex Sans" charset="0"/>
                        <a:cs typeface="IBM Plex Sans" charset="0"/>
                      </a:endParaRPr>
                    </a:p>
                  </a:txBody>
                  <a:tcPr marL="114300" marR="114300" marT="76200" marB="76200" anchor="t">
                    <a:lnL w="12700" cap="flat" cmpd="sng" algn="ctr">
                      <a:solidFill>
                        <a:srgbClr val="C3C0BB"/>
                      </a:solidFill>
                      <a:prstDash val="solid"/>
                      <a:round/>
                      <a:headEnd type="none" w="med" len="med"/>
                      <a:tailEnd type="none" w="med" len="med"/>
                    </a:lnL>
                    <a:lnR w="12700" cap="flat" cmpd="sng" algn="ctr">
                      <a:solidFill>
                        <a:srgbClr val="C3C0BB"/>
                      </a:solidFill>
                      <a:prstDash val="solid"/>
                      <a:round/>
                      <a:headEnd type="none" w="med" len="med"/>
                      <a:tailEnd type="none" w="med" len="med"/>
                    </a:lnR>
                    <a:lnT w="12700" cap="flat" cmpd="sng" algn="ctr">
                      <a:solidFill>
                        <a:srgbClr val="C3C0BB"/>
                      </a:solidFill>
                      <a:prstDash val="solid"/>
                      <a:round/>
                      <a:headEnd type="none" w="med" len="med"/>
                      <a:tailEnd type="none" w="med" len="med"/>
                    </a:lnT>
                    <a:lnB w="12700" cap="flat" cmpd="sng" algn="ctr">
                      <a:solidFill>
                        <a:srgbClr val="C3C0BB"/>
                      </a:solidFill>
                      <a:prstDash val="solid"/>
                      <a:round/>
                      <a:headEnd type="none" w="med" len="med"/>
                      <a:tailEnd type="none" w="med" len="med"/>
                    </a:lnB>
                  </a:tcPr>
                </a:tc>
              </a:tr>
              <a:tr h="375126">
                <a:tc>
                  <a:txBody>
                    <a:bodyPr/>
                    <a:lstStyle/>
                    <a:p>
                      <a:pPr indent="0" marL="0">
                        <a:lnSpc>
                          <a:spcPts val="1652"/>
                        </a:lnSpc>
                        <a:buNone/>
                      </a:pPr>
                      <a:r>
                        <a:rPr lang="en-US" sz="1180" dirty="0">
                          <a:solidFill>
                            <a:srgbClr val="16222C"/>
                          </a:solidFill>
                          <a:latin typeface="IBM Plex Sans" pitchFamily="34" charset="0"/>
                          <a:ea typeface="IBM Plex Sans" pitchFamily="34" charset="-122"/>
                          <a:cs typeface="IBM Plex Sans" pitchFamily="34" charset="-120"/>
                        </a:rPr>
                        <a:t>Rosa</a:t>
                      </a:r>
                      <a:endParaRPr lang="en-US" sz="1180" dirty="0">
                        <a:latin typeface="IBM Plex Sans" charset="0"/>
                        <a:ea typeface="IBM Plex Sans" charset="0"/>
                        <a:cs typeface="IBM Plex Sans" charset="0"/>
                      </a:endParaRPr>
                    </a:p>
                  </a:txBody>
                  <a:tcPr marL="114300" marR="114300" marT="76200" marB="76200" anchor="t">
                    <a:lnL w="12700" cap="flat" cmpd="sng" algn="ctr">
                      <a:solidFill>
                        <a:srgbClr val="C3C0BB"/>
                      </a:solidFill>
                      <a:prstDash val="solid"/>
                      <a:round/>
                      <a:headEnd type="none" w="med" len="med"/>
                      <a:tailEnd type="none" w="med" len="med"/>
                    </a:lnL>
                    <a:lnR w="12700" cap="flat" cmpd="sng" algn="ctr">
                      <a:solidFill>
                        <a:srgbClr val="C3C0BB"/>
                      </a:solidFill>
                      <a:prstDash val="solid"/>
                      <a:round/>
                      <a:headEnd type="none" w="med" len="med"/>
                      <a:tailEnd type="none" w="med" len="med"/>
                    </a:lnR>
                    <a:lnT w="12700" cap="flat" cmpd="sng" algn="ctr">
                      <a:solidFill>
                        <a:srgbClr val="C3C0BB"/>
                      </a:solidFill>
                      <a:prstDash val="solid"/>
                      <a:round/>
                      <a:headEnd type="none" w="med" len="med"/>
                      <a:tailEnd type="none" w="med" len="med"/>
                    </a:lnT>
                    <a:lnB w="12700" cap="flat" cmpd="sng" algn="ctr">
                      <a:solidFill>
                        <a:srgbClr val="C3C0BB"/>
                      </a:solidFill>
                      <a:prstDash val="solid"/>
                      <a:round/>
                      <a:headEnd type="none" w="med" len="med"/>
                      <a:tailEnd type="none" w="med" len="med"/>
                    </a:lnB>
                  </a:tcPr>
                </a:tc>
                <a:tc>
                  <a:txBody>
                    <a:bodyPr/>
                    <a:lstStyle/>
                    <a:p>
                      <a:pPr indent="0" marL="0">
                        <a:lnSpc>
                          <a:spcPts val="1652"/>
                        </a:lnSpc>
                        <a:buNone/>
                      </a:pPr>
                      <a:r>
                        <a:rPr lang="en-US" sz="1180" dirty="0">
                          <a:solidFill>
                            <a:srgbClr val="16222C"/>
                          </a:solidFill>
                          <a:latin typeface="IBM Plex Sans" pitchFamily="34" charset="0"/>
                          <a:ea typeface="IBM Plex Sans" pitchFamily="34" charset="-122"/>
                          <a:cs typeface="IBM Plex Sans" pitchFamily="34" charset="-120"/>
                        </a:rPr>
                        <a:t>One cited explanation, or abstain</a:t>
                      </a:r>
                      <a:endParaRPr lang="en-US" sz="1180" dirty="0">
                        <a:latin typeface="IBM Plex Sans" charset="0"/>
                        <a:ea typeface="IBM Plex Sans" charset="0"/>
                        <a:cs typeface="IBM Plex Sans" charset="0"/>
                      </a:endParaRPr>
                    </a:p>
                  </a:txBody>
                  <a:tcPr marL="114300" marR="114300" marT="76200" marB="76200" anchor="t">
                    <a:lnL w="12700" cap="flat" cmpd="sng" algn="ctr">
                      <a:solidFill>
                        <a:srgbClr val="C3C0BB"/>
                      </a:solidFill>
                      <a:prstDash val="solid"/>
                      <a:round/>
                      <a:headEnd type="none" w="med" len="med"/>
                      <a:tailEnd type="none" w="med" len="med"/>
                    </a:lnL>
                    <a:lnR w="12700" cap="flat" cmpd="sng" algn="ctr">
                      <a:solidFill>
                        <a:srgbClr val="C3C0BB"/>
                      </a:solidFill>
                      <a:prstDash val="solid"/>
                      <a:round/>
                      <a:headEnd type="none" w="med" len="med"/>
                      <a:tailEnd type="none" w="med" len="med"/>
                    </a:lnR>
                    <a:lnT w="12700" cap="flat" cmpd="sng" algn="ctr">
                      <a:solidFill>
                        <a:srgbClr val="C3C0BB"/>
                      </a:solidFill>
                      <a:prstDash val="solid"/>
                      <a:round/>
                      <a:headEnd type="none" w="med" len="med"/>
                      <a:tailEnd type="none" w="med" len="med"/>
                    </a:lnT>
                    <a:lnB w="12700" cap="flat" cmpd="sng" algn="ctr">
                      <a:solidFill>
                        <a:srgbClr val="C3C0BB"/>
                      </a:solidFill>
                      <a:prstDash val="solid"/>
                      <a:round/>
                      <a:headEnd type="none" w="med" len="med"/>
                      <a:tailEnd type="none" w="med" len="med"/>
                    </a:lnB>
                  </a:tcPr>
                </a:tc>
                <a:tc>
                  <a:txBody>
                    <a:bodyPr/>
                    <a:lstStyle/>
                    <a:p>
                      <a:pPr indent="0" marL="0">
                        <a:lnSpc>
                          <a:spcPts val="1652"/>
                        </a:lnSpc>
                        <a:buNone/>
                      </a:pPr>
                      <a:r>
                        <a:rPr lang="en-US" sz="1180" dirty="0">
                          <a:solidFill>
                            <a:srgbClr val="16222C"/>
                          </a:solidFill>
                          <a:latin typeface="IBM Plex Sans" pitchFamily="34" charset="0"/>
                          <a:ea typeface="IBM Plex Sans" pitchFamily="34" charset="-122"/>
                          <a:cs typeface="IBM Plex Sans" pitchFamily="34" charset="-120"/>
                        </a:rPr>
                        <a:t>A chatbot that negotiates the phase</a:t>
                      </a:r>
                      <a:endParaRPr lang="en-US" sz="1180" dirty="0">
                        <a:latin typeface="IBM Plex Sans" charset="0"/>
                        <a:ea typeface="IBM Plex Sans" charset="0"/>
                        <a:cs typeface="IBM Plex Sans" charset="0"/>
                      </a:endParaRPr>
                    </a:p>
                  </a:txBody>
                  <a:tcPr marL="114300" marR="114300" marT="76200" marB="76200" anchor="t">
                    <a:lnL w="12700" cap="flat" cmpd="sng" algn="ctr">
                      <a:solidFill>
                        <a:srgbClr val="C3C0BB"/>
                      </a:solidFill>
                      <a:prstDash val="solid"/>
                      <a:round/>
                      <a:headEnd type="none" w="med" len="med"/>
                      <a:tailEnd type="none" w="med" len="med"/>
                    </a:lnL>
                    <a:lnR w="12700" cap="flat" cmpd="sng" algn="ctr">
                      <a:solidFill>
                        <a:srgbClr val="C3C0BB"/>
                      </a:solidFill>
                      <a:prstDash val="solid"/>
                      <a:round/>
                      <a:headEnd type="none" w="med" len="med"/>
                      <a:tailEnd type="none" w="med" len="med"/>
                    </a:lnR>
                    <a:lnT w="12700" cap="flat" cmpd="sng" algn="ctr">
                      <a:solidFill>
                        <a:srgbClr val="C3C0BB"/>
                      </a:solidFill>
                      <a:prstDash val="solid"/>
                      <a:round/>
                      <a:headEnd type="none" w="med" len="med"/>
                      <a:tailEnd type="none" w="med" len="med"/>
                    </a:lnT>
                    <a:lnB w="12700" cap="flat" cmpd="sng" algn="ctr">
                      <a:solidFill>
                        <a:srgbClr val="C3C0BB"/>
                      </a:solidFill>
                      <a:prstDash val="solid"/>
                      <a:round/>
                      <a:headEnd type="none" w="med" len="med"/>
                      <a:tailEnd type="none" w="med" len="med"/>
                    </a:lnB>
                  </a:tcPr>
                </a:tc>
                <a:tc>
                  <a:txBody>
                    <a:bodyPr/>
                    <a:lstStyle/>
                    <a:p>
                      <a:pPr indent="0" marL="0">
                        <a:lnSpc>
                          <a:spcPts val="1652"/>
                        </a:lnSpc>
                        <a:buNone/>
                      </a:pPr>
                      <a:r>
                        <a:rPr lang="en-US" sz="1180" dirty="0">
                          <a:solidFill>
                            <a:srgbClr val="8A3E14"/>
                          </a:solidFill>
                          <a:latin typeface="IBM Plex Sans" pitchFamily="34" charset="0"/>
                          <a:ea typeface="IBM Plex Sans" pitchFamily="34" charset="-122"/>
                          <a:cs typeface="IBM Plex Sans" pitchFamily="34" charset="-120"/>
                        </a:rPr>
                        <a:t>A second writer on the light</a:t>
                      </a:r>
                      <a:endParaRPr lang="en-US" sz="1180" dirty="0">
                        <a:latin typeface="IBM Plex Sans" charset="0"/>
                        <a:ea typeface="IBM Plex Sans" charset="0"/>
                        <a:cs typeface="IBM Plex Sans" charset="0"/>
                      </a:endParaRPr>
                    </a:p>
                  </a:txBody>
                  <a:tcPr marL="114300" marR="114300" marT="76200" marB="76200" anchor="t">
                    <a:lnL w="12700" cap="flat" cmpd="sng" algn="ctr">
                      <a:solidFill>
                        <a:srgbClr val="C3C0BB"/>
                      </a:solidFill>
                      <a:prstDash val="solid"/>
                      <a:round/>
                      <a:headEnd type="none" w="med" len="med"/>
                      <a:tailEnd type="none" w="med" len="med"/>
                    </a:lnL>
                    <a:lnR w="12700" cap="flat" cmpd="sng" algn="ctr">
                      <a:solidFill>
                        <a:srgbClr val="C3C0BB"/>
                      </a:solidFill>
                      <a:prstDash val="solid"/>
                      <a:round/>
                      <a:headEnd type="none" w="med" len="med"/>
                      <a:tailEnd type="none" w="med" len="med"/>
                    </a:lnR>
                    <a:lnT w="12700" cap="flat" cmpd="sng" algn="ctr">
                      <a:solidFill>
                        <a:srgbClr val="C3C0BB"/>
                      </a:solidFill>
                      <a:prstDash val="solid"/>
                      <a:round/>
                      <a:headEnd type="none" w="med" len="med"/>
                      <a:tailEnd type="none" w="med" len="med"/>
                    </a:lnT>
                    <a:lnB w="12700" cap="flat" cmpd="sng" algn="ctr">
                      <a:solidFill>
                        <a:srgbClr val="C3C0BB"/>
                      </a:solidFill>
                      <a:prstDash val="solid"/>
                      <a:round/>
                      <a:headEnd type="none" w="med" len="med"/>
                      <a:tailEnd type="none" w="med" len="med"/>
                    </a:lnB>
                  </a:tcPr>
                </a:tc>
              </a:tr>
              <a:tr h="584914">
                <a:tc>
                  <a:txBody>
                    <a:bodyPr/>
                    <a:lstStyle/>
                    <a:p>
                      <a:pPr indent="0" marL="0">
                        <a:lnSpc>
                          <a:spcPts val="1652"/>
                        </a:lnSpc>
                        <a:buNone/>
                      </a:pPr>
                      <a:r>
                        <a:rPr lang="en-US" sz="1180" dirty="0">
                          <a:solidFill>
                            <a:srgbClr val="16222C"/>
                          </a:solidFill>
                          <a:latin typeface="IBM Plex Sans" pitchFamily="34" charset="0"/>
                          <a:ea typeface="IBM Plex Sans" pitchFamily="34" charset="-122"/>
                          <a:cs typeface="IBM Plex Sans" pitchFamily="34" charset="-120"/>
                        </a:rPr>
                        <a:t>Marcus</a:t>
                      </a:r>
                      <a:endParaRPr lang="en-US" sz="1180" dirty="0">
                        <a:latin typeface="IBM Plex Sans" charset="0"/>
                        <a:ea typeface="IBM Plex Sans" charset="0"/>
                        <a:cs typeface="IBM Plex Sans" charset="0"/>
                      </a:endParaRPr>
                    </a:p>
                  </a:txBody>
                  <a:tcPr marL="114300" marR="114300" marT="76200" marB="76200" anchor="t">
                    <a:lnL w="12700" cap="flat" cmpd="sng" algn="ctr">
                      <a:solidFill>
                        <a:srgbClr val="C3C0BB"/>
                      </a:solidFill>
                      <a:prstDash val="solid"/>
                      <a:round/>
                      <a:headEnd type="none" w="med" len="med"/>
                      <a:tailEnd type="none" w="med" len="med"/>
                    </a:lnL>
                    <a:lnR w="12700" cap="flat" cmpd="sng" algn="ctr">
                      <a:solidFill>
                        <a:srgbClr val="C3C0BB"/>
                      </a:solidFill>
                      <a:prstDash val="solid"/>
                      <a:round/>
                      <a:headEnd type="none" w="med" len="med"/>
                      <a:tailEnd type="none" w="med" len="med"/>
                    </a:lnR>
                    <a:lnT w="12700" cap="flat" cmpd="sng" algn="ctr">
                      <a:solidFill>
                        <a:srgbClr val="C3C0BB"/>
                      </a:solidFill>
                      <a:prstDash val="solid"/>
                      <a:round/>
                      <a:headEnd type="none" w="med" len="med"/>
                      <a:tailEnd type="none" w="med" len="med"/>
                    </a:lnT>
                    <a:lnB w="12700" cap="flat" cmpd="sng" algn="ctr">
                      <a:solidFill>
                        <a:srgbClr val="C3C0BB"/>
                      </a:solidFill>
                      <a:prstDash val="solid"/>
                      <a:round/>
                      <a:headEnd type="none" w="med" len="med"/>
                      <a:tailEnd type="none" w="med" len="med"/>
                    </a:lnB>
                  </a:tcPr>
                </a:tc>
                <a:tc>
                  <a:txBody>
                    <a:bodyPr/>
                    <a:lstStyle/>
                    <a:p>
                      <a:pPr indent="0" marL="0">
                        <a:lnSpc>
                          <a:spcPts val="1652"/>
                        </a:lnSpc>
                        <a:buNone/>
                      </a:pPr>
                      <a:r>
                        <a:rPr lang="en-US" sz="1180" dirty="0">
                          <a:solidFill>
                            <a:srgbClr val="16222C"/>
                          </a:solidFill>
                          <a:latin typeface="IBM Plex Sans" pitchFamily="34" charset="0"/>
                          <a:ea typeface="IBM Plex Sans" pitchFamily="34" charset="-122"/>
                          <a:cs typeface="IBM Plex Sans" pitchFamily="34" charset="-120"/>
                        </a:rPr>
                        <a:t>Request, exit check, then recovery</a:t>
                      </a:r>
                      <a:endParaRPr lang="en-US" sz="1180" dirty="0">
                        <a:latin typeface="IBM Plex Sans" charset="0"/>
                        <a:ea typeface="IBM Plex Sans" charset="0"/>
                        <a:cs typeface="IBM Plex Sans" charset="0"/>
                      </a:endParaRPr>
                    </a:p>
                  </a:txBody>
                  <a:tcPr marL="114300" marR="114300" marT="76200" marB="76200" anchor="t">
                    <a:lnL w="12700" cap="flat" cmpd="sng" algn="ctr">
                      <a:solidFill>
                        <a:srgbClr val="C3C0BB"/>
                      </a:solidFill>
                      <a:prstDash val="solid"/>
                      <a:round/>
                      <a:headEnd type="none" w="med" len="med"/>
                      <a:tailEnd type="none" w="med" len="med"/>
                    </a:lnL>
                    <a:lnR w="12700" cap="flat" cmpd="sng" algn="ctr">
                      <a:solidFill>
                        <a:srgbClr val="C3C0BB"/>
                      </a:solidFill>
                      <a:prstDash val="solid"/>
                      <a:round/>
                      <a:headEnd type="none" w="med" len="med"/>
                      <a:tailEnd type="none" w="med" len="med"/>
                    </a:lnR>
                    <a:lnT w="12700" cap="flat" cmpd="sng" algn="ctr">
                      <a:solidFill>
                        <a:srgbClr val="C3C0BB"/>
                      </a:solidFill>
                      <a:prstDash val="solid"/>
                      <a:round/>
                      <a:headEnd type="none" w="med" len="med"/>
                      <a:tailEnd type="none" w="med" len="med"/>
                    </a:lnT>
                    <a:lnB w="12700" cap="flat" cmpd="sng" algn="ctr">
                      <a:solidFill>
                        <a:srgbClr val="C3C0BB"/>
                      </a:solidFill>
                      <a:prstDash val="solid"/>
                      <a:round/>
                      <a:headEnd type="none" w="med" len="med"/>
                      <a:tailEnd type="none" w="med" len="med"/>
                    </a:lnB>
                  </a:tcPr>
                </a:tc>
                <a:tc>
                  <a:txBody>
                    <a:bodyPr/>
                    <a:lstStyle/>
                    <a:p>
                      <a:pPr indent="0" marL="0">
                        <a:lnSpc>
                          <a:spcPts val="1652"/>
                        </a:lnSpc>
                        <a:buNone/>
                      </a:pPr>
                      <a:r>
                        <a:rPr lang="en-US" sz="1180" dirty="0">
                          <a:solidFill>
                            <a:srgbClr val="16222C"/>
                          </a:solidFill>
                          <a:latin typeface="IBM Plex Sans" pitchFamily="34" charset="0"/>
                          <a:ea typeface="IBM Plex Sans" pitchFamily="34" charset="-122"/>
                          <a:cs typeface="IBM Plex Sans" pitchFamily="34" charset="-120"/>
                        </a:rPr>
                        <a:t>An always-green corridor; “lives saved”</a:t>
                      </a:r>
                      <a:endParaRPr lang="en-US" sz="1180" dirty="0">
                        <a:latin typeface="IBM Plex Sans" charset="0"/>
                        <a:ea typeface="IBM Plex Sans" charset="0"/>
                        <a:cs typeface="IBM Plex Sans" charset="0"/>
                      </a:endParaRPr>
                    </a:p>
                  </a:txBody>
                  <a:tcPr marL="114300" marR="114300" marT="76200" marB="76200" anchor="t">
                    <a:lnL w="12700" cap="flat" cmpd="sng" algn="ctr">
                      <a:solidFill>
                        <a:srgbClr val="C3C0BB"/>
                      </a:solidFill>
                      <a:prstDash val="solid"/>
                      <a:round/>
                      <a:headEnd type="none" w="med" len="med"/>
                      <a:tailEnd type="none" w="med" len="med"/>
                    </a:lnL>
                    <a:lnR w="12700" cap="flat" cmpd="sng" algn="ctr">
                      <a:solidFill>
                        <a:srgbClr val="C3C0BB"/>
                      </a:solidFill>
                      <a:prstDash val="solid"/>
                      <a:round/>
                      <a:headEnd type="none" w="med" len="med"/>
                      <a:tailEnd type="none" w="med" len="med"/>
                    </a:lnR>
                    <a:lnT w="12700" cap="flat" cmpd="sng" algn="ctr">
                      <a:solidFill>
                        <a:srgbClr val="C3C0BB"/>
                      </a:solidFill>
                      <a:prstDash val="solid"/>
                      <a:round/>
                      <a:headEnd type="none" w="med" len="med"/>
                      <a:tailEnd type="none" w="med" len="med"/>
                    </a:lnT>
                    <a:lnB w="12700" cap="flat" cmpd="sng" algn="ctr">
                      <a:solidFill>
                        <a:srgbClr val="C3C0BB"/>
                      </a:solidFill>
                      <a:prstDash val="solid"/>
                      <a:round/>
                      <a:headEnd type="none" w="med" len="med"/>
                      <a:tailEnd type="none" w="med" len="med"/>
                    </a:lnB>
                  </a:tcPr>
                </a:tc>
                <a:tc>
                  <a:txBody>
                    <a:bodyPr/>
                    <a:lstStyle/>
                    <a:p>
                      <a:pPr indent="0" marL="0">
                        <a:lnSpc>
                          <a:spcPts val="1652"/>
                        </a:lnSpc>
                        <a:buNone/>
                      </a:pPr>
                      <a:r>
                        <a:rPr lang="en-US" sz="1180" dirty="0">
                          <a:solidFill>
                            <a:srgbClr val="8A3E14"/>
                          </a:solidFill>
                          <a:latin typeface="IBM Plex Sans" pitchFamily="34" charset="0"/>
                          <a:ea typeface="IBM Plex Sans" pitchFamily="34" charset="-122"/>
                          <a:cs typeface="IBM Plex Sans" pitchFamily="34" charset="-120"/>
                        </a:rPr>
                        <a:t>Cuts the crossing; overclaims</a:t>
                      </a:r>
                      <a:endParaRPr lang="en-US" sz="1180" dirty="0">
                        <a:latin typeface="IBM Plex Sans" charset="0"/>
                        <a:ea typeface="IBM Plex Sans" charset="0"/>
                        <a:cs typeface="IBM Plex Sans" charset="0"/>
                      </a:endParaRPr>
                    </a:p>
                  </a:txBody>
                  <a:tcPr marL="114300" marR="114300" marT="76200" marB="76200" anchor="t">
                    <a:lnL w="12700" cap="flat" cmpd="sng" algn="ctr">
                      <a:solidFill>
                        <a:srgbClr val="C3C0BB"/>
                      </a:solidFill>
                      <a:prstDash val="solid"/>
                      <a:round/>
                      <a:headEnd type="none" w="med" len="med"/>
                      <a:tailEnd type="none" w="med" len="med"/>
                    </a:lnL>
                    <a:lnR w="12700" cap="flat" cmpd="sng" algn="ctr">
                      <a:solidFill>
                        <a:srgbClr val="C3C0BB"/>
                      </a:solidFill>
                      <a:prstDash val="solid"/>
                      <a:round/>
                      <a:headEnd type="none" w="med" len="med"/>
                      <a:tailEnd type="none" w="med" len="med"/>
                    </a:lnR>
                    <a:lnT w="12700" cap="flat" cmpd="sng" algn="ctr">
                      <a:solidFill>
                        <a:srgbClr val="C3C0BB"/>
                      </a:solidFill>
                      <a:prstDash val="solid"/>
                      <a:round/>
                      <a:headEnd type="none" w="med" len="med"/>
                      <a:tailEnd type="none" w="med" len="med"/>
                    </a:lnT>
                    <a:lnB w="12700" cap="flat" cmpd="sng" algn="ctr">
                      <a:solidFill>
                        <a:srgbClr val="C3C0BB"/>
                      </a:solidFill>
                      <a:prstDash val="solid"/>
                      <a:round/>
                      <a:headEnd type="none" w="med" len="med"/>
                      <a:tailEnd type="none" w="med" len="med"/>
                    </a:lnB>
                  </a:tcPr>
                </a:tc>
              </a:tr>
              <a:tr h="584914">
                <a:tc>
                  <a:txBody>
                    <a:bodyPr/>
                    <a:lstStyle/>
                    <a:p>
                      <a:pPr indent="0" marL="0">
                        <a:lnSpc>
                          <a:spcPts val="1652"/>
                        </a:lnSpc>
                        <a:buNone/>
                      </a:pPr>
                      <a:r>
                        <a:rPr lang="en-US" sz="1180" dirty="0">
                          <a:solidFill>
                            <a:srgbClr val="16222C"/>
                          </a:solidFill>
                          <a:latin typeface="IBM Plex Sans" pitchFamily="34" charset="0"/>
                          <a:ea typeface="IBM Plex Sans" pitchFamily="34" charset="-122"/>
                          <a:cs typeface="IBM Plex Sans" pitchFamily="34" charset="-120"/>
                        </a:rPr>
                        <a:t>Omar</a:t>
                      </a:r>
                      <a:endParaRPr lang="en-US" sz="1180" dirty="0">
                        <a:latin typeface="IBM Plex Sans" charset="0"/>
                        <a:ea typeface="IBM Plex Sans" charset="0"/>
                        <a:cs typeface="IBM Plex Sans" charset="0"/>
                      </a:endParaRPr>
                    </a:p>
                  </a:txBody>
                  <a:tcPr marL="114300" marR="114300" marT="76200" marB="76200" anchor="t">
                    <a:lnL w="12700" cap="flat" cmpd="sng" algn="ctr">
                      <a:solidFill>
                        <a:srgbClr val="C3C0BB"/>
                      </a:solidFill>
                      <a:prstDash val="solid"/>
                      <a:round/>
                      <a:headEnd type="none" w="med" len="med"/>
                      <a:tailEnd type="none" w="med" len="med"/>
                    </a:lnL>
                    <a:lnR w="12700" cap="flat" cmpd="sng" algn="ctr">
                      <a:solidFill>
                        <a:srgbClr val="C3C0BB"/>
                      </a:solidFill>
                      <a:prstDash val="solid"/>
                      <a:round/>
                      <a:headEnd type="none" w="med" len="med"/>
                      <a:tailEnd type="none" w="med" len="med"/>
                    </a:lnR>
                    <a:lnT w="12700" cap="flat" cmpd="sng" algn="ctr">
                      <a:solidFill>
                        <a:srgbClr val="C3C0BB"/>
                      </a:solidFill>
                      <a:prstDash val="solid"/>
                      <a:round/>
                      <a:headEnd type="none" w="med" len="med"/>
                      <a:tailEnd type="none" w="med" len="med"/>
                    </a:lnT>
                    <a:lnB w="12700" cap="flat" cmpd="sng" algn="ctr">
                      <a:solidFill>
                        <a:srgbClr val="C3C0BB"/>
                      </a:solidFill>
                      <a:prstDash val="solid"/>
                      <a:round/>
                      <a:headEnd type="none" w="med" len="med"/>
                      <a:tailEnd type="none" w="med" len="med"/>
                    </a:lnB>
                  </a:tcPr>
                </a:tc>
                <a:tc>
                  <a:txBody>
                    <a:bodyPr/>
                    <a:lstStyle/>
                    <a:p>
                      <a:pPr indent="0" marL="0">
                        <a:lnSpc>
                          <a:spcPts val="1652"/>
                        </a:lnSpc>
                        <a:buNone/>
                      </a:pPr>
                      <a:r>
                        <a:rPr lang="en-US" sz="1180" dirty="0">
                          <a:solidFill>
                            <a:srgbClr val="16222C"/>
                          </a:solidFill>
                          <a:latin typeface="IBM Plex Sans" pitchFamily="34" charset="0"/>
                          <a:ea typeface="IBM Plex Sans" pitchFamily="34" charset="-122"/>
                          <a:cs typeface="IBM Plex Sans" pitchFamily="34" charset="-120"/>
                        </a:rPr>
                        <a:t>Class, confidence, freshness</a:t>
                      </a:r>
                      <a:endParaRPr lang="en-US" sz="1180" dirty="0">
                        <a:latin typeface="IBM Plex Sans" charset="0"/>
                        <a:ea typeface="IBM Plex Sans" charset="0"/>
                        <a:cs typeface="IBM Plex Sans" charset="0"/>
                      </a:endParaRPr>
                    </a:p>
                  </a:txBody>
                  <a:tcPr marL="114300" marR="114300" marT="76200" marB="76200" anchor="t">
                    <a:lnL w="12700" cap="flat" cmpd="sng" algn="ctr">
                      <a:solidFill>
                        <a:srgbClr val="C3C0BB"/>
                      </a:solidFill>
                      <a:prstDash val="solid"/>
                      <a:round/>
                      <a:headEnd type="none" w="med" len="med"/>
                      <a:tailEnd type="none" w="med" len="med"/>
                    </a:lnL>
                    <a:lnR w="12700" cap="flat" cmpd="sng" algn="ctr">
                      <a:solidFill>
                        <a:srgbClr val="C3C0BB"/>
                      </a:solidFill>
                      <a:prstDash val="solid"/>
                      <a:round/>
                      <a:headEnd type="none" w="med" len="med"/>
                      <a:tailEnd type="none" w="med" len="med"/>
                    </a:lnR>
                    <a:lnT w="12700" cap="flat" cmpd="sng" algn="ctr">
                      <a:solidFill>
                        <a:srgbClr val="C3C0BB"/>
                      </a:solidFill>
                      <a:prstDash val="solid"/>
                      <a:round/>
                      <a:headEnd type="none" w="med" len="med"/>
                      <a:tailEnd type="none" w="med" len="med"/>
                    </a:lnT>
                    <a:lnB w="12700" cap="flat" cmpd="sng" algn="ctr">
                      <a:solidFill>
                        <a:srgbClr val="C3C0BB"/>
                      </a:solidFill>
                      <a:prstDash val="solid"/>
                      <a:round/>
                      <a:headEnd type="none" w="med" len="med"/>
                      <a:tailEnd type="none" w="med" len="med"/>
                    </a:lnB>
                  </a:tcPr>
                </a:tc>
                <a:tc>
                  <a:txBody>
                    <a:bodyPr/>
                    <a:lstStyle/>
                    <a:p>
                      <a:pPr indent="0" marL="0">
                        <a:lnSpc>
                          <a:spcPts val="1652"/>
                        </a:lnSpc>
                        <a:buNone/>
                      </a:pPr>
                      <a:r>
                        <a:rPr lang="en-US" sz="1180" dirty="0">
                          <a:solidFill>
                            <a:srgbClr val="16222C"/>
                          </a:solidFill>
                          <a:latin typeface="IBM Plex Sans" pitchFamily="34" charset="0"/>
                          <a:ea typeface="IBM Plex Sans" pitchFamily="34" charset="-122"/>
                          <a:cs typeface="IBM Plex Sans" pitchFamily="34" charset="-120"/>
                        </a:rPr>
                        <a:t>A news scrape that declares a crash</a:t>
                      </a:r>
                      <a:endParaRPr lang="en-US" sz="1180" dirty="0">
                        <a:latin typeface="IBM Plex Sans" charset="0"/>
                        <a:ea typeface="IBM Plex Sans" charset="0"/>
                        <a:cs typeface="IBM Plex Sans" charset="0"/>
                      </a:endParaRPr>
                    </a:p>
                  </a:txBody>
                  <a:tcPr marL="114300" marR="114300" marT="76200" marB="76200" anchor="t">
                    <a:lnL w="12700" cap="flat" cmpd="sng" algn="ctr">
                      <a:solidFill>
                        <a:srgbClr val="C3C0BB"/>
                      </a:solidFill>
                      <a:prstDash val="solid"/>
                      <a:round/>
                      <a:headEnd type="none" w="med" len="med"/>
                      <a:tailEnd type="none" w="med" len="med"/>
                    </a:lnL>
                    <a:lnR w="12700" cap="flat" cmpd="sng" algn="ctr">
                      <a:solidFill>
                        <a:srgbClr val="C3C0BB"/>
                      </a:solidFill>
                      <a:prstDash val="solid"/>
                      <a:round/>
                      <a:headEnd type="none" w="med" len="med"/>
                      <a:tailEnd type="none" w="med" len="med"/>
                    </a:lnR>
                    <a:lnT w="12700" cap="flat" cmpd="sng" algn="ctr">
                      <a:solidFill>
                        <a:srgbClr val="C3C0BB"/>
                      </a:solidFill>
                      <a:prstDash val="solid"/>
                      <a:round/>
                      <a:headEnd type="none" w="med" len="med"/>
                      <a:tailEnd type="none" w="med" len="med"/>
                    </a:lnT>
                    <a:lnB w="12700" cap="flat" cmpd="sng" algn="ctr">
                      <a:solidFill>
                        <a:srgbClr val="C3C0BB"/>
                      </a:solidFill>
                      <a:prstDash val="solid"/>
                      <a:round/>
                      <a:headEnd type="none" w="med" len="med"/>
                      <a:tailEnd type="none" w="med" len="med"/>
                    </a:lnB>
                  </a:tcPr>
                </a:tc>
                <a:tc>
                  <a:txBody>
                    <a:bodyPr/>
                    <a:lstStyle/>
                    <a:p>
                      <a:pPr indent="0" marL="0">
                        <a:lnSpc>
                          <a:spcPts val="1652"/>
                        </a:lnSpc>
                        <a:buNone/>
                      </a:pPr>
                      <a:r>
                        <a:rPr lang="en-US" sz="1180" dirty="0">
                          <a:solidFill>
                            <a:srgbClr val="8A3E14"/>
                          </a:solidFill>
                          <a:latin typeface="IBM Plex Sans" pitchFamily="34" charset="0"/>
                          <a:ea typeface="IBM Plex Sans" pitchFamily="34" charset="-122"/>
                          <a:cs typeface="IBM Plex Sans" pitchFamily="34" charset="-120"/>
                        </a:rPr>
                        <a:t>Guesses a cause</a:t>
                      </a:r>
                      <a:endParaRPr lang="en-US" sz="1180" dirty="0">
                        <a:latin typeface="IBM Plex Sans" charset="0"/>
                        <a:ea typeface="IBM Plex Sans" charset="0"/>
                        <a:cs typeface="IBM Plex Sans" charset="0"/>
                      </a:endParaRPr>
                    </a:p>
                  </a:txBody>
                  <a:tcPr marL="114300" marR="114300" marT="76200" marB="76200" anchor="t">
                    <a:lnL w="12700" cap="flat" cmpd="sng" algn="ctr">
                      <a:solidFill>
                        <a:srgbClr val="C3C0BB"/>
                      </a:solidFill>
                      <a:prstDash val="solid"/>
                      <a:round/>
                      <a:headEnd type="none" w="med" len="med"/>
                      <a:tailEnd type="none" w="med" len="med"/>
                    </a:lnL>
                    <a:lnR w="12700" cap="flat" cmpd="sng" algn="ctr">
                      <a:solidFill>
                        <a:srgbClr val="C3C0BB"/>
                      </a:solidFill>
                      <a:prstDash val="solid"/>
                      <a:round/>
                      <a:headEnd type="none" w="med" len="med"/>
                      <a:tailEnd type="none" w="med" len="med"/>
                    </a:lnR>
                    <a:lnT w="12700" cap="flat" cmpd="sng" algn="ctr">
                      <a:solidFill>
                        <a:srgbClr val="C3C0BB"/>
                      </a:solidFill>
                      <a:prstDash val="solid"/>
                      <a:round/>
                      <a:headEnd type="none" w="med" len="med"/>
                      <a:tailEnd type="none" w="med" len="med"/>
                    </a:lnT>
                    <a:lnB w="12700" cap="flat" cmpd="sng" algn="ctr">
                      <a:solidFill>
                        <a:srgbClr val="C3C0BB"/>
                      </a:solidFill>
                      <a:prstDash val="solid"/>
                      <a:round/>
                      <a:headEnd type="none" w="med" len="med"/>
                      <a:tailEnd type="none" w="med" len="med"/>
                    </a:lnB>
                  </a:tcPr>
                </a:tc>
              </a:tr>
              <a:tr h="1004491">
                <a:tc>
                  <a:txBody>
                    <a:bodyPr/>
                    <a:lstStyle/>
                    <a:p>
                      <a:pPr indent="0" marL="0">
                        <a:lnSpc>
                          <a:spcPts val="1652"/>
                        </a:lnSpc>
                        <a:buNone/>
                      </a:pPr>
                      <a:r>
                        <a:rPr lang="en-US" sz="1180" dirty="0">
                          <a:solidFill>
                            <a:srgbClr val="16222C"/>
                          </a:solidFill>
                          <a:latin typeface="IBM Plex Sans" pitchFamily="34" charset="0"/>
                          <a:ea typeface="IBM Plex Sans" pitchFamily="34" charset="-122"/>
                          <a:cs typeface="IBM Plex Sans" pitchFamily="34" charset="-120"/>
                        </a:rPr>
                        <a:t>All</a:t>
                      </a:r>
                      <a:endParaRPr lang="en-US" sz="1180" dirty="0">
                        <a:latin typeface="IBM Plex Sans" charset="0"/>
                        <a:ea typeface="IBM Plex Sans" charset="0"/>
                        <a:cs typeface="IBM Plex Sans" charset="0"/>
                      </a:endParaRPr>
                    </a:p>
                  </a:txBody>
                  <a:tcPr marL="114300" marR="114300" marT="76200" marB="76200" anchor="t">
                    <a:lnL w="12700" cap="flat" cmpd="sng" algn="ctr">
                      <a:solidFill>
                        <a:srgbClr val="C3C0BB"/>
                      </a:solidFill>
                      <a:prstDash val="solid"/>
                      <a:round/>
                      <a:headEnd type="none" w="med" len="med"/>
                      <a:tailEnd type="none" w="med" len="med"/>
                    </a:lnL>
                    <a:lnR w="12700" cap="flat" cmpd="sng" algn="ctr">
                      <a:solidFill>
                        <a:srgbClr val="C3C0BB"/>
                      </a:solidFill>
                      <a:prstDash val="solid"/>
                      <a:round/>
                      <a:headEnd type="none" w="med" len="med"/>
                      <a:tailEnd type="none" w="med" len="med"/>
                    </a:lnR>
                    <a:lnT w="12700" cap="flat" cmpd="sng" algn="ctr">
                      <a:solidFill>
                        <a:srgbClr val="C3C0BB"/>
                      </a:solidFill>
                      <a:prstDash val="solid"/>
                      <a:round/>
                      <a:headEnd type="none" w="med" len="med"/>
                      <a:tailEnd type="none" w="med" len="med"/>
                    </a:lnT>
                    <a:lnB w="12700" cap="flat" cmpd="sng" algn="ctr">
                      <a:solidFill>
                        <a:srgbClr val="C3C0BB"/>
                      </a:solidFill>
                      <a:prstDash val="solid"/>
                      <a:round/>
                      <a:headEnd type="none" w="med" len="med"/>
                      <a:tailEnd type="none" w="med" len="med"/>
                    </a:lnB>
                  </a:tcPr>
                </a:tc>
                <a:tc>
                  <a:txBody>
                    <a:bodyPr/>
                    <a:lstStyle/>
                    <a:p>
                      <a:pPr indent="0" marL="0">
                        <a:lnSpc>
                          <a:spcPts val="1652"/>
                        </a:lnSpc>
                        <a:buNone/>
                      </a:pPr>
                      <a:r>
                        <a:rPr lang="en-US" sz="1180" dirty="0">
                          <a:solidFill>
                            <a:srgbClr val="5E6B73"/>
                          </a:solidFill>
                          <a:latin typeface="IBM Plex Sans" pitchFamily="34" charset="0"/>
                          <a:ea typeface="IBM Plex Sans" pitchFamily="34" charset="-122"/>
                          <a:cs typeface="IBM Plex Sans" pitchFamily="34" charset="-120"/>
                        </a:rPr>
                        <a:t>—</a:t>
                      </a:r>
                      <a:endParaRPr lang="en-US" sz="1180" dirty="0">
                        <a:latin typeface="IBM Plex Sans" charset="0"/>
                        <a:ea typeface="IBM Plex Sans" charset="0"/>
                        <a:cs typeface="IBM Plex Sans" charset="0"/>
                      </a:endParaRPr>
                    </a:p>
                  </a:txBody>
                  <a:tcPr marL="114300" marR="114300" marT="76200" marB="76200" anchor="t">
                    <a:lnL w="12700" cap="flat" cmpd="sng" algn="ctr">
                      <a:solidFill>
                        <a:srgbClr val="C3C0BB"/>
                      </a:solidFill>
                      <a:prstDash val="solid"/>
                      <a:round/>
                      <a:headEnd type="none" w="med" len="med"/>
                      <a:tailEnd type="none" w="med" len="med"/>
                    </a:lnL>
                    <a:lnR w="12700" cap="flat" cmpd="sng" algn="ctr">
                      <a:solidFill>
                        <a:srgbClr val="C3C0BB"/>
                      </a:solidFill>
                      <a:prstDash val="solid"/>
                      <a:round/>
                      <a:headEnd type="none" w="med" len="med"/>
                      <a:tailEnd type="none" w="med" len="med"/>
                    </a:lnR>
                    <a:lnT w="12700" cap="flat" cmpd="sng" algn="ctr">
                      <a:solidFill>
                        <a:srgbClr val="C3C0BB"/>
                      </a:solidFill>
                      <a:prstDash val="solid"/>
                      <a:round/>
                      <a:headEnd type="none" w="med" len="med"/>
                      <a:tailEnd type="none" w="med" len="med"/>
                    </a:lnT>
                    <a:lnB w="12700" cap="flat" cmpd="sng" algn="ctr">
                      <a:solidFill>
                        <a:srgbClr val="C3C0BB"/>
                      </a:solidFill>
                      <a:prstDash val="solid"/>
                      <a:round/>
                      <a:headEnd type="none" w="med" len="med"/>
                      <a:tailEnd type="none" w="med" len="med"/>
                    </a:lnB>
                  </a:tcPr>
                </a:tc>
                <a:tc>
                  <a:txBody>
                    <a:bodyPr/>
                    <a:lstStyle/>
                    <a:p>
                      <a:pPr indent="0" marL="0">
                        <a:lnSpc>
                          <a:spcPts val="1652"/>
                        </a:lnSpc>
                        <a:buNone/>
                      </a:pPr>
                      <a:r>
                        <a:rPr lang="en-US" sz="1180" dirty="0">
                          <a:solidFill>
                            <a:srgbClr val="16222C"/>
                          </a:solidFill>
                          <a:latin typeface="IBM Plex Sans" pitchFamily="34" charset="0"/>
                          <a:ea typeface="IBM Plex Sans" pitchFamily="34" charset="-122"/>
                          <a:cs typeface="IBM Plex Sans" pitchFamily="34" charset="-120"/>
                        </a:rPr>
                        <a:t>Map colour or news post as a real crash · heatmap with no denominator · a sentence that writes the light</a:t>
                      </a:r>
                      <a:endParaRPr lang="en-US" sz="1180" dirty="0">
                        <a:latin typeface="IBM Plex Sans" charset="0"/>
                        <a:ea typeface="IBM Plex Sans" charset="0"/>
                        <a:cs typeface="IBM Plex Sans" charset="0"/>
                      </a:endParaRPr>
                    </a:p>
                  </a:txBody>
                  <a:tcPr marL="114300" marR="114300" marT="76200" marB="76200" anchor="t">
                    <a:lnL w="12700" cap="flat" cmpd="sng" algn="ctr">
                      <a:solidFill>
                        <a:srgbClr val="C3C0BB"/>
                      </a:solidFill>
                      <a:prstDash val="solid"/>
                      <a:round/>
                      <a:headEnd type="none" w="med" len="med"/>
                      <a:tailEnd type="none" w="med" len="med"/>
                    </a:lnL>
                    <a:lnR w="12700" cap="flat" cmpd="sng" algn="ctr">
                      <a:solidFill>
                        <a:srgbClr val="C3C0BB"/>
                      </a:solidFill>
                      <a:prstDash val="solid"/>
                      <a:round/>
                      <a:headEnd type="none" w="med" len="med"/>
                      <a:tailEnd type="none" w="med" len="med"/>
                    </a:lnR>
                    <a:lnT w="12700" cap="flat" cmpd="sng" algn="ctr">
                      <a:solidFill>
                        <a:srgbClr val="C3C0BB"/>
                      </a:solidFill>
                      <a:prstDash val="solid"/>
                      <a:round/>
                      <a:headEnd type="none" w="med" len="med"/>
                      <a:tailEnd type="none" w="med" len="med"/>
                    </a:lnT>
                    <a:lnB w="12700" cap="flat" cmpd="sng" algn="ctr">
                      <a:solidFill>
                        <a:srgbClr val="C3C0BB"/>
                      </a:solidFill>
                      <a:prstDash val="solid"/>
                      <a:round/>
                      <a:headEnd type="none" w="med" len="med"/>
                      <a:tailEnd type="none" w="med" len="med"/>
                    </a:lnB>
                  </a:tcPr>
                </a:tc>
                <a:tc>
                  <a:txBody>
                    <a:bodyPr/>
                    <a:lstStyle/>
                    <a:p>
                      <a:pPr indent="0" marL="0">
                        <a:lnSpc>
                          <a:spcPts val="1652"/>
                        </a:lnSpc>
                        <a:buNone/>
                      </a:pPr>
                      <a:r>
                        <a:rPr lang="en-US" sz="1180" dirty="0">
                          <a:solidFill>
                            <a:srgbClr val="8A3E14"/>
                          </a:solidFill>
                          <a:latin typeface="IBM Plex Sans" pitchFamily="34" charset="0"/>
                          <a:ea typeface="IBM Plex Sans" pitchFamily="34" charset="-122"/>
                          <a:cs typeface="IBM Plex Sans" pitchFamily="34" charset="-120"/>
                        </a:rPr>
                        <a:t>No source, or a second writer</a:t>
                      </a:r>
                      <a:endParaRPr lang="en-US" sz="1180" dirty="0">
                        <a:latin typeface="IBM Plex Sans" charset="0"/>
                        <a:ea typeface="IBM Plex Sans" charset="0"/>
                        <a:cs typeface="IBM Plex Sans" charset="0"/>
                      </a:endParaRPr>
                    </a:p>
                  </a:txBody>
                  <a:tcPr marL="114300" marR="114300" marT="76200" marB="76200" anchor="t">
                    <a:lnL w="12700" cap="flat" cmpd="sng" algn="ctr">
                      <a:solidFill>
                        <a:srgbClr val="C3C0BB"/>
                      </a:solidFill>
                      <a:prstDash val="solid"/>
                      <a:round/>
                      <a:headEnd type="none" w="med" len="med"/>
                      <a:tailEnd type="none" w="med" len="med"/>
                    </a:lnL>
                    <a:lnR w="12700" cap="flat" cmpd="sng" algn="ctr">
                      <a:solidFill>
                        <a:srgbClr val="C3C0BB"/>
                      </a:solidFill>
                      <a:prstDash val="solid"/>
                      <a:round/>
                      <a:headEnd type="none" w="med" len="med"/>
                      <a:tailEnd type="none" w="med" len="med"/>
                    </a:lnR>
                    <a:lnT w="12700" cap="flat" cmpd="sng" algn="ctr">
                      <a:solidFill>
                        <a:srgbClr val="C3C0BB"/>
                      </a:solidFill>
                      <a:prstDash val="solid"/>
                      <a:round/>
                      <a:headEnd type="none" w="med" len="med"/>
                      <a:tailEnd type="none" w="med" len="med"/>
                    </a:lnT>
                    <a:lnB w="12700" cap="flat" cmpd="sng" algn="ctr">
                      <a:solidFill>
                        <a:srgbClr val="C3C0BB"/>
                      </a:solidFill>
                      <a:prstDash val="solid"/>
                      <a:round/>
                      <a:headEnd type="none" w="med" len="med"/>
                      <a:tailEnd type="none" w="med" len="med"/>
                    </a:lnB>
                  </a:tcPr>
                </a:tc>
              </a:tr>
            </a:tbl>
          </a:graphicData>
        </a:graphic>
      </p:graphicFrame>
      <p:sp>
        <p:nvSpPr>
          <p:cNvPr id="5" name="Text 2"/>
          <p:cNvSpPr/>
          <p:nvPr/>
        </p:nvSpPr>
        <p:spPr>
          <a:xfrm>
            <a:off x="812800" y="6238242"/>
            <a:ext cx="6346574"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B73"/>
                </a:solidFill>
                <a:latin typeface="IBM Plex Sans" pitchFamily="34" charset="0"/>
                <a:ea typeface="IBM Plex Sans" pitchFamily="34" charset="-122"/>
                <a:cs typeface="IBM Plex Sans" pitchFamily="34" charset="-120"/>
              </a:rPr>
              <a:t>Each idea answers one HMW question on slide 20. Reasons map to the criteria on slide 23.</a:t>
            </a:r>
            <a:endParaRPr lang="en-US" sz="1200" dirty="0"/>
          </a:p>
        </p:txBody>
      </p:sp>
      <p:sp>
        <p:nvSpPr>
          <p:cNvPr id="6" name="Text 3"/>
          <p:cNvSpPr/>
          <p:nvPr/>
        </p:nvSpPr>
        <p:spPr>
          <a:xfrm>
            <a:off x="11196320" y="6238242"/>
            <a:ext cx="23368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B73"/>
                </a:solidFill>
                <a:latin typeface="IBM Plex Sans" pitchFamily="34" charset="0"/>
                <a:ea typeface="IBM Plex Sans" pitchFamily="34" charset="-122"/>
                <a:cs typeface="IBM Plex Sans" pitchFamily="34" charset="-120"/>
              </a:rPr>
              <a:t>21</a:t>
            </a:r>
            <a:endParaRPr lang="en-US" sz="12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E9E4D8"/>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1F6B72"/>
                </a:solidFill>
                <a:latin typeface="IBM Plex Mono" pitchFamily="34" charset="0"/>
                <a:ea typeface="IBM Plex Mono" pitchFamily="34" charset="-122"/>
                <a:cs typeface="IBM Plex Mono" pitchFamily="34" charset="-120"/>
              </a:rPr>
              <a:t>IDEATION · 2.4 IDEATION EVIDENCE</a:t>
            </a:r>
            <a:endParaRPr lang="en-US" sz="1200" dirty="0"/>
          </a:p>
        </p:txBody>
      </p:sp>
      <p:sp>
        <p:nvSpPr>
          <p:cNvPr id="3" name="Text 1"/>
          <p:cNvSpPr/>
          <p:nvPr/>
        </p:nvSpPr>
        <p:spPr>
          <a:xfrm>
            <a:off x="812800" y="1127758"/>
            <a:ext cx="10883392" cy="472440"/>
          </a:xfrm>
          <a:prstGeom prst="rect">
            <a:avLst/>
          </a:prstGeom>
          <a:noFill/>
          <a:ln/>
        </p:spPr>
        <p:txBody>
          <a:bodyPr wrap="square" lIns="0" tIns="0" rIns="0" bIns="0" rtlCol="0" anchor="t">
            <a:normAutofit/>
          </a:bodyPr>
          <a:lstStyle/>
          <a:p>
            <a:pPr algn="l" indent="0" marL="0">
              <a:lnSpc>
                <a:spcPts val="3520"/>
              </a:lnSpc>
              <a:buNone/>
            </a:pPr>
            <a:r>
              <a:rPr lang="en-US" sz="3200" b="1" dirty="0">
                <a:solidFill>
                  <a:srgbClr val="16222C"/>
                </a:solidFill>
                <a:latin typeface="Space Grotesk" pitchFamily="34" charset="0"/>
                <a:ea typeface="Space Grotesk" pitchFamily="34" charset="-122"/>
                <a:cs typeface="Space Grotesk" pitchFamily="34" charset="-120"/>
              </a:rPr>
              <a:t>How the ideas were generated</a:t>
            </a:r>
            <a:endParaRPr lang="en-US" sz="3200" dirty="0"/>
          </a:p>
        </p:txBody>
      </p:sp>
      <p:sp>
        <p:nvSpPr>
          <p:cNvPr id="4" name="Shape 2"/>
          <p:cNvSpPr/>
          <p:nvPr/>
        </p:nvSpPr>
        <p:spPr>
          <a:xfrm>
            <a:off x="815975" y="1806575"/>
            <a:ext cx="2540000" cy="1769110"/>
          </a:xfrm>
          <a:prstGeom prst="roundRect">
            <a:avLst>
              <a:gd name="adj" fmla="val 4128"/>
            </a:avLst>
          </a:prstGeom>
          <a:solidFill>
            <a:srgbClr val="FBFAF6"/>
          </a:solidFill>
          <a:ln w="6350">
            <a:solidFill>
              <a:srgbClr val="DDD8CC"/>
            </a:solidFill>
            <a:prstDash val="solid"/>
          </a:ln>
        </p:spPr>
      </p:sp>
      <p:sp>
        <p:nvSpPr>
          <p:cNvPr id="5" name="Text 3"/>
          <p:cNvSpPr/>
          <p:nvPr/>
        </p:nvSpPr>
        <p:spPr>
          <a:xfrm>
            <a:off x="995680" y="1986285"/>
            <a:ext cx="2246008"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F6B72"/>
                </a:solidFill>
                <a:latin typeface="IBM Plex Mono" pitchFamily="34" charset="0"/>
                <a:ea typeface="IBM Plex Mono" pitchFamily="34" charset="-122"/>
                <a:cs typeface="IBM Plex Mono" pitchFamily="34" charset="-120"/>
              </a:rPr>
              <a:t>STEP 1</a:t>
            </a:r>
            <a:endParaRPr lang="en-US" sz="1200" dirty="0"/>
          </a:p>
        </p:txBody>
      </p:sp>
      <p:sp>
        <p:nvSpPr>
          <p:cNvPr id="6" name="Text 4"/>
          <p:cNvSpPr/>
          <p:nvPr/>
        </p:nvSpPr>
        <p:spPr>
          <a:xfrm>
            <a:off x="995680" y="2275842"/>
            <a:ext cx="2246008" cy="23876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16222C"/>
                </a:solidFill>
                <a:latin typeface="Space Grotesk" pitchFamily="34" charset="0"/>
                <a:ea typeface="Space Grotesk" pitchFamily="34" charset="-122"/>
                <a:cs typeface="Space Grotesk" pitchFamily="34" charset="-120"/>
              </a:rPr>
              <a:t>Start from the needs</a:t>
            </a:r>
            <a:endParaRPr lang="en-US" sz="1400" dirty="0"/>
          </a:p>
        </p:txBody>
      </p:sp>
      <p:sp>
        <p:nvSpPr>
          <p:cNvPr id="7" name="Text 5"/>
          <p:cNvSpPr/>
          <p:nvPr/>
        </p:nvSpPr>
        <p:spPr>
          <a:xfrm>
            <a:off x="995680" y="2565400"/>
            <a:ext cx="2246008" cy="43688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3A4852"/>
                </a:solidFill>
                <a:latin typeface="IBM Plex Sans" pitchFamily="34" charset="0"/>
                <a:ea typeface="IBM Plex Sans" pitchFamily="34" charset="-122"/>
                <a:cs typeface="IBM Plex Sans" pitchFamily="34" charset="-120"/>
              </a:rPr>
              <a:t>Each row of the needs table became one HMW question.</a:t>
            </a:r>
            <a:endParaRPr lang="en-US" sz="1200" dirty="0"/>
          </a:p>
        </p:txBody>
      </p:sp>
      <p:sp>
        <p:nvSpPr>
          <p:cNvPr id="8" name="Shape 6"/>
          <p:cNvSpPr/>
          <p:nvPr/>
        </p:nvSpPr>
        <p:spPr>
          <a:xfrm>
            <a:off x="3489325" y="1806575"/>
            <a:ext cx="2540000" cy="1769110"/>
          </a:xfrm>
          <a:prstGeom prst="roundRect">
            <a:avLst>
              <a:gd name="adj" fmla="val 4128"/>
            </a:avLst>
          </a:prstGeom>
          <a:solidFill>
            <a:srgbClr val="FBFAF6"/>
          </a:solidFill>
          <a:ln w="6350">
            <a:solidFill>
              <a:srgbClr val="DDD8CC"/>
            </a:solidFill>
            <a:prstDash val="solid"/>
          </a:ln>
        </p:spPr>
      </p:sp>
      <p:sp>
        <p:nvSpPr>
          <p:cNvPr id="9" name="Text 7"/>
          <p:cNvSpPr/>
          <p:nvPr/>
        </p:nvSpPr>
        <p:spPr>
          <a:xfrm>
            <a:off x="3669030" y="1986285"/>
            <a:ext cx="2246008"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F6B72"/>
                </a:solidFill>
                <a:latin typeface="IBM Plex Mono" pitchFamily="34" charset="0"/>
                <a:ea typeface="IBM Plex Mono" pitchFamily="34" charset="-122"/>
                <a:cs typeface="IBM Plex Mono" pitchFamily="34" charset="-120"/>
              </a:rPr>
              <a:t>STEP 2</a:t>
            </a:r>
            <a:endParaRPr lang="en-US" sz="1200" dirty="0"/>
          </a:p>
        </p:txBody>
      </p:sp>
      <p:sp>
        <p:nvSpPr>
          <p:cNvPr id="10" name="Text 8"/>
          <p:cNvSpPr/>
          <p:nvPr/>
        </p:nvSpPr>
        <p:spPr>
          <a:xfrm>
            <a:off x="3669030" y="2275842"/>
            <a:ext cx="2246008" cy="45212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16222C"/>
                </a:solidFill>
                <a:latin typeface="Space Grotesk" pitchFamily="34" charset="0"/>
                <a:ea typeface="Space Grotesk" pitchFamily="34" charset="-122"/>
                <a:cs typeface="Space Grotesk" pitchFamily="34" charset="-120"/>
              </a:rPr>
              <a:t>Write ideas beside the source</a:t>
            </a:r>
            <a:endParaRPr lang="en-US" sz="1400" dirty="0"/>
          </a:p>
        </p:txBody>
      </p:sp>
      <p:sp>
        <p:nvSpPr>
          <p:cNvPr id="11" name="Text 9"/>
          <p:cNvSpPr/>
          <p:nvPr/>
        </p:nvSpPr>
        <p:spPr>
          <a:xfrm>
            <a:off x="3669030" y="2778758"/>
            <a:ext cx="2246008" cy="64262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3A4852"/>
                </a:solidFill>
                <a:latin typeface="IBM Plex Sans" pitchFamily="34" charset="0"/>
                <a:ea typeface="IBM Plex Sans" pitchFamily="34" charset="-122"/>
                <a:cs typeface="IBM Plex Sans" pitchFamily="34" charset="-120"/>
              </a:rPr>
              <a:t>Candidate ideas for each HMW, written next to the evidence behind them.</a:t>
            </a:r>
            <a:endParaRPr lang="en-US" sz="1200" dirty="0"/>
          </a:p>
        </p:txBody>
      </p:sp>
      <p:sp>
        <p:nvSpPr>
          <p:cNvPr id="12" name="Shape 10"/>
          <p:cNvSpPr/>
          <p:nvPr/>
        </p:nvSpPr>
        <p:spPr>
          <a:xfrm>
            <a:off x="6162675" y="1806575"/>
            <a:ext cx="2540000" cy="1769110"/>
          </a:xfrm>
          <a:prstGeom prst="roundRect">
            <a:avLst>
              <a:gd name="adj" fmla="val 4128"/>
            </a:avLst>
          </a:prstGeom>
          <a:solidFill>
            <a:srgbClr val="FBFAF6"/>
          </a:solidFill>
          <a:ln w="6350">
            <a:solidFill>
              <a:srgbClr val="DDD8CC"/>
            </a:solidFill>
            <a:prstDash val="solid"/>
          </a:ln>
        </p:spPr>
      </p:sp>
      <p:sp>
        <p:nvSpPr>
          <p:cNvPr id="13" name="Text 11"/>
          <p:cNvSpPr/>
          <p:nvPr/>
        </p:nvSpPr>
        <p:spPr>
          <a:xfrm>
            <a:off x="6342380" y="1986285"/>
            <a:ext cx="2246008"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F6B72"/>
                </a:solidFill>
                <a:latin typeface="IBM Plex Mono" pitchFamily="34" charset="0"/>
                <a:ea typeface="IBM Plex Mono" pitchFamily="34" charset="-122"/>
                <a:cs typeface="IBM Plex Mono" pitchFamily="34" charset="-120"/>
              </a:rPr>
              <a:t>STEP 3</a:t>
            </a:r>
            <a:endParaRPr lang="en-US" sz="1200" dirty="0"/>
          </a:p>
        </p:txBody>
      </p:sp>
      <p:sp>
        <p:nvSpPr>
          <p:cNvPr id="14" name="Text 12"/>
          <p:cNvSpPr/>
          <p:nvPr/>
        </p:nvSpPr>
        <p:spPr>
          <a:xfrm>
            <a:off x="6342380" y="2275842"/>
            <a:ext cx="2246008" cy="23876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16222C"/>
                </a:solidFill>
                <a:latin typeface="Space Grotesk" pitchFamily="34" charset="0"/>
                <a:ea typeface="Space Grotesk" pitchFamily="34" charset="-122"/>
                <a:cs typeface="Space Grotesk" pitchFamily="34" charset="-120"/>
              </a:rPr>
              <a:t>Test against five filters</a:t>
            </a:r>
            <a:endParaRPr lang="en-US" sz="1400" dirty="0"/>
          </a:p>
        </p:txBody>
      </p:sp>
      <p:sp>
        <p:nvSpPr>
          <p:cNvPr id="15" name="Text 13"/>
          <p:cNvSpPr/>
          <p:nvPr/>
        </p:nvSpPr>
        <p:spPr>
          <a:xfrm>
            <a:off x="6342380" y="2565400"/>
            <a:ext cx="2246008" cy="43688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3A4852"/>
                </a:solidFill>
                <a:latin typeface="IBM Plex Sans" pitchFamily="34" charset="0"/>
                <a:ea typeface="IBM Plex Sans" pitchFamily="34" charset="-122"/>
                <a:cs typeface="IBM Plex Sans" pitchFamily="34" charset="-120"/>
              </a:rPr>
              <a:t>Every idea checked against the selection criteria.</a:t>
            </a:r>
            <a:endParaRPr lang="en-US" sz="1200" dirty="0"/>
          </a:p>
        </p:txBody>
      </p:sp>
      <p:sp>
        <p:nvSpPr>
          <p:cNvPr id="16" name="Shape 14"/>
          <p:cNvSpPr/>
          <p:nvPr/>
        </p:nvSpPr>
        <p:spPr>
          <a:xfrm>
            <a:off x="8836025" y="1806575"/>
            <a:ext cx="2540000" cy="1769110"/>
          </a:xfrm>
          <a:prstGeom prst="roundRect">
            <a:avLst>
              <a:gd name="adj" fmla="val 4128"/>
            </a:avLst>
          </a:prstGeom>
          <a:solidFill>
            <a:srgbClr val="FBFAF6"/>
          </a:solidFill>
          <a:ln w="6350">
            <a:solidFill>
              <a:srgbClr val="DDD8CC"/>
            </a:solidFill>
            <a:prstDash val="solid"/>
          </a:ln>
        </p:spPr>
      </p:sp>
      <p:sp>
        <p:nvSpPr>
          <p:cNvPr id="17" name="Text 15"/>
          <p:cNvSpPr/>
          <p:nvPr/>
        </p:nvSpPr>
        <p:spPr>
          <a:xfrm>
            <a:off x="9015730" y="1986285"/>
            <a:ext cx="2246008"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F6B72"/>
                </a:solidFill>
                <a:latin typeface="IBM Plex Mono" pitchFamily="34" charset="0"/>
                <a:ea typeface="IBM Plex Mono" pitchFamily="34" charset="-122"/>
                <a:cs typeface="IBM Plex Mono" pitchFamily="34" charset="-120"/>
              </a:rPr>
              <a:t>STEP 4</a:t>
            </a:r>
            <a:endParaRPr lang="en-US" sz="1200" dirty="0"/>
          </a:p>
        </p:txBody>
      </p:sp>
      <p:sp>
        <p:nvSpPr>
          <p:cNvPr id="18" name="Text 16"/>
          <p:cNvSpPr/>
          <p:nvPr/>
        </p:nvSpPr>
        <p:spPr>
          <a:xfrm>
            <a:off x="9015730" y="2275842"/>
            <a:ext cx="2246008" cy="45212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16222C"/>
                </a:solidFill>
                <a:latin typeface="Space Grotesk" pitchFamily="34" charset="0"/>
                <a:ea typeface="Space Grotesk" pitchFamily="34" charset="-122"/>
                <a:cs typeface="Space Grotesk" pitchFamily="34" charset="-120"/>
              </a:rPr>
              <a:t>Keep or refuse, with a reason</a:t>
            </a:r>
            <a:endParaRPr lang="en-US" sz="1400" dirty="0"/>
          </a:p>
        </p:txBody>
      </p:sp>
      <p:sp>
        <p:nvSpPr>
          <p:cNvPr id="19" name="Text 17"/>
          <p:cNvSpPr/>
          <p:nvPr/>
        </p:nvSpPr>
        <p:spPr>
          <a:xfrm>
            <a:off x="9015730" y="2778758"/>
            <a:ext cx="2246008" cy="43688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3A4852"/>
                </a:solidFill>
                <a:latin typeface="IBM Plex Sans" pitchFamily="34" charset="0"/>
                <a:ea typeface="IBM Plex Sans" pitchFamily="34" charset="-122"/>
                <a:cs typeface="IBM Plex Sans" pitchFamily="34" charset="-120"/>
              </a:rPr>
              <a:t>Refused ideas stay on the record as evidence.</a:t>
            </a:r>
            <a:endParaRPr lang="en-US" sz="1200" dirty="0"/>
          </a:p>
        </p:txBody>
      </p:sp>
      <p:sp>
        <p:nvSpPr>
          <p:cNvPr id="20" name="Shape 18"/>
          <p:cNvSpPr/>
          <p:nvPr/>
        </p:nvSpPr>
        <p:spPr>
          <a:xfrm>
            <a:off x="812800" y="3807458"/>
            <a:ext cx="2546350" cy="990600"/>
          </a:xfrm>
          <a:prstGeom prst="roundRect">
            <a:avLst>
              <a:gd name="adj" fmla="val 7692"/>
            </a:avLst>
          </a:prstGeom>
          <a:solidFill>
            <a:srgbClr val="16222C"/>
          </a:solidFill>
          <a:ln/>
        </p:spPr>
      </p:sp>
      <p:sp>
        <p:nvSpPr>
          <p:cNvPr id="21" name="Text 19"/>
          <p:cNvSpPr/>
          <p:nvPr/>
        </p:nvSpPr>
        <p:spPr>
          <a:xfrm>
            <a:off x="990600" y="3934458"/>
            <a:ext cx="2256473" cy="523240"/>
          </a:xfrm>
          <a:prstGeom prst="rect">
            <a:avLst/>
          </a:prstGeom>
          <a:noFill/>
          <a:ln/>
        </p:spPr>
        <p:txBody>
          <a:bodyPr wrap="square" lIns="0" tIns="0" rIns="0" bIns="0" rtlCol="0" anchor="t">
            <a:normAutofit/>
          </a:bodyPr>
          <a:lstStyle/>
          <a:p>
            <a:pPr algn="l" indent="0" marL="0">
              <a:lnSpc>
                <a:spcPts val="3920"/>
              </a:lnSpc>
              <a:buNone/>
            </a:pPr>
            <a:r>
              <a:rPr lang="en-US" sz="2800" b="1" dirty="0">
                <a:solidFill>
                  <a:srgbClr val="E8A33D"/>
                </a:solidFill>
                <a:latin typeface="Space Grotesk" pitchFamily="34" charset="0"/>
                <a:ea typeface="Space Grotesk" pitchFamily="34" charset="-122"/>
                <a:cs typeface="Space Grotesk" pitchFamily="34" charset="-120"/>
              </a:rPr>
              <a:t>6</a:t>
            </a:r>
            <a:endParaRPr lang="en-US" sz="2800" dirty="0"/>
          </a:p>
        </p:txBody>
      </p:sp>
      <p:sp>
        <p:nvSpPr>
          <p:cNvPr id="22" name="Text 20"/>
          <p:cNvSpPr/>
          <p:nvPr/>
        </p:nvSpPr>
        <p:spPr>
          <a:xfrm>
            <a:off x="990600" y="4457700"/>
            <a:ext cx="2256473"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F4F1EA"/>
                </a:solidFill>
                <a:latin typeface="IBM Plex Sans" pitchFamily="34" charset="0"/>
                <a:ea typeface="IBM Plex Sans" pitchFamily="34" charset="-122"/>
                <a:cs typeface="IBM Plex Sans" pitchFamily="34" charset="-120"/>
              </a:rPr>
              <a:t>HMW questions</a:t>
            </a:r>
            <a:endParaRPr lang="en-US" sz="1200" dirty="0"/>
          </a:p>
        </p:txBody>
      </p:sp>
      <p:sp>
        <p:nvSpPr>
          <p:cNvPr id="23" name="Shape 21"/>
          <p:cNvSpPr/>
          <p:nvPr/>
        </p:nvSpPr>
        <p:spPr>
          <a:xfrm>
            <a:off x="3486150" y="3807458"/>
            <a:ext cx="2546350" cy="990600"/>
          </a:xfrm>
          <a:prstGeom prst="roundRect">
            <a:avLst>
              <a:gd name="adj" fmla="val 7692"/>
            </a:avLst>
          </a:prstGeom>
          <a:solidFill>
            <a:srgbClr val="16222C"/>
          </a:solidFill>
          <a:ln/>
        </p:spPr>
      </p:sp>
      <p:sp>
        <p:nvSpPr>
          <p:cNvPr id="24" name="Text 22"/>
          <p:cNvSpPr/>
          <p:nvPr/>
        </p:nvSpPr>
        <p:spPr>
          <a:xfrm>
            <a:off x="3663950" y="3934458"/>
            <a:ext cx="2256473" cy="523240"/>
          </a:xfrm>
          <a:prstGeom prst="rect">
            <a:avLst/>
          </a:prstGeom>
          <a:noFill/>
          <a:ln/>
        </p:spPr>
        <p:txBody>
          <a:bodyPr wrap="square" lIns="0" tIns="0" rIns="0" bIns="0" rtlCol="0" anchor="t">
            <a:normAutofit/>
          </a:bodyPr>
          <a:lstStyle/>
          <a:p>
            <a:pPr algn="l" indent="0" marL="0">
              <a:lnSpc>
                <a:spcPts val="3920"/>
              </a:lnSpc>
              <a:buNone/>
            </a:pPr>
            <a:r>
              <a:rPr lang="en-US" sz="2800" b="1" dirty="0">
                <a:solidFill>
                  <a:srgbClr val="E8A33D"/>
                </a:solidFill>
                <a:latin typeface="Space Grotesk" pitchFamily="34" charset="0"/>
                <a:ea typeface="Space Grotesk" pitchFamily="34" charset="-122"/>
                <a:cs typeface="Space Grotesk" pitchFamily="34" charset="-120"/>
              </a:rPr>
              <a:t>15</a:t>
            </a:r>
            <a:endParaRPr lang="en-US" sz="2800" dirty="0"/>
          </a:p>
        </p:txBody>
      </p:sp>
      <p:sp>
        <p:nvSpPr>
          <p:cNvPr id="25" name="Text 23"/>
          <p:cNvSpPr/>
          <p:nvPr/>
        </p:nvSpPr>
        <p:spPr>
          <a:xfrm>
            <a:off x="3663950" y="4457700"/>
            <a:ext cx="2256473"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F4F1EA"/>
                </a:solidFill>
                <a:latin typeface="IBM Plex Sans" pitchFamily="34" charset="0"/>
                <a:ea typeface="IBM Plex Sans" pitchFamily="34" charset="-122"/>
                <a:cs typeface="IBM Plex Sans" pitchFamily="34" charset="-120"/>
              </a:rPr>
              <a:t>ideas generated</a:t>
            </a:r>
            <a:endParaRPr lang="en-US" sz="1200" dirty="0"/>
          </a:p>
        </p:txBody>
      </p:sp>
      <p:sp>
        <p:nvSpPr>
          <p:cNvPr id="26" name="Shape 24"/>
          <p:cNvSpPr/>
          <p:nvPr/>
        </p:nvSpPr>
        <p:spPr>
          <a:xfrm>
            <a:off x="6159500" y="3807458"/>
            <a:ext cx="2546350" cy="990600"/>
          </a:xfrm>
          <a:prstGeom prst="roundRect">
            <a:avLst>
              <a:gd name="adj" fmla="val 7692"/>
            </a:avLst>
          </a:prstGeom>
          <a:solidFill>
            <a:srgbClr val="16222C"/>
          </a:solidFill>
          <a:ln/>
        </p:spPr>
      </p:sp>
      <p:sp>
        <p:nvSpPr>
          <p:cNvPr id="27" name="Text 25"/>
          <p:cNvSpPr/>
          <p:nvPr/>
        </p:nvSpPr>
        <p:spPr>
          <a:xfrm>
            <a:off x="6337300" y="3934458"/>
            <a:ext cx="2256473" cy="523240"/>
          </a:xfrm>
          <a:prstGeom prst="rect">
            <a:avLst/>
          </a:prstGeom>
          <a:noFill/>
          <a:ln/>
        </p:spPr>
        <p:txBody>
          <a:bodyPr wrap="square" lIns="0" tIns="0" rIns="0" bIns="0" rtlCol="0" anchor="t">
            <a:normAutofit/>
          </a:bodyPr>
          <a:lstStyle/>
          <a:p>
            <a:pPr algn="l" indent="0" marL="0">
              <a:lnSpc>
                <a:spcPts val="3920"/>
              </a:lnSpc>
              <a:buNone/>
            </a:pPr>
            <a:r>
              <a:rPr lang="en-US" sz="2800" b="1" dirty="0">
                <a:solidFill>
                  <a:srgbClr val="E8A33D"/>
                </a:solidFill>
                <a:latin typeface="Space Grotesk" pitchFamily="34" charset="0"/>
                <a:ea typeface="Space Grotesk" pitchFamily="34" charset="-122"/>
                <a:cs typeface="Space Grotesk" pitchFamily="34" charset="-120"/>
              </a:rPr>
              <a:t>6</a:t>
            </a:r>
            <a:endParaRPr lang="en-US" sz="2800" dirty="0"/>
          </a:p>
        </p:txBody>
      </p:sp>
      <p:sp>
        <p:nvSpPr>
          <p:cNvPr id="28" name="Text 26"/>
          <p:cNvSpPr/>
          <p:nvPr/>
        </p:nvSpPr>
        <p:spPr>
          <a:xfrm>
            <a:off x="6337300" y="4457700"/>
            <a:ext cx="2256473"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F4F1EA"/>
                </a:solidFill>
                <a:latin typeface="IBM Plex Sans" pitchFamily="34" charset="0"/>
                <a:ea typeface="IBM Plex Sans" pitchFamily="34" charset="-122"/>
                <a:cs typeface="IBM Plex Sans" pitchFamily="34" charset="-120"/>
              </a:rPr>
              <a:t>kept</a:t>
            </a:r>
            <a:endParaRPr lang="en-US" sz="1200" dirty="0"/>
          </a:p>
        </p:txBody>
      </p:sp>
      <p:sp>
        <p:nvSpPr>
          <p:cNvPr id="29" name="Shape 27"/>
          <p:cNvSpPr/>
          <p:nvPr/>
        </p:nvSpPr>
        <p:spPr>
          <a:xfrm>
            <a:off x="8832850" y="3807458"/>
            <a:ext cx="2546350" cy="990600"/>
          </a:xfrm>
          <a:prstGeom prst="roundRect">
            <a:avLst>
              <a:gd name="adj" fmla="val 7692"/>
            </a:avLst>
          </a:prstGeom>
          <a:solidFill>
            <a:srgbClr val="16222C"/>
          </a:solidFill>
          <a:ln/>
        </p:spPr>
      </p:sp>
      <p:sp>
        <p:nvSpPr>
          <p:cNvPr id="30" name="Text 28"/>
          <p:cNvSpPr/>
          <p:nvPr/>
        </p:nvSpPr>
        <p:spPr>
          <a:xfrm>
            <a:off x="9010650" y="3934458"/>
            <a:ext cx="2256473" cy="523240"/>
          </a:xfrm>
          <a:prstGeom prst="rect">
            <a:avLst/>
          </a:prstGeom>
          <a:noFill/>
          <a:ln/>
        </p:spPr>
        <p:txBody>
          <a:bodyPr wrap="square" lIns="0" tIns="0" rIns="0" bIns="0" rtlCol="0" anchor="t">
            <a:normAutofit/>
          </a:bodyPr>
          <a:lstStyle/>
          <a:p>
            <a:pPr algn="l" indent="0" marL="0">
              <a:lnSpc>
                <a:spcPts val="3920"/>
              </a:lnSpc>
              <a:buNone/>
            </a:pPr>
            <a:r>
              <a:rPr lang="en-US" sz="2800" b="1" dirty="0">
                <a:solidFill>
                  <a:srgbClr val="E8A33D"/>
                </a:solidFill>
                <a:latin typeface="Space Grotesk" pitchFamily="34" charset="0"/>
                <a:ea typeface="Space Grotesk" pitchFamily="34" charset="-122"/>
                <a:cs typeface="Space Grotesk" pitchFamily="34" charset="-120"/>
              </a:rPr>
              <a:t>9</a:t>
            </a:r>
            <a:endParaRPr lang="en-US" sz="2800" dirty="0"/>
          </a:p>
        </p:txBody>
      </p:sp>
      <p:sp>
        <p:nvSpPr>
          <p:cNvPr id="31" name="Text 29"/>
          <p:cNvSpPr/>
          <p:nvPr/>
        </p:nvSpPr>
        <p:spPr>
          <a:xfrm>
            <a:off x="9010650" y="4457700"/>
            <a:ext cx="2256473"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F4F1EA"/>
                </a:solidFill>
                <a:latin typeface="IBM Plex Sans" pitchFamily="34" charset="0"/>
                <a:ea typeface="IBM Plex Sans" pitchFamily="34" charset="-122"/>
                <a:cs typeface="IBM Plex Sans" pitchFamily="34" charset="-120"/>
              </a:rPr>
              <a:t>refused, with reasons</a:t>
            </a:r>
            <a:endParaRPr lang="en-US" sz="1200" dirty="0"/>
          </a:p>
        </p:txBody>
      </p:sp>
      <p:sp>
        <p:nvSpPr>
          <p:cNvPr id="32" name="Shape 30"/>
          <p:cNvSpPr/>
          <p:nvPr/>
        </p:nvSpPr>
        <p:spPr>
          <a:xfrm>
            <a:off x="838200" y="5026658"/>
            <a:ext cx="0" cy="281940"/>
          </a:xfrm>
          <a:prstGeom prst="line">
            <a:avLst/>
          </a:prstGeom>
          <a:noFill/>
          <a:ln w="50800">
            <a:solidFill>
              <a:srgbClr val="B5521B"/>
            </a:solidFill>
            <a:prstDash val="solid"/>
          </a:ln>
        </p:spPr>
      </p:sp>
      <p:sp>
        <p:nvSpPr>
          <p:cNvPr id="33" name="Text 31"/>
          <p:cNvSpPr/>
          <p:nvPr/>
        </p:nvSpPr>
        <p:spPr>
          <a:xfrm>
            <a:off x="1066800" y="5052058"/>
            <a:ext cx="10621772" cy="25654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16222C"/>
                </a:solidFill>
                <a:latin typeface="IBM Plex Sans" pitchFamily="34" charset="0"/>
                <a:ea typeface="IBM Plex Sans" pitchFamily="34" charset="-122"/>
                <a:cs typeface="IBM Plex Sans" pitchFamily="34" charset="-120"/>
              </a:rPr>
              <a:t>Method used:</a:t>
            </a:r>
            <a:r>
              <a:rPr lang="en-US" sz="1300" dirty="0">
                <a:solidFill>
                  <a:srgbClr val="16222C"/>
                </a:solidFill>
                <a:latin typeface="IBM Plex Sans" pitchFamily="34" charset="0"/>
                <a:ea typeface="IBM Plex Sans" pitchFamily="34" charset="-122"/>
                <a:cs typeface="IBM Plex Sans" pitchFamily="34" charset="-120"/>
              </a:rPr>
              <a:t> need-driven idea generation, one idea per persona need. </a:t>
            </a:r>
            <a:r>
              <a:rPr lang="en-US" sz="1300" b="1" dirty="0">
                <a:solidFill>
                  <a:srgbClr val="16222C"/>
                </a:solidFill>
                <a:latin typeface="IBM Plex Sans" pitchFamily="34" charset="0"/>
                <a:ea typeface="IBM Plex Sans" pitchFamily="34" charset="-122"/>
                <a:cs typeface="IBM Plex Sans" pitchFamily="34" charset="-120"/>
              </a:rPr>
              <a:t>Not used:</a:t>
            </a:r>
            <a:r>
              <a:rPr lang="en-US" sz="1300" dirty="0">
                <a:solidFill>
                  <a:srgbClr val="16222C"/>
                </a:solidFill>
                <a:latin typeface="IBM Plex Sans" pitchFamily="34" charset="0"/>
                <a:ea typeface="IBM Plex Sans" pitchFamily="34" charset="-122"/>
                <a:cs typeface="IBM Plex Sans" pitchFamily="34" charset="-120"/>
              </a:rPr>
              <a:t> SCAMPER, mind mapping or a workshop with users.</a:t>
            </a:r>
            <a:endParaRPr lang="en-US" sz="1300" dirty="0"/>
          </a:p>
        </p:txBody>
      </p:sp>
      <p:sp>
        <p:nvSpPr>
          <p:cNvPr id="34" name="Text 32"/>
          <p:cNvSpPr/>
          <p:nvPr/>
        </p:nvSpPr>
        <p:spPr>
          <a:xfrm>
            <a:off x="812800" y="6238242"/>
            <a:ext cx="4322453"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B73"/>
                </a:solidFill>
                <a:latin typeface="IBM Plex Sans" pitchFamily="34" charset="0"/>
                <a:ea typeface="IBM Plex Sans" pitchFamily="34" charset="-122"/>
                <a:cs typeface="IBM Plex Sans" pitchFamily="34" charset="-120"/>
              </a:rPr>
              <a:t>Evidence artefact: [link or photo of the ideation board / sheet]</a:t>
            </a:r>
            <a:endParaRPr lang="en-US" sz="1200" dirty="0"/>
          </a:p>
        </p:txBody>
      </p:sp>
      <p:sp>
        <p:nvSpPr>
          <p:cNvPr id="35" name="Text 33"/>
          <p:cNvSpPr/>
          <p:nvPr/>
        </p:nvSpPr>
        <p:spPr>
          <a:xfrm>
            <a:off x="11196320" y="6238242"/>
            <a:ext cx="23368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B73"/>
                </a:solidFill>
                <a:latin typeface="IBM Plex Sans" pitchFamily="34" charset="0"/>
                <a:ea typeface="IBM Plex Sans" pitchFamily="34" charset="-122"/>
                <a:cs typeface="IBM Plex Sans" pitchFamily="34" charset="-120"/>
              </a:rPr>
              <a:t>22</a:t>
            </a:r>
            <a:endParaRPr lang="en-US" sz="12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E9E4D8"/>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1F6B72"/>
                </a:solidFill>
                <a:latin typeface="IBM Plex Mono" pitchFamily="34" charset="0"/>
                <a:ea typeface="IBM Plex Mono" pitchFamily="34" charset="-122"/>
                <a:cs typeface="IBM Plex Mono" pitchFamily="34" charset="-120"/>
              </a:rPr>
              <a:t>IDEATION · 2.5 SELECTION OF IDEAS</a:t>
            </a:r>
            <a:endParaRPr lang="en-US" sz="1200" dirty="0"/>
          </a:p>
        </p:txBody>
      </p:sp>
      <p:sp>
        <p:nvSpPr>
          <p:cNvPr id="3" name="Text 1"/>
          <p:cNvSpPr/>
          <p:nvPr/>
        </p:nvSpPr>
        <p:spPr>
          <a:xfrm>
            <a:off x="812800" y="1127758"/>
            <a:ext cx="10883392" cy="472440"/>
          </a:xfrm>
          <a:prstGeom prst="rect">
            <a:avLst/>
          </a:prstGeom>
          <a:noFill/>
          <a:ln/>
        </p:spPr>
        <p:txBody>
          <a:bodyPr wrap="square" lIns="0" tIns="0" rIns="0" bIns="0" rtlCol="0" anchor="t">
            <a:normAutofit/>
          </a:bodyPr>
          <a:lstStyle/>
          <a:p>
            <a:pPr algn="l" indent="0" marL="0">
              <a:lnSpc>
                <a:spcPts val="3520"/>
              </a:lnSpc>
              <a:buNone/>
            </a:pPr>
            <a:r>
              <a:rPr lang="en-US" sz="3200" b="1" dirty="0">
                <a:solidFill>
                  <a:srgbClr val="16222C"/>
                </a:solidFill>
                <a:latin typeface="Space Grotesk" pitchFamily="34" charset="0"/>
                <a:ea typeface="Space Grotesk" pitchFamily="34" charset="-122"/>
                <a:cs typeface="Space Grotesk" pitchFamily="34" charset="-120"/>
              </a:rPr>
              <a:t>Five filters every kept idea had to pass</a:t>
            </a:r>
            <a:endParaRPr lang="en-US" sz="3200" dirty="0"/>
          </a:p>
        </p:txBody>
      </p:sp>
      <p:sp>
        <p:nvSpPr>
          <p:cNvPr id="4" name="Shape 2"/>
          <p:cNvSpPr/>
          <p:nvPr/>
        </p:nvSpPr>
        <p:spPr>
          <a:xfrm>
            <a:off x="815975" y="1882775"/>
            <a:ext cx="1986994" cy="2167890"/>
          </a:xfrm>
          <a:prstGeom prst="roundRect">
            <a:avLst>
              <a:gd name="adj" fmla="val 3675"/>
            </a:avLst>
          </a:prstGeom>
          <a:solidFill>
            <a:srgbClr val="FBFAF6"/>
          </a:solidFill>
          <a:ln w="6350">
            <a:solidFill>
              <a:srgbClr val="DDD8CC"/>
            </a:solidFill>
            <a:prstDash val="solid"/>
          </a:ln>
        </p:spPr>
      </p:sp>
      <p:sp>
        <p:nvSpPr>
          <p:cNvPr id="5" name="Text 3"/>
          <p:cNvSpPr/>
          <p:nvPr/>
        </p:nvSpPr>
        <p:spPr>
          <a:xfrm>
            <a:off x="1021080" y="2087885"/>
            <a:ext cx="1627584" cy="482600"/>
          </a:xfrm>
          <a:prstGeom prst="rect">
            <a:avLst/>
          </a:prstGeom>
          <a:noFill/>
          <a:ln/>
        </p:spPr>
        <p:txBody>
          <a:bodyPr wrap="square" lIns="0" tIns="0" rIns="0" bIns="0" rtlCol="0" anchor="t">
            <a:normAutofit/>
          </a:bodyPr>
          <a:lstStyle/>
          <a:p>
            <a:pPr algn="l" indent="0" marL="0">
              <a:lnSpc>
                <a:spcPts val="3600"/>
              </a:lnSpc>
              <a:buNone/>
            </a:pPr>
            <a:r>
              <a:rPr lang="en-US" sz="3600" b="1" dirty="0">
                <a:solidFill>
                  <a:srgbClr val="1F6B72"/>
                </a:solidFill>
                <a:latin typeface="Space Grotesk" pitchFamily="34" charset="0"/>
                <a:ea typeface="Space Grotesk" pitchFamily="34" charset="-122"/>
                <a:cs typeface="Space Grotesk" pitchFamily="34" charset="-120"/>
              </a:rPr>
              <a:t>1</a:t>
            </a:r>
            <a:endParaRPr lang="en-US" sz="3600" dirty="0"/>
          </a:p>
        </p:txBody>
      </p:sp>
      <p:sp>
        <p:nvSpPr>
          <p:cNvPr id="6" name="Text 4"/>
          <p:cNvSpPr/>
          <p:nvPr/>
        </p:nvSpPr>
        <p:spPr>
          <a:xfrm>
            <a:off x="1021080" y="2646685"/>
            <a:ext cx="1627584"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16222C"/>
                </a:solidFill>
                <a:latin typeface="Space Grotesk" pitchFamily="34" charset="0"/>
                <a:ea typeface="Space Grotesk" pitchFamily="34" charset="-122"/>
                <a:cs typeface="Space Grotesk" pitchFamily="34" charset="-120"/>
              </a:rPr>
              <a:t>Names a person</a:t>
            </a:r>
            <a:endParaRPr lang="en-US" sz="1500" dirty="0"/>
          </a:p>
        </p:txBody>
      </p:sp>
      <p:sp>
        <p:nvSpPr>
          <p:cNvPr id="7" name="Text 5"/>
          <p:cNvSpPr/>
          <p:nvPr/>
        </p:nvSpPr>
        <p:spPr>
          <a:xfrm>
            <a:off x="1021080" y="2976885"/>
            <a:ext cx="1627584" cy="66548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3A4852"/>
                </a:solidFill>
                <a:latin typeface="IBM Plex Sans" pitchFamily="34" charset="0"/>
                <a:ea typeface="IBM Plex Sans" pitchFamily="34" charset="-122"/>
                <a:cs typeface="IBM Plex Sans" pitchFamily="34" charset="-120"/>
              </a:rPr>
              <a:t>A solution with no affected person is dropped.</a:t>
            </a:r>
            <a:endParaRPr lang="en-US" sz="1200" dirty="0"/>
          </a:p>
        </p:txBody>
      </p:sp>
      <p:sp>
        <p:nvSpPr>
          <p:cNvPr id="8" name="Shape 6"/>
          <p:cNvSpPr/>
          <p:nvPr/>
        </p:nvSpPr>
        <p:spPr>
          <a:xfrm>
            <a:off x="2961719" y="1882775"/>
            <a:ext cx="1987074" cy="2167890"/>
          </a:xfrm>
          <a:prstGeom prst="roundRect">
            <a:avLst>
              <a:gd name="adj" fmla="val 3675"/>
            </a:avLst>
          </a:prstGeom>
          <a:solidFill>
            <a:srgbClr val="FBFAF6"/>
          </a:solidFill>
          <a:ln w="6350">
            <a:solidFill>
              <a:srgbClr val="DDD8CC"/>
            </a:solidFill>
            <a:prstDash val="solid"/>
          </a:ln>
        </p:spPr>
      </p:sp>
      <p:sp>
        <p:nvSpPr>
          <p:cNvPr id="9" name="Text 7"/>
          <p:cNvSpPr/>
          <p:nvPr/>
        </p:nvSpPr>
        <p:spPr>
          <a:xfrm>
            <a:off x="3166824" y="2087885"/>
            <a:ext cx="1627664" cy="482600"/>
          </a:xfrm>
          <a:prstGeom prst="rect">
            <a:avLst/>
          </a:prstGeom>
          <a:noFill/>
          <a:ln/>
        </p:spPr>
        <p:txBody>
          <a:bodyPr wrap="square" lIns="0" tIns="0" rIns="0" bIns="0" rtlCol="0" anchor="t">
            <a:normAutofit/>
          </a:bodyPr>
          <a:lstStyle/>
          <a:p>
            <a:pPr algn="l" indent="0" marL="0">
              <a:lnSpc>
                <a:spcPts val="3600"/>
              </a:lnSpc>
              <a:buNone/>
            </a:pPr>
            <a:r>
              <a:rPr lang="en-US" sz="3600" b="1" dirty="0">
                <a:solidFill>
                  <a:srgbClr val="1F6B72"/>
                </a:solidFill>
                <a:latin typeface="Space Grotesk" pitchFamily="34" charset="0"/>
                <a:ea typeface="Space Grotesk" pitchFamily="34" charset="-122"/>
                <a:cs typeface="Space Grotesk" pitchFamily="34" charset="-120"/>
              </a:rPr>
              <a:t>2</a:t>
            </a:r>
            <a:endParaRPr lang="en-US" sz="3600" dirty="0"/>
          </a:p>
        </p:txBody>
      </p:sp>
      <p:sp>
        <p:nvSpPr>
          <p:cNvPr id="10" name="Text 8"/>
          <p:cNvSpPr/>
          <p:nvPr/>
        </p:nvSpPr>
        <p:spPr>
          <a:xfrm>
            <a:off x="3166824" y="2646685"/>
            <a:ext cx="1627664" cy="4826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16222C"/>
                </a:solidFill>
                <a:latin typeface="Space Grotesk" pitchFamily="34" charset="0"/>
                <a:ea typeface="Space Grotesk" pitchFamily="34" charset="-122"/>
                <a:cs typeface="Space Grotesk" pitchFamily="34" charset="-120"/>
              </a:rPr>
              <a:t>Points at evidence</a:t>
            </a:r>
            <a:endParaRPr lang="en-US" sz="1500" dirty="0"/>
          </a:p>
        </p:txBody>
      </p:sp>
      <p:sp>
        <p:nvSpPr>
          <p:cNvPr id="11" name="Text 9"/>
          <p:cNvSpPr/>
          <p:nvPr/>
        </p:nvSpPr>
        <p:spPr>
          <a:xfrm>
            <a:off x="3166824" y="3205485"/>
            <a:ext cx="1627664" cy="66548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3A4852"/>
                </a:solidFill>
                <a:latin typeface="IBM Plex Sans" pitchFamily="34" charset="0"/>
                <a:ea typeface="IBM Plex Sans" pitchFamily="34" charset="-122"/>
                <a:cs typeface="IBM Plex Sans" pitchFamily="34" charset="-120"/>
              </a:rPr>
              <a:t>Published data, literature, or a labelled simulation row.</a:t>
            </a:r>
            <a:endParaRPr lang="en-US" sz="1200" dirty="0"/>
          </a:p>
        </p:txBody>
      </p:sp>
      <p:sp>
        <p:nvSpPr>
          <p:cNvPr id="12" name="Shape 10"/>
          <p:cNvSpPr/>
          <p:nvPr/>
        </p:nvSpPr>
        <p:spPr>
          <a:xfrm>
            <a:off x="5107543" y="1882775"/>
            <a:ext cx="1986994" cy="2167890"/>
          </a:xfrm>
          <a:prstGeom prst="roundRect">
            <a:avLst>
              <a:gd name="adj" fmla="val 3675"/>
            </a:avLst>
          </a:prstGeom>
          <a:solidFill>
            <a:srgbClr val="FBFAF6"/>
          </a:solidFill>
          <a:ln w="6350">
            <a:solidFill>
              <a:srgbClr val="DDD8CC"/>
            </a:solidFill>
            <a:prstDash val="solid"/>
          </a:ln>
        </p:spPr>
      </p:sp>
      <p:sp>
        <p:nvSpPr>
          <p:cNvPr id="13" name="Text 11"/>
          <p:cNvSpPr/>
          <p:nvPr/>
        </p:nvSpPr>
        <p:spPr>
          <a:xfrm>
            <a:off x="5312648" y="2087885"/>
            <a:ext cx="1627584" cy="482600"/>
          </a:xfrm>
          <a:prstGeom prst="rect">
            <a:avLst/>
          </a:prstGeom>
          <a:noFill/>
          <a:ln/>
        </p:spPr>
        <p:txBody>
          <a:bodyPr wrap="square" lIns="0" tIns="0" rIns="0" bIns="0" rtlCol="0" anchor="t">
            <a:normAutofit/>
          </a:bodyPr>
          <a:lstStyle/>
          <a:p>
            <a:pPr algn="l" indent="0" marL="0">
              <a:lnSpc>
                <a:spcPts val="3600"/>
              </a:lnSpc>
              <a:buNone/>
            </a:pPr>
            <a:r>
              <a:rPr lang="en-US" sz="3600" b="1" dirty="0">
                <a:solidFill>
                  <a:srgbClr val="1F6B72"/>
                </a:solidFill>
                <a:latin typeface="Space Grotesk" pitchFamily="34" charset="0"/>
                <a:ea typeface="Space Grotesk" pitchFamily="34" charset="-122"/>
                <a:cs typeface="Space Grotesk" pitchFamily="34" charset="-120"/>
              </a:rPr>
              <a:t>3</a:t>
            </a:r>
            <a:endParaRPr lang="en-US" sz="3600" dirty="0"/>
          </a:p>
        </p:txBody>
      </p:sp>
      <p:sp>
        <p:nvSpPr>
          <p:cNvPr id="14" name="Text 12"/>
          <p:cNvSpPr/>
          <p:nvPr/>
        </p:nvSpPr>
        <p:spPr>
          <a:xfrm>
            <a:off x="5312648" y="2646685"/>
            <a:ext cx="1627584"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16222C"/>
                </a:solidFill>
                <a:latin typeface="Space Grotesk" pitchFamily="34" charset="0"/>
                <a:ea typeface="Space Grotesk" pitchFamily="34" charset="-122"/>
                <a:cs typeface="Space Grotesk" pitchFamily="34" charset="-120"/>
              </a:rPr>
              <a:t>Invents nothing</a:t>
            </a:r>
            <a:endParaRPr lang="en-US" sz="1500" dirty="0"/>
          </a:p>
        </p:txBody>
      </p:sp>
      <p:sp>
        <p:nvSpPr>
          <p:cNvPr id="15" name="Text 13"/>
          <p:cNvSpPr/>
          <p:nvPr/>
        </p:nvSpPr>
        <p:spPr>
          <a:xfrm>
            <a:off x="5312648" y="2976885"/>
            <a:ext cx="1627584" cy="66548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3A4852"/>
                </a:solidFill>
                <a:latin typeface="IBM Plex Sans" pitchFamily="34" charset="0"/>
                <a:ea typeface="IBM Plex Sans" pitchFamily="34" charset="-122"/>
                <a:cs typeface="IBM Plex Sans" pitchFamily="34" charset="-120"/>
              </a:rPr>
              <a:t>No interview quote, no survey percentage, no Tunis digit we lack.</a:t>
            </a:r>
            <a:endParaRPr lang="en-US" sz="1200" dirty="0"/>
          </a:p>
        </p:txBody>
      </p:sp>
      <p:sp>
        <p:nvSpPr>
          <p:cNvPr id="16" name="Shape 14"/>
          <p:cNvSpPr/>
          <p:nvPr/>
        </p:nvSpPr>
        <p:spPr>
          <a:xfrm>
            <a:off x="7250113" y="1879600"/>
            <a:ext cx="1983264" cy="2174240"/>
          </a:xfrm>
          <a:prstGeom prst="roundRect">
            <a:avLst>
              <a:gd name="adj" fmla="val 3842"/>
            </a:avLst>
          </a:prstGeom>
          <a:solidFill>
            <a:srgbClr val="16222C"/>
          </a:solidFill>
          <a:ln/>
        </p:spPr>
      </p:sp>
      <p:sp>
        <p:nvSpPr>
          <p:cNvPr id="17" name="Text 15"/>
          <p:cNvSpPr/>
          <p:nvPr/>
        </p:nvSpPr>
        <p:spPr>
          <a:xfrm>
            <a:off x="7453312" y="2082800"/>
            <a:ext cx="1627664" cy="482600"/>
          </a:xfrm>
          <a:prstGeom prst="rect">
            <a:avLst/>
          </a:prstGeom>
          <a:noFill/>
          <a:ln/>
        </p:spPr>
        <p:txBody>
          <a:bodyPr wrap="square" lIns="0" tIns="0" rIns="0" bIns="0" rtlCol="0" anchor="t">
            <a:normAutofit/>
          </a:bodyPr>
          <a:lstStyle/>
          <a:p>
            <a:pPr algn="l" indent="0" marL="0">
              <a:lnSpc>
                <a:spcPts val="3600"/>
              </a:lnSpc>
              <a:buNone/>
            </a:pPr>
            <a:r>
              <a:rPr lang="en-US" sz="3600" b="1" dirty="0">
                <a:solidFill>
                  <a:srgbClr val="E8A33D"/>
                </a:solidFill>
                <a:latin typeface="Space Grotesk" pitchFamily="34" charset="0"/>
                <a:ea typeface="Space Grotesk" pitchFamily="34" charset="-122"/>
                <a:cs typeface="Space Grotesk" pitchFamily="34" charset="-120"/>
              </a:rPr>
              <a:t>4</a:t>
            </a:r>
            <a:endParaRPr lang="en-US" sz="3600" dirty="0"/>
          </a:p>
        </p:txBody>
      </p:sp>
      <p:sp>
        <p:nvSpPr>
          <p:cNvPr id="18" name="Text 16"/>
          <p:cNvSpPr/>
          <p:nvPr/>
        </p:nvSpPr>
        <p:spPr>
          <a:xfrm>
            <a:off x="7453312" y="2641600"/>
            <a:ext cx="1627664"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F4F1EA"/>
                </a:solidFill>
                <a:latin typeface="Space Grotesk" pitchFamily="34" charset="0"/>
                <a:ea typeface="Space Grotesk" pitchFamily="34" charset="-122"/>
                <a:cs typeface="Space Grotesk" pitchFamily="34" charset="-120"/>
              </a:rPr>
              <a:t>One writer</a:t>
            </a:r>
            <a:endParaRPr lang="en-US" sz="1500" dirty="0"/>
          </a:p>
        </p:txBody>
      </p:sp>
      <p:sp>
        <p:nvSpPr>
          <p:cNvPr id="19" name="Text 17"/>
          <p:cNvSpPr/>
          <p:nvPr/>
        </p:nvSpPr>
        <p:spPr>
          <a:xfrm>
            <a:off x="7453312" y="2971800"/>
            <a:ext cx="1627664" cy="87884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C9D1D6"/>
                </a:solidFill>
                <a:latin typeface="IBM Plex Sans" pitchFamily="34" charset="0"/>
                <a:ea typeface="IBM Plex Sans" pitchFamily="34" charset="-122"/>
                <a:cs typeface="IBM Plex Sans" pitchFamily="34" charset="-120"/>
              </a:rPr>
              <a:t>Specialists request. Only A1, through the safety mask, sets the phase.</a:t>
            </a:r>
            <a:endParaRPr lang="en-US" sz="1200" dirty="0"/>
          </a:p>
        </p:txBody>
      </p:sp>
      <p:sp>
        <p:nvSpPr>
          <p:cNvPr id="20" name="Shape 18"/>
          <p:cNvSpPr/>
          <p:nvPr/>
        </p:nvSpPr>
        <p:spPr>
          <a:xfrm>
            <a:off x="9388952" y="1882775"/>
            <a:ext cx="1987074" cy="2167890"/>
          </a:xfrm>
          <a:prstGeom prst="roundRect">
            <a:avLst>
              <a:gd name="adj" fmla="val 3675"/>
            </a:avLst>
          </a:prstGeom>
          <a:solidFill>
            <a:srgbClr val="FBFAF6"/>
          </a:solidFill>
          <a:ln w="6350">
            <a:solidFill>
              <a:srgbClr val="DDD8CC"/>
            </a:solidFill>
            <a:prstDash val="solid"/>
          </a:ln>
        </p:spPr>
      </p:sp>
      <p:sp>
        <p:nvSpPr>
          <p:cNvPr id="21" name="Text 19"/>
          <p:cNvSpPr/>
          <p:nvPr/>
        </p:nvSpPr>
        <p:spPr>
          <a:xfrm>
            <a:off x="9594056" y="2087885"/>
            <a:ext cx="1627664" cy="482600"/>
          </a:xfrm>
          <a:prstGeom prst="rect">
            <a:avLst/>
          </a:prstGeom>
          <a:noFill/>
          <a:ln/>
        </p:spPr>
        <p:txBody>
          <a:bodyPr wrap="square" lIns="0" tIns="0" rIns="0" bIns="0" rtlCol="0" anchor="t">
            <a:normAutofit/>
          </a:bodyPr>
          <a:lstStyle/>
          <a:p>
            <a:pPr algn="l" indent="0" marL="0">
              <a:lnSpc>
                <a:spcPts val="3600"/>
              </a:lnSpc>
              <a:buNone/>
            </a:pPr>
            <a:r>
              <a:rPr lang="en-US" sz="3600" b="1" dirty="0">
                <a:solidFill>
                  <a:srgbClr val="1F6B72"/>
                </a:solidFill>
                <a:latin typeface="Space Grotesk" pitchFamily="34" charset="0"/>
                <a:ea typeface="Space Grotesk" pitchFamily="34" charset="-122"/>
                <a:cs typeface="Space Grotesk" pitchFamily="34" charset="-120"/>
              </a:rPr>
              <a:t>5</a:t>
            </a:r>
            <a:endParaRPr lang="en-US" sz="3600" dirty="0"/>
          </a:p>
        </p:txBody>
      </p:sp>
      <p:sp>
        <p:nvSpPr>
          <p:cNvPr id="22" name="Text 20"/>
          <p:cNvSpPr/>
          <p:nvPr/>
        </p:nvSpPr>
        <p:spPr>
          <a:xfrm>
            <a:off x="9594056" y="2646685"/>
            <a:ext cx="1627664"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16222C"/>
                </a:solidFill>
                <a:latin typeface="Space Grotesk" pitchFamily="34" charset="0"/>
                <a:ea typeface="Space Grotesk" pitchFamily="34" charset="-122"/>
                <a:cs typeface="Space Grotesk" pitchFamily="34" charset="-120"/>
              </a:rPr>
              <a:t>Leaves a record</a:t>
            </a:r>
            <a:endParaRPr lang="en-US" sz="1500" dirty="0"/>
          </a:p>
        </p:txBody>
      </p:sp>
      <p:sp>
        <p:nvSpPr>
          <p:cNvPr id="23" name="Text 21"/>
          <p:cNvSpPr/>
          <p:nvPr/>
        </p:nvSpPr>
        <p:spPr>
          <a:xfrm>
            <a:off x="9594056" y="2976885"/>
            <a:ext cx="1627664" cy="66548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3A4852"/>
                </a:solidFill>
                <a:latin typeface="IBM Plex Sans" pitchFamily="34" charset="0"/>
                <a:ea typeface="IBM Plex Sans" pitchFamily="34" charset="-122"/>
                <a:cs typeface="IBM Plex Sans" pitchFamily="34" charset="-120"/>
              </a:rPr>
              <a:t>Rosa can read every grant, denial or abstention.</a:t>
            </a:r>
            <a:endParaRPr lang="en-US" sz="1200" dirty="0"/>
          </a:p>
        </p:txBody>
      </p:sp>
      <p:sp>
        <p:nvSpPr>
          <p:cNvPr id="24" name="Text 22"/>
          <p:cNvSpPr/>
          <p:nvPr/>
        </p:nvSpPr>
        <p:spPr>
          <a:xfrm>
            <a:off x="812800" y="4358642"/>
            <a:ext cx="9156700" cy="322580"/>
          </a:xfrm>
          <a:prstGeom prst="rect">
            <a:avLst/>
          </a:prstGeom>
          <a:noFill/>
          <a:ln/>
        </p:spPr>
        <p:txBody>
          <a:bodyPr wrap="square" lIns="0" tIns="0" rIns="0" bIns="0" rtlCol="0" anchor="t">
            <a:normAutofit/>
          </a:bodyPr>
          <a:lstStyle/>
          <a:p>
            <a:pPr algn="l" indent="0" marL="0">
              <a:lnSpc>
                <a:spcPts val="2340"/>
              </a:lnSpc>
              <a:buNone/>
            </a:pPr>
            <a:r>
              <a:rPr lang="en-US" sz="1800" dirty="0">
                <a:solidFill>
                  <a:srgbClr val="16222C"/>
                </a:solidFill>
                <a:latin typeface="Space Grotesk" pitchFamily="34" charset="0"/>
                <a:ea typeface="Space Grotesk" pitchFamily="34" charset="-122"/>
                <a:cs typeface="Space Grotesk" pitchFamily="34" charset="-120"/>
              </a:rPr>
              <a:t>An idea that failed any filter was dropped, however attractive it looked.</a:t>
            </a:r>
            <a:endParaRPr lang="en-US" sz="1800" dirty="0"/>
          </a:p>
        </p:txBody>
      </p:sp>
      <p:sp>
        <p:nvSpPr>
          <p:cNvPr id="25" name="Text 23"/>
          <p:cNvSpPr/>
          <p:nvPr/>
        </p:nvSpPr>
        <p:spPr>
          <a:xfrm>
            <a:off x="812800" y="6238242"/>
            <a:ext cx="3743782"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B73"/>
                </a:solidFill>
                <a:latin typeface="IBM Plex Sans" pitchFamily="34" charset="0"/>
                <a:ea typeface="IBM Plex Sans" pitchFamily="34" charset="-122"/>
                <a:cs typeface="IBM Plex Sans" pitchFamily="34" charset="-120"/>
              </a:rPr>
              <a:t>Applied to all 15 ideas on slide 21: 6 passed, 9 failed.</a:t>
            </a:r>
            <a:endParaRPr lang="en-US" sz="1200" dirty="0"/>
          </a:p>
        </p:txBody>
      </p:sp>
      <p:sp>
        <p:nvSpPr>
          <p:cNvPr id="26" name="Text 24"/>
          <p:cNvSpPr/>
          <p:nvPr/>
        </p:nvSpPr>
        <p:spPr>
          <a:xfrm>
            <a:off x="11196320" y="6238242"/>
            <a:ext cx="23368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B73"/>
                </a:solidFill>
                <a:latin typeface="IBM Plex Sans" pitchFamily="34" charset="0"/>
                <a:ea typeface="IBM Plex Sans" pitchFamily="34" charset="-122"/>
                <a:cs typeface="IBM Plex Sans" pitchFamily="34" charset="-120"/>
              </a:rPr>
              <a:t>23</a:t>
            </a:r>
            <a:endParaRPr lang="en-US" sz="12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14202B"/>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E8A33D"/>
                </a:solidFill>
                <a:latin typeface="IBM Plex Mono" pitchFamily="34" charset="0"/>
                <a:ea typeface="IBM Plex Mono" pitchFamily="34" charset="-122"/>
                <a:cs typeface="IBM Plex Mono" pitchFamily="34" charset="-120"/>
              </a:rPr>
              <a:t>IDEATION · 2.6 FINAL SELECTED IDEA</a:t>
            </a:r>
            <a:endParaRPr lang="en-US" sz="1200" dirty="0"/>
          </a:p>
        </p:txBody>
      </p:sp>
      <p:sp>
        <p:nvSpPr>
          <p:cNvPr id="3" name="Text 1"/>
          <p:cNvSpPr/>
          <p:nvPr/>
        </p:nvSpPr>
        <p:spPr>
          <a:xfrm>
            <a:off x="812800" y="1946275"/>
            <a:ext cx="10883392" cy="695960"/>
          </a:xfrm>
          <a:prstGeom prst="rect">
            <a:avLst/>
          </a:prstGeom>
          <a:noFill/>
          <a:ln/>
        </p:spPr>
        <p:txBody>
          <a:bodyPr wrap="square" lIns="0" tIns="0" rIns="0" bIns="0" rtlCol="0" anchor="t">
            <a:normAutofit/>
          </a:bodyPr>
          <a:lstStyle/>
          <a:p>
            <a:pPr algn="l" indent="0" marL="0">
              <a:lnSpc>
                <a:spcPts val="5280"/>
              </a:lnSpc>
              <a:buNone/>
            </a:pPr>
            <a:r>
              <a:rPr lang="en-US" sz="4800" b="1" dirty="0">
                <a:solidFill>
                  <a:srgbClr val="F4F1EA"/>
                </a:solidFill>
                <a:latin typeface="Space Grotesk" pitchFamily="34" charset="0"/>
                <a:ea typeface="Space Grotesk" pitchFamily="34" charset="-122"/>
                <a:cs typeface="Space Grotesk" pitchFamily="34" charset="-120"/>
              </a:rPr>
              <a:t>Advisers request.</a:t>
            </a:r>
            <a:endParaRPr lang="en-US" sz="4800" dirty="0"/>
          </a:p>
        </p:txBody>
      </p:sp>
      <p:sp>
        <p:nvSpPr>
          <p:cNvPr id="4" name="Text 2"/>
          <p:cNvSpPr/>
          <p:nvPr/>
        </p:nvSpPr>
        <p:spPr>
          <a:xfrm>
            <a:off x="812800" y="2667633"/>
            <a:ext cx="10883392" cy="695960"/>
          </a:xfrm>
          <a:prstGeom prst="rect">
            <a:avLst/>
          </a:prstGeom>
          <a:noFill/>
          <a:ln/>
        </p:spPr>
        <p:txBody>
          <a:bodyPr wrap="square" lIns="0" tIns="0" rIns="0" bIns="0" rtlCol="0" anchor="t">
            <a:normAutofit/>
          </a:bodyPr>
          <a:lstStyle/>
          <a:p>
            <a:pPr algn="l" indent="0" marL="0">
              <a:lnSpc>
                <a:spcPts val="5280"/>
              </a:lnSpc>
              <a:buNone/>
            </a:pPr>
            <a:r>
              <a:rPr lang="en-US" sz="4800" b="1" dirty="0">
                <a:solidFill>
                  <a:srgbClr val="E8A33D"/>
                </a:solidFill>
                <a:latin typeface="Space Grotesk" pitchFamily="34" charset="0"/>
                <a:ea typeface="Space Grotesk" pitchFamily="34" charset="-122"/>
                <a:cs typeface="Space Grotesk" pitchFamily="34" charset="-120"/>
              </a:rPr>
              <a:t>One writer decides.</a:t>
            </a:r>
            <a:endParaRPr lang="en-US" sz="4800" dirty="0"/>
          </a:p>
        </p:txBody>
      </p:sp>
      <p:sp>
        <p:nvSpPr>
          <p:cNvPr id="5" name="Text 3"/>
          <p:cNvSpPr/>
          <p:nvPr/>
        </p:nvSpPr>
        <p:spPr>
          <a:xfrm>
            <a:off x="812800" y="3389002"/>
            <a:ext cx="10883392" cy="695960"/>
          </a:xfrm>
          <a:prstGeom prst="rect">
            <a:avLst/>
          </a:prstGeom>
          <a:noFill/>
          <a:ln/>
        </p:spPr>
        <p:txBody>
          <a:bodyPr wrap="square" lIns="0" tIns="0" rIns="0" bIns="0" rtlCol="0" anchor="t">
            <a:normAutofit/>
          </a:bodyPr>
          <a:lstStyle/>
          <a:p>
            <a:pPr algn="l" indent="0" marL="0">
              <a:lnSpc>
                <a:spcPts val="5280"/>
              </a:lnSpc>
              <a:buNone/>
            </a:pPr>
            <a:r>
              <a:rPr lang="en-US" sz="4800" b="1" dirty="0">
                <a:solidFill>
                  <a:srgbClr val="F4F1EA"/>
                </a:solidFill>
                <a:latin typeface="Space Grotesk" pitchFamily="34" charset="0"/>
                <a:ea typeface="Space Grotesk" pitchFamily="34" charset="-122"/>
                <a:cs typeface="Space Grotesk" pitchFamily="34" charset="-120"/>
              </a:rPr>
              <a:t>The record stays.</a:t>
            </a:r>
            <a:endParaRPr lang="en-US" sz="4800" dirty="0"/>
          </a:p>
        </p:txBody>
      </p:sp>
      <p:sp>
        <p:nvSpPr>
          <p:cNvPr id="6" name="Shape 4"/>
          <p:cNvSpPr/>
          <p:nvPr/>
        </p:nvSpPr>
        <p:spPr>
          <a:xfrm>
            <a:off x="812800" y="4992377"/>
            <a:ext cx="3352800" cy="0"/>
          </a:xfrm>
          <a:prstGeom prst="line">
            <a:avLst/>
          </a:prstGeom>
          <a:noFill/>
          <a:ln w="25400">
            <a:solidFill>
              <a:srgbClr val="A9B4BB"/>
            </a:solidFill>
            <a:prstDash val="solid"/>
          </a:ln>
        </p:spPr>
      </p:sp>
      <p:sp>
        <p:nvSpPr>
          <p:cNvPr id="7" name="Text 5"/>
          <p:cNvSpPr/>
          <p:nvPr/>
        </p:nvSpPr>
        <p:spPr>
          <a:xfrm>
            <a:off x="812800" y="5132077"/>
            <a:ext cx="3453384"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A9B4BB"/>
                </a:solidFill>
                <a:latin typeface="IBM Plex Mono" pitchFamily="34" charset="0"/>
                <a:ea typeface="IBM Plex Mono" pitchFamily="34" charset="-122"/>
                <a:cs typeface="IBM Plex Mono" pitchFamily="34" charset="-120"/>
              </a:rPr>
              <a:t>A2 · A3 · A4 · A5</a:t>
            </a:r>
            <a:endParaRPr lang="en-US" sz="1200" dirty="0"/>
          </a:p>
        </p:txBody>
      </p:sp>
      <p:sp>
        <p:nvSpPr>
          <p:cNvPr id="8" name="Text 6"/>
          <p:cNvSpPr/>
          <p:nvPr/>
        </p:nvSpPr>
        <p:spPr>
          <a:xfrm>
            <a:off x="812800" y="5396235"/>
            <a:ext cx="3453384" cy="248285"/>
          </a:xfrm>
          <a:prstGeom prst="rect">
            <a:avLst/>
          </a:prstGeom>
          <a:noFill/>
          <a:ln/>
        </p:spPr>
        <p:txBody>
          <a:bodyPr wrap="square" lIns="0" tIns="0" rIns="0" bIns="0" rtlCol="0" anchor="t">
            <a:normAutofit/>
          </a:bodyPr>
          <a:lstStyle/>
          <a:p>
            <a:pPr algn="l" indent="0" marL="0">
              <a:lnSpc>
                <a:spcPts val="1755"/>
              </a:lnSpc>
              <a:buNone/>
            </a:pPr>
            <a:r>
              <a:rPr lang="en-US" sz="1300" dirty="0">
                <a:solidFill>
                  <a:srgbClr val="F4F1EA"/>
                </a:solidFill>
                <a:latin typeface="IBM Plex Sans" pitchFamily="34" charset="0"/>
                <a:ea typeface="IBM Plex Sans" pitchFamily="34" charset="-122"/>
                <a:cs typeface="IBM Plex Sans" pitchFamily="34" charset="-120"/>
              </a:rPr>
              <a:t>Specialists that can only ask.</a:t>
            </a:r>
            <a:endParaRPr lang="en-US" sz="1300" dirty="0"/>
          </a:p>
        </p:txBody>
      </p:sp>
      <p:sp>
        <p:nvSpPr>
          <p:cNvPr id="9" name="Shape 7"/>
          <p:cNvSpPr/>
          <p:nvPr/>
        </p:nvSpPr>
        <p:spPr>
          <a:xfrm>
            <a:off x="4419600" y="4992377"/>
            <a:ext cx="3352800" cy="0"/>
          </a:xfrm>
          <a:prstGeom prst="line">
            <a:avLst/>
          </a:prstGeom>
          <a:noFill/>
          <a:ln w="25400">
            <a:solidFill>
              <a:srgbClr val="E8A33D"/>
            </a:solidFill>
            <a:prstDash val="solid"/>
          </a:ln>
        </p:spPr>
      </p:sp>
      <p:sp>
        <p:nvSpPr>
          <p:cNvPr id="10" name="Text 8"/>
          <p:cNvSpPr/>
          <p:nvPr/>
        </p:nvSpPr>
        <p:spPr>
          <a:xfrm>
            <a:off x="4419600" y="5132077"/>
            <a:ext cx="3453384"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E8A33D"/>
                </a:solidFill>
                <a:latin typeface="IBM Plex Mono" pitchFamily="34" charset="0"/>
                <a:ea typeface="IBM Plex Mono" pitchFamily="34" charset="-122"/>
                <a:cs typeface="IBM Plex Mono" pitchFamily="34" charset="-120"/>
              </a:rPr>
              <a:t>A1</a:t>
            </a:r>
            <a:endParaRPr lang="en-US" sz="1200" dirty="0"/>
          </a:p>
        </p:txBody>
      </p:sp>
      <p:sp>
        <p:nvSpPr>
          <p:cNvPr id="11" name="Text 9"/>
          <p:cNvSpPr/>
          <p:nvPr/>
        </p:nvSpPr>
        <p:spPr>
          <a:xfrm>
            <a:off x="4419600" y="5396235"/>
            <a:ext cx="3453384" cy="471170"/>
          </a:xfrm>
          <a:prstGeom prst="rect">
            <a:avLst/>
          </a:prstGeom>
          <a:noFill/>
          <a:ln/>
        </p:spPr>
        <p:txBody>
          <a:bodyPr wrap="square" lIns="0" tIns="0" rIns="0" bIns="0" rtlCol="0" anchor="t">
            <a:normAutofit/>
          </a:bodyPr>
          <a:lstStyle/>
          <a:p>
            <a:pPr algn="l" indent="0" marL="0">
              <a:lnSpc>
                <a:spcPts val="1755"/>
              </a:lnSpc>
              <a:buNone/>
            </a:pPr>
            <a:r>
              <a:rPr lang="en-US" sz="1300" dirty="0">
                <a:solidFill>
                  <a:srgbClr val="F4F1EA"/>
                </a:solidFill>
                <a:latin typeface="IBM Plex Sans" pitchFamily="34" charset="0"/>
                <a:ea typeface="IBM Plex Sans" pitchFamily="34" charset="-122"/>
                <a:cs typeface="IBM Plex Sans" pitchFamily="34" charset="-120"/>
              </a:rPr>
              <a:t>The only writer, through the safety mask and the signal executor.</a:t>
            </a:r>
            <a:endParaRPr lang="en-US" sz="1300" dirty="0"/>
          </a:p>
        </p:txBody>
      </p:sp>
      <p:sp>
        <p:nvSpPr>
          <p:cNvPr id="12" name="Shape 10"/>
          <p:cNvSpPr/>
          <p:nvPr/>
        </p:nvSpPr>
        <p:spPr>
          <a:xfrm>
            <a:off x="8026400" y="4992377"/>
            <a:ext cx="3352800" cy="0"/>
          </a:xfrm>
          <a:prstGeom prst="line">
            <a:avLst/>
          </a:prstGeom>
          <a:noFill/>
          <a:ln w="25400">
            <a:solidFill>
              <a:srgbClr val="A9B4BB"/>
            </a:solidFill>
            <a:prstDash val="solid"/>
          </a:ln>
        </p:spPr>
      </p:sp>
      <p:sp>
        <p:nvSpPr>
          <p:cNvPr id="13" name="Text 11"/>
          <p:cNvSpPr/>
          <p:nvPr/>
        </p:nvSpPr>
        <p:spPr>
          <a:xfrm>
            <a:off x="8026400" y="5132077"/>
            <a:ext cx="3453384"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A9B4BB"/>
                </a:solidFill>
                <a:latin typeface="IBM Plex Mono" pitchFamily="34" charset="0"/>
                <a:ea typeface="IBM Plex Mono" pitchFamily="34" charset="-122"/>
                <a:cs typeface="IBM Plex Mono" pitchFamily="34" charset="-120"/>
              </a:rPr>
              <a:t>SYNAPSE</a:t>
            </a:r>
            <a:endParaRPr lang="en-US" sz="1200" dirty="0"/>
          </a:p>
        </p:txBody>
      </p:sp>
      <p:sp>
        <p:nvSpPr>
          <p:cNvPr id="14" name="Text 12"/>
          <p:cNvSpPr/>
          <p:nvPr/>
        </p:nvSpPr>
        <p:spPr>
          <a:xfrm>
            <a:off x="8026400" y="5396235"/>
            <a:ext cx="3453384" cy="471170"/>
          </a:xfrm>
          <a:prstGeom prst="rect">
            <a:avLst/>
          </a:prstGeom>
          <a:noFill/>
          <a:ln/>
        </p:spPr>
        <p:txBody>
          <a:bodyPr wrap="square" lIns="0" tIns="0" rIns="0" bIns="0" rtlCol="0" anchor="t">
            <a:normAutofit/>
          </a:bodyPr>
          <a:lstStyle/>
          <a:p>
            <a:pPr algn="l" indent="0" marL="0">
              <a:lnSpc>
                <a:spcPts val="1755"/>
              </a:lnSpc>
              <a:buNone/>
            </a:pPr>
            <a:r>
              <a:rPr lang="en-US" sz="1300" dirty="0">
                <a:solidFill>
                  <a:srgbClr val="F4F1EA"/>
                </a:solidFill>
                <a:latin typeface="IBM Plex Sans" pitchFamily="34" charset="0"/>
                <a:ea typeface="IBM Plex Sans" pitchFamily="34" charset="-122"/>
                <a:cs typeface="IBM Plex Sans" pitchFamily="34" charset="-120"/>
              </a:rPr>
              <a:t>Explains the log with a citation, or abstains. Never reaches TraCI.</a:t>
            </a:r>
            <a:endParaRPr lang="en-US" sz="1300" dirty="0"/>
          </a:p>
        </p:txBody>
      </p:sp>
      <p:sp>
        <p:nvSpPr>
          <p:cNvPr id="15" name="Text 13"/>
          <p:cNvSpPr/>
          <p:nvPr/>
        </p:nvSpPr>
        <p:spPr>
          <a:xfrm>
            <a:off x="812800" y="6238242"/>
            <a:ext cx="5801097"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A9B4BB"/>
                </a:solidFill>
                <a:latin typeface="IBM Plex Sans" pitchFamily="34" charset="0"/>
                <a:ea typeface="IBM Plex Sans" pitchFamily="34" charset="-122"/>
                <a:cs typeface="IBM Plex Sans" pitchFamily="34" charset="-120"/>
              </a:rPr>
              <a:t>Evaluates incident response in simulation. It does not prevent accidents in Tunisia.</a:t>
            </a:r>
            <a:endParaRPr lang="en-US" sz="1200" dirty="0"/>
          </a:p>
        </p:txBody>
      </p:sp>
      <p:sp>
        <p:nvSpPr>
          <p:cNvPr id="16" name="Text 14"/>
          <p:cNvSpPr/>
          <p:nvPr/>
        </p:nvSpPr>
        <p:spPr>
          <a:xfrm>
            <a:off x="11196320" y="6238242"/>
            <a:ext cx="23368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A9B4BB"/>
                </a:solidFill>
                <a:latin typeface="IBM Plex Sans" pitchFamily="34" charset="0"/>
                <a:ea typeface="IBM Plex Sans" pitchFamily="34" charset="-122"/>
                <a:cs typeface="IBM Plex Sans" pitchFamily="34" charset="-120"/>
              </a:rPr>
              <a:t>24</a:t>
            </a:r>
            <a:endParaRPr lang="en-US" sz="12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4F1EA"/>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1F6B72"/>
                </a:solidFill>
                <a:latin typeface="IBM Plex Mono" pitchFamily="34" charset="0"/>
                <a:ea typeface="IBM Plex Mono" pitchFamily="34" charset="-122"/>
                <a:cs typeface="IBM Plex Mono" pitchFamily="34" charset="-120"/>
              </a:rPr>
              <a:t>IDEATION · 2.6 FINAL SELECTED IDEA · CONCEPT</a:t>
            </a:r>
            <a:endParaRPr lang="en-US" sz="1200" dirty="0"/>
          </a:p>
        </p:txBody>
      </p:sp>
      <p:sp>
        <p:nvSpPr>
          <p:cNvPr id="3" name="Text 1"/>
          <p:cNvSpPr/>
          <p:nvPr/>
        </p:nvSpPr>
        <p:spPr>
          <a:xfrm>
            <a:off x="812800" y="1127758"/>
            <a:ext cx="10883392" cy="472440"/>
          </a:xfrm>
          <a:prstGeom prst="rect">
            <a:avLst/>
          </a:prstGeom>
          <a:noFill/>
          <a:ln/>
        </p:spPr>
        <p:txBody>
          <a:bodyPr wrap="square" lIns="0" tIns="0" rIns="0" bIns="0" rtlCol="0" anchor="t">
            <a:normAutofit/>
          </a:bodyPr>
          <a:lstStyle/>
          <a:p>
            <a:pPr algn="l" indent="0" marL="0">
              <a:lnSpc>
                <a:spcPts val="3520"/>
              </a:lnSpc>
              <a:buNone/>
            </a:pPr>
            <a:r>
              <a:rPr lang="en-US" sz="3200" b="1" dirty="0">
                <a:solidFill>
                  <a:srgbClr val="16222C"/>
                </a:solidFill>
                <a:latin typeface="Space Grotesk" pitchFamily="34" charset="0"/>
                <a:ea typeface="Space Grotesk" pitchFamily="34" charset="-122"/>
                <a:cs typeface="Space Grotesk" pitchFamily="34" charset="-120"/>
              </a:rPr>
              <a:t>Control flow: many advisers, one writer</a:t>
            </a:r>
            <a:endParaRPr lang="en-US" sz="3200" dirty="0"/>
          </a:p>
        </p:txBody>
      </p:sp>
      <p:pic>
        <p:nvPicPr>
          <p:cNvPr id="4" name="Image 0" descr="Architecture: agents A4, A2, A3 and A5 send requests to A1, the only writer; A1 passes decisions through the safety mask to the signal executor, which writes the phase in SUMO via TraCI; A1 logs every decision to a decision log that Synapse, the language model, explains or abstains on; Synapse has no path to TraCI">    </p:cNvPr>
          <p:cNvPicPr>
            <a:picLocks noChangeAspect="1"/>
          </p:cNvPicPr>
          <p:nvPr/>
        </p:nvPicPr>
        <p:blipFill>
          <a:blip r:embed="rId1"/>
          <a:srcRect l="0" r="0" t="-26" b="-26"/>
          <a:stretch/>
        </p:blipFill>
        <p:spPr>
          <a:xfrm>
            <a:off x="812800" y="1828800"/>
            <a:ext cx="10566400" cy="3835400"/>
          </a:xfrm>
          <a:prstGeom prst="rect">
            <a:avLst/>
          </a:prstGeom>
        </p:spPr>
      </p:pic>
      <p:sp>
        <p:nvSpPr>
          <p:cNvPr id="5" name="Text 2"/>
          <p:cNvSpPr/>
          <p:nvPr/>
        </p:nvSpPr>
        <p:spPr>
          <a:xfrm>
            <a:off x="812800" y="6238242"/>
            <a:ext cx="610057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B73"/>
                </a:solidFill>
                <a:latin typeface="IBM Plex Sans" pitchFamily="34" charset="0"/>
                <a:ea typeface="IBM Plex Sans" pitchFamily="34" charset="-122"/>
                <a:cs typeface="IBM Plex Sans" pitchFamily="34" charset="-120"/>
              </a:rPr>
              <a:t>Recovery order after emergency priority: Max-Pressure, then actuated, then fixed-time.</a:t>
            </a:r>
            <a:endParaRPr lang="en-US" sz="1200" dirty="0"/>
          </a:p>
        </p:txBody>
      </p:sp>
      <p:sp>
        <p:nvSpPr>
          <p:cNvPr id="6" name="Text 3"/>
          <p:cNvSpPr/>
          <p:nvPr/>
        </p:nvSpPr>
        <p:spPr>
          <a:xfrm>
            <a:off x="11196320" y="6238242"/>
            <a:ext cx="23368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B73"/>
                </a:solidFill>
                <a:latin typeface="IBM Plex Sans" pitchFamily="34" charset="0"/>
                <a:ea typeface="IBM Plex Sans" pitchFamily="34" charset="-122"/>
                <a:cs typeface="IBM Plex Sans" pitchFamily="34" charset="-120"/>
              </a:rPr>
              <a:t>25</a:t>
            </a:r>
            <a:endParaRPr lang="en-US" sz="12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4F1EA"/>
        </a:solidFill>
      </p:bgPr>
    </p:bg>
    <p:spTree>
      <p:nvGrpSpPr>
        <p:cNvPr id="1" name=""/>
        <p:cNvGrpSpPr/>
        <p:nvPr/>
      </p:nvGrpSpPr>
      <p:grpSpPr>
        <a:xfrm>
          <a:off x="0" y="0"/>
          <a:ext cx="0" cy="0"/>
          <a:chOff x="0" y="0"/>
          <a:chExt cx="0" cy="0"/>
        </a:xfrm>
      </p:grpSpPr>
      <p:sp>
        <p:nvSpPr>
          <p:cNvPr id="2" name="Text 0"/>
          <p:cNvSpPr/>
          <p:nvPr/>
        </p:nvSpPr>
        <p:spPr>
          <a:xfrm>
            <a:off x="812800" y="812800"/>
            <a:ext cx="10883392" cy="175498"/>
          </a:xfrm>
          <a:prstGeom prst="rect">
            <a:avLst/>
          </a:prstGeom>
          <a:noFill/>
          <a:ln/>
        </p:spPr>
        <p:txBody>
          <a:bodyPr wrap="square" lIns="0" tIns="0" rIns="0" bIns="0" rtlCol="0" anchor="t">
            <a:normAutofit/>
          </a:bodyPr>
          <a:lstStyle/>
          <a:p>
            <a:pPr algn="l" indent="0" marL="0">
              <a:lnSpc>
                <a:spcPts val="1223"/>
              </a:lnSpc>
              <a:buNone/>
            </a:pPr>
            <a:r>
              <a:rPr lang="en-US" sz="874" spc="100" kern="0" dirty="0">
                <a:solidFill>
                  <a:srgbClr val="1F6B72"/>
                </a:solidFill>
                <a:latin typeface="IBM Plex Mono" pitchFamily="34" charset="0"/>
                <a:ea typeface="IBM Plex Mono" pitchFamily="34" charset="-122"/>
                <a:cs typeface="IBM Plex Mono" pitchFamily="34" charset="-120"/>
              </a:rPr>
              <a:t>IDEATION · 2.6 HOW IT ADDRESSES THE NEEDS</a:t>
            </a:r>
            <a:endParaRPr lang="en-US" sz="874" dirty="0"/>
          </a:p>
        </p:txBody>
      </p:sp>
      <p:sp>
        <p:nvSpPr>
          <p:cNvPr id="3" name="Text 1"/>
          <p:cNvSpPr/>
          <p:nvPr/>
        </p:nvSpPr>
        <p:spPr>
          <a:xfrm>
            <a:off x="812800" y="1064506"/>
            <a:ext cx="10883392" cy="339884"/>
          </a:xfrm>
          <a:prstGeom prst="rect">
            <a:avLst/>
          </a:prstGeom>
          <a:noFill/>
          <a:ln/>
        </p:spPr>
        <p:txBody>
          <a:bodyPr wrap="square" lIns="0" tIns="0" rIns="0" bIns="0" rtlCol="0" anchor="t">
            <a:normAutofit/>
          </a:bodyPr>
          <a:lstStyle/>
          <a:p>
            <a:pPr algn="l" indent="0" marL="0">
              <a:lnSpc>
                <a:spcPts val="2519"/>
              </a:lnSpc>
              <a:buNone/>
            </a:pPr>
            <a:r>
              <a:rPr lang="en-US" sz="2290" b="1" dirty="0">
                <a:solidFill>
                  <a:srgbClr val="16222C"/>
                </a:solidFill>
                <a:latin typeface="Space Grotesk" pitchFamily="34" charset="0"/>
                <a:ea typeface="Space Grotesk" pitchFamily="34" charset="-122"/>
                <a:cs typeface="Space Grotesk" pitchFamily="34" charset="-120"/>
              </a:rPr>
              <a:t>Each persona need maps to one behaviour</a:t>
            </a:r>
            <a:endParaRPr lang="en-US" sz="229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22960" y="1693939"/>
          <a:ext cx="10556240" cy="4148058"/>
        </p:xfrm>
        <a:graphic>
          <a:graphicData uri="http://schemas.openxmlformats.org/drawingml/2006/table">
            <a:tbl>
              <a:tblPr/>
              <a:tblGrid>
                <a:gridCol w="3518747"/>
                <a:gridCol w="3518747"/>
                <a:gridCol w="3518747"/>
              </a:tblGrid>
              <a:tr h="434499">
                <a:tc>
                  <a:txBody>
                    <a:bodyPr/>
                    <a:lstStyle/>
                    <a:p>
                      <a:pPr indent="0" marL="0">
                        <a:lnSpc>
                          <a:spcPts val="1743"/>
                        </a:lnSpc>
                        <a:buNone/>
                      </a:pPr>
                      <a:r>
                        <a:rPr lang="en-US" sz="1245" b="1" dirty="0">
                          <a:solidFill>
                            <a:srgbClr val="F4F1EA"/>
                          </a:solidFill>
                          <a:latin typeface="IBM Plex Sans" pitchFamily="34" charset="0"/>
                          <a:ea typeface="IBM Plex Sans" pitchFamily="34" charset="-122"/>
                          <a:cs typeface="IBM Plex Sans" pitchFamily="34" charset="-120"/>
                        </a:rPr>
                        <a:t>Need</a:t>
                      </a:r>
                      <a:endParaRPr lang="en-US" sz="1245" dirty="0">
                        <a:latin typeface="IBM Plex Sans" charset="0"/>
                        <a:ea typeface="IBM Plex Sans" charset="0"/>
                        <a:cs typeface="IBM Plex Sans" charset="0"/>
                      </a:endParaRPr>
                    </a:p>
                  </a:txBody>
                  <a:tcPr marL="127000" marR="127000" marT="88900" marB="88900" anchor="t">
                    <a:lnL w="12700" cap="flat" cmpd="sng" algn="ctr">
                      <a:solidFill>
                        <a:srgbClr val="C3C0BB"/>
                      </a:solidFill>
                      <a:prstDash val="solid"/>
                      <a:round/>
                      <a:headEnd type="none" w="med" len="med"/>
                      <a:tailEnd type="none" w="med" len="med"/>
                    </a:lnL>
                    <a:lnR w="12700" cap="flat" cmpd="sng" algn="ctr">
                      <a:solidFill>
                        <a:srgbClr val="B5B2AD"/>
                      </a:solidFill>
                      <a:prstDash val="solid"/>
                      <a:round/>
                      <a:headEnd type="none" w="med" len="med"/>
                      <a:tailEnd type="none" w="med" len="med"/>
                    </a:lnR>
                    <a:lnT w="12700" cap="flat" cmpd="sng" algn="ctr">
                      <a:solidFill>
                        <a:srgbClr val="C3C0BB"/>
                      </a:solidFill>
                      <a:prstDash val="solid"/>
                      <a:round/>
                      <a:headEnd type="none" w="med" len="med"/>
                      <a:tailEnd type="none" w="med" len="med"/>
                    </a:lnT>
                    <a:lnB w="12700" cap="flat" cmpd="sng" algn="ctr">
                      <a:solidFill>
                        <a:srgbClr val="B5B2AD"/>
                      </a:solidFill>
                      <a:prstDash val="solid"/>
                      <a:round/>
                      <a:headEnd type="none" w="med" len="med"/>
                      <a:tailEnd type="none" w="med" len="med"/>
                    </a:lnB>
                    <a:solidFill>
                      <a:srgbClr val="E2DFD9"/>
                    </a:solidFill>
                  </a:tcPr>
                </a:tc>
                <a:tc>
                  <a:txBody>
                    <a:bodyPr/>
                    <a:lstStyle/>
                    <a:p>
                      <a:pPr indent="0" marL="0">
                        <a:lnSpc>
                          <a:spcPts val="1743"/>
                        </a:lnSpc>
                        <a:buNone/>
                      </a:pPr>
                      <a:r>
                        <a:rPr lang="en-US" sz="1245" b="1" dirty="0">
                          <a:solidFill>
                            <a:srgbClr val="F4F1EA"/>
                          </a:solidFill>
                          <a:latin typeface="IBM Plex Sans" pitchFamily="34" charset="0"/>
                          <a:ea typeface="IBM Plex Sans" pitchFamily="34" charset="-122"/>
                          <a:cs typeface="IBM Plex Sans" pitchFamily="34" charset="-120"/>
                        </a:rPr>
                        <a:t>What the selected concept does</a:t>
                      </a:r>
                      <a:endParaRPr lang="en-US" sz="1245" dirty="0">
                        <a:latin typeface="IBM Plex Sans" charset="0"/>
                        <a:ea typeface="IBM Plex Sans" charset="0"/>
                        <a:cs typeface="IBM Plex Sans" charset="0"/>
                      </a:endParaRPr>
                    </a:p>
                  </a:txBody>
                  <a:tcPr marL="127000" marR="127000" marT="88900" marB="88900" anchor="t">
                    <a:lnL w="12700" cap="flat" cmpd="sng" algn="ctr">
                      <a:solidFill>
                        <a:srgbClr val="B5B2AD"/>
                      </a:solidFill>
                      <a:prstDash val="solid"/>
                      <a:round/>
                      <a:headEnd type="none" w="med" len="med"/>
                      <a:tailEnd type="none" w="med" len="med"/>
                    </a:lnL>
                    <a:lnR w="12700" cap="flat" cmpd="sng" algn="ctr">
                      <a:solidFill>
                        <a:srgbClr val="B5B2AD"/>
                      </a:solidFill>
                      <a:prstDash val="solid"/>
                      <a:round/>
                      <a:headEnd type="none" w="med" len="med"/>
                      <a:tailEnd type="none" w="med" len="med"/>
                    </a:lnR>
                    <a:lnT w="12700" cap="flat" cmpd="sng" algn="ctr">
                      <a:solidFill>
                        <a:srgbClr val="C3C0BB"/>
                      </a:solidFill>
                      <a:prstDash val="solid"/>
                      <a:round/>
                      <a:headEnd type="none" w="med" len="med"/>
                      <a:tailEnd type="none" w="med" len="med"/>
                    </a:lnT>
                    <a:lnB w="12700" cap="flat" cmpd="sng" algn="ctr">
                      <a:solidFill>
                        <a:srgbClr val="B5B2AD"/>
                      </a:solidFill>
                      <a:prstDash val="solid"/>
                      <a:round/>
                      <a:headEnd type="none" w="med" len="med"/>
                      <a:tailEnd type="none" w="med" len="med"/>
                    </a:lnB>
                    <a:solidFill>
                      <a:srgbClr val="E2DFD9"/>
                    </a:solidFill>
                  </a:tcPr>
                </a:tc>
                <a:tc>
                  <a:txBody>
                    <a:bodyPr/>
                    <a:lstStyle/>
                    <a:p>
                      <a:pPr indent="0" marL="0">
                        <a:lnSpc>
                          <a:spcPts val="1743"/>
                        </a:lnSpc>
                        <a:buNone/>
                      </a:pPr>
                      <a:r>
                        <a:rPr lang="en-US" sz="1245" b="1" dirty="0">
                          <a:solidFill>
                            <a:srgbClr val="F4F1EA"/>
                          </a:solidFill>
                          <a:latin typeface="IBM Plex Sans" pitchFamily="34" charset="0"/>
                          <a:ea typeface="IBM Plex Sans" pitchFamily="34" charset="-122"/>
                          <a:cs typeface="IBM Plex Sans" pitchFamily="34" charset="-120"/>
                        </a:rPr>
                        <a:t>Path</a:t>
                      </a:r>
                      <a:endParaRPr lang="en-US" sz="1245" dirty="0">
                        <a:latin typeface="IBM Plex Sans" charset="0"/>
                        <a:ea typeface="IBM Plex Sans" charset="0"/>
                        <a:cs typeface="IBM Plex Sans" charset="0"/>
                      </a:endParaRPr>
                    </a:p>
                  </a:txBody>
                  <a:tcPr marL="127000" marR="127000" marT="88900" marB="88900" anchor="t">
                    <a:lnL w="12700" cap="flat" cmpd="sng" algn="ctr">
                      <a:solidFill>
                        <a:srgbClr val="B5B2AD"/>
                      </a:solidFill>
                      <a:prstDash val="solid"/>
                      <a:round/>
                      <a:headEnd type="none" w="med" len="med"/>
                      <a:tailEnd type="none" w="med" len="med"/>
                    </a:lnL>
                    <a:lnR w="12700" cap="flat" cmpd="sng" algn="ctr">
                      <a:solidFill>
                        <a:srgbClr val="B5B2AD"/>
                      </a:solidFill>
                      <a:prstDash val="solid"/>
                      <a:round/>
                      <a:headEnd type="none" w="med" len="med"/>
                      <a:tailEnd type="none" w="med" len="med"/>
                    </a:lnR>
                    <a:lnT w="12700" cap="flat" cmpd="sng" algn="ctr">
                      <a:solidFill>
                        <a:srgbClr val="C3C0BB"/>
                      </a:solidFill>
                      <a:prstDash val="solid"/>
                      <a:round/>
                      <a:headEnd type="none" w="med" len="med"/>
                      <a:tailEnd type="none" w="med" len="med"/>
                    </a:lnT>
                    <a:lnB w="12700" cap="flat" cmpd="sng" algn="ctr">
                      <a:solidFill>
                        <a:srgbClr val="B5B2AD"/>
                      </a:solidFill>
                      <a:prstDash val="solid"/>
                      <a:round/>
                      <a:headEnd type="none" w="med" len="med"/>
                      <a:tailEnd type="none" w="med" len="med"/>
                    </a:lnB>
                    <a:solidFill>
                      <a:srgbClr val="E2DFD9"/>
                    </a:solidFill>
                  </a:tcPr>
                </a:tc>
              </a:tr>
              <a:tr h="655796">
                <a:tc>
                  <a:txBody>
                    <a:bodyPr/>
                    <a:lstStyle/>
                    <a:p>
                      <a:pPr indent="0" marL="0">
                        <a:lnSpc>
                          <a:spcPts val="1743"/>
                        </a:lnSpc>
                        <a:buNone/>
                      </a:pPr>
                      <a:r>
                        <a:rPr lang="en-US" sz="1245" dirty="0">
                          <a:solidFill>
                            <a:srgbClr val="16222C"/>
                          </a:solidFill>
                          <a:latin typeface="IBM Plex Sans" pitchFamily="34" charset="0"/>
                          <a:ea typeface="IBM Plex Sans" pitchFamily="34" charset="-122"/>
                          <a:cs typeface="IBM Plex Sans" pitchFamily="34" charset="-120"/>
                        </a:rPr>
                        <a:t>Amara finishes the crossing</a:t>
                      </a:r>
                      <a:endParaRPr lang="en-US" sz="1245" dirty="0">
                        <a:latin typeface="IBM Plex Sans" charset="0"/>
                        <a:ea typeface="IBM Plex Sans" charset="0"/>
                        <a:cs typeface="IBM Plex Sans" charset="0"/>
                      </a:endParaRPr>
                    </a:p>
                  </a:txBody>
                  <a:tcPr marL="127000" marR="127000" marT="88900" marB="88900" anchor="t">
                    <a:lnL w="12700" cap="flat" cmpd="sng" algn="ctr">
                      <a:solidFill>
                        <a:srgbClr val="C3C0BB"/>
                      </a:solidFill>
                      <a:prstDash val="solid"/>
                      <a:round/>
                      <a:headEnd type="none" w="med" len="med"/>
                      <a:tailEnd type="none" w="med" len="med"/>
                    </a:lnL>
                    <a:lnR w="12700" cap="flat" cmpd="sng" algn="ctr">
                      <a:solidFill>
                        <a:srgbClr val="C3C0BB"/>
                      </a:solidFill>
                      <a:prstDash val="solid"/>
                      <a:round/>
                      <a:headEnd type="none" w="med" len="med"/>
                      <a:tailEnd type="none" w="med" len="med"/>
                    </a:lnR>
                    <a:lnT w="12700" cap="flat" cmpd="sng" algn="ctr">
                      <a:solidFill>
                        <a:srgbClr val="B5B2AD"/>
                      </a:solidFill>
                      <a:prstDash val="solid"/>
                      <a:round/>
                      <a:headEnd type="none" w="med" len="med"/>
                      <a:tailEnd type="none" w="med" len="med"/>
                    </a:lnT>
                    <a:lnB w="12700" cap="flat" cmpd="sng" algn="ctr">
                      <a:solidFill>
                        <a:srgbClr val="C3C0BB"/>
                      </a:solidFill>
                      <a:prstDash val="solid"/>
                      <a:round/>
                      <a:headEnd type="none" w="med" len="med"/>
                      <a:tailEnd type="none" w="med" len="med"/>
                    </a:lnB>
                  </a:tcPr>
                </a:tc>
                <a:tc>
                  <a:txBody>
                    <a:bodyPr/>
                    <a:lstStyle/>
                    <a:p>
                      <a:pPr indent="0" marL="0">
                        <a:lnSpc>
                          <a:spcPts val="1743"/>
                        </a:lnSpc>
                        <a:buNone/>
                      </a:pPr>
                      <a:r>
                        <a:rPr lang="en-US" sz="1245" dirty="0">
                          <a:solidFill>
                            <a:srgbClr val="16222C"/>
                          </a:solidFill>
                          <a:latin typeface="IBM Plex Sans" pitchFamily="34" charset="0"/>
                          <a:ea typeface="IBM Plex Sans" pitchFamily="34" charset="-122"/>
                          <a:cs typeface="IBM Plex Sans" pitchFamily="34" charset="-120"/>
                        </a:rPr>
                        <a:t>A3 asks. A1 holds the conflicting green. Truncations are counted.</a:t>
                      </a:r>
                      <a:endParaRPr lang="en-US" sz="1245" dirty="0">
                        <a:latin typeface="IBM Plex Sans" charset="0"/>
                        <a:ea typeface="IBM Plex Sans" charset="0"/>
                        <a:cs typeface="IBM Plex Sans" charset="0"/>
                      </a:endParaRPr>
                    </a:p>
                  </a:txBody>
                  <a:tcPr marL="127000" marR="127000" marT="88900" marB="88900" anchor="t">
                    <a:lnL w="12700" cap="flat" cmpd="sng" algn="ctr">
                      <a:solidFill>
                        <a:srgbClr val="C3C0BB"/>
                      </a:solidFill>
                      <a:prstDash val="solid"/>
                      <a:round/>
                      <a:headEnd type="none" w="med" len="med"/>
                      <a:tailEnd type="none" w="med" len="med"/>
                    </a:lnL>
                    <a:lnR w="12700" cap="flat" cmpd="sng" algn="ctr">
                      <a:solidFill>
                        <a:srgbClr val="C3C0BB"/>
                      </a:solidFill>
                      <a:prstDash val="solid"/>
                      <a:round/>
                      <a:headEnd type="none" w="med" len="med"/>
                      <a:tailEnd type="none" w="med" len="med"/>
                    </a:lnR>
                    <a:lnT w="12700" cap="flat" cmpd="sng" algn="ctr">
                      <a:solidFill>
                        <a:srgbClr val="B5B2AD"/>
                      </a:solidFill>
                      <a:prstDash val="solid"/>
                      <a:round/>
                      <a:headEnd type="none" w="med" len="med"/>
                      <a:tailEnd type="none" w="med" len="med"/>
                    </a:lnT>
                    <a:lnB w="12700" cap="flat" cmpd="sng" algn="ctr">
                      <a:solidFill>
                        <a:srgbClr val="C3C0BB"/>
                      </a:solidFill>
                      <a:prstDash val="solid"/>
                      <a:round/>
                      <a:headEnd type="none" w="med" len="med"/>
                      <a:tailEnd type="none" w="med" len="med"/>
                    </a:lnB>
                  </a:tcPr>
                </a:tc>
                <a:tc>
                  <a:txBody>
                    <a:bodyPr/>
                    <a:lstStyle/>
                    <a:p>
                      <a:pPr indent="0" marL="0">
                        <a:lnSpc>
                          <a:spcPts val="1743"/>
                        </a:lnSpc>
                        <a:buNone/>
                      </a:pPr>
                      <a:r>
                        <a:rPr lang="en-US" sz="1245" dirty="0">
                          <a:solidFill>
                            <a:srgbClr val="1F6B72"/>
                          </a:solidFill>
                          <a:latin typeface="IBM Plex Sans" pitchFamily="34" charset="0"/>
                          <a:ea typeface="IBM Plex Sans" pitchFamily="34" charset="-122"/>
                          <a:cs typeface="IBM Plex Sans" pitchFamily="34" charset="-120"/>
                        </a:rPr>
                        <a:t>A3 → A1</a:t>
                      </a:r>
                      <a:endParaRPr lang="en-US" sz="1245" dirty="0">
                        <a:latin typeface="IBM Plex Sans" charset="0"/>
                        <a:ea typeface="IBM Plex Sans" charset="0"/>
                        <a:cs typeface="IBM Plex Sans" charset="0"/>
                      </a:endParaRPr>
                    </a:p>
                  </a:txBody>
                  <a:tcPr marL="127000" marR="127000" marT="88900" marB="88900" anchor="t">
                    <a:lnL w="12700" cap="flat" cmpd="sng" algn="ctr">
                      <a:solidFill>
                        <a:srgbClr val="C3C0BB"/>
                      </a:solidFill>
                      <a:prstDash val="solid"/>
                      <a:round/>
                      <a:headEnd type="none" w="med" len="med"/>
                      <a:tailEnd type="none" w="med" len="med"/>
                    </a:lnL>
                    <a:lnR w="12700" cap="flat" cmpd="sng" algn="ctr">
                      <a:solidFill>
                        <a:srgbClr val="C3C0BB"/>
                      </a:solidFill>
                      <a:prstDash val="solid"/>
                      <a:round/>
                      <a:headEnd type="none" w="med" len="med"/>
                      <a:tailEnd type="none" w="med" len="med"/>
                    </a:lnR>
                    <a:lnT w="12700" cap="flat" cmpd="sng" algn="ctr">
                      <a:solidFill>
                        <a:srgbClr val="B5B2AD"/>
                      </a:solidFill>
                      <a:prstDash val="solid"/>
                      <a:round/>
                      <a:headEnd type="none" w="med" len="med"/>
                      <a:tailEnd type="none" w="med" len="med"/>
                    </a:lnT>
                    <a:lnB w="12700" cap="flat" cmpd="sng" algn="ctr">
                      <a:solidFill>
                        <a:srgbClr val="C3C0BB"/>
                      </a:solidFill>
                      <a:prstDash val="solid"/>
                      <a:round/>
                      <a:headEnd type="none" w="med" len="med"/>
                      <a:tailEnd type="none" w="med" len="med"/>
                    </a:lnB>
                  </a:tcPr>
                </a:tc>
              </a:tr>
              <a:tr h="434499">
                <a:tc>
                  <a:txBody>
                    <a:bodyPr/>
                    <a:lstStyle/>
                    <a:p>
                      <a:pPr indent="0" marL="0">
                        <a:lnSpc>
                          <a:spcPts val="1743"/>
                        </a:lnSpc>
                        <a:buNone/>
                      </a:pPr>
                      <a:r>
                        <a:rPr lang="en-US" sz="1245" dirty="0">
                          <a:solidFill>
                            <a:srgbClr val="16222C"/>
                          </a:solidFill>
                          <a:latin typeface="IBM Plex Sans" pitchFamily="34" charset="0"/>
                          <a:ea typeface="IBM Plex Sans" pitchFamily="34" charset="-122"/>
                          <a:cs typeface="IBM Plex Sans" pitchFamily="34" charset="-120"/>
                        </a:rPr>
                        <a:t>David sees the bad trip</a:t>
                      </a:r>
                      <a:endParaRPr lang="en-US" sz="1245" dirty="0">
                        <a:latin typeface="IBM Plex Sans" charset="0"/>
                        <a:ea typeface="IBM Plex Sans" charset="0"/>
                        <a:cs typeface="IBM Plex Sans" charset="0"/>
                      </a:endParaRPr>
                    </a:p>
                  </a:txBody>
                  <a:tcPr marL="127000" marR="127000" marT="88900" marB="88900" anchor="t">
                    <a:lnL w="12700" cap="flat" cmpd="sng" algn="ctr">
                      <a:solidFill>
                        <a:srgbClr val="C3C0BB"/>
                      </a:solidFill>
                      <a:prstDash val="solid"/>
                      <a:round/>
                      <a:headEnd type="none" w="med" len="med"/>
                      <a:tailEnd type="none" w="med" len="med"/>
                    </a:lnL>
                    <a:lnR w="12700" cap="flat" cmpd="sng" algn="ctr">
                      <a:solidFill>
                        <a:srgbClr val="C3C0BB"/>
                      </a:solidFill>
                      <a:prstDash val="solid"/>
                      <a:round/>
                      <a:headEnd type="none" w="med" len="med"/>
                      <a:tailEnd type="none" w="med" len="med"/>
                    </a:lnR>
                    <a:lnT w="12700" cap="flat" cmpd="sng" algn="ctr">
                      <a:solidFill>
                        <a:srgbClr val="C3C0BB"/>
                      </a:solidFill>
                      <a:prstDash val="solid"/>
                      <a:round/>
                      <a:headEnd type="none" w="med" len="med"/>
                      <a:tailEnd type="none" w="med" len="med"/>
                    </a:lnT>
                    <a:lnB w="12700" cap="flat" cmpd="sng" algn="ctr">
                      <a:solidFill>
                        <a:srgbClr val="C3C0BB"/>
                      </a:solidFill>
                      <a:prstDash val="solid"/>
                      <a:round/>
                      <a:headEnd type="none" w="med" len="med"/>
                      <a:tailEnd type="none" w="med" len="med"/>
                    </a:lnB>
                  </a:tcPr>
                </a:tc>
                <a:tc>
                  <a:txBody>
                    <a:bodyPr/>
                    <a:lstStyle/>
                    <a:p>
                      <a:pPr indent="0" marL="0">
                        <a:lnSpc>
                          <a:spcPts val="1743"/>
                        </a:lnSpc>
                        <a:buNone/>
                      </a:pPr>
                      <a:r>
                        <a:rPr lang="en-US" sz="1245" dirty="0">
                          <a:solidFill>
                            <a:srgbClr val="16222C"/>
                          </a:solidFill>
                          <a:latin typeface="IBM Plex Sans" pitchFamily="34" charset="0"/>
                          <a:ea typeface="IBM Plex Sans" pitchFamily="34" charset="-122"/>
                          <a:cs typeface="IBM Plex Sans" pitchFamily="34" charset="-120"/>
                        </a:rPr>
                        <a:t>Unfinished trips stay beside the mean.</a:t>
                      </a:r>
                      <a:endParaRPr lang="en-US" sz="1245" dirty="0">
                        <a:latin typeface="IBM Plex Sans" charset="0"/>
                        <a:ea typeface="IBM Plex Sans" charset="0"/>
                        <a:cs typeface="IBM Plex Sans" charset="0"/>
                      </a:endParaRPr>
                    </a:p>
                  </a:txBody>
                  <a:tcPr marL="127000" marR="127000" marT="88900" marB="88900" anchor="t">
                    <a:lnL w="12700" cap="flat" cmpd="sng" algn="ctr">
                      <a:solidFill>
                        <a:srgbClr val="C3C0BB"/>
                      </a:solidFill>
                      <a:prstDash val="solid"/>
                      <a:round/>
                      <a:headEnd type="none" w="med" len="med"/>
                      <a:tailEnd type="none" w="med" len="med"/>
                    </a:lnL>
                    <a:lnR w="12700" cap="flat" cmpd="sng" algn="ctr">
                      <a:solidFill>
                        <a:srgbClr val="C3C0BB"/>
                      </a:solidFill>
                      <a:prstDash val="solid"/>
                      <a:round/>
                      <a:headEnd type="none" w="med" len="med"/>
                      <a:tailEnd type="none" w="med" len="med"/>
                    </a:lnR>
                    <a:lnT w="12700" cap="flat" cmpd="sng" algn="ctr">
                      <a:solidFill>
                        <a:srgbClr val="C3C0BB"/>
                      </a:solidFill>
                      <a:prstDash val="solid"/>
                      <a:round/>
                      <a:headEnd type="none" w="med" len="med"/>
                      <a:tailEnd type="none" w="med" len="med"/>
                    </a:lnT>
                    <a:lnB w="12700" cap="flat" cmpd="sng" algn="ctr">
                      <a:solidFill>
                        <a:srgbClr val="C3C0BB"/>
                      </a:solidFill>
                      <a:prstDash val="solid"/>
                      <a:round/>
                      <a:headEnd type="none" w="med" len="med"/>
                      <a:tailEnd type="none" w="med" len="med"/>
                    </a:lnB>
                  </a:tcPr>
                </a:tc>
                <a:tc>
                  <a:txBody>
                    <a:bodyPr/>
                    <a:lstStyle/>
                    <a:p>
                      <a:pPr indent="0" marL="0">
                        <a:lnSpc>
                          <a:spcPts val="1743"/>
                        </a:lnSpc>
                        <a:buNone/>
                      </a:pPr>
                      <a:r>
                        <a:rPr lang="en-US" sz="1245" dirty="0">
                          <a:solidFill>
                            <a:srgbClr val="1F6B72"/>
                          </a:solidFill>
                          <a:latin typeface="IBM Plex Sans" pitchFamily="34" charset="0"/>
                          <a:ea typeface="IBM Plex Sans" pitchFamily="34" charset="-122"/>
                          <a:cs typeface="IBM Plex Sans" pitchFamily="34" charset="-120"/>
                        </a:rPr>
                        <a:t>Measure</a:t>
                      </a:r>
                      <a:endParaRPr lang="en-US" sz="1245" dirty="0">
                        <a:latin typeface="IBM Plex Sans" charset="0"/>
                        <a:ea typeface="IBM Plex Sans" charset="0"/>
                        <a:cs typeface="IBM Plex Sans" charset="0"/>
                      </a:endParaRPr>
                    </a:p>
                  </a:txBody>
                  <a:tcPr marL="127000" marR="127000" marT="88900" marB="88900" anchor="t">
                    <a:lnL w="12700" cap="flat" cmpd="sng" algn="ctr">
                      <a:solidFill>
                        <a:srgbClr val="C3C0BB"/>
                      </a:solidFill>
                      <a:prstDash val="solid"/>
                      <a:round/>
                      <a:headEnd type="none" w="med" len="med"/>
                      <a:tailEnd type="none" w="med" len="med"/>
                    </a:lnL>
                    <a:lnR w="12700" cap="flat" cmpd="sng" algn="ctr">
                      <a:solidFill>
                        <a:srgbClr val="C3C0BB"/>
                      </a:solidFill>
                      <a:prstDash val="solid"/>
                      <a:round/>
                      <a:headEnd type="none" w="med" len="med"/>
                      <a:tailEnd type="none" w="med" len="med"/>
                    </a:lnR>
                    <a:lnT w="12700" cap="flat" cmpd="sng" algn="ctr">
                      <a:solidFill>
                        <a:srgbClr val="C3C0BB"/>
                      </a:solidFill>
                      <a:prstDash val="solid"/>
                      <a:round/>
                      <a:headEnd type="none" w="med" len="med"/>
                      <a:tailEnd type="none" w="med" len="med"/>
                    </a:lnT>
                    <a:lnB w="12700" cap="flat" cmpd="sng" algn="ctr">
                      <a:solidFill>
                        <a:srgbClr val="C3C0BB"/>
                      </a:solidFill>
                      <a:prstDash val="solid"/>
                      <a:round/>
                      <a:headEnd type="none" w="med" len="med"/>
                      <a:tailEnd type="none" w="med" len="med"/>
                    </a:lnB>
                  </a:tcPr>
                </a:tc>
              </a:tr>
              <a:tr h="655796">
                <a:tc>
                  <a:txBody>
                    <a:bodyPr/>
                    <a:lstStyle/>
                    <a:p>
                      <a:pPr indent="0" marL="0">
                        <a:lnSpc>
                          <a:spcPts val="1743"/>
                        </a:lnSpc>
                        <a:buNone/>
                      </a:pPr>
                      <a:r>
                        <a:rPr lang="en-US" sz="1245" dirty="0">
                          <a:solidFill>
                            <a:srgbClr val="16222C"/>
                          </a:solidFill>
                          <a:latin typeface="IBM Plex Sans" pitchFamily="34" charset="0"/>
                          <a:ea typeface="IBM Plex Sans" pitchFamily="34" charset="-122"/>
                          <a:cs typeface="IBM Plex Sans" pitchFamily="34" charset="-120"/>
                        </a:rPr>
                        <a:t>Chidi gets a gap, not a bunch</a:t>
                      </a:r>
                      <a:endParaRPr lang="en-US" sz="1245" dirty="0">
                        <a:latin typeface="IBM Plex Sans" charset="0"/>
                        <a:ea typeface="IBM Plex Sans" charset="0"/>
                        <a:cs typeface="IBM Plex Sans" charset="0"/>
                      </a:endParaRPr>
                    </a:p>
                  </a:txBody>
                  <a:tcPr marL="127000" marR="127000" marT="88900" marB="88900" anchor="t">
                    <a:lnL w="12700" cap="flat" cmpd="sng" algn="ctr">
                      <a:solidFill>
                        <a:srgbClr val="C3C0BB"/>
                      </a:solidFill>
                      <a:prstDash val="solid"/>
                      <a:round/>
                      <a:headEnd type="none" w="med" len="med"/>
                      <a:tailEnd type="none" w="med" len="med"/>
                    </a:lnL>
                    <a:lnR w="12700" cap="flat" cmpd="sng" algn="ctr">
                      <a:solidFill>
                        <a:srgbClr val="C3C0BB"/>
                      </a:solidFill>
                      <a:prstDash val="solid"/>
                      <a:round/>
                      <a:headEnd type="none" w="med" len="med"/>
                      <a:tailEnd type="none" w="med" len="med"/>
                    </a:lnR>
                    <a:lnT w="12700" cap="flat" cmpd="sng" algn="ctr">
                      <a:solidFill>
                        <a:srgbClr val="C3C0BB"/>
                      </a:solidFill>
                      <a:prstDash val="solid"/>
                      <a:round/>
                      <a:headEnd type="none" w="med" len="med"/>
                      <a:tailEnd type="none" w="med" len="med"/>
                    </a:lnT>
                    <a:lnB w="12700" cap="flat" cmpd="sng" algn="ctr">
                      <a:solidFill>
                        <a:srgbClr val="C3C0BB"/>
                      </a:solidFill>
                      <a:prstDash val="solid"/>
                      <a:round/>
                      <a:headEnd type="none" w="med" len="med"/>
                      <a:tailEnd type="none" w="med" len="med"/>
                    </a:lnB>
                  </a:tcPr>
                </a:tc>
                <a:tc>
                  <a:txBody>
                    <a:bodyPr/>
                    <a:lstStyle/>
                    <a:p>
                      <a:pPr indent="0" marL="0">
                        <a:lnSpc>
                          <a:spcPts val="1743"/>
                        </a:lnSpc>
                        <a:buNone/>
                      </a:pPr>
                      <a:r>
                        <a:rPr lang="en-US" sz="1245" dirty="0">
                          <a:solidFill>
                            <a:srgbClr val="16222C"/>
                          </a:solidFill>
                          <a:latin typeface="IBM Plex Sans" pitchFamily="34" charset="0"/>
                          <a:ea typeface="IBM Plex Sans" pitchFamily="34" charset="-122"/>
                          <a:cs typeface="IBM Plex Sans" pitchFamily="34" charset="-120"/>
                        </a:rPr>
                        <a:t>A3 asks only for a late bus or a large gap. Pedestrian clearance stays ahead of the bus.</a:t>
                      </a:r>
                      <a:endParaRPr lang="en-US" sz="1245" dirty="0">
                        <a:latin typeface="IBM Plex Sans" charset="0"/>
                        <a:ea typeface="IBM Plex Sans" charset="0"/>
                        <a:cs typeface="IBM Plex Sans" charset="0"/>
                      </a:endParaRPr>
                    </a:p>
                  </a:txBody>
                  <a:tcPr marL="127000" marR="127000" marT="88900" marB="88900" anchor="t">
                    <a:lnL w="12700" cap="flat" cmpd="sng" algn="ctr">
                      <a:solidFill>
                        <a:srgbClr val="C3C0BB"/>
                      </a:solidFill>
                      <a:prstDash val="solid"/>
                      <a:round/>
                      <a:headEnd type="none" w="med" len="med"/>
                      <a:tailEnd type="none" w="med" len="med"/>
                    </a:lnL>
                    <a:lnR w="12700" cap="flat" cmpd="sng" algn="ctr">
                      <a:solidFill>
                        <a:srgbClr val="C3C0BB"/>
                      </a:solidFill>
                      <a:prstDash val="solid"/>
                      <a:round/>
                      <a:headEnd type="none" w="med" len="med"/>
                      <a:tailEnd type="none" w="med" len="med"/>
                    </a:lnR>
                    <a:lnT w="12700" cap="flat" cmpd="sng" algn="ctr">
                      <a:solidFill>
                        <a:srgbClr val="C3C0BB"/>
                      </a:solidFill>
                      <a:prstDash val="solid"/>
                      <a:round/>
                      <a:headEnd type="none" w="med" len="med"/>
                      <a:tailEnd type="none" w="med" len="med"/>
                    </a:lnT>
                    <a:lnB w="12700" cap="flat" cmpd="sng" algn="ctr">
                      <a:solidFill>
                        <a:srgbClr val="C3C0BB"/>
                      </a:solidFill>
                      <a:prstDash val="solid"/>
                      <a:round/>
                      <a:headEnd type="none" w="med" len="med"/>
                      <a:tailEnd type="none" w="med" len="med"/>
                    </a:lnB>
                  </a:tcPr>
                </a:tc>
                <a:tc>
                  <a:txBody>
                    <a:bodyPr/>
                    <a:lstStyle/>
                    <a:p>
                      <a:pPr indent="0" marL="0">
                        <a:lnSpc>
                          <a:spcPts val="1743"/>
                        </a:lnSpc>
                        <a:buNone/>
                      </a:pPr>
                      <a:r>
                        <a:rPr lang="en-US" sz="1245" dirty="0">
                          <a:solidFill>
                            <a:srgbClr val="1F6B72"/>
                          </a:solidFill>
                          <a:latin typeface="IBM Plex Sans" pitchFamily="34" charset="0"/>
                          <a:ea typeface="IBM Plex Sans" pitchFamily="34" charset="-122"/>
                          <a:cs typeface="IBM Plex Sans" pitchFamily="34" charset="-120"/>
                        </a:rPr>
                        <a:t>A3 → A1</a:t>
                      </a:r>
                      <a:endParaRPr lang="en-US" sz="1245" dirty="0">
                        <a:latin typeface="IBM Plex Sans" charset="0"/>
                        <a:ea typeface="IBM Plex Sans" charset="0"/>
                        <a:cs typeface="IBM Plex Sans" charset="0"/>
                      </a:endParaRPr>
                    </a:p>
                  </a:txBody>
                  <a:tcPr marL="127000" marR="127000" marT="88900" marB="88900" anchor="t">
                    <a:lnL w="12700" cap="flat" cmpd="sng" algn="ctr">
                      <a:solidFill>
                        <a:srgbClr val="C3C0BB"/>
                      </a:solidFill>
                      <a:prstDash val="solid"/>
                      <a:round/>
                      <a:headEnd type="none" w="med" len="med"/>
                      <a:tailEnd type="none" w="med" len="med"/>
                    </a:lnL>
                    <a:lnR w="12700" cap="flat" cmpd="sng" algn="ctr">
                      <a:solidFill>
                        <a:srgbClr val="C3C0BB"/>
                      </a:solidFill>
                      <a:prstDash val="solid"/>
                      <a:round/>
                      <a:headEnd type="none" w="med" len="med"/>
                      <a:tailEnd type="none" w="med" len="med"/>
                    </a:lnR>
                    <a:lnT w="12700" cap="flat" cmpd="sng" algn="ctr">
                      <a:solidFill>
                        <a:srgbClr val="C3C0BB"/>
                      </a:solidFill>
                      <a:prstDash val="solid"/>
                      <a:round/>
                      <a:headEnd type="none" w="med" len="med"/>
                      <a:tailEnd type="none" w="med" len="med"/>
                    </a:lnT>
                    <a:lnB w="12700" cap="flat" cmpd="sng" algn="ctr">
                      <a:solidFill>
                        <a:srgbClr val="C3C0BB"/>
                      </a:solidFill>
                      <a:prstDash val="solid"/>
                      <a:round/>
                      <a:headEnd type="none" w="med" len="med"/>
                      <a:tailEnd type="none" w="med" len="med"/>
                    </a:lnB>
                  </a:tcPr>
                </a:tc>
              </a:tr>
              <a:tr h="655796">
                <a:tc>
                  <a:txBody>
                    <a:bodyPr/>
                    <a:lstStyle/>
                    <a:p>
                      <a:pPr indent="0" marL="0">
                        <a:lnSpc>
                          <a:spcPts val="1743"/>
                        </a:lnSpc>
                        <a:buNone/>
                      </a:pPr>
                      <a:r>
                        <a:rPr lang="en-US" sz="1245" dirty="0">
                          <a:solidFill>
                            <a:srgbClr val="16222C"/>
                          </a:solidFill>
                          <a:latin typeface="IBM Plex Sans" pitchFamily="34" charset="0"/>
                          <a:ea typeface="IBM Plex Sans" pitchFamily="34" charset="-122"/>
                          <a:cs typeface="IBM Plex Sans" pitchFamily="34" charset="-120"/>
                        </a:rPr>
                        <a:t>Rosa can check the no</a:t>
                      </a:r>
                      <a:endParaRPr lang="en-US" sz="1245" dirty="0">
                        <a:latin typeface="IBM Plex Sans" charset="0"/>
                        <a:ea typeface="IBM Plex Sans" charset="0"/>
                        <a:cs typeface="IBM Plex Sans" charset="0"/>
                      </a:endParaRPr>
                    </a:p>
                  </a:txBody>
                  <a:tcPr marL="127000" marR="127000" marT="88900" marB="88900" anchor="t">
                    <a:lnL w="12700" cap="flat" cmpd="sng" algn="ctr">
                      <a:solidFill>
                        <a:srgbClr val="C3C0BB"/>
                      </a:solidFill>
                      <a:prstDash val="solid"/>
                      <a:round/>
                      <a:headEnd type="none" w="med" len="med"/>
                      <a:tailEnd type="none" w="med" len="med"/>
                    </a:lnL>
                    <a:lnR w="12700" cap="flat" cmpd="sng" algn="ctr">
                      <a:solidFill>
                        <a:srgbClr val="C3C0BB"/>
                      </a:solidFill>
                      <a:prstDash val="solid"/>
                      <a:round/>
                      <a:headEnd type="none" w="med" len="med"/>
                      <a:tailEnd type="none" w="med" len="med"/>
                    </a:lnR>
                    <a:lnT w="12700" cap="flat" cmpd="sng" algn="ctr">
                      <a:solidFill>
                        <a:srgbClr val="C3C0BB"/>
                      </a:solidFill>
                      <a:prstDash val="solid"/>
                      <a:round/>
                      <a:headEnd type="none" w="med" len="med"/>
                      <a:tailEnd type="none" w="med" len="med"/>
                    </a:lnT>
                    <a:lnB w="12700" cap="flat" cmpd="sng" algn="ctr">
                      <a:solidFill>
                        <a:srgbClr val="C3C0BB"/>
                      </a:solidFill>
                      <a:prstDash val="solid"/>
                      <a:round/>
                      <a:headEnd type="none" w="med" len="med"/>
                      <a:tailEnd type="none" w="med" len="med"/>
                    </a:lnB>
                  </a:tcPr>
                </a:tc>
                <a:tc>
                  <a:txBody>
                    <a:bodyPr/>
                    <a:lstStyle/>
                    <a:p>
                      <a:pPr indent="0" marL="0">
                        <a:lnSpc>
                          <a:spcPts val="1743"/>
                        </a:lnSpc>
                        <a:buNone/>
                      </a:pPr>
                      <a:r>
                        <a:rPr lang="en-US" sz="1245" dirty="0">
                          <a:solidFill>
                            <a:srgbClr val="16222C"/>
                          </a:solidFill>
                          <a:latin typeface="IBM Plex Sans" pitchFamily="34" charset="0"/>
                          <a:ea typeface="IBM Plex Sans" pitchFamily="34" charset="-122"/>
                          <a:cs typeface="IBM Plex Sans" pitchFamily="34" charset="-120"/>
                        </a:rPr>
                        <a:t>One cited reason, or an abstention. She does not write the signal.</a:t>
                      </a:r>
                      <a:endParaRPr lang="en-US" sz="1245" dirty="0">
                        <a:latin typeface="IBM Plex Sans" charset="0"/>
                        <a:ea typeface="IBM Plex Sans" charset="0"/>
                        <a:cs typeface="IBM Plex Sans" charset="0"/>
                      </a:endParaRPr>
                    </a:p>
                  </a:txBody>
                  <a:tcPr marL="127000" marR="127000" marT="88900" marB="88900" anchor="t">
                    <a:lnL w="12700" cap="flat" cmpd="sng" algn="ctr">
                      <a:solidFill>
                        <a:srgbClr val="C3C0BB"/>
                      </a:solidFill>
                      <a:prstDash val="solid"/>
                      <a:round/>
                      <a:headEnd type="none" w="med" len="med"/>
                      <a:tailEnd type="none" w="med" len="med"/>
                    </a:lnL>
                    <a:lnR w="12700" cap="flat" cmpd="sng" algn="ctr">
                      <a:solidFill>
                        <a:srgbClr val="C3C0BB"/>
                      </a:solidFill>
                      <a:prstDash val="solid"/>
                      <a:round/>
                      <a:headEnd type="none" w="med" len="med"/>
                      <a:tailEnd type="none" w="med" len="med"/>
                    </a:lnR>
                    <a:lnT w="12700" cap="flat" cmpd="sng" algn="ctr">
                      <a:solidFill>
                        <a:srgbClr val="C3C0BB"/>
                      </a:solidFill>
                      <a:prstDash val="solid"/>
                      <a:round/>
                      <a:headEnd type="none" w="med" len="med"/>
                      <a:tailEnd type="none" w="med" len="med"/>
                    </a:lnT>
                    <a:lnB w="12700" cap="flat" cmpd="sng" algn="ctr">
                      <a:solidFill>
                        <a:srgbClr val="C3C0BB"/>
                      </a:solidFill>
                      <a:prstDash val="solid"/>
                      <a:round/>
                      <a:headEnd type="none" w="med" len="med"/>
                      <a:tailEnd type="none" w="med" len="med"/>
                    </a:lnB>
                  </a:tcPr>
                </a:tc>
                <a:tc>
                  <a:txBody>
                    <a:bodyPr/>
                    <a:lstStyle/>
                    <a:p>
                      <a:pPr indent="0" marL="0">
                        <a:lnSpc>
                          <a:spcPts val="1743"/>
                        </a:lnSpc>
                        <a:buNone/>
                      </a:pPr>
                      <a:r>
                        <a:rPr lang="en-US" sz="1245" dirty="0">
                          <a:solidFill>
                            <a:srgbClr val="1F6B72"/>
                          </a:solidFill>
                          <a:latin typeface="IBM Plex Sans" pitchFamily="34" charset="0"/>
                          <a:ea typeface="IBM Plex Sans" pitchFamily="34" charset="-122"/>
                          <a:cs typeface="IBM Plex Sans" pitchFamily="34" charset="-120"/>
                        </a:rPr>
                        <a:t>Log → Synapse</a:t>
                      </a:r>
                      <a:endParaRPr lang="en-US" sz="1245" dirty="0">
                        <a:latin typeface="IBM Plex Sans" charset="0"/>
                        <a:ea typeface="IBM Plex Sans" charset="0"/>
                        <a:cs typeface="IBM Plex Sans" charset="0"/>
                      </a:endParaRPr>
                    </a:p>
                  </a:txBody>
                  <a:tcPr marL="127000" marR="127000" marT="88900" marB="88900" anchor="t">
                    <a:lnL w="12700" cap="flat" cmpd="sng" algn="ctr">
                      <a:solidFill>
                        <a:srgbClr val="C3C0BB"/>
                      </a:solidFill>
                      <a:prstDash val="solid"/>
                      <a:round/>
                      <a:headEnd type="none" w="med" len="med"/>
                      <a:tailEnd type="none" w="med" len="med"/>
                    </a:lnL>
                    <a:lnR w="12700" cap="flat" cmpd="sng" algn="ctr">
                      <a:solidFill>
                        <a:srgbClr val="C3C0BB"/>
                      </a:solidFill>
                      <a:prstDash val="solid"/>
                      <a:round/>
                      <a:headEnd type="none" w="med" len="med"/>
                      <a:tailEnd type="none" w="med" len="med"/>
                    </a:lnR>
                    <a:lnT w="12700" cap="flat" cmpd="sng" algn="ctr">
                      <a:solidFill>
                        <a:srgbClr val="C3C0BB"/>
                      </a:solidFill>
                      <a:prstDash val="solid"/>
                      <a:round/>
                      <a:headEnd type="none" w="med" len="med"/>
                      <a:tailEnd type="none" w="med" len="med"/>
                    </a:lnT>
                    <a:lnB w="12700" cap="flat" cmpd="sng" algn="ctr">
                      <a:solidFill>
                        <a:srgbClr val="C3C0BB"/>
                      </a:solidFill>
                      <a:prstDash val="solid"/>
                      <a:round/>
                      <a:headEnd type="none" w="med" len="med"/>
                      <a:tailEnd type="none" w="med" len="med"/>
                    </a:lnB>
                  </a:tcPr>
                </a:tc>
              </a:tr>
              <a:tr h="655796">
                <a:tc>
                  <a:txBody>
                    <a:bodyPr/>
                    <a:lstStyle/>
                    <a:p>
                      <a:pPr indent="0" marL="0">
                        <a:lnSpc>
                          <a:spcPts val="1743"/>
                        </a:lnSpc>
                        <a:buNone/>
                      </a:pPr>
                      <a:r>
                        <a:rPr lang="en-US" sz="1245" dirty="0">
                          <a:solidFill>
                            <a:srgbClr val="16222C"/>
                          </a:solidFill>
                          <a:latin typeface="IBM Plex Sans" pitchFamily="34" charset="0"/>
                          <a:ea typeface="IBM Plex Sans" pitchFamily="34" charset="-122"/>
                          <a:cs typeface="IBM Plex Sans" pitchFamily="34" charset="-120"/>
                        </a:rPr>
                        <a:t>Marcus avoids a full exit</a:t>
                      </a:r>
                      <a:endParaRPr lang="en-US" sz="1245" dirty="0">
                        <a:latin typeface="IBM Plex Sans" charset="0"/>
                        <a:ea typeface="IBM Plex Sans" charset="0"/>
                        <a:cs typeface="IBM Plex Sans" charset="0"/>
                      </a:endParaRPr>
                    </a:p>
                  </a:txBody>
                  <a:tcPr marL="127000" marR="127000" marT="88900" marB="88900" anchor="t">
                    <a:lnL w="12700" cap="flat" cmpd="sng" algn="ctr">
                      <a:solidFill>
                        <a:srgbClr val="C3C0BB"/>
                      </a:solidFill>
                      <a:prstDash val="solid"/>
                      <a:round/>
                      <a:headEnd type="none" w="med" len="med"/>
                      <a:tailEnd type="none" w="med" len="med"/>
                    </a:lnL>
                    <a:lnR w="12700" cap="flat" cmpd="sng" algn="ctr">
                      <a:solidFill>
                        <a:srgbClr val="C3C0BB"/>
                      </a:solidFill>
                      <a:prstDash val="solid"/>
                      <a:round/>
                      <a:headEnd type="none" w="med" len="med"/>
                      <a:tailEnd type="none" w="med" len="med"/>
                    </a:lnR>
                    <a:lnT w="12700" cap="flat" cmpd="sng" algn="ctr">
                      <a:solidFill>
                        <a:srgbClr val="C3C0BB"/>
                      </a:solidFill>
                      <a:prstDash val="solid"/>
                      <a:round/>
                      <a:headEnd type="none" w="med" len="med"/>
                      <a:tailEnd type="none" w="med" len="med"/>
                    </a:lnT>
                    <a:lnB w="12700" cap="flat" cmpd="sng" algn="ctr">
                      <a:solidFill>
                        <a:srgbClr val="C3C0BB"/>
                      </a:solidFill>
                      <a:prstDash val="solid"/>
                      <a:round/>
                      <a:headEnd type="none" w="med" len="med"/>
                      <a:tailEnd type="none" w="med" len="med"/>
                    </a:lnB>
                  </a:tcPr>
                </a:tc>
                <a:tc>
                  <a:txBody>
                    <a:bodyPr/>
                    <a:lstStyle/>
                    <a:p>
                      <a:pPr indent="0" marL="0">
                        <a:lnSpc>
                          <a:spcPts val="1743"/>
                        </a:lnSpc>
                        <a:buNone/>
                      </a:pPr>
                      <a:r>
                        <a:rPr lang="en-US" sz="1245" dirty="0">
                          <a:solidFill>
                            <a:srgbClr val="16222C"/>
                          </a:solidFill>
                          <a:latin typeface="IBM Plex Sans" pitchFamily="34" charset="0"/>
                          <a:ea typeface="IBM Plex Sans" pitchFamily="34" charset="-122"/>
                          <a:cs typeface="IBM Plex Sans" pitchFamily="34" charset="-120"/>
                        </a:rPr>
                        <a:t>A2 asks. A1 checks the exit, then recovers. Civilian delay is logged.</a:t>
                      </a:r>
                      <a:endParaRPr lang="en-US" sz="1245" dirty="0">
                        <a:latin typeface="IBM Plex Sans" charset="0"/>
                        <a:ea typeface="IBM Plex Sans" charset="0"/>
                        <a:cs typeface="IBM Plex Sans" charset="0"/>
                      </a:endParaRPr>
                    </a:p>
                  </a:txBody>
                  <a:tcPr marL="127000" marR="127000" marT="88900" marB="88900" anchor="t">
                    <a:lnL w="12700" cap="flat" cmpd="sng" algn="ctr">
                      <a:solidFill>
                        <a:srgbClr val="C3C0BB"/>
                      </a:solidFill>
                      <a:prstDash val="solid"/>
                      <a:round/>
                      <a:headEnd type="none" w="med" len="med"/>
                      <a:tailEnd type="none" w="med" len="med"/>
                    </a:lnL>
                    <a:lnR w="12700" cap="flat" cmpd="sng" algn="ctr">
                      <a:solidFill>
                        <a:srgbClr val="C3C0BB"/>
                      </a:solidFill>
                      <a:prstDash val="solid"/>
                      <a:round/>
                      <a:headEnd type="none" w="med" len="med"/>
                      <a:tailEnd type="none" w="med" len="med"/>
                    </a:lnR>
                    <a:lnT w="12700" cap="flat" cmpd="sng" algn="ctr">
                      <a:solidFill>
                        <a:srgbClr val="C3C0BB"/>
                      </a:solidFill>
                      <a:prstDash val="solid"/>
                      <a:round/>
                      <a:headEnd type="none" w="med" len="med"/>
                      <a:tailEnd type="none" w="med" len="med"/>
                    </a:lnT>
                    <a:lnB w="12700" cap="flat" cmpd="sng" algn="ctr">
                      <a:solidFill>
                        <a:srgbClr val="C3C0BB"/>
                      </a:solidFill>
                      <a:prstDash val="solid"/>
                      <a:round/>
                      <a:headEnd type="none" w="med" len="med"/>
                      <a:tailEnd type="none" w="med" len="med"/>
                    </a:lnB>
                  </a:tcPr>
                </a:tc>
                <a:tc>
                  <a:txBody>
                    <a:bodyPr/>
                    <a:lstStyle/>
                    <a:p>
                      <a:pPr indent="0" marL="0">
                        <a:lnSpc>
                          <a:spcPts val="1743"/>
                        </a:lnSpc>
                        <a:buNone/>
                      </a:pPr>
                      <a:r>
                        <a:rPr lang="en-US" sz="1245" dirty="0">
                          <a:solidFill>
                            <a:srgbClr val="1F6B72"/>
                          </a:solidFill>
                          <a:latin typeface="IBM Plex Sans" pitchFamily="34" charset="0"/>
                          <a:ea typeface="IBM Plex Sans" pitchFamily="34" charset="-122"/>
                          <a:cs typeface="IBM Plex Sans" pitchFamily="34" charset="-120"/>
                        </a:rPr>
                        <a:t>A2 → A1</a:t>
                      </a:r>
                      <a:endParaRPr lang="en-US" sz="1245" dirty="0">
                        <a:latin typeface="IBM Plex Sans" charset="0"/>
                        <a:ea typeface="IBM Plex Sans" charset="0"/>
                        <a:cs typeface="IBM Plex Sans" charset="0"/>
                      </a:endParaRPr>
                    </a:p>
                  </a:txBody>
                  <a:tcPr marL="127000" marR="127000" marT="88900" marB="88900" anchor="t">
                    <a:lnL w="12700" cap="flat" cmpd="sng" algn="ctr">
                      <a:solidFill>
                        <a:srgbClr val="C3C0BB"/>
                      </a:solidFill>
                      <a:prstDash val="solid"/>
                      <a:round/>
                      <a:headEnd type="none" w="med" len="med"/>
                      <a:tailEnd type="none" w="med" len="med"/>
                    </a:lnL>
                    <a:lnR w="12700" cap="flat" cmpd="sng" algn="ctr">
                      <a:solidFill>
                        <a:srgbClr val="C3C0BB"/>
                      </a:solidFill>
                      <a:prstDash val="solid"/>
                      <a:round/>
                      <a:headEnd type="none" w="med" len="med"/>
                      <a:tailEnd type="none" w="med" len="med"/>
                    </a:lnR>
                    <a:lnT w="12700" cap="flat" cmpd="sng" algn="ctr">
                      <a:solidFill>
                        <a:srgbClr val="C3C0BB"/>
                      </a:solidFill>
                      <a:prstDash val="solid"/>
                      <a:round/>
                      <a:headEnd type="none" w="med" len="med"/>
                      <a:tailEnd type="none" w="med" len="med"/>
                    </a:lnT>
                    <a:lnB w="12700" cap="flat" cmpd="sng" algn="ctr">
                      <a:solidFill>
                        <a:srgbClr val="C3C0BB"/>
                      </a:solidFill>
                      <a:prstDash val="solid"/>
                      <a:round/>
                      <a:headEnd type="none" w="med" len="med"/>
                      <a:tailEnd type="none" w="med" len="med"/>
                    </a:lnB>
                  </a:tcPr>
                </a:tc>
              </a:tr>
              <a:tr h="655876">
                <a:tc>
                  <a:txBody>
                    <a:bodyPr/>
                    <a:lstStyle/>
                    <a:p>
                      <a:pPr indent="0" marL="0">
                        <a:lnSpc>
                          <a:spcPts val="1743"/>
                        </a:lnSpc>
                        <a:buNone/>
                      </a:pPr>
                      <a:r>
                        <a:rPr lang="en-US" sz="1245" dirty="0">
                          <a:solidFill>
                            <a:srgbClr val="16222C"/>
                          </a:solidFill>
                          <a:latin typeface="IBM Plex Sans" pitchFamily="34" charset="0"/>
                          <a:ea typeface="IBM Plex Sans" pitchFamily="34" charset="-122"/>
                          <a:cs typeface="IBM Plex Sans" pitchFamily="34" charset="-120"/>
                        </a:rPr>
                        <a:t>Omar is not told a guessed cause</a:t>
                      </a:r>
                      <a:endParaRPr lang="en-US" sz="1245" dirty="0">
                        <a:latin typeface="IBM Plex Sans" charset="0"/>
                        <a:ea typeface="IBM Plex Sans" charset="0"/>
                        <a:cs typeface="IBM Plex Sans" charset="0"/>
                      </a:endParaRPr>
                    </a:p>
                  </a:txBody>
                  <a:tcPr marL="127000" marR="127000" marT="88900" marB="88900" anchor="t">
                    <a:lnL w="12700" cap="flat" cmpd="sng" algn="ctr">
                      <a:solidFill>
                        <a:srgbClr val="C3C0BB"/>
                      </a:solidFill>
                      <a:prstDash val="solid"/>
                      <a:round/>
                      <a:headEnd type="none" w="med" len="med"/>
                      <a:tailEnd type="none" w="med" len="med"/>
                    </a:lnL>
                    <a:lnR w="12700" cap="flat" cmpd="sng" algn="ctr">
                      <a:solidFill>
                        <a:srgbClr val="C3C0BB"/>
                      </a:solidFill>
                      <a:prstDash val="solid"/>
                      <a:round/>
                      <a:headEnd type="none" w="med" len="med"/>
                      <a:tailEnd type="none" w="med" len="med"/>
                    </a:lnR>
                    <a:lnT w="12700" cap="flat" cmpd="sng" algn="ctr">
                      <a:solidFill>
                        <a:srgbClr val="C3C0BB"/>
                      </a:solidFill>
                      <a:prstDash val="solid"/>
                      <a:round/>
                      <a:headEnd type="none" w="med" len="med"/>
                      <a:tailEnd type="none" w="med" len="med"/>
                    </a:lnT>
                    <a:lnB w="12700" cap="flat" cmpd="sng" algn="ctr">
                      <a:solidFill>
                        <a:srgbClr val="C3C0BB"/>
                      </a:solidFill>
                      <a:prstDash val="solid"/>
                      <a:round/>
                      <a:headEnd type="none" w="med" len="med"/>
                      <a:tailEnd type="none" w="med" len="med"/>
                    </a:lnB>
                  </a:tcPr>
                </a:tc>
                <a:tc>
                  <a:txBody>
                    <a:bodyPr/>
                    <a:lstStyle/>
                    <a:p>
                      <a:pPr indent="0" marL="0">
                        <a:lnSpc>
                          <a:spcPts val="1743"/>
                        </a:lnSpc>
                        <a:buNone/>
                      </a:pPr>
                      <a:r>
                        <a:rPr lang="en-US" sz="1245" dirty="0">
                          <a:solidFill>
                            <a:srgbClr val="16222C"/>
                          </a:solidFill>
                          <a:latin typeface="IBM Plex Sans" pitchFamily="34" charset="0"/>
                          <a:ea typeface="IBM Plex Sans" pitchFamily="34" charset="-122"/>
                          <a:cs typeface="IBM Plex Sans" pitchFamily="34" charset="-120"/>
                        </a:rPr>
                        <a:t>A4 publishes class, confidence and freshness. Stale data leaves A1 on local control.</a:t>
                      </a:r>
                      <a:endParaRPr lang="en-US" sz="1245" dirty="0">
                        <a:latin typeface="IBM Plex Sans" charset="0"/>
                        <a:ea typeface="IBM Plex Sans" charset="0"/>
                        <a:cs typeface="IBM Plex Sans" charset="0"/>
                      </a:endParaRPr>
                    </a:p>
                  </a:txBody>
                  <a:tcPr marL="127000" marR="127000" marT="88900" marB="88900" anchor="t">
                    <a:lnL w="12700" cap="flat" cmpd="sng" algn="ctr">
                      <a:solidFill>
                        <a:srgbClr val="C3C0BB"/>
                      </a:solidFill>
                      <a:prstDash val="solid"/>
                      <a:round/>
                      <a:headEnd type="none" w="med" len="med"/>
                      <a:tailEnd type="none" w="med" len="med"/>
                    </a:lnL>
                    <a:lnR w="12700" cap="flat" cmpd="sng" algn="ctr">
                      <a:solidFill>
                        <a:srgbClr val="C3C0BB"/>
                      </a:solidFill>
                      <a:prstDash val="solid"/>
                      <a:round/>
                      <a:headEnd type="none" w="med" len="med"/>
                      <a:tailEnd type="none" w="med" len="med"/>
                    </a:lnR>
                    <a:lnT w="12700" cap="flat" cmpd="sng" algn="ctr">
                      <a:solidFill>
                        <a:srgbClr val="C3C0BB"/>
                      </a:solidFill>
                      <a:prstDash val="solid"/>
                      <a:round/>
                      <a:headEnd type="none" w="med" len="med"/>
                      <a:tailEnd type="none" w="med" len="med"/>
                    </a:lnT>
                    <a:lnB w="12700" cap="flat" cmpd="sng" algn="ctr">
                      <a:solidFill>
                        <a:srgbClr val="C3C0BB"/>
                      </a:solidFill>
                      <a:prstDash val="solid"/>
                      <a:round/>
                      <a:headEnd type="none" w="med" len="med"/>
                      <a:tailEnd type="none" w="med" len="med"/>
                    </a:lnB>
                  </a:tcPr>
                </a:tc>
                <a:tc>
                  <a:txBody>
                    <a:bodyPr/>
                    <a:lstStyle/>
                    <a:p>
                      <a:pPr indent="0" marL="0">
                        <a:lnSpc>
                          <a:spcPts val="1743"/>
                        </a:lnSpc>
                        <a:buNone/>
                      </a:pPr>
                      <a:r>
                        <a:rPr lang="en-US" sz="1245" dirty="0">
                          <a:solidFill>
                            <a:srgbClr val="1F6B72"/>
                          </a:solidFill>
                          <a:latin typeface="IBM Plex Sans" pitchFamily="34" charset="0"/>
                          <a:ea typeface="IBM Plex Sans" pitchFamily="34" charset="-122"/>
                          <a:cs typeface="IBM Plex Sans" pitchFamily="34" charset="-120"/>
                        </a:rPr>
                        <a:t>A4 → A1</a:t>
                      </a:r>
                      <a:endParaRPr lang="en-US" sz="1245" dirty="0">
                        <a:latin typeface="IBM Plex Sans" charset="0"/>
                        <a:ea typeface="IBM Plex Sans" charset="0"/>
                        <a:cs typeface="IBM Plex Sans" charset="0"/>
                      </a:endParaRPr>
                    </a:p>
                  </a:txBody>
                  <a:tcPr marL="127000" marR="127000" marT="88900" marB="88900" anchor="t">
                    <a:lnL w="12700" cap="flat" cmpd="sng" algn="ctr">
                      <a:solidFill>
                        <a:srgbClr val="C3C0BB"/>
                      </a:solidFill>
                      <a:prstDash val="solid"/>
                      <a:round/>
                      <a:headEnd type="none" w="med" len="med"/>
                      <a:tailEnd type="none" w="med" len="med"/>
                    </a:lnL>
                    <a:lnR w="12700" cap="flat" cmpd="sng" algn="ctr">
                      <a:solidFill>
                        <a:srgbClr val="C3C0BB"/>
                      </a:solidFill>
                      <a:prstDash val="solid"/>
                      <a:round/>
                      <a:headEnd type="none" w="med" len="med"/>
                      <a:tailEnd type="none" w="med" len="med"/>
                    </a:lnR>
                    <a:lnT w="12700" cap="flat" cmpd="sng" algn="ctr">
                      <a:solidFill>
                        <a:srgbClr val="C3C0BB"/>
                      </a:solidFill>
                      <a:prstDash val="solid"/>
                      <a:round/>
                      <a:headEnd type="none" w="med" len="med"/>
                      <a:tailEnd type="none" w="med" len="med"/>
                    </a:lnT>
                    <a:lnB w="12700" cap="flat" cmpd="sng" algn="ctr">
                      <a:solidFill>
                        <a:srgbClr val="C3C0BB"/>
                      </a:solidFill>
                      <a:prstDash val="solid"/>
                      <a:round/>
                      <a:headEnd type="none" w="med" len="med"/>
                      <a:tailEnd type="none" w="med" len="med"/>
                    </a:lnB>
                  </a:tcPr>
                </a:tc>
              </a:tr>
            </a:tbl>
          </a:graphicData>
        </a:graphic>
      </p:graphicFrame>
      <p:sp>
        <p:nvSpPr>
          <p:cNvPr id="5" name="Text 2"/>
          <p:cNvSpPr/>
          <p:nvPr/>
        </p:nvSpPr>
        <p:spPr>
          <a:xfrm>
            <a:off x="812800" y="6238242"/>
            <a:ext cx="6294169"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B73"/>
                </a:solidFill>
                <a:latin typeface="IBM Plex Sans" pitchFamily="34" charset="0"/>
                <a:ea typeface="IBM Plex Sans" pitchFamily="34" charset="-122"/>
                <a:cs typeface="IBM Plex Sans" pitchFamily="34" charset="-120"/>
              </a:rPr>
              <a:t>Incident packs change the street inside SUMO. The language model never writes the light.</a:t>
            </a:r>
            <a:endParaRPr lang="en-US" sz="1200" dirty="0"/>
          </a:p>
        </p:txBody>
      </p:sp>
      <p:sp>
        <p:nvSpPr>
          <p:cNvPr id="6" name="Text 3"/>
          <p:cNvSpPr/>
          <p:nvPr/>
        </p:nvSpPr>
        <p:spPr>
          <a:xfrm>
            <a:off x="11196320" y="6238242"/>
            <a:ext cx="23368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B73"/>
                </a:solidFill>
                <a:latin typeface="IBM Plex Sans" pitchFamily="34" charset="0"/>
                <a:ea typeface="IBM Plex Sans" pitchFamily="34" charset="-122"/>
                <a:cs typeface="IBM Plex Sans" pitchFamily="34" charset="-120"/>
              </a:rPr>
              <a:t>26</a:t>
            </a:r>
            <a:endParaRPr lang="en-US" sz="12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4F1EA"/>
        </a:solidFill>
      </p:bgPr>
    </p:bg>
    <p:spTree>
      <p:nvGrpSpPr>
        <p:cNvPr id="1" name=""/>
        <p:cNvGrpSpPr/>
        <p:nvPr/>
      </p:nvGrpSpPr>
      <p:grpSpPr>
        <a:xfrm>
          <a:off x="0" y="0"/>
          <a:ext cx="0" cy="0"/>
          <a:chOff x="0" y="0"/>
          <a:chExt cx="0" cy="0"/>
        </a:xfrm>
      </p:grpSpPr>
      <p:sp>
        <p:nvSpPr>
          <p:cNvPr id="2" name="Text 0"/>
          <p:cNvSpPr/>
          <p:nvPr/>
        </p:nvSpPr>
        <p:spPr>
          <a:xfrm>
            <a:off x="812800" y="812800"/>
            <a:ext cx="10883392" cy="174387"/>
          </a:xfrm>
          <a:prstGeom prst="rect">
            <a:avLst/>
          </a:prstGeom>
          <a:noFill/>
          <a:ln/>
        </p:spPr>
        <p:txBody>
          <a:bodyPr wrap="square" lIns="0" tIns="0" rIns="0" bIns="0" rtlCol="0" anchor="t">
            <a:normAutofit/>
          </a:bodyPr>
          <a:lstStyle/>
          <a:p>
            <a:pPr algn="l" indent="0" marL="0">
              <a:lnSpc>
                <a:spcPts val="1171"/>
              </a:lnSpc>
              <a:buNone/>
            </a:pPr>
            <a:r>
              <a:rPr lang="en-US" sz="836" spc="100" kern="0" dirty="0">
                <a:solidFill>
                  <a:srgbClr val="1F6B72"/>
                </a:solidFill>
                <a:latin typeface="IBM Plex Mono" pitchFamily="34" charset="0"/>
                <a:ea typeface="IBM Plex Mono" pitchFamily="34" charset="-122"/>
                <a:cs typeface="IBM Plex Mono" pitchFamily="34" charset="-120"/>
              </a:rPr>
              <a:t>THE LINK · RESEARCH → SOLUTION</a:t>
            </a:r>
            <a:endParaRPr lang="en-US" sz="836" dirty="0"/>
          </a:p>
        </p:txBody>
      </p:sp>
      <p:sp>
        <p:nvSpPr>
          <p:cNvPr id="3" name="Text 1"/>
          <p:cNvSpPr/>
          <p:nvPr/>
        </p:nvSpPr>
        <p:spPr>
          <a:xfrm>
            <a:off x="812800" y="1063389"/>
            <a:ext cx="10883392" cy="337582"/>
          </a:xfrm>
          <a:prstGeom prst="rect">
            <a:avLst/>
          </a:prstGeom>
          <a:noFill/>
          <a:ln/>
        </p:spPr>
        <p:txBody>
          <a:bodyPr wrap="square" lIns="0" tIns="0" rIns="0" bIns="0" rtlCol="0" anchor="t">
            <a:normAutofit/>
          </a:bodyPr>
          <a:lstStyle/>
          <a:p>
            <a:pPr algn="l" indent="0" marL="0">
              <a:lnSpc>
                <a:spcPts val="2464"/>
              </a:lnSpc>
              <a:buNone/>
            </a:pPr>
            <a:r>
              <a:rPr lang="en-US" sz="2240" b="1" dirty="0">
                <a:solidFill>
                  <a:srgbClr val="16222C"/>
                </a:solidFill>
                <a:latin typeface="Space Grotesk" pitchFamily="34" charset="0"/>
                <a:ea typeface="Space Grotesk" pitchFamily="34" charset="-122"/>
                <a:cs typeface="Space Grotesk" pitchFamily="34" charset="-120"/>
              </a:rPr>
              <a:t>The full chain, persona by persona</a:t>
            </a:r>
            <a:endParaRPr lang="en-US" sz="224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22960" y="1639729"/>
          <a:ext cx="10556240" cy="4202271"/>
        </p:xfrm>
        <a:graphic>
          <a:graphicData uri="http://schemas.openxmlformats.org/drawingml/2006/table">
            <a:tbl>
              <a:tblPr/>
              <a:tblGrid>
                <a:gridCol w="2111248"/>
                <a:gridCol w="2111248"/>
                <a:gridCol w="2111248"/>
                <a:gridCol w="2111248"/>
                <a:gridCol w="2111248"/>
              </a:tblGrid>
              <a:tr h="381635">
                <a:tc>
                  <a:txBody>
                    <a:bodyPr/>
                    <a:lstStyle/>
                    <a:p>
                      <a:pPr indent="0" marL="0">
                        <a:lnSpc>
                          <a:spcPts val="1722"/>
                        </a:lnSpc>
                        <a:buNone/>
                      </a:pPr>
                      <a:r>
                        <a:rPr lang="en-US" sz="1230" b="1" dirty="0">
                          <a:solidFill>
                            <a:srgbClr val="F4F1EA"/>
                          </a:solidFill>
                          <a:latin typeface="IBM Plex Sans" pitchFamily="34" charset="0"/>
                          <a:ea typeface="IBM Plex Sans" pitchFamily="34" charset="-122"/>
                          <a:cs typeface="IBM Plex Sans" pitchFamily="34" charset="-120"/>
                        </a:rPr>
                        <a:t>Persona</a:t>
                      </a:r>
                      <a:endParaRPr lang="en-US" sz="1230" dirty="0">
                        <a:latin typeface="IBM Plex Sans" charset="0"/>
                        <a:ea typeface="IBM Plex Sans" charset="0"/>
                        <a:cs typeface="IBM Plex Sans" charset="0"/>
                      </a:endParaRPr>
                    </a:p>
                  </a:txBody>
                  <a:tcPr marL="101600" marR="101600" marT="76200" marB="76200" anchor="t">
                    <a:lnL w="12700" cap="flat" cmpd="sng" algn="ctr">
                      <a:solidFill>
                        <a:srgbClr val="C3C0BB"/>
                      </a:solidFill>
                      <a:prstDash val="solid"/>
                      <a:round/>
                      <a:headEnd type="none" w="med" len="med"/>
                      <a:tailEnd type="none" w="med" len="med"/>
                    </a:lnL>
                    <a:lnR w="12700" cap="flat" cmpd="sng" algn="ctr">
                      <a:solidFill>
                        <a:srgbClr val="B5B2AD"/>
                      </a:solidFill>
                      <a:prstDash val="solid"/>
                      <a:round/>
                      <a:headEnd type="none" w="med" len="med"/>
                      <a:tailEnd type="none" w="med" len="med"/>
                    </a:lnR>
                    <a:lnT w="12700" cap="flat" cmpd="sng" algn="ctr">
                      <a:solidFill>
                        <a:srgbClr val="C3C0BB"/>
                      </a:solidFill>
                      <a:prstDash val="solid"/>
                      <a:round/>
                      <a:headEnd type="none" w="med" len="med"/>
                      <a:tailEnd type="none" w="med" len="med"/>
                    </a:lnT>
                    <a:lnB w="12700" cap="flat" cmpd="sng" algn="ctr">
                      <a:solidFill>
                        <a:srgbClr val="B5B2AD"/>
                      </a:solidFill>
                      <a:prstDash val="solid"/>
                      <a:round/>
                      <a:headEnd type="none" w="med" len="med"/>
                      <a:tailEnd type="none" w="med" len="med"/>
                    </a:lnB>
                    <a:solidFill>
                      <a:srgbClr val="E2DFD9"/>
                    </a:solidFill>
                  </a:tcPr>
                </a:tc>
                <a:tc>
                  <a:txBody>
                    <a:bodyPr/>
                    <a:lstStyle/>
                    <a:p>
                      <a:pPr indent="0" marL="0">
                        <a:lnSpc>
                          <a:spcPts val="1722"/>
                        </a:lnSpc>
                        <a:buNone/>
                      </a:pPr>
                      <a:r>
                        <a:rPr lang="en-US" sz="1230" b="1" dirty="0">
                          <a:solidFill>
                            <a:srgbClr val="F4F1EA"/>
                          </a:solidFill>
                          <a:latin typeface="IBM Plex Sans" pitchFamily="34" charset="0"/>
                          <a:ea typeface="IBM Plex Sans" pitchFamily="34" charset="-122"/>
                          <a:cs typeface="IBM Plex Sans" pitchFamily="34" charset="-120"/>
                        </a:rPr>
                        <a:t>Evidence</a:t>
                      </a:r>
                      <a:endParaRPr lang="en-US" sz="1230" dirty="0">
                        <a:latin typeface="IBM Plex Sans" charset="0"/>
                        <a:ea typeface="IBM Plex Sans" charset="0"/>
                        <a:cs typeface="IBM Plex Sans" charset="0"/>
                      </a:endParaRPr>
                    </a:p>
                  </a:txBody>
                  <a:tcPr marL="101600" marR="101600" marT="76200" marB="76200" anchor="t">
                    <a:lnL w="12700" cap="flat" cmpd="sng" algn="ctr">
                      <a:solidFill>
                        <a:srgbClr val="B5B2AD"/>
                      </a:solidFill>
                      <a:prstDash val="solid"/>
                      <a:round/>
                      <a:headEnd type="none" w="med" len="med"/>
                      <a:tailEnd type="none" w="med" len="med"/>
                    </a:lnL>
                    <a:lnR w="12700" cap="flat" cmpd="sng" algn="ctr">
                      <a:solidFill>
                        <a:srgbClr val="B5B2AD"/>
                      </a:solidFill>
                      <a:prstDash val="solid"/>
                      <a:round/>
                      <a:headEnd type="none" w="med" len="med"/>
                      <a:tailEnd type="none" w="med" len="med"/>
                    </a:lnR>
                    <a:lnT w="12700" cap="flat" cmpd="sng" algn="ctr">
                      <a:solidFill>
                        <a:srgbClr val="C3C0BB"/>
                      </a:solidFill>
                      <a:prstDash val="solid"/>
                      <a:round/>
                      <a:headEnd type="none" w="med" len="med"/>
                      <a:tailEnd type="none" w="med" len="med"/>
                    </a:lnT>
                    <a:lnB w="12700" cap="flat" cmpd="sng" algn="ctr">
                      <a:solidFill>
                        <a:srgbClr val="B5B2AD"/>
                      </a:solidFill>
                      <a:prstDash val="solid"/>
                      <a:round/>
                      <a:headEnd type="none" w="med" len="med"/>
                      <a:tailEnd type="none" w="med" len="med"/>
                    </a:lnB>
                    <a:solidFill>
                      <a:srgbClr val="E2DFD9"/>
                    </a:solidFill>
                  </a:tcPr>
                </a:tc>
                <a:tc>
                  <a:txBody>
                    <a:bodyPr/>
                    <a:lstStyle/>
                    <a:p>
                      <a:pPr indent="0" marL="0">
                        <a:lnSpc>
                          <a:spcPts val="1722"/>
                        </a:lnSpc>
                        <a:buNone/>
                      </a:pPr>
                      <a:r>
                        <a:rPr lang="en-US" sz="1230" b="1" dirty="0">
                          <a:solidFill>
                            <a:srgbClr val="F4F1EA"/>
                          </a:solidFill>
                          <a:latin typeface="IBM Plex Sans" pitchFamily="34" charset="0"/>
                          <a:ea typeface="IBM Plex Sans" pitchFamily="34" charset="-122"/>
                          <a:cs typeface="IBM Plex Sans" pitchFamily="34" charset="-120"/>
                        </a:rPr>
                        <a:t>Pain point</a:t>
                      </a:r>
                      <a:endParaRPr lang="en-US" sz="1230" dirty="0">
                        <a:latin typeface="IBM Plex Sans" charset="0"/>
                        <a:ea typeface="IBM Plex Sans" charset="0"/>
                        <a:cs typeface="IBM Plex Sans" charset="0"/>
                      </a:endParaRPr>
                    </a:p>
                  </a:txBody>
                  <a:tcPr marL="101600" marR="101600" marT="76200" marB="76200" anchor="t">
                    <a:lnL w="12700" cap="flat" cmpd="sng" algn="ctr">
                      <a:solidFill>
                        <a:srgbClr val="B5B2AD"/>
                      </a:solidFill>
                      <a:prstDash val="solid"/>
                      <a:round/>
                      <a:headEnd type="none" w="med" len="med"/>
                      <a:tailEnd type="none" w="med" len="med"/>
                    </a:lnL>
                    <a:lnR w="12700" cap="flat" cmpd="sng" algn="ctr">
                      <a:solidFill>
                        <a:srgbClr val="B5B2AD"/>
                      </a:solidFill>
                      <a:prstDash val="solid"/>
                      <a:round/>
                      <a:headEnd type="none" w="med" len="med"/>
                      <a:tailEnd type="none" w="med" len="med"/>
                    </a:lnR>
                    <a:lnT w="12700" cap="flat" cmpd="sng" algn="ctr">
                      <a:solidFill>
                        <a:srgbClr val="C3C0BB"/>
                      </a:solidFill>
                      <a:prstDash val="solid"/>
                      <a:round/>
                      <a:headEnd type="none" w="med" len="med"/>
                      <a:tailEnd type="none" w="med" len="med"/>
                    </a:lnT>
                    <a:lnB w="12700" cap="flat" cmpd="sng" algn="ctr">
                      <a:solidFill>
                        <a:srgbClr val="B5B2AD"/>
                      </a:solidFill>
                      <a:prstDash val="solid"/>
                      <a:round/>
                      <a:headEnd type="none" w="med" len="med"/>
                      <a:tailEnd type="none" w="med" len="med"/>
                    </a:lnB>
                    <a:solidFill>
                      <a:srgbClr val="E2DFD9"/>
                    </a:solidFill>
                  </a:tcPr>
                </a:tc>
                <a:tc>
                  <a:txBody>
                    <a:bodyPr/>
                    <a:lstStyle/>
                    <a:p>
                      <a:pPr indent="0" marL="0">
                        <a:lnSpc>
                          <a:spcPts val="1722"/>
                        </a:lnSpc>
                        <a:buNone/>
                      </a:pPr>
                      <a:r>
                        <a:rPr lang="en-US" sz="1230" b="1" dirty="0">
                          <a:solidFill>
                            <a:srgbClr val="F4F1EA"/>
                          </a:solidFill>
                          <a:latin typeface="IBM Plex Sans" pitchFamily="34" charset="0"/>
                          <a:ea typeface="IBM Plex Sans" pitchFamily="34" charset="-122"/>
                          <a:cs typeface="IBM Plex Sans" pitchFamily="34" charset="-120"/>
                        </a:rPr>
                        <a:t>Kept idea</a:t>
                      </a:r>
                      <a:endParaRPr lang="en-US" sz="1230" dirty="0">
                        <a:latin typeface="IBM Plex Sans" charset="0"/>
                        <a:ea typeface="IBM Plex Sans" charset="0"/>
                        <a:cs typeface="IBM Plex Sans" charset="0"/>
                      </a:endParaRPr>
                    </a:p>
                  </a:txBody>
                  <a:tcPr marL="101600" marR="101600" marT="76200" marB="76200" anchor="t">
                    <a:lnL w="12700" cap="flat" cmpd="sng" algn="ctr">
                      <a:solidFill>
                        <a:srgbClr val="B5B2AD"/>
                      </a:solidFill>
                      <a:prstDash val="solid"/>
                      <a:round/>
                      <a:headEnd type="none" w="med" len="med"/>
                      <a:tailEnd type="none" w="med" len="med"/>
                    </a:lnL>
                    <a:lnR w="12700" cap="flat" cmpd="sng" algn="ctr">
                      <a:solidFill>
                        <a:srgbClr val="B5B2AD"/>
                      </a:solidFill>
                      <a:prstDash val="solid"/>
                      <a:round/>
                      <a:headEnd type="none" w="med" len="med"/>
                      <a:tailEnd type="none" w="med" len="med"/>
                    </a:lnR>
                    <a:lnT w="12700" cap="flat" cmpd="sng" algn="ctr">
                      <a:solidFill>
                        <a:srgbClr val="C3C0BB"/>
                      </a:solidFill>
                      <a:prstDash val="solid"/>
                      <a:round/>
                      <a:headEnd type="none" w="med" len="med"/>
                      <a:tailEnd type="none" w="med" len="med"/>
                    </a:lnT>
                    <a:lnB w="12700" cap="flat" cmpd="sng" algn="ctr">
                      <a:solidFill>
                        <a:srgbClr val="B5B2AD"/>
                      </a:solidFill>
                      <a:prstDash val="solid"/>
                      <a:round/>
                      <a:headEnd type="none" w="med" len="med"/>
                      <a:tailEnd type="none" w="med" len="med"/>
                    </a:lnB>
                    <a:solidFill>
                      <a:srgbClr val="E2DFD9"/>
                    </a:solidFill>
                  </a:tcPr>
                </a:tc>
                <a:tc>
                  <a:txBody>
                    <a:bodyPr/>
                    <a:lstStyle/>
                    <a:p>
                      <a:pPr indent="0" marL="0">
                        <a:lnSpc>
                          <a:spcPts val="1722"/>
                        </a:lnSpc>
                        <a:buNone/>
                      </a:pPr>
                      <a:r>
                        <a:rPr lang="en-US" sz="1230" b="1" dirty="0">
                          <a:solidFill>
                            <a:srgbClr val="16222C"/>
                          </a:solidFill>
                          <a:latin typeface="IBM Plex Sans" pitchFamily="34" charset="0"/>
                          <a:ea typeface="IBM Plex Sans" pitchFamily="34" charset="-122"/>
                          <a:cs typeface="IBM Plex Sans" pitchFamily="34" charset="-120"/>
                        </a:rPr>
                        <a:t>In the solution</a:t>
                      </a:r>
                      <a:endParaRPr lang="en-US" sz="1230" dirty="0">
                        <a:latin typeface="IBM Plex Sans" charset="0"/>
                        <a:ea typeface="IBM Plex Sans" charset="0"/>
                        <a:cs typeface="IBM Plex Sans" charset="0"/>
                      </a:endParaRPr>
                    </a:p>
                  </a:txBody>
                  <a:tcPr marL="101600" marR="101600" marT="76200" marB="76200" anchor="t">
                    <a:lnL w="12700" cap="flat" cmpd="sng" algn="ctr">
                      <a:solidFill>
                        <a:srgbClr val="B5B2AD"/>
                      </a:solidFill>
                      <a:prstDash val="solid"/>
                      <a:round/>
                      <a:headEnd type="none" w="med" len="med"/>
                      <a:tailEnd type="none" w="med" len="med"/>
                    </a:lnL>
                    <a:lnR w="12700" cap="flat" cmpd="sng" algn="ctr">
                      <a:solidFill>
                        <a:srgbClr val="B5B2AD"/>
                      </a:solidFill>
                      <a:prstDash val="solid"/>
                      <a:round/>
                      <a:headEnd type="none" w="med" len="med"/>
                      <a:tailEnd type="none" w="med" len="med"/>
                    </a:lnR>
                    <a:lnT w="12700" cap="flat" cmpd="sng" algn="ctr">
                      <a:solidFill>
                        <a:srgbClr val="C3C0BB"/>
                      </a:solidFill>
                      <a:prstDash val="solid"/>
                      <a:round/>
                      <a:headEnd type="none" w="med" len="med"/>
                      <a:tailEnd type="none" w="med" len="med"/>
                    </a:lnT>
                    <a:lnB w="12700" cap="flat" cmpd="sng" algn="ctr">
                      <a:solidFill>
                        <a:srgbClr val="B5B2AD"/>
                      </a:solidFill>
                      <a:prstDash val="solid"/>
                      <a:round/>
                      <a:headEnd type="none" w="med" len="med"/>
                      <a:tailEnd type="none" w="med" len="med"/>
                    </a:lnB>
                    <a:solidFill>
                      <a:srgbClr val="E2DFD9"/>
                    </a:solidFill>
                  </a:tcPr>
                </a:tc>
              </a:tr>
              <a:tr h="818991">
                <a:tc>
                  <a:txBody>
                    <a:bodyPr/>
                    <a:lstStyle/>
                    <a:p>
                      <a:pPr indent="0" marL="0">
                        <a:lnSpc>
                          <a:spcPts val="1722"/>
                        </a:lnSpc>
                        <a:buNone/>
                      </a:pPr>
                      <a:r>
                        <a:rPr lang="en-US" sz="1230" dirty="0">
                          <a:solidFill>
                            <a:srgbClr val="16222C"/>
                          </a:solidFill>
                          <a:latin typeface="IBM Plex Sans" pitchFamily="34" charset="0"/>
                          <a:ea typeface="IBM Plex Sans" pitchFamily="34" charset="-122"/>
                          <a:cs typeface="IBM Plex Sans" pitchFamily="34" charset="-120"/>
                        </a:rPr>
                        <a:t>Amara</a:t>
                      </a:r>
                      <a:endParaRPr lang="en-US" sz="1230" dirty="0">
                        <a:latin typeface="IBM Plex Sans" charset="0"/>
                        <a:ea typeface="IBM Plex Sans" charset="0"/>
                        <a:cs typeface="IBM Plex Sans" charset="0"/>
                      </a:endParaRPr>
                    </a:p>
                  </a:txBody>
                  <a:tcPr marL="101600" marR="101600" marT="76200" marB="76200" anchor="t">
                    <a:lnL w="12700" cap="flat" cmpd="sng" algn="ctr">
                      <a:solidFill>
                        <a:srgbClr val="C3C0BB"/>
                      </a:solidFill>
                      <a:prstDash val="solid"/>
                      <a:round/>
                      <a:headEnd type="none" w="med" len="med"/>
                      <a:tailEnd type="none" w="med" len="med"/>
                    </a:lnL>
                    <a:lnR w="12700" cap="flat" cmpd="sng" algn="ctr">
                      <a:solidFill>
                        <a:srgbClr val="C3C0BB"/>
                      </a:solidFill>
                      <a:prstDash val="solid"/>
                      <a:round/>
                      <a:headEnd type="none" w="med" len="med"/>
                      <a:tailEnd type="none" w="med" len="med"/>
                    </a:lnR>
                    <a:lnT w="12700" cap="flat" cmpd="sng" algn="ctr">
                      <a:solidFill>
                        <a:srgbClr val="B5B2AD"/>
                      </a:solidFill>
                      <a:prstDash val="solid"/>
                      <a:round/>
                      <a:headEnd type="none" w="med" len="med"/>
                      <a:tailEnd type="none" w="med" len="med"/>
                    </a:lnT>
                    <a:lnB w="12700" cap="flat" cmpd="sng" algn="ctr">
                      <a:solidFill>
                        <a:srgbClr val="C3C0BB"/>
                      </a:solidFill>
                      <a:prstDash val="solid"/>
                      <a:round/>
                      <a:headEnd type="none" w="med" len="med"/>
                      <a:tailEnd type="none" w="med" len="med"/>
                    </a:lnB>
                  </a:tcPr>
                </a:tc>
                <a:tc>
                  <a:txBody>
                    <a:bodyPr/>
                    <a:lstStyle/>
                    <a:p>
                      <a:pPr indent="0" marL="0">
                        <a:lnSpc>
                          <a:spcPts val="1722"/>
                        </a:lnSpc>
                        <a:buNone/>
                      </a:pPr>
                      <a:r>
                        <a:rPr lang="en-US" sz="1230" dirty="0">
                          <a:solidFill>
                            <a:srgbClr val="16222C"/>
                          </a:solidFill>
                          <a:latin typeface="IBM Plex Sans" pitchFamily="34" charset="0"/>
                          <a:ea typeface="IBM Plex Sans" pitchFamily="34" charset="-122"/>
                          <a:cs typeface="IBM Plex Sans" pitchFamily="34" charset="-120"/>
                        </a:rPr>
                        <a:t>Pedestrians 28% of deaths; clearance ≈1.07 m/s</a:t>
                      </a:r>
                      <a:endParaRPr lang="en-US" sz="1230" dirty="0">
                        <a:latin typeface="IBM Plex Sans" charset="0"/>
                        <a:ea typeface="IBM Plex Sans" charset="0"/>
                        <a:cs typeface="IBM Plex Sans" charset="0"/>
                      </a:endParaRPr>
                    </a:p>
                  </a:txBody>
                  <a:tcPr marL="101600" marR="101600" marT="76200" marB="76200" anchor="t">
                    <a:lnL w="12700" cap="flat" cmpd="sng" algn="ctr">
                      <a:solidFill>
                        <a:srgbClr val="C3C0BB"/>
                      </a:solidFill>
                      <a:prstDash val="solid"/>
                      <a:round/>
                      <a:headEnd type="none" w="med" len="med"/>
                      <a:tailEnd type="none" w="med" len="med"/>
                    </a:lnL>
                    <a:lnR w="12700" cap="flat" cmpd="sng" algn="ctr">
                      <a:solidFill>
                        <a:srgbClr val="C3C0BB"/>
                      </a:solidFill>
                      <a:prstDash val="solid"/>
                      <a:round/>
                      <a:headEnd type="none" w="med" len="med"/>
                      <a:tailEnd type="none" w="med" len="med"/>
                    </a:lnR>
                    <a:lnT w="12700" cap="flat" cmpd="sng" algn="ctr">
                      <a:solidFill>
                        <a:srgbClr val="B5B2AD"/>
                      </a:solidFill>
                      <a:prstDash val="solid"/>
                      <a:round/>
                      <a:headEnd type="none" w="med" len="med"/>
                      <a:tailEnd type="none" w="med" len="med"/>
                    </a:lnT>
                    <a:lnB w="12700" cap="flat" cmpd="sng" algn="ctr">
                      <a:solidFill>
                        <a:srgbClr val="C3C0BB"/>
                      </a:solidFill>
                      <a:prstDash val="solid"/>
                      <a:round/>
                      <a:headEnd type="none" w="med" len="med"/>
                      <a:tailEnd type="none" w="med" len="med"/>
                    </a:lnB>
                  </a:tcPr>
                </a:tc>
                <a:tc>
                  <a:txBody>
                    <a:bodyPr/>
                    <a:lstStyle/>
                    <a:p>
                      <a:pPr indent="0" marL="0">
                        <a:lnSpc>
                          <a:spcPts val="1722"/>
                        </a:lnSpc>
                        <a:buNone/>
                      </a:pPr>
                      <a:r>
                        <a:rPr lang="en-US" sz="1230" dirty="0">
                          <a:solidFill>
                            <a:srgbClr val="16222C"/>
                          </a:solidFill>
                          <a:latin typeface="IBM Plex Sans" pitchFamily="34" charset="0"/>
                          <a:ea typeface="IBM Plex Sans" pitchFamily="34" charset="-122"/>
                          <a:cs typeface="IBM Plex Sans" pitchFamily="34" charset="-120"/>
                        </a:rPr>
                        <a:t>Green while still crossing</a:t>
                      </a:r>
                      <a:endParaRPr lang="en-US" sz="1230" dirty="0">
                        <a:latin typeface="IBM Plex Sans" charset="0"/>
                        <a:ea typeface="IBM Plex Sans" charset="0"/>
                        <a:cs typeface="IBM Plex Sans" charset="0"/>
                      </a:endParaRPr>
                    </a:p>
                  </a:txBody>
                  <a:tcPr marL="101600" marR="101600" marT="76200" marB="76200" anchor="t">
                    <a:lnL w="12700" cap="flat" cmpd="sng" algn="ctr">
                      <a:solidFill>
                        <a:srgbClr val="C3C0BB"/>
                      </a:solidFill>
                      <a:prstDash val="solid"/>
                      <a:round/>
                      <a:headEnd type="none" w="med" len="med"/>
                      <a:tailEnd type="none" w="med" len="med"/>
                    </a:lnL>
                    <a:lnR w="12700" cap="flat" cmpd="sng" algn="ctr">
                      <a:solidFill>
                        <a:srgbClr val="C3C0BB"/>
                      </a:solidFill>
                      <a:prstDash val="solid"/>
                      <a:round/>
                      <a:headEnd type="none" w="med" len="med"/>
                      <a:tailEnd type="none" w="med" len="med"/>
                    </a:lnR>
                    <a:lnT w="12700" cap="flat" cmpd="sng" algn="ctr">
                      <a:solidFill>
                        <a:srgbClr val="B5B2AD"/>
                      </a:solidFill>
                      <a:prstDash val="solid"/>
                      <a:round/>
                      <a:headEnd type="none" w="med" len="med"/>
                      <a:tailEnd type="none" w="med" len="med"/>
                    </a:lnT>
                    <a:lnB w="12700" cap="flat" cmpd="sng" algn="ctr">
                      <a:solidFill>
                        <a:srgbClr val="C3C0BB"/>
                      </a:solidFill>
                      <a:prstDash val="solid"/>
                      <a:round/>
                      <a:headEnd type="none" w="med" len="med"/>
                      <a:tailEnd type="none" w="med" len="med"/>
                    </a:lnB>
                  </a:tcPr>
                </a:tc>
                <a:tc>
                  <a:txBody>
                    <a:bodyPr/>
                    <a:lstStyle/>
                    <a:p>
                      <a:pPr indent="0" marL="0">
                        <a:lnSpc>
                          <a:spcPts val="1722"/>
                        </a:lnSpc>
                        <a:buNone/>
                      </a:pPr>
                      <a:r>
                        <a:rPr lang="en-US" sz="1230" dirty="0">
                          <a:solidFill>
                            <a:srgbClr val="16222C"/>
                          </a:solidFill>
                          <a:latin typeface="IBM Plex Sans" pitchFamily="34" charset="0"/>
                          <a:ea typeface="IBM Plex Sans" pitchFamily="34" charset="-122"/>
                          <a:cs typeface="IBM Plex Sans" pitchFamily="34" charset="-120"/>
                        </a:rPr>
                        <a:t>Hold the green, count truncations</a:t>
                      </a:r>
                      <a:endParaRPr lang="en-US" sz="1230" dirty="0">
                        <a:latin typeface="IBM Plex Sans" charset="0"/>
                        <a:ea typeface="IBM Plex Sans" charset="0"/>
                        <a:cs typeface="IBM Plex Sans" charset="0"/>
                      </a:endParaRPr>
                    </a:p>
                  </a:txBody>
                  <a:tcPr marL="101600" marR="101600" marT="76200" marB="76200" anchor="t">
                    <a:lnL w="12700" cap="flat" cmpd="sng" algn="ctr">
                      <a:solidFill>
                        <a:srgbClr val="C3C0BB"/>
                      </a:solidFill>
                      <a:prstDash val="solid"/>
                      <a:round/>
                      <a:headEnd type="none" w="med" len="med"/>
                      <a:tailEnd type="none" w="med" len="med"/>
                    </a:lnL>
                    <a:lnR w="12700" cap="flat" cmpd="sng" algn="ctr">
                      <a:solidFill>
                        <a:srgbClr val="C3C0BB"/>
                      </a:solidFill>
                      <a:prstDash val="solid"/>
                      <a:round/>
                      <a:headEnd type="none" w="med" len="med"/>
                      <a:tailEnd type="none" w="med" len="med"/>
                    </a:lnR>
                    <a:lnT w="12700" cap="flat" cmpd="sng" algn="ctr">
                      <a:solidFill>
                        <a:srgbClr val="B5B2AD"/>
                      </a:solidFill>
                      <a:prstDash val="solid"/>
                      <a:round/>
                      <a:headEnd type="none" w="med" len="med"/>
                      <a:tailEnd type="none" w="med" len="med"/>
                    </a:lnT>
                    <a:lnB w="12700" cap="flat" cmpd="sng" algn="ctr">
                      <a:solidFill>
                        <a:srgbClr val="C3C0BB"/>
                      </a:solidFill>
                      <a:prstDash val="solid"/>
                      <a:round/>
                      <a:headEnd type="none" w="med" len="med"/>
                      <a:tailEnd type="none" w="med" len="med"/>
                    </a:lnB>
                  </a:tcPr>
                </a:tc>
                <a:tc>
                  <a:txBody>
                    <a:bodyPr/>
                    <a:lstStyle/>
                    <a:p>
                      <a:pPr indent="0" marL="0">
                        <a:lnSpc>
                          <a:spcPts val="1722"/>
                        </a:lnSpc>
                        <a:buNone/>
                      </a:pPr>
                      <a:r>
                        <a:rPr lang="en-US" sz="1230" dirty="0">
                          <a:solidFill>
                            <a:srgbClr val="16222C"/>
                          </a:solidFill>
                          <a:latin typeface="IBM Plex Sans" pitchFamily="34" charset="0"/>
                          <a:ea typeface="IBM Plex Sans" pitchFamily="34" charset="-122"/>
                          <a:cs typeface="IBM Plex Sans" pitchFamily="34" charset="-120"/>
                        </a:rPr>
                        <a:t>A3 asks, A1 holds the green</a:t>
                      </a:r>
                      <a:endParaRPr lang="en-US" sz="1230" dirty="0">
                        <a:latin typeface="IBM Plex Sans" charset="0"/>
                        <a:ea typeface="IBM Plex Sans" charset="0"/>
                        <a:cs typeface="IBM Plex Sans" charset="0"/>
                      </a:endParaRPr>
                    </a:p>
                  </a:txBody>
                  <a:tcPr marL="101600" marR="101600" marT="76200" marB="76200" anchor="t">
                    <a:lnL w="12700" cap="flat" cmpd="sng" algn="ctr">
                      <a:solidFill>
                        <a:srgbClr val="C3C0BB"/>
                      </a:solidFill>
                      <a:prstDash val="solid"/>
                      <a:round/>
                      <a:headEnd type="none" w="med" len="med"/>
                      <a:tailEnd type="none" w="med" len="med"/>
                    </a:lnL>
                    <a:lnR w="12700" cap="flat" cmpd="sng" algn="ctr">
                      <a:solidFill>
                        <a:srgbClr val="C3C0BB"/>
                      </a:solidFill>
                      <a:prstDash val="solid"/>
                      <a:round/>
                      <a:headEnd type="none" w="med" len="med"/>
                      <a:tailEnd type="none" w="med" len="med"/>
                    </a:lnR>
                    <a:lnT w="12700" cap="flat" cmpd="sng" algn="ctr">
                      <a:solidFill>
                        <a:srgbClr val="B5B2AD"/>
                      </a:solidFill>
                      <a:prstDash val="solid"/>
                      <a:round/>
                      <a:headEnd type="none" w="med" len="med"/>
                      <a:tailEnd type="none" w="med" len="med"/>
                    </a:lnT>
                    <a:lnB w="12700" cap="flat" cmpd="sng" algn="ctr">
                      <a:solidFill>
                        <a:srgbClr val="C3C0BB"/>
                      </a:solidFill>
                      <a:prstDash val="solid"/>
                      <a:round/>
                      <a:headEnd type="none" w="med" len="med"/>
                      <a:tailEnd type="none" w="med" len="med"/>
                    </a:lnB>
                  </a:tcPr>
                </a:tc>
              </a:tr>
              <a:tr h="600313">
                <a:tc>
                  <a:txBody>
                    <a:bodyPr/>
                    <a:lstStyle/>
                    <a:p>
                      <a:pPr indent="0" marL="0">
                        <a:lnSpc>
                          <a:spcPts val="1722"/>
                        </a:lnSpc>
                        <a:buNone/>
                      </a:pPr>
                      <a:r>
                        <a:rPr lang="en-US" sz="1230" dirty="0">
                          <a:solidFill>
                            <a:srgbClr val="16222C"/>
                          </a:solidFill>
                          <a:latin typeface="IBM Plex Sans" pitchFamily="34" charset="0"/>
                          <a:ea typeface="IBM Plex Sans" pitchFamily="34" charset="-122"/>
                          <a:cs typeface="IBM Plex Sans" pitchFamily="34" charset="-120"/>
                        </a:rPr>
                        <a:t>David</a:t>
                      </a:r>
                      <a:endParaRPr lang="en-US" sz="1230" dirty="0">
                        <a:latin typeface="IBM Plex Sans" charset="0"/>
                        <a:ea typeface="IBM Plex Sans" charset="0"/>
                        <a:cs typeface="IBM Plex Sans" charset="0"/>
                      </a:endParaRPr>
                    </a:p>
                  </a:txBody>
                  <a:tcPr marL="101600" marR="101600" marT="76200" marB="76200" anchor="t">
                    <a:lnL w="12700" cap="flat" cmpd="sng" algn="ctr">
                      <a:solidFill>
                        <a:srgbClr val="C3C0BB"/>
                      </a:solidFill>
                      <a:prstDash val="solid"/>
                      <a:round/>
                      <a:headEnd type="none" w="med" len="med"/>
                      <a:tailEnd type="none" w="med" len="med"/>
                    </a:lnL>
                    <a:lnR w="12700" cap="flat" cmpd="sng" algn="ctr">
                      <a:solidFill>
                        <a:srgbClr val="C3C0BB"/>
                      </a:solidFill>
                      <a:prstDash val="solid"/>
                      <a:round/>
                      <a:headEnd type="none" w="med" len="med"/>
                      <a:tailEnd type="none" w="med" len="med"/>
                    </a:lnR>
                    <a:lnT w="12700" cap="flat" cmpd="sng" algn="ctr">
                      <a:solidFill>
                        <a:srgbClr val="C3C0BB"/>
                      </a:solidFill>
                      <a:prstDash val="solid"/>
                      <a:round/>
                      <a:headEnd type="none" w="med" len="med"/>
                      <a:tailEnd type="none" w="med" len="med"/>
                    </a:lnT>
                    <a:lnB w="12700" cap="flat" cmpd="sng" algn="ctr">
                      <a:solidFill>
                        <a:srgbClr val="C3C0BB"/>
                      </a:solidFill>
                      <a:prstDash val="solid"/>
                      <a:round/>
                      <a:headEnd type="none" w="med" len="med"/>
                      <a:tailEnd type="none" w="med" len="med"/>
                    </a:lnB>
                  </a:tcPr>
                </a:tc>
                <a:tc>
                  <a:txBody>
                    <a:bodyPr/>
                    <a:lstStyle/>
                    <a:p>
                      <a:pPr indent="0" marL="0">
                        <a:lnSpc>
                          <a:spcPts val="1722"/>
                        </a:lnSpc>
                        <a:buNone/>
                      </a:pPr>
                      <a:r>
                        <a:rPr lang="en-US" sz="1230" dirty="0">
                          <a:solidFill>
                            <a:srgbClr val="16222C"/>
                          </a:solidFill>
                          <a:latin typeface="IBM Plex Sans" pitchFamily="34" charset="0"/>
                          <a:ea typeface="IBM Plex Sans" pitchFamily="34" charset="-122"/>
                          <a:cs typeface="IBM Plex Sans" pitchFamily="34" charset="-120"/>
                        </a:rPr>
                        <a:t>Seed 37: 71 / 84 / 70 trips finished</a:t>
                      </a:r>
                      <a:endParaRPr lang="en-US" sz="1230" dirty="0">
                        <a:latin typeface="IBM Plex Sans" charset="0"/>
                        <a:ea typeface="IBM Plex Sans" charset="0"/>
                        <a:cs typeface="IBM Plex Sans" charset="0"/>
                      </a:endParaRPr>
                    </a:p>
                  </a:txBody>
                  <a:tcPr marL="101600" marR="101600" marT="76200" marB="76200" anchor="t">
                    <a:lnL w="12700" cap="flat" cmpd="sng" algn="ctr">
                      <a:solidFill>
                        <a:srgbClr val="C3C0BB"/>
                      </a:solidFill>
                      <a:prstDash val="solid"/>
                      <a:round/>
                      <a:headEnd type="none" w="med" len="med"/>
                      <a:tailEnd type="none" w="med" len="med"/>
                    </a:lnL>
                    <a:lnR w="12700" cap="flat" cmpd="sng" algn="ctr">
                      <a:solidFill>
                        <a:srgbClr val="C3C0BB"/>
                      </a:solidFill>
                      <a:prstDash val="solid"/>
                      <a:round/>
                      <a:headEnd type="none" w="med" len="med"/>
                      <a:tailEnd type="none" w="med" len="med"/>
                    </a:lnR>
                    <a:lnT w="12700" cap="flat" cmpd="sng" algn="ctr">
                      <a:solidFill>
                        <a:srgbClr val="C3C0BB"/>
                      </a:solidFill>
                      <a:prstDash val="solid"/>
                      <a:round/>
                      <a:headEnd type="none" w="med" len="med"/>
                      <a:tailEnd type="none" w="med" len="med"/>
                    </a:lnT>
                    <a:lnB w="12700" cap="flat" cmpd="sng" algn="ctr">
                      <a:solidFill>
                        <a:srgbClr val="C3C0BB"/>
                      </a:solidFill>
                      <a:prstDash val="solid"/>
                      <a:round/>
                      <a:headEnd type="none" w="med" len="med"/>
                      <a:tailEnd type="none" w="med" len="med"/>
                    </a:lnB>
                  </a:tcPr>
                </a:tc>
                <a:tc>
                  <a:txBody>
                    <a:bodyPr/>
                    <a:lstStyle/>
                    <a:p>
                      <a:pPr indent="0" marL="0">
                        <a:lnSpc>
                          <a:spcPts val="1722"/>
                        </a:lnSpc>
                        <a:buNone/>
                      </a:pPr>
                      <a:r>
                        <a:rPr lang="en-US" sz="1230" dirty="0">
                          <a:solidFill>
                            <a:srgbClr val="16222C"/>
                          </a:solidFill>
                          <a:latin typeface="IBM Plex Sans" pitchFamily="34" charset="0"/>
                          <a:ea typeface="IBM Plex Sans" pitchFamily="34" charset="-122"/>
                          <a:cs typeface="IBM Plex Sans" pitchFamily="34" charset="-120"/>
                        </a:rPr>
                        <a:t>Mean hides the unfinished trip</a:t>
                      </a:r>
                      <a:endParaRPr lang="en-US" sz="1230" dirty="0">
                        <a:latin typeface="IBM Plex Sans" charset="0"/>
                        <a:ea typeface="IBM Plex Sans" charset="0"/>
                        <a:cs typeface="IBM Plex Sans" charset="0"/>
                      </a:endParaRPr>
                    </a:p>
                  </a:txBody>
                  <a:tcPr marL="101600" marR="101600" marT="76200" marB="76200" anchor="t">
                    <a:lnL w="12700" cap="flat" cmpd="sng" algn="ctr">
                      <a:solidFill>
                        <a:srgbClr val="C3C0BB"/>
                      </a:solidFill>
                      <a:prstDash val="solid"/>
                      <a:round/>
                      <a:headEnd type="none" w="med" len="med"/>
                      <a:tailEnd type="none" w="med" len="med"/>
                    </a:lnL>
                    <a:lnR w="12700" cap="flat" cmpd="sng" algn="ctr">
                      <a:solidFill>
                        <a:srgbClr val="C3C0BB"/>
                      </a:solidFill>
                      <a:prstDash val="solid"/>
                      <a:round/>
                      <a:headEnd type="none" w="med" len="med"/>
                      <a:tailEnd type="none" w="med" len="med"/>
                    </a:lnR>
                    <a:lnT w="12700" cap="flat" cmpd="sng" algn="ctr">
                      <a:solidFill>
                        <a:srgbClr val="C3C0BB"/>
                      </a:solidFill>
                      <a:prstDash val="solid"/>
                      <a:round/>
                      <a:headEnd type="none" w="med" len="med"/>
                      <a:tailEnd type="none" w="med" len="med"/>
                    </a:lnT>
                    <a:lnB w="12700" cap="flat" cmpd="sng" algn="ctr">
                      <a:solidFill>
                        <a:srgbClr val="C3C0BB"/>
                      </a:solidFill>
                      <a:prstDash val="solid"/>
                      <a:round/>
                      <a:headEnd type="none" w="med" len="med"/>
                      <a:tailEnd type="none" w="med" len="med"/>
                    </a:lnB>
                  </a:tcPr>
                </a:tc>
                <a:tc>
                  <a:txBody>
                    <a:bodyPr/>
                    <a:lstStyle/>
                    <a:p>
                      <a:pPr indent="0" marL="0">
                        <a:lnSpc>
                          <a:spcPts val="1722"/>
                        </a:lnSpc>
                        <a:buNone/>
                      </a:pPr>
                      <a:r>
                        <a:rPr lang="en-US" sz="1230" dirty="0">
                          <a:solidFill>
                            <a:srgbClr val="16222C"/>
                          </a:solidFill>
                          <a:latin typeface="IBM Plex Sans" pitchFamily="34" charset="0"/>
                          <a:ea typeface="IBM Plex Sans" pitchFamily="34" charset="-122"/>
                          <a:cs typeface="IBM Plex Sans" pitchFamily="34" charset="-120"/>
                        </a:rPr>
                        <a:t>Keep unfinished trips</a:t>
                      </a:r>
                      <a:endParaRPr lang="en-US" sz="1230" dirty="0">
                        <a:latin typeface="IBM Plex Sans" charset="0"/>
                        <a:ea typeface="IBM Plex Sans" charset="0"/>
                        <a:cs typeface="IBM Plex Sans" charset="0"/>
                      </a:endParaRPr>
                    </a:p>
                  </a:txBody>
                  <a:tcPr marL="101600" marR="101600" marT="76200" marB="76200" anchor="t">
                    <a:lnL w="12700" cap="flat" cmpd="sng" algn="ctr">
                      <a:solidFill>
                        <a:srgbClr val="C3C0BB"/>
                      </a:solidFill>
                      <a:prstDash val="solid"/>
                      <a:round/>
                      <a:headEnd type="none" w="med" len="med"/>
                      <a:tailEnd type="none" w="med" len="med"/>
                    </a:lnL>
                    <a:lnR w="12700" cap="flat" cmpd="sng" algn="ctr">
                      <a:solidFill>
                        <a:srgbClr val="C3C0BB"/>
                      </a:solidFill>
                      <a:prstDash val="solid"/>
                      <a:round/>
                      <a:headEnd type="none" w="med" len="med"/>
                      <a:tailEnd type="none" w="med" len="med"/>
                    </a:lnR>
                    <a:lnT w="12700" cap="flat" cmpd="sng" algn="ctr">
                      <a:solidFill>
                        <a:srgbClr val="C3C0BB"/>
                      </a:solidFill>
                      <a:prstDash val="solid"/>
                      <a:round/>
                      <a:headEnd type="none" w="med" len="med"/>
                      <a:tailEnd type="none" w="med" len="med"/>
                    </a:lnT>
                    <a:lnB w="12700" cap="flat" cmpd="sng" algn="ctr">
                      <a:solidFill>
                        <a:srgbClr val="C3C0BB"/>
                      </a:solidFill>
                      <a:prstDash val="solid"/>
                      <a:round/>
                      <a:headEnd type="none" w="med" len="med"/>
                      <a:tailEnd type="none" w="med" len="med"/>
                    </a:lnB>
                  </a:tcPr>
                </a:tc>
                <a:tc>
                  <a:txBody>
                    <a:bodyPr/>
                    <a:lstStyle/>
                    <a:p>
                      <a:pPr indent="0" marL="0">
                        <a:lnSpc>
                          <a:spcPts val="1722"/>
                        </a:lnSpc>
                        <a:buNone/>
                      </a:pPr>
                      <a:r>
                        <a:rPr lang="en-US" sz="1230" dirty="0">
                          <a:solidFill>
                            <a:srgbClr val="16222C"/>
                          </a:solidFill>
                          <a:latin typeface="IBM Plex Sans" pitchFamily="34" charset="0"/>
                          <a:ea typeface="IBM Plex Sans" pitchFamily="34" charset="-122"/>
                          <a:cs typeface="IBM Plex Sans" pitchFamily="34" charset="-120"/>
                        </a:rPr>
                        <a:t>Unfinished trips beside the mean</a:t>
                      </a:r>
                      <a:endParaRPr lang="en-US" sz="1230" dirty="0">
                        <a:latin typeface="IBM Plex Sans" charset="0"/>
                        <a:ea typeface="IBM Plex Sans" charset="0"/>
                        <a:cs typeface="IBM Plex Sans" charset="0"/>
                      </a:endParaRPr>
                    </a:p>
                  </a:txBody>
                  <a:tcPr marL="101600" marR="101600" marT="76200" marB="76200" anchor="t">
                    <a:lnL w="12700" cap="flat" cmpd="sng" algn="ctr">
                      <a:solidFill>
                        <a:srgbClr val="C3C0BB"/>
                      </a:solidFill>
                      <a:prstDash val="solid"/>
                      <a:round/>
                      <a:headEnd type="none" w="med" len="med"/>
                      <a:tailEnd type="none" w="med" len="med"/>
                    </a:lnL>
                    <a:lnR w="12700" cap="flat" cmpd="sng" algn="ctr">
                      <a:solidFill>
                        <a:srgbClr val="C3C0BB"/>
                      </a:solidFill>
                      <a:prstDash val="solid"/>
                      <a:round/>
                      <a:headEnd type="none" w="med" len="med"/>
                      <a:tailEnd type="none" w="med" len="med"/>
                    </a:lnR>
                    <a:lnT w="12700" cap="flat" cmpd="sng" algn="ctr">
                      <a:solidFill>
                        <a:srgbClr val="C3C0BB"/>
                      </a:solidFill>
                      <a:prstDash val="solid"/>
                      <a:round/>
                      <a:headEnd type="none" w="med" len="med"/>
                      <a:tailEnd type="none" w="med" len="med"/>
                    </a:lnT>
                    <a:lnB w="12700" cap="flat" cmpd="sng" algn="ctr">
                      <a:solidFill>
                        <a:srgbClr val="C3C0BB"/>
                      </a:solidFill>
                      <a:prstDash val="solid"/>
                      <a:round/>
                      <a:headEnd type="none" w="med" len="med"/>
                      <a:tailEnd type="none" w="med" len="med"/>
                    </a:lnB>
                  </a:tcPr>
                </a:tc>
              </a:tr>
              <a:tr h="600313">
                <a:tc>
                  <a:txBody>
                    <a:bodyPr/>
                    <a:lstStyle/>
                    <a:p>
                      <a:pPr indent="0" marL="0">
                        <a:lnSpc>
                          <a:spcPts val="1722"/>
                        </a:lnSpc>
                        <a:buNone/>
                      </a:pPr>
                      <a:r>
                        <a:rPr lang="en-US" sz="1230" dirty="0">
                          <a:solidFill>
                            <a:srgbClr val="16222C"/>
                          </a:solidFill>
                          <a:latin typeface="IBM Plex Sans" pitchFamily="34" charset="0"/>
                          <a:ea typeface="IBM Plex Sans" pitchFamily="34" charset="-122"/>
                          <a:cs typeface="IBM Plex Sans" pitchFamily="34" charset="-120"/>
                        </a:rPr>
                        <a:t>Chidi</a:t>
                      </a:r>
                      <a:endParaRPr lang="en-US" sz="1230" dirty="0">
                        <a:latin typeface="IBM Plex Sans" charset="0"/>
                        <a:ea typeface="IBM Plex Sans" charset="0"/>
                        <a:cs typeface="IBM Plex Sans" charset="0"/>
                      </a:endParaRPr>
                    </a:p>
                  </a:txBody>
                  <a:tcPr marL="101600" marR="101600" marT="76200" marB="76200" anchor="t">
                    <a:lnL w="12700" cap="flat" cmpd="sng" algn="ctr">
                      <a:solidFill>
                        <a:srgbClr val="C3C0BB"/>
                      </a:solidFill>
                      <a:prstDash val="solid"/>
                      <a:round/>
                      <a:headEnd type="none" w="med" len="med"/>
                      <a:tailEnd type="none" w="med" len="med"/>
                    </a:lnL>
                    <a:lnR w="12700" cap="flat" cmpd="sng" algn="ctr">
                      <a:solidFill>
                        <a:srgbClr val="C3C0BB"/>
                      </a:solidFill>
                      <a:prstDash val="solid"/>
                      <a:round/>
                      <a:headEnd type="none" w="med" len="med"/>
                      <a:tailEnd type="none" w="med" len="med"/>
                    </a:lnR>
                    <a:lnT w="12700" cap="flat" cmpd="sng" algn="ctr">
                      <a:solidFill>
                        <a:srgbClr val="C3C0BB"/>
                      </a:solidFill>
                      <a:prstDash val="solid"/>
                      <a:round/>
                      <a:headEnd type="none" w="med" len="med"/>
                      <a:tailEnd type="none" w="med" len="med"/>
                    </a:lnT>
                    <a:lnB w="12700" cap="flat" cmpd="sng" algn="ctr">
                      <a:solidFill>
                        <a:srgbClr val="C3C0BB"/>
                      </a:solidFill>
                      <a:prstDash val="solid"/>
                      <a:round/>
                      <a:headEnd type="none" w="med" len="med"/>
                      <a:tailEnd type="none" w="med" len="med"/>
                    </a:lnB>
                  </a:tcPr>
                </a:tc>
                <a:tc>
                  <a:txBody>
                    <a:bodyPr/>
                    <a:lstStyle/>
                    <a:p>
                      <a:pPr indent="0" marL="0">
                        <a:lnSpc>
                          <a:spcPts val="1722"/>
                        </a:lnSpc>
                        <a:buNone/>
                      </a:pPr>
                      <a:r>
                        <a:rPr lang="en-US" sz="1230" dirty="0">
                          <a:solidFill>
                            <a:srgbClr val="16222C"/>
                          </a:solidFill>
                          <a:latin typeface="IBM Plex Sans" pitchFamily="34" charset="0"/>
                          <a:ea typeface="IBM Plex Sans" pitchFamily="34" charset="-122"/>
                          <a:cs typeface="IBM Plex Sans" pitchFamily="34" charset="-120"/>
                        </a:rPr>
                        <a:t>TRANSTU 2018; waiting valued above riding</a:t>
                      </a:r>
                      <a:endParaRPr lang="en-US" sz="1230" dirty="0">
                        <a:latin typeface="IBM Plex Sans" charset="0"/>
                        <a:ea typeface="IBM Plex Sans" charset="0"/>
                        <a:cs typeface="IBM Plex Sans" charset="0"/>
                      </a:endParaRPr>
                    </a:p>
                  </a:txBody>
                  <a:tcPr marL="101600" marR="101600" marT="76200" marB="76200" anchor="t">
                    <a:lnL w="12700" cap="flat" cmpd="sng" algn="ctr">
                      <a:solidFill>
                        <a:srgbClr val="C3C0BB"/>
                      </a:solidFill>
                      <a:prstDash val="solid"/>
                      <a:round/>
                      <a:headEnd type="none" w="med" len="med"/>
                      <a:tailEnd type="none" w="med" len="med"/>
                    </a:lnL>
                    <a:lnR w="12700" cap="flat" cmpd="sng" algn="ctr">
                      <a:solidFill>
                        <a:srgbClr val="C3C0BB"/>
                      </a:solidFill>
                      <a:prstDash val="solid"/>
                      <a:round/>
                      <a:headEnd type="none" w="med" len="med"/>
                      <a:tailEnd type="none" w="med" len="med"/>
                    </a:lnR>
                    <a:lnT w="12700" cap="flat" cmpd="sng" algn="ctr">
                      <a:solidFill>
                        <a:srgbClr val="C3C0BB"/>
                      </a:solidFill>
                      <a:prstDash val="solid"/>
                      <a:round/>
                      <a:headEnd type="none" w="med" len="med"/>
                      <a:tailEnd type="none" w="med" len="med"/>
                    </a:lnT>
                    <a:lnB w="12700" cap="flat" cmpd="sng" algn="ctr">
                      <a:solidFill>
                        <a:srgbClr val="C3C0BB"/>
                      </a:solidFill>
                      <a:prstDash val="solid"/>
                      <a:round/>
                      <a:headEnd type="none" w="med" len="med"/>
                      <a:tailEnd type="none" w="med" len="med"/>
                    </a:lnB>
                  </a:tcPr>
                </a:tc>
                <a:tc>
                  <a:txBody>
                    <a:bodyPr/>
                    <a:lstStyle/>
                    <a:p>
                      <a:pPr indent="0" marL="0">
                        <a:lnSpc>
                          <a:spcPts val="1722"/>
                        </a:lnSpc>
                        <a:buNone/>
                      </a:pPr>
                      <a:r>
                        <a:rPr lang="en-US" sz="1230" dirty="0">
                          <a:solidFill>
                            <a:srgbClr val="16222C"/>
                          </a:solidFill>
                          <a:latin typeface="IBM Plex Sans" pitchFamily="34" charset="0"/>
                          <a:ea typeface="IBM Plex Sans" pitchFamily="34" charset="-122"/>
                          <a:cs typeface="IBM Plex Sans" pitchFamily="34" charset="-120"/>
                        </a:rPr>
                        <a:t>Three buses after a long gap</a:t>
                      </a:r>
                      <a:endParaRPr lang="en-US" sz="1230" dirty="0">
                        <a:latin typeface="IBM Plex Sans" charset="0"/>
                        <a:ea typeface="IBM Plex Sans" charset="0"/>
                        <a:cs typeface="IBM Plex Sans" charset="0"/>
                      </a:endParaRPr>
                    </a:p>
                  </a:txBody>
                  <a:tcPr marL="101600" marR="101600" marT="76200" marB="76200" anchor="t">
                    <a:lnL w="12700" cap="flat" cmpd="sng" algn="ctr">
                      <a:solidFill>
                        <a:srgbClr val="C3C0BB"/>
                      </a:solidFill>
                      <a:prstDash val="solid"/>
                      <a:round/>
                      <a:headEnd type="none" w="med" len="med"/>
                      <a:tailEnd type="none" w="med" len="med"/>
                    </a:lnL>
                    <a:lnR w="12700" cap="flat" cmpd="sng" algn="ctr">
                      <a:solidFill>
                        <a:srgbClr val="C3C0BB"/>
                      </a:solidFill>
                      <a:prstDash val="solid"/>
                      <a:round/>
                      <a:headEnd type="none" w="med" len="med"/>
                      <a:tailEnd type="none" w="med" len="med"/>
                    </a:lnR>
                    <a:lnT w="12700" cap="flat" cmpd="sng" algn="ctr">
                      <a:solidFill>
                        <a:srgbClr val="C3C0BB"/>
                      </a:solidFill>
                      <a:prstDash val="solid"/>
                      <a:round/>
                      <a:headEnd type="none" w="med" len="med"/>
                      <a:tailEnd type="none" w="med" len="med"/>
                    </a:lnT>
                    <a:lnB w="12700" cap="flat" cmpd="sng" algn="ctr">
                      <a:solidFill>
                        <a:srgbClr val="C3C0BB"/>
                      </a:solidFill>
                      <a:prstDash val="solid"/>
                      <a:round/>
                      <a:headEnd type="none" w="med" len="med"/>
                      <a:tailEnd type="none" w="med" len="med"/>
                    </a:lnB>
                  </a:tcPr>
                </a:tc>
                <a:tc>
                  <a:txBody>
                    <a:bodyPr/>
                    <a:lstStyle/>
                    <a:p>
                      <a:pPr indent="0" marL="0">
                        <a:lnSpc>
                          <a:spcPts val="1722"/>
                        </a:lnSpc>
                        <a:buNone/>
                      </a:pPr>
                      <a:r>
                        <a:rPr lang="en-US" sz="1230" dirty="0">
                          <a:solidFill>
                            <a:srgbClr val="16222C"/>
                          </a:solidFill>
                          <a:latin typeface="IBM Plex Sans" pitchFamily="34" charset="0"/>
                          <a:ea typeface="IBM Plex Sans" pitchFamily="34" charset="-122"/>
                          <a:cs typeface="IBM Plex Sans" pitchFamily="34" charset="-120"/>
                        </a:rPr>
                        <a:t>Priority only after a real gap</a:t>
                      </a:r>
                      <a:endParaRPr lang="en-US" sz="1230" dirty="0">
                        <a:latin typeface="IBM Plex Sans" charset="0"/>
                        <a:ea typeface="IBM Plex Sans" charset="0"/>
                        <a:cs typeface="IBM Plex Sans" charset="0"/>
                      </a:endParaRPr>
                    </a:p>
                  </a:txBody>
                  <a:tcPr marL="101600" marR="101600" marT="76200" marB="76200" anchor="t">
                    <a:lnL w="12700" cap="flat" cmpd="sng" algn="ctr">
                      <a:solidFill>
                        <a:srgbClr val="C3C0BB"/>
                      </a:solidFill>
                      <a:prstDash val="solid"/>
                      <a:round/>
                      <a:headEnd type="none" w="med" len="med"/>
                      <a:tailEnd type="none" w="med" len="med"/>
                    </a:lnL>
                    <a:lnR w="12700" cap="flat" cmpd="sng" algn="ctr">
                      <a:solidFill>
                        <a:srgbClr val="C3C0BB"/>
                      </a:solidFill>
                      <a:prstDash val="solid"/>
                      <a:round/>
                      <a:headEnd type="none" w="med" len="med"/>
                      <a:tailEnd type="none" w="med" len="med"/>
                    </a:lnR>
                    <a:lnT w="12700" cap="flat" cmpd="sng" algn="ctr">
                      <a:solidFill>
                        <a:srgbClr val="C3C0BB"/>
                      </a:solidFill>
                      <a:prstDash val="solid"/>
                      <a:round/>
                      <a:headEnd type="none" w="med" len="med"/>
                      <a:tailEnd type="none" w="med" len="med"/>
                    </a:lnT>
                    <a:lnB w="12700" cap="flat" cmpd="sng" algn="ctr">
                      <a:solidFill>
                        <a:srgbClr val="C3C0BB"/>
                      </a:solidFill>
                      <a:prstDash val="solid"/>
                      <a:round/>
                      <a:headEnd type="none" w="med" len="med"/>
                      <a:tailEnd type="none" w="med" len="med"/>
                    </a:lnB>
                  </a:tcPr>
                </a:tc>
                <a:tc>
                  <a:txBody>
                    <a:bodyPr/>
                    <a:lstStyle/>
                    <a:p>
                      <a:pPr indent="0" marL="0">
                        <a:lnSpc>
                          <a:spcPts val="1722"/>
                        </a:lnSpc>
                        <a:buNone/>
                      </a:pPr>
                      <a:r>
                        <a:rPr lang="en-US" sz="1230" dirty="0">
                          <a:solidFill>
                            <a:srgbClr val="16222C"/>
                          </a:solidFill>
                          <a:latin typeface="IBM Plex Sans" pitchFamily="34" charset="0"/>
                          <a:ea typeface="IBM Plex Sans" pitchFamily="34" charset="-122"/>
                          <a:cs typeface="IBM Plex Sans" pitchFamily="34" charset="-120"/>
                        </a:rPr>
                        <a:t>A3 asks for late bus or gap only</a:t>
                      </a:r>
                      <a:endParaRPr lang="en-US" sz="1230" dirty="0">
                        <a:latin typeface="IBM Plex Sans" charset="0"/>
                        <a:ea typeface="IBM Plex Sans" charset="0"/>
                        <a:cs typeface="IBM Plex Sans" charset="0"/>
                      </a:endParaRPr>
                    </a:p>
                  </a:txBody>
                  <a:tcPr marL="101600" marR="101600" marT="76200" marB="76200" anchor="t">
                    <a:lnL w="12700" cap="flat" cmpd="sng" algn="ctr">
                      <a:solidFill>
                        <a:srgbClr val="C3C0BB"/>
                      </a:solidFill>
                      <a:prstDash val="solid"/>
                      <a:round/>
                      <a:headEnd type="none" w="med" len="med"/>
                      <a:tailEnd type="none" w="med" len="med"/>
                    </a:lnL>
                    <a:lnR w="12700" cap="flat" cmpd="sng" algn="ctr">
                      <a:solidFill>
                        <a:srgbClr val="C3C0BB"/>
                      </a:solidFill>
                      <a:prstDash val="solid"/>
                      <a:round/>
                      <a:headEnd type="none" w="med" len="med"/>
                      <a:tailEnd type="none" w="med" len="med"/>
                    </a:lnR>
                    <a:lnT w="12700" cap="flat" cmpd="sng" algn="ctr">
                      <a:solidFill>
                        <a:srgbClr val="C3C0BB"/>
                      </a:solidFill>
                      <a:prstDash val="solid"/>
                      <a:round/>
                      <a:headEnd type="none" w="med" len="med"/>
                      <a:tailEnd type="none" w="med" len="med"/>
                    </a:lnT>
                    <a:lnB w="12700" cap="flat" cmpd="sng" algn="ctr">
                      <a:solidFill>
                        <a:srgbClr val="C3C0BB"/>
                      </a:solidFill>
                      <a:prstDash val="solid"/>
                      <a:round/>
                      <a:headEnd type="none" w="med" len="med"/>
                      <a:tailEnd type="none" w="med" len="med"/>
                    </a:lnB>
                  </a:tcPr>
                </a:tc>
              </a:tr>
              <a:tr h="600313">
                <a:tc>
                  <a:txBody>
                    <a:bodyPr/>
                    <a:lstStyle/>
                    <a:p>
                      <a:pPr indent="0" marL="0">
                        <a:lnSpc>
                          <a:spcPts val="1722"/>
                        </a:lnSpc>
                        <a:buNone/>
                      </a:pPr>
                      <a:r>
                        <a:rPr lang="en-US" sz="1230" dirty="0">
                          <a:solidFill>
                            <a:srgbClr val="16222C"/>
                          </a:solidFill>
                          <a:latin typeface="IBM Plex Sans" pitchFamily="34" charset="0"/>
                          <a:ea typeface="IBM Plex Sans" pitchFamily="34" charset="-122"/>
                          <a:cs typeface="IBM Plex Sans" pitchFamily="34" charset="-120"/>
                        </a:rPr>
                        <a:t>Rosa</a:t>
                      </a:r>
                      <a:endParaRPr lang="en-US" sz="1230" dirty="0">
                        <a:latin typeface="IBM Plex Sans" charset="0"/>
                        <a:ea typeface="IBM Plex Sans" charset="0"/>
                        <a:cs typeface="IBM Plex Sans" charset="0"/>
                      </a:endParaRPr>
                    </a:p>
                  </a:txBody>
                  <a:tcPr marL="101600" marR="101600" marT="76200" marB="76200" anchor="t">
                    <a:lnL w="12700" cap="flat" cmpd="sng" algn="ctr">
                      <a:solidFill>
                        <a:srgbClr val="C3C0BB"/>
                      </a:solidFill>
                      <a:prstDash val="solid"/>
                      <a:round/>
                      <a:headEnd type="none" w="med" len="med"/>
                      <a:tailEnd type="none" w="med" len="med"/>
                    </a:lnL>
                    <a:lnR w="12700" cap="flat" cmpd="sng" algn="ctr">
                      <a:solidFill>
                        <a:srgbClr val="C3C0BB"/>
                      </a:solidFill>
                      <a:prstDash val="solid"/>
                      <a:round/>
                      <a:headEnd type="none" w="med" len="med"/>
                      <a:tailEnd type="none" w="med" len="med"/>
                    </a:lnR>
                    <a:lnT w="12700" cap="flat" cmpd="sng" algn="ctr">
                      <a:solidFill>
                        <a:srgbClr val="C3C0BB"/>
                      </a:solidFill>
                      <a:prstDash val="solid"/>
                      <a:round/>
                      <a:headEnd type="none" w="med" len="med"/>
                      <a:tailEnd type="none" w="med" len="med"/>
                    </a:lnT>
                    <a:lnB w="12700" cap="flat" cmpd="sng" algn="ctr">
                      <a:solidFill>
                        <a:srgbClr val="C3C0BB"/>
                      </a:solidFill>
                      <a:prstDash val="solid"/>
                      <a:round/>
                      <a:headEnd type="none" w="med" len="med"/>
                      <a:tailEnd type="none" w="med" len="med"/>
                    </a:lnB>
                  </a:tcPr>
                </a:tc>
                <a:tc>
                  <a:txBody>
                    <a:bodyPr/>
                    <a:lstStyle/>
                    <a:p>
                      <a:pPr indent="0" marL="0">
                        <a:lnSpc>
                          <a:spcPts val="1722"/>
                        </a:lnSpc>
                        <a:buNone/>
                      </a:pPr>
                      <a:r>
                        <a:rPr lang="en-US" sz="1230" dirty="0">
                          <a:solidFill>
                            <a:srgbClr val="16222C"/>
                          </a:solidFill>
                          <a:latin typeface="IBM Plex Sans" pitchFamily="34" charset="0"/>
                          <a:ea typeface="IBM Plex Sans" pitchFamily="34" charset="-122"/>
                          <a:cs typeface="IBM Plex Sans" pitchFamily="34" charset="-120"/>
                        </a:rPr>
                        <a:t>ONSR record; SCATS audit-trail analogy</a:t>
                      </a:r>
                      <a:endParaRPr lang="en-US" sz="1230" dirty="0">
                        <a:latin typeface="IBM Plex Sans" charset="0"/>
                        <a:ea typeface="IBM Plex Sans" charset="0"/>
                        <a:cs typeface="IBM Plex Sans" charset="0"/>
                      </a:endParaRPr>
                    </a:p>
                  </a:txBody>
                  <a:tcPr marL="101600" marR="101600" marT="76200" marB="76200" anchor="t">
                    <a:lnL w="12700" cap="flat" cmpd="sng" algn="ctr">
                      <a:solidFill>
                        <a:srgbClr val="C3C0BB"/>
                      </a:solidFill>
                      <a:prstDash val="solid"/>
                      <a:round/>
                      <a:headEnd type="none" w="med" len="med"/>
                      <a:tailEnd type="none" w="med" len="med"/>
                    </a:lnL>
                    <a:lnR w="12700" cap="flat" cmpd="sng" algn="ctr">
                      <a:solidFill>
                        <a:srgbClr val="C3C0BB"/>
                      </a:solidFill>
                      <a:prstDash val="solid"/>
                      <a:round/>
                      <a:headEnd type="none" w="med" len="med"/>
                      <a:tailEnd type="none" w="med" len="med"/>
                    </a:lnR>
                    <a:lnT w="12700" cap="flat" cmpd="sng" algn="ctr">
                      <a:solidFill>
                        <a:srgbClr val="C3C0BB"/>
                      </a:solidFill>
                      <a:prstDash val="solid"/>
                      <a:round/>
                      <a:headEnd type="none" w="med" len="med"/>
                      <a:tailEnd type="none" w="med" len="med"/>
                    </a:lnT>
                    <a:lnB w="12700" cap="flat" cmpd="sng" algn="ctr">
                      <a:solidFill>
                        <a:srgbClr val="C3C0BB"/>
                      </a:solidFill>
                      <a:prstDash val="solid"/>
                      <a:round/>
                      <a:headEnd type="none" w="med" len="med"/>
                      <a:tailEnd type="none" w="med" len="med"/>
                    </a:lnB>
                  </a:tcPr>
                </a:tc>
                <a:tc>
                  <a:txBody>
                    <a:bodyPr/>
                    <a:lstStyle/>
                    <a:p>
                      <a:pPr indent="0" marL="0">
                        <a:lnSpc>
                          <a:spcPts val="1722"/>
                        </a:lnSpc>
                        <a:buNone/>
                      </a:pPr>
                      <a:r>
                        <a:rPr lang="en-US" sz="1230" dirty="0">
                          <a:solidFill>
                            <a:srgbClr val="16222C"/>
                          </a:solidFill>
                          <a:latin typeface="IBM Plex Sans" pitchFamily="34" charset="0"/>
                          <a:ea typeface="IBM Plex Sans" pitchFamily="34" charset="-122"/>
                          <a:cs typeface="IBM Plex Sans" pitchFamily="34" charset="-120"/>
                        </a:rPr>
                        <a:t>A refusal with no history</a:t>
                      </a:r>
                      <a:endParaRPr lang="en-US" sz="1230" dirty="0">
                        <a:latin typeface="IBM Plex Sans" charset="0"/>
                        <a:ea typeface="IBM Plex Sans" charset="0"/>
                        <a:cs typeface="IBM Plex Sans" charset="0"/>
                      </a:endParaRPr>
                    </a:p>
                  </a:txBody>
                  <a:tcPr marL="101600" marR="101600" marT="76200" marB="76200" anchor="t">
                    <a:lnL w="12700" cap="flat" cmpd="sng" algn="ctr">
                      <a:solidFill>
                        <a:srgbClr val="C3C0BB"/>
                      </a:solidFill>
                      <a:prstDash val="solid"/>
                      <a:round/>
                      <a:headEnd type="none" w="med" len="med"/>
                      <a:tailEnd type="none" w="med" len="med"/>
                    </a:lnL>
                    <a:lnR w="12700" cap="flat" cmpd="sng" algn="ctr">
                      <a:solidFill>
                        <a:srgbClr val="C3C0BB"/>
                      </a:solidFill>
                      <a:prstDash val="solid"/>
                      <a:round/>
                      <a:headEnd type="none" w="med" len="med"/>
                      <a:tailEnd type="none" w="med" len="med"/>
                    </a:lnR>
                    <a:lnT w="12700" cap="flat" cmpd="sng" algn="ctr">
                      <a:solidFill>
                        <a:srgbClr val="C3C0BB"/>
                      </a:solidFill>
                      <a:prstDash val="solid"/>
                      <a:round/>
                      <a:headEnd type="none" w="med" len="med"/>
                      <a:tailEnd type="none" w="med" len="med"/>
                    </a:lnT>
                    <a:lnB w="12700" cap="flat" cmpd="sng" algn="ctr">
                      <a:solidFill>
                        <a:srgbClr val="C3C0BB"/>
                      </a:solidFill>
                      <a:prstDash val="solid"/>
                      <a:round/>
                      <a:headEnd type="none" w="med" len="med"/>
                      <a:tailEnd type="none" w="med" len="med"/>
                    </a:lnB>
                  </a:tcPr>
                </a:tc>
                <a:tc>
                  <a:txBody>
                    <a:bodyPr/>
                    <a:lstStyle/>
                    <a:p>
                      <a:pPr indent="0" marL="0">
                        <a:lnSpc>
                          <a:spcPts val="1722"/>
                        </a:lnSpc>
                        <a:buNone/>
                      </a:pPr>
                      <a:r>
                        <a:rPr lang="en-US" sz="1230" dirty="0">
                          <a:solidFill>
                            <a:srgbClr val="16222C"/>
                          </a:solidFill>
                          <a:latin typeface="IBM Plex Sans" pitchFamily="34" charset="0"/>
                          <a:ea typeface="IBM Plex Sans" pitchFamily="34" charset="-122"/>
                          <a:cs typeface="IBM Plex Sans" pitchFamily="34" charset="-120"/>
                        </a:rPr>
                        <a:t>One cited explanation, or abstain</a:t>
                      </a:r>
                      <a:endParaRPr lang="en-US" sz="1230" dirty="0">
                        <a:latin typeface="IBM Plex Sans" charset="0"/>
                        <a:ea typeface="IBM Plex Sans" charset="0"/>
                        <a:cs typeface="IBM Plex Sans" charset="0"/>
                      </a:endParaRPr>
                    </a:p>
                  </a:txBody>
                  <a:tcPr marL="101600" marR="101600" marT="76200" marB="76200" anchor="t">
                    <a:lnL w="12700" cap="flat" cmpd="sng" algn="ctr">
                      <a:solidFill>
                        <a:srgbClr val="C3C0BB"/>
                      </a:solidFill>
                      <a:prstDash val="solid"/>
                      <a:round/>
                      <a:headEnd type="none" w="med" len="med"/>
                      <a:tailEnd type="none" w="med" len="med"/>
                    </a:lnL>
                    <a:lnR w="12700" cap="flat" cmpd="sng" algn="ctr">
                      <a:solidFill>
                        <a:srgbClr val="C3C0BB"/>
                      </a:solidFill>
                      <a:prstDash val="solid"/>
                      <a:round/>
                      <a:headEnd type="none" w="med" len="med"/>
                      <a:tailEnd type="none" w="med" len="med"/>
                    </a:lnR>
                    <a:lnT w="12700" cap="flat" cmpd="sng" algn="ctr">
                      <a:solidFill>
                        <a:srgbClr val="C3C0BB"/>
                      </a:solidFill>
                      <a:prstDash val="solid"/>
                      <a:round/>
                      <a:headEnd type="none" w="med" len="med"/>
                      <a:tailEnd type="none" w="med" len="med"/>
                    </a:lnT>
                    <a:lnB w="12700" cap="flat" cmpd="sng" algn="ctr">
                      <a:solidFill>
                        <a:srgbClr val="C3C0BB"/>
                      </a:solidFill>
                      <a:prstDash val="solid"/>
                      <a:round/>
                      <a:headEnd type="none" w="med" len="med"/>
                      <a:tailEnd type="none" w="med" len="med"/>
                    </a:lnB>
                  </a:tcPr>
                </a:tc>
                <a:tc>
                  <a:txBody>
                    <a:bodyPr/>
                    <a:lstStyle/>
                    <a:p>
                      <a:pPr indent="0" marL="0">
                        <a:lnSpc>
                          <a:spcPts val="1722"/>
                        </a:lnSpc>
                        <a:buNone/>
                      </a:pPr>
                      <a:r>
                        <a:rPr lang="en-US" sz="1230" dirty="0">
                          <a:solidFill>
                            <a:srgbClr val="16222C"/>
                          </a:solidFill>
                          <a:latin typeface="IBM Plex Sans" pitchFamily="34" charset="0"/>
                          <a:ea typeface="IBM Plex Sans" pitchFamily="34" charset="-122"/>
                          <a:cs typeface="IBM Plex Sans" pitchFamily="34" charset="-120"/>
                        </a:rPr>
                        <a:t>Reason code on every decision</a:t>
                      </a:r>
                      <a:endParaRPr lang="en-US" sz="1230" dirty="0">
                        <a:latin typeface="IBM Plex Sans" charset="0"/>
                        <a:ea typeface="IBM Plex Sans" charset="0"/>
                        <a:cs typeface="IBM Plex Sans" charset="0"/>
                      </a:endParaRPr>
                    </a:p>
                  </a:txBody>
                  <a:tcPr marL="101600" marR="101600" marT="76200" marB="76200" anchor="t">
                    <a:lnL w="12700" cap="flat" cmpd="sng" algn="ctr">
                      <a:solidFill>
                        <a:srgbClr val="C3C0BB"/>
                      </a:solidFill>
                      <a:prstDash val="solid"/>
                      <a:round/>
                      <a:headEnd type="none" w="med" len="med"/>
                      <a:tailEnd type="none" w="med" len="med"/>
                    </a:lnL>
                    <a:lnR w="12700" cap="flat" cmpd="sng" algn="ctr">
                      <a:solidFill>
                        <a:srgbClr val="C3C0BB"/>
                      </a:solidFill>
                      <a:prstDash val="solid"/>
                      <a:round/>
                      <a:headEnd type="none" w="med" len="med"/>
                      <a:tailEnd type="none" w="med" len="med"/>
                    </a:lnR>
                    <a:lnT w="12700" cap="flat" cmpd="sng" algn="ctr">
                      <a:solidFill>
                        <a:srgbClr val="C3C0BB"/>
                      </a:solidFill>
                      <a:prstDash val="solid"/>
                      <a:round/>
                      <a:headEnd type="none" w="med" len="med"/>
                      <a:tailEnd type="none" w="med" len="med"/>
                    </a:lnT>
                    <a:lnB w="12700" cap="flat" cmpd="sng" algn="ctr">
                      <a:solidFill>
                        <a:srgbClr val="C3C0BB"/>
                      </a:solidFill>
                      <a:prstDash val="solid"/>
                      <a:round/>
                      <a:headEnd type="none" w="med" len="med"/>
                      <a:tailEnd type="none" w="med" len="med"/>
                    </a:lnB>
                  </a:tcPr>
                </a:tc>
              </a:tr>
              <a:tr h="600313">
                <a:tc>
                  <a:txBody>
                    <a:bodyPr/>
                    <a:lstStyle/>
                    <a:p>
                      <a:pPr indent="0" marL="0">
                        <a:lnSpc>
                          <a:spcPts val="1722"/>
                        </a:lnSpc>
                        <a:buNone/>
                      </a:pPr>
                      <a:r>
                        <a:rPr lang="en-US" sz="1230" dirty="0">
                          <a:solidFill>
                            <a:srgbClr val="16222C"/>
                          </a:solidFill>
                          <a:latin typeface="IBM Plex Sans" pitchFamily="34" charset="0"/>
                          <a:ea typeface="IBM Plex Sans" pitchFamily="34" charset="-122"/>
                          <a:cs typeface="IBM Plex Sans" pitchFamily="34" charset="-120"/>
                        </a:rPr>
                        <a:t>Marcus</a:t>
                      </a:r>
                      <a:endParaRPr lang="en-US" sz="1230" dirty="0">
                        <a:latin typeface="IBM Plex Sans" charset="0"/>
                        <a:ea typeface="IBM Plex Sans" charset="0"/>
                        <a:cs typeface="IBM Plex Sans" charset="0"/>
                      </a:endParaRPr>
                    </a:p>
                  </a:txBody>
                  <a:tcPr marL="101600" marR="101600" marT="76200" marB="76200" anchor="t">
                    <a:lnL w="12700" cap="flat" cmpd="sng" algn="ctr">
                      <a:solidFill>
                        <a:srgbClr val="C3C0BB"/>
                      </a:solidFill>
                      <a:prstDash val="solid"/>
                      <a:round/>
                      <a:headEnd type="none" w="med" len="med"/>
                      <a:tailEnd type="none" w="med" len="med"/>
                    </a:lnL>
                    <a:lnR w="12700" cap="flat" cmpd="sng" algn="ctr">
                      <a:solidFill>
                        <a:srgbClr val="C3C0BB"/>
                      </a:solidFill>
                      <a:prstDash val="solid"/>
                      <a:round/>
                      <a:headEnd type="none" w="med" len="med"/>
                      <a:tailEnd type="none" w="med" len="med"/>
                    </a:lnR>
                    <a:lnT w="12700" cap="flat" cmpd="sng" algn="ctr">
                      <a:solidFill>
                        <a:srgbClr val="C3C0BB"/>
                      </a:solidFill>
                      <a:prstDash val="solid"/>
                      <a:round/>
                      <a:headEnd type="none" w="med" len="med"/>
                      <a:tailEnd type="none" w="med" len="med"/>
                    </a:lnT>
                    <a:lnB w="12700" cap="flat" cmpd="sng" algn="ctr">
                      <a:solidFill>
                        <a:srgbClr val="C3C0BB"/>
                      </a:solidFill>
                      <a:prstDash val="solid"/>
                      <a:round/>
                      <a:headEnd type="none" w="med" len="med"/>
                      <a:tailEnd type="none" w="med" len="med"/>
                    </a:lnB>
                  </a:tcPr>
                </a:tc>
                <a:tc>
                  <a:txBody>
                    <a:bodyPr/>
                    <a:lstStyle/>
                    <a:p>
                      <a:pPr indent="0" marL="0">
                        <a:lnSpc>
                          <a:spcPts val="1722"/>
                        </a:lnSpc>
                        <a:buNone/>
                      </a:pPr>
                      <a:r>
                        <a:rPr lang="en-US" sz="1230" dirty="0">
                          <a:solidFill>
                            <a:srgbClr val="16222C"/>
                          </a:solidFill>
                          <a:latin typeface="IBM Plex Sans" pitchFamily="34" charset="0"/>
                          <a:ea typeface="IBM Plex Sans" pitchFamily="34" charset="-122"/>
                          <a:cs typeface="IBM Plex Sans" pitchFamily="34" charset="-120"/>
                        </a:rPr>
                        <a:t>Preemption can add network delay</a:t>
                      </a:r>
                      <a:endParaRPr lang="en-US" sz="1230" dirty="0">
                        <a:latin typeface="IBM Plex Sans" charset="0"/>
                        <a:ea typeface="IBM Plex Sans" charset="0"/>
                        <a:cs typeface="IBM Plex Sans" charset="0"/>
                      </a:endParaRPr>
                    </a:p>
                  </a:txBody>
                  <a:tcPr marL="101600" marR="101600" marT="76200" marB="76200" anchor="t">
                    <a:lnL w="12700" cap="flat" cmpd="sng" algn="ctr">
                      <a:solidFill>
                        <a:srgbClr val="C3C0BB"/>
                      </a:solidFill>
                      <a:prstDash val="solid"/>
                      <a:round/>
                      <a:headEnd type="none" w="med" len="med"/>
                      <a:tailEnd type="none" w="med" len="med"/>
                    </a:lnL>
                    <a:lnR w="12700" cap="flat" cmpd="sng" algn="ctr">
                      <a:solidFill>
                        <a:srgbClr val="C3C0BB"/>
                      </a:solidFill>
                      <a:prstDash val="solid"/>
                      <a:round/>
                      <a:headEnd type="none" w="med" len="med"/>
                      <a:tailEnd type="none" w="med" len="med"/>
                    </a:lnR>
                    <a:lnT w="12700" cap="flat" cmpd="sng" algn="ctr">
                      <a:solidFill>
                        <a:srgbClr val="C3C0BB"/>
                      </a:solidFill>
                      <a:prstDash val="solid"/>
                      <a:round/>
                      <a:headEnd type="none" w="med" len="med"/>
                      <a:tailEnd type="none" w="med" len="med"/>
                    </a:lnT>
                    <a:lnB w="12700" cap="flat" cmpd="sng" algn="ctr">
                      <a:solidFill>
                        <a:srgbClr val="C3C0BB"/>
                      </a:solidFill>
                      <a:prstDash val="solid"/>
                      <a:round/>
                      <a:headEnd type="none" w="med" len="med"/>
                      <a:tailEnd type="none" w="med" len="med"/>
                    </a:lnB>
                  </a:tcPr>
                </a:tc>
                <a:tc>
                  <a:txBody>
                    <a:bodyPr/>
                    <a:lstStyle/>
                    <a:p>
                      <a:pPr indent="0" marL="0">
                        <a:lnSpc>
                          <a:spcPts val="1722"/>
                        </a:lnSpc>
                        <a:buNone/>
                      </a:pPr>
                      <a:r>
                        <a:rPr lang="en-US" sz="1230" dirty="0">
                          <a:solidFill>
                            <a:srgbClr val="16222C"/>
                          </a:solidFill>
                          <a:latin typeface="IBM Plex Sans" pitchFamily="34" charset="0"/>
                          <a:ea typeface="IBM Plex Sans" pitchFamily="34" charset="-122"/>
                          <a:cs typeface="IBM Plex Sans" pitchFamily="34" charset="-120"/>
                        </a:rPr>
                        <a:t>Green into a full exit</a:t>
                      </a:r>
                      <a:endParaRPr lang="en-US" sz="1230" dirty="0">
                        <a:latin typeface="IBM Plex Sans" charset="0"/>
                        <a:ea typeface="IBM Plex Sans" charset="0"/>
                        <a:cs typeface="IBM Plex Sans" charset="0"/>
                      </a:endParaRPr>
                    </a:p>
                  </a:txBody>
                  <a:tcPr marL="101600" marR="101600" marT="76200" marB="76200" anchor="t">
                    <a:lnL w="12700" cap="flat" cmpd="sng" algn="ctr">
                      <a:solidFill>
                        <a:srgbClr val="C3C0BB"/>
                      </a:solidFill>
                      <a:prstDash val="solid"/>
                      <a:round/>
                      <a:headEnd type="none" w="med" len="med"/>
                      <a:tailEnd type="none" w="med" len="med"/>
                    </a:lnL>
                    <a:lnR w="12700" cap="flat" cmpd="sng" algn="ctr">
                      <a:solidFill>
                        <a:srgbClr val="C3C0BB"/>
                      </a:solidFill>
                      <a:prstDash val="solid"/>
                      <a:round/>
                      <a:headEnd type="none" w="med" len="med"/>
                      <a:tailEnd type="none" w="med" len="med"/>
                    </a:lnR>
                    <a:lnT w="12700" cap="flat" cmpd="sng" algn="ctr">
                      <a:solidFill>
                        <a:srgbClr val="C3C0BB"/>
                      </a:solidFill>
                      <a:prstDash val="solid"/>
                      <a:round/>
                      <a:headEnd type="none" w="med" len="med"/>
                      <a:tailEnd type="none" w="med" len="med"/>
                    </a:lnT>
                    <a:lnB w="12700" cap="flat" cmpd="sng" algn="ctr">
                      <a:solidFill>
                        <a:srgbClr val="C3C0BB"/>
                      </a:solidFill>
                      <a:prstDash val="solid"/>
                      <a:round/>
                      <a:headEnd type="none" w="med" len="med"/>
                      <a:tailEnd type="none" w="med" len="med"/>
                    </a:lnB>
                  </a:tcPr>
                </a:tc>
                <a:tc>
                  <a:txBody>
                    <a:bodyPr/>
                    <a:lstStyle/>
                    <a:p>
                      <a:pPr indent="0" marL="0">
                        <a:lnSpc>
                          <a:spcPts val="1722"/>
                        </a:lnSpc>
                        <a:buNone/>
                      </a:pPr>
                      <a:r>
                        <a:rPr lang="en-US" sz="1230" dirty="0">
                          <a:solidFill>
                            <a:srgbClr val="16222C"/>
                          </a:solidFill>
                          <a:latin typeface="IBM Plex Sans" pitchFamily="34" charset="0"/>
                          <a:ea typeface="IBM Plex Sans" pitchFamily="34" charset="-122"/>
                          <a:cs typeface="IBM Plex Sans" pitchFamily="34" charset="-120"/>
                        </a:rPr>
                        <a:t>Request, exit check, recovery</a:t>
                      </a:r>
                      <a:endParaRPr lang="en-US" sz="1230" dirty="0">
                        <a:latin typeface="IBM Plex Sans" charset="0"/>
                        <a:ea typeface="IBM Plex Sans" charset="0"/>
                        <a:cs typeface="IBM Plex Sans" charset="0"/>
                      </a:endParaRPr>
                    </a:p>
                  </a:txBody>
                  <a:tcPr marL="101600" marR="101600" marT="76200" marB="76200" anchor="t">
                    <a:lnL w="12700" cap="flat" cmpd="sng" algn="ctr">
                      <a:solidFill>
                        <a:srgbClr val="C3C0BB"/>
                      </a:solidFill>
                      <a:prstDash val="solid"/>
                      <a:round/>
                      <a:headEnd type="none" w="med" len="med"/>
                      <a:tailEnd type="none" w="med" len="med"/>
                    </a:lnL>
                    <a:lnR w="12700" cap="flat" cmpd="sng" algn="ctr">
                      <a:solidFill>
                        <a:srgbClr val="C3C0BB"/>
                      </a:solidFill>
                      <a:prstDash val="solid"/>
                      <a:round/>
                      <a:headEnd type="none" w="med" len="med"/>
                      <a:tailEnd type="none" w="med" len="med"/>
                    </a:lnR>
                    <a:lnT w="12700" cap="flat" cmpd="sng" algn="ctr">
                      <a:solidFill>
                        <a:srgbClr val="C3C0BB"/>
                      </a:solidFill>
                      <a:prstDash val="solid"/>
                      <a:round/>
                      <a:headEnd type="none" w="med" len="med"/>
                      <a:tailEnd type="none" w="med" len="med"/>
                    </a:lnT>
                    <a:lnB w="12700" cap="flat" cmpd="sng" algn="ctr">
                      <a:solidFill>
                        <a:srgbClr val="C3C0BB"/>
                      </a:solidFill>
                      <a:prstDash val="solid"/>
                      <a:round/>
                      <a:headEnd type="none" w="med" len="med"/>
                      <a:tailEnd type="none" w="med" len="med"/>
                    </a:lnB>
                  </a:tcPr>
                </a:tc>
                <a:tc>
                  <a:txBody>
                    <a:bodyPr/>
                    <a:lstStyle/>
                    <a:p>
                      <a:pPr indent="0" marL="0">
                        <a:lnSpc>
                          <a:spcPts val="1722"/>
                        </a:lnSpc>
                        <a:buNone/>
                      </a:pPr>
                      <a:r>
                        <a:rPr lang="en-US" sz="1230" dirty="0">
                          <a:solidFill>
                            <a:srgbClr val="16222C"/>
                          </a:solidFill>
                          <a:latin typeface="IBM Plex Sans" pitchFamily="34" charset="0"/>
                          <a:ea typeface="IBM Plex Sans" pitchFamily="34" charset="-122"/>
                          <a:cs typeface="IBM Plex Sans" pitchFamily="34" charset="-120"/>
                        </a:rPr>
                        <a:t>A2 asks; A1 checks exit, recovers</a:t>
                      </a:r>
                      <a:endParaRPr lang="en-US" sz="1230" dirty="0">
                        <a:latin typeface="IBM Plex Sans" charset="0"/>
                        <a:ea typeface="IBM Plex Sans" charset="0"/>
                        <a:cs typeface="IBM Plex Sans" charset="0"/>
                      </a:endParaRPr>
                    </a:p>
                  </a:txBody>
                  <a:tcPr marL="101600" marR="101600" marT="76200" marB="76200" anchor="t">
                    <a:lnL w="12700" cap="flat" cmpd="sng" algn="ctr">
                      <a:solidFill>
                        <a:srgbClr val="C3C0BB"/>
                      </a:solidFill>
                      <a:prstDash val="solid"/>
                      <a:round/>
                      <a:headEnd type="none" w="med" len="med"/>
                      <a:tailEnd type="none" w="med" len="med"/>
                    </a:lnL>
                    <a:lnR w="12700" cap="flat" cmpd="sng" algn="ctr">
                      <a:solidFill>
                        <a:srgbClr val="C3C0BB"/>
                      </a:solidFill>
                      <a:prstDash val="solid"/>
                      <a:round/>
                      <a:headEnd type="none" w="med" len="med"/>
                      <a:tailEnd type="none" w="med" len="med"/>
                    </a:lnR>
                    <a:lnT w="12700" cap="flat" cmpd="sng" algn="ctr">
                      <a:solidFill>
                        <a:srgbClr val="C3C0BB"/>
                      </a:solidFill>
                      <a:prstDash val="solid"/>
                      <a:round/>
                      <a:headEnd type="none" w="med" len="med"/>
                      <a:tailEnd type="none" w="med" len="med"/>
                    </a:lnT>
                    <a:lnB w="12700" cap="flat" cmpd="sng" algn="ctr">
                      <a:solidFill>
                        <a:srgbClr val="C3C0BB"/>
                      </a:solidFill>
                      <a:prstDash val="solid"/>
                      <a:round/>
                      <a:headEnd type="none" w="med" len="med"/>
                      <a:tailEnd type="none" w="med" len="med"/>
                    </a:lnB>
                  </a:tcPr>
                </a:tc>
              </a:tr>
              <a:tr h="600393">
                <a:tc>
                  <a:txBody>
                    <a:bodyPr/>
                    <a:lstStyle/>
                    <a:p>
                      <a:pPr indent="0" marL="0">
                        <a:lnSpc>
                          <a:spcPts val="1722"/>
                        </a:lnSpc>
                        <a:buNone/>
                      </a:pPr>
                      <a:r>
                        <a:rPr lang="en-US" sz="1230" dirty="0">
                          <a:solidFill>
                            <a:srgbClr val="16222C"/>
                          </a:solidFill>
                          <a:latin typeface="IBM Plex Sans" pitchFamily="34" charset="0"/>
                          <a:ea typeface="IBM Plex Sans" pitchFamily="34" charset="-122"/>
                          <a:cs typeface="IBM Plex Sans" pitchFamily="34" charset="-120"/>
                        </a:rPr>
                        <a:t>Omar</a:t>
                      </a:r>
                      <a:endParaRPr lang="en-US" sz="1230" dirty="0">
                        <a:latin typeface="IBM Plex Sans" charset="0"/>
                        <a:ea typeface="IBM Plex Sans" charset="0"/>
                        <a:cs typeface="IBM Plex Sans" charset="0"/>
                      </a:endParaRPr>
                    </a:p>
                  </a:txBody>
                  <a:tcPr marL="101600" marR="101600" marT="76200" marB="76200" anchor="t">
                    <a:lnL w="12700" cap="flat" cmpd="sng" algn="ctr">
                      <a:solidFill>
                        <a:srgbClr val="C3C0BB"/>
                      </a:solidFill>
                      <a:prstDash val="solid"/>
                      <a:round/>
                      <a:headEnd type="none" w="med" len="med"/>
                      <a:tailEnd type="none" w="med" len="med"/>
                    </a:lnL>
                    <a:lnR w="12700" cap="flat" cmpd="sng" algn="ctr">
                      <a:solidFill>
                        <a:srgbClr val="C3C0BB"/>
                      </a:solidFill>
                      <a:prstDash val="solid"/>
                      <a:round/>
                      <a:headEnd type="none" w="med" len="med"/>
                      <a:tailEnd type="none" w="med" len="med"/>
                    </a:lnR>
                    <a:lnT w="12700" cap="flat" cmpd="sng" algn="ctr">
                      <a:solidFill>
                        <a:srgbClr val="C3C0BB"/>
                      </a:solidFill>
                      <a:prstDash val="solid"/>
                      <a:round/>
                      <a:headEnd type="none" w="med" len="med"/>
                      <a:tailEnd type="none" w="med" len="med"/>
                    </a:lnT>
                    <a:lnB w="12700" cap="flat" cmpd="sng" algn="ctr">
                      <a:solidFill>
                        <a:srgbClr val="C3C0BB"/>
                      </a:solidFill>
                      <a:prstDash val="solid"/>
                      <a:round/>
                      <a:headEnd type="none" w="med" len="med"/>
                      <a:tailEnd type="none" w="med" len="med"/>
                    </a:lnB>
                  </a:tcPr>
                </a:tc>
                <a:tc>
                  <a:txBody>
                    <a:bodyPr/>
                    <a:lstStyle/>
                    <a:p>
                      <a:pPr indent="0" marL="0">
                        <a:lnSpc>
                          <a:spcPts val="1722"/>
                        </a:lnSpc>
                        <a:buNone/>
                      </a:pPr>
                      <a:r>
                        <a:rPr lang="en-US" sz="1230" dirty="0">
                          <a:solidFill>
                            <a:srgbClr val="16222C"/>
                          </a:solidFill>
                          <a:latin typeface="IBM Plex Sans" pitchFamily="34" charset="0"/>
                          <a:ea typeface="IBM Plex Sans" pitchFamily="34" charset="-122"/>
                          <a:cs typeface="IBM Plex Sans" pitchFamily="34" charset="-120"/>
                        </a:rPr>
                        <a:t>An anomaly does not name a cause</a:t>
                      </a:r>
                      <a:endParaRPr lang="en-US" sz="1230" dirty="0">
                        <a:latin typeface="IBM Plex Sans" charset="0"/>
                        <a:ea typeface="IBM Plex Sans" charset="0"/>
                        <a:cs typeface="IBM Plex Sans" charset="0"/>
                      </a:endParaRPr>
                    </a:p>
                  </a:txBody>
                  <a:tcPr marL="101600" marR="101600" marT="76200" marB="76200" anchor="t">
                    <a:lnL w="12700" cap="flat" cmpd="sng" algn="ctr">
                      <a:solidFill>
                        <a:srgbClr val="C3C0BB"/>
                      </a:solidFill>
                      <a:prstDash val="solid"/>
                      <a:round/>
                      <a:headEnd type="none" w="med" len="med"/>
                      <a:tailEnd type="none" w="med" len="med"/>
                    </a:lnL>
                    <a:lnR w="12700" cap="flat" cmpd="sng" algn="ctr">
                      <a:solidFill>
                        <a:srgbClr val="C3C0BB"/>
                      </a:solidFill>
                      <a:prstDash val="solid"/>
                      <a:round/>
                      <a:headEnd type="none" w="med" len="med"/>
                      <a:tailEnd type="none" w="med" len="med"/>
                    </a:lnR>
                    <a:lnT w="12700" cap="flat" cmpd="sng" algn="ctr">
                      <a:solidFill>
                        <a:srgbClr val="C3C0BB"/>
                      </a:solidFill>
                      <a:prstDash val="solid"/>
                      <a:round/>
                      <a:headEnd type="none" w="med" len="med"/>
                      <a:tailEnd type="none" w="med" len="med"/>
                    </a:lnT>
                    <a:lnB w="12700" cap="flat" cmpd="sng" algn="ctr">
                      <a:solidFill>
                        <a:srgbClr val="C3C0BB"/>
                      </a:solidFill>
                      <a:prstDash val="solid"/>
                      <a:round/>
                      <a:headEnd type="none" w="med" len="med"/>
                      <a:tailEnd type="none" w="med" len="med"/>
                    </a:lnB>
                  </a:tcPr>
                </a:tc>
                <a:tc>
                  <a:txBody>
                    <a:bodyPr/>
                    <a:lstStyle/>
                    <a:p>
                      <a:pPr indent="0" marL="0">
                        <a:lnSpc>
                          <a:spcPts val="1722"/>
                        </a:lnSpc>
                        <a:buNone/>
                      </a:pPr>
                      <a:r>
                        <a:rPr lang="en-US" sz="1230" dirty="0">
                          <a:solidFill>
                            <a:srgbClr val="16222C"/>
                          </a:solidFill>
                          <a:latin typeface="IBM Plex Sans" pitchFamily="34" charset="0"/>
                          <a:ea typeface="IBM Plex Sans" pitchFamily="34" charset="-122"/>
                          <a:cs typeface="IBM Plex Sans" pitchFamily="34" charset="-120"/>
                        </a:rPr>
                        <a:t>A guessed cause, a frozen screen</a:t>
                      </a:r>
                      <a:endParaRPr lang="en-US" sz="1230" dirty="0">
                        <a:latin typeface="IBM Plex Sans" charset="0"/>
                        <a:ea typeface="IBM Plex Sans" charset="0"/>
                        <a:cs typeface="IBM Plex Sans" charset="0"/>
                      </a:endParaRPr>
                    </a:p>
                  </a:txBody>
                  <a:tcPr marL="101600" marR="101600" marT="76200" marB="76200" anchor="t">
                    <a:lnL w="12700" cap="flat" cmpd="sng" algn="ctr">
                      <a:solidFill>
                        <a:srgbClr val="C3C0BB"/>
                      </a:solidFill>
                      <a:prstDash val="solid"/>
                      <a:round/>
                      <a:headEnd type="none" w="med" len="med"/>
                      <a:tailEnd type="none" w="med" len="med"/>
                    </a:lnL>
                    <a:lnR w="12700" cap="flat" cmpd="sng" algn="ctr">
                      <a:solidFill>
                        <a:srgbClr val="C3C0BB"/>
                      </a:solidFill>
                      <a:prstDash val="solid"/>
                      <a:round/>
                      <a:headEnd type="none" w="med" len="med"/>
                      <a:tailEnd type="none" w="med" len="med"/>
                    </a:lnR>
                    <a:lnT w="12700" cap="flat" cmpd="sng" algn="ctr">
                      <a:solidFill>
                        <a:srgbClr val="C3C0BB"/>
                      </a:solidFill>
                      <a:prstDash val="solid"/>
                      <a:round/>
                      <a:headEnd type="none" w="med" len="med"/>
                      <a:tailEnd type="none" w="med" len="med"/>
                    </a:lnT>
                    <a:lnB w="12700" cap="flat" cmpd="sng" algn="ctr">
                      <a:solidFill>
                        <a:srgbClr val="C3C0BB"/>
                      </a:solidFill>
                      <a:prstDash val="solid"/>
                      <a:round/>
                      <a:headEnd type="none" w="med" len="med"/>
                      <a:tailEnd type="none" w="med" len="med"/>
                    </a:lnB>
                  </a:tcPr>
                </a:tc>
                <a:tc>
                  <a:txBody>
                    <a:bodyPr/>
                    <a:lstStyle/>
                    <a:p>
                      <a:pPr indent="0" marL="0">
                        <a:lnSpc>
                          <a:spcPts val="1722"/>
                        </a:lnSpc>
                        <a:buNone/>
                      </a:pPr>
                      <a:r>
                        <a:rPr lang="en-US" sz="1230" dirty="0">
                          <a:solidFill>
                            <a:srgbClr val="16222C"/>
                          </a:solidFill>
                          <a:latin typeface="IBM Plex Sans" pitchFamily="34" charset="0"/>
                          <a:ea typeface="IBM Plex Sans" pitchFamily="34" charset="-122"/>
                          <a:cs typeface="IBM Plex Sans" pitchFamily="34" charset="-120"/>
                        </a:rPr>
                        <a:t>Class, confidence, freshness</a:t>
                      </a:r>
                      <a:endParaRPr lang="en-US" sz="1230" dirty="0">
                        <a:latin typeface="IBM Plex Sans" charset="0"/>
                        <a:ea typeface="IBM Plex Sans" charset="0"/>
                        <a:cs typeface="IBM Plex Sans" charset="0"/>
                      </a:endParaRPr>
                    </a:p>
                  </a:txBody>
                  <a:tcPr marL="101600" marR="101600" marT="76200" marB="76200" anchor="t">
                    <a:lnL w="12700" cap="flat" cmpd="sng" algn="ctr">
                      <a:solidFill>
                        <a:srgbClr val="C3C0BB"/>
                      </a:solidFill>
                      <a:prstDash val="solid"/>
                      <a:round/>
                      <a:headEnd type="none" w="med" len="med"/>
                      <a:tailEnd type="none" w="med" len="med"/>
                    </a:lnL>
                    <a:lnR w="12700" cap="flat" cmpd="sng" algn="ctr">
                      <a:solidFill>
                        <a:srgbClr val="C3C0BB"/>
                      </a:solidFill>
                      <a:prstDash val="solid"/>
                      <a:round/>
                      <a:headEnd type="none" w="med" len="med"/>
                      <a:tailEnd type="none" w="med" len="med"/>
                    </a:lnR>
                    <a:lnT w="12700" cap="flat" cmpd="sng" algn="ctr">
                      <a:solidFill>
                        <a:srgbClr val="C3C0BB"/>
                      </a:solidFill>
                      <a:prstDash val="solid"/>
                      <a:round/>
                      <a:headEnd type="none" w="med" len="med"/>
                      <a:tailEnd type="none" w="med" len="med"/>
                    </a:lnT>
                    <a:lnB w="12700" cap="flat" cmpd="sng" algn="ctr">
                      <a:solidFill>
                        <a:srgbClr val="C3C0BB"/>
                      </a:solidFill>
                      <a:prstDash val="solid"/>
                      <a:round/>
                      <a:headEnd type="none" w="med" len="med"/>
                      <a:tailEnd type="none" w="med" len="med"/>
                    </a:lnB>
                  </a:tcPr>
                </a:tc>
                <a:tc>
                  <a:txBody>
                    <a:bodyPr/>
                    <a:lstStyle/>
                    <a:p>
                      <a:pPr indent="0" marL="0">
                        <a:lnSpc>
                          <a:spcPts val="1722"/>
                        </a:lnSpc>
                        <a:buNone/>
                      </a:pPr>
                      <a:r>
                        <a:rPr lang="en-US" sz="1230" dirty="0">
                          <a:solidFill>
                            <a:srgbClr val="16222C"/>
                          </a:solidFill>
                          <a:latin typeface="IBM Plex Sans" pitchFamily="34" charset="0"/>
                          <a:ea typeface="IBM Plex Sans" pitchFamily="34" charset="-122"/>
                          <a:cs typeface="IBM Plex Sans" pitchFamily="34" charset="-120"/>
                        </a:rPr>
                        <a:t>A4 publishes; stale → local control</a:t>
                      </a:r>
                      <a:endParaRPr lang="en-US" sz="1230" dirty="0">
                        <a:latin typeface="IBM Plex Sans" charset="0"/>
                        <a:ea typeface="IBM Plex Sans" charset="0"/>
                        <a:cs typeface="IBM Plex Sans" charset="0"/>
                      </a:endParaRPr>
                    </a:p>
                  </a:txBody>
                  <a:tcPr marL="101600" marR="101600" marT="76200" marB="76200" anchor="t">
                    <a:lnL w="12700" cap="flat" cmpd="sng" algn="ctr">
                      <a:solidFill>
                        <a:srgbClr val="C3C0BB"/>
                      </a:solidFill>
                      <a:prstDash val="solid"/>
                      <a:round/>
                      <a:headEnd type="none" w="med" len="med"/>
                      <a:tailEnd type="none" w="med" len="med"/>
                    </a:lnL>
                    <a:lnR w="12700" cap="flat" cmpd="sng" algn="ctr">
                      <a:solidFill>
                        <a:srgbClr val="C3C0BB"/>
                      </a:solidFill>
                      <a:prstDash val="solid"/>
                      <a:round/>
                      <a:headEnd type="none" w="med" len="med"/>
                      <a:tailEnd type="none" w="med" len="med"/>
                    </a:lnR>
                    <a:lnT w="12700" cap="flat" cmpd="sng" algn="ctr">
                      <a:solidFill>
                        <a:srgbClr val="C3C0BB"/>
                      </a:solidFill>
                      <a:prstDash val="solid"/>
                      <a:round/>
                      <a:headEnd type="none" w="med" len="med"/>
                      <a:tailEnd type="none" w="med" len="med"/>
                    </a:lnT>
                    <a:lnB w="12700" cap="flat" cmpd="sng" algn="ctr">
                      <a:solidFill>
                        <a:srgbClr val="C3C0BB"/>
                      </a:solidFill>
                      <a:prstDash val="solid"/>
                      <a:round/>
                      <a:headEnd type="none" w="med" len="med"/>
                      <a:tailEnd type="none" w="med" len="med"/>
                    </a:lnB>
                  </a:tcPr>
                </a:tc>
              </a:tr>
            </a:tbl>
          </a:graphicData>
        </a:graphic>
      </p:graphicFrame>
      <p:sp>
        <p:nvSpPr>
          <p:cNvPr id="5" name="Text 2"/>
          <p:cNvSpPr/>
          <p:nvPr/>
        </p:nvSpPr>
        <p:spPr>
          <a:xfrm>
            <a:off x="812800" y="6238242"/>
            <a:ext cx="5869199"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B73"/>
                </a:solidFill>
                <a:latin typeface="IBM Plex Sans" pitchFamily="34" charset="0"/>
                <a:ea typeface="IBM Plex Sans" pitchFamily="34" charset="-122"/>
                <a:cs typeface="IBM Plex Sans" pitchFamily="34" charset="-120"/>
              </a:rPr>
              <a:t>Evidence: slides 05–09 · Personas: 11–16 · Needs: 17 · Ideas: 21 · Solution: 24–26</a:t>
            </a:r>
            <a:endParaRPr lang="en-US" sz="1200" dirty="0"/>
          </a:p>
        </p:txBody>
      </p:sp>
      <p:sp>
        <p:nvSpPr>
          <p:cNvPr id="6" name="Text 3"/>
          <p:cNvSpPr/>
          <p:nvPr/>
        </p:nvSpPr>
        <p:spPr>
          <a:xfrm>
            <a:off x="11196320" y="6238242"/>
            <a:ext cx="23368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B73"/>
                </a:solidFill>
                <a:latin typeface="IBM Plex Sans" pitchFamily="34" charset="0"/>
                <a:ea typeface="IBM Plex Sans" pitchFamily="34" charset="-122"/>
                <a:cs typeface="IBM Plex Sans" pitchFamily="34" charset="-120"/>
              </a:rPr>
              <a:t>27</a:t>
            </a:r>
            <a:endParaRPr lang="en-US" sz="12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14202B"/>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E8A33D"/>
                </a:solidFill>
                <a:latin typeface="IBM Plex Mono" pitchFamily="34" charset="0"/>
                <a:ea typeface="IBM Plex Mono" pitchFamily="34" charset="-122"/>
                <a:cs typeface="IBM Plex Mono" pitchFamily="34" charset="-120"/>
              </a:rPr>
              <a:t>SUMMARY</a:t>
            </a:r>
            <a:endParaRPr lang="en-US" sz="1200" dirty="0"/>
          </a:p>
        </p:txBody>
      </p:sp>
      <p:sp>
        <p:nvSpPr>
          <p:cNvPr id="3" name="Text 1"/>
          <p:cNvSpPr/>
          <p:nvPr/>
        </p:nvSpPr>
        <p:spPr>
          <a:xfrm>
            <a:off x="812800" y="2154870"/>
            <a:ext cx="10883392" cy="2921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C9D1D6"/>
                </a:solidFill>
                <a:latin typeface="IBM Plex Sans" pitchFamily="34" charset="0"/>
                <a:ea typeface="IBM Plex Sans" pitchFamily="34" charset="-122"/>
                <a:cs typeface="IBM Plex Sans" pitchFamily="34" charset="-120"/>
              </a:rPr>
              <a:t>User research → Evidence → Personas → Needs → Problem statement → Ideas → Selected solution</a:t>
            </a:r>
            <a:endParaRPr lang="en-US" sz="1500" dirty="0"/>
          </a:p>
        </p:txBody>
      </p:sp>
      <p:sp>
        <p:nvSpPr>
          <p:cNvPr id="4" name="Text 2"/>
          <p:cNvSpPr/>
          <p:nvPr/>
        </p:nvSpPr>
        <p:spPr>
          <a:xfrm>
            <a:off x="812800" y="2650170"/>
            <a:ext cx="10464800" cy="551180"/>
          </a:xfrm>
          <a:prstGeom prst="rect">
            <a:avLst/>
          </a:prstGeom>
          <a:noFill/>
          <a:ln/>
        </p:spPr>
        <p:txBody>
          <a:bodyPr wrap="square" lIns="0" tIns="0" rIns="0" bIns="0" rtlCol="0" anchor="t">
            <a:normAutofit/>
          </a:bodyPr>
          <a:lstStyle/>
          <a:p>
            <a:pPr algn="l" indent="0" marL="0">
              <a:lnSpc>
                <a:spcPts val="4140"/>
              </a:lnSpc>
              <a:buNone/>
            </a:pPr>
            <a:r>
              <a:rPr lang="en-US" sz="3600" b="1" dirty="0">
                <a:solidFill>
                  <a:srgbClr val="F4F1EA"/>
                </a:solidFill>
                <a:latin typeface="Space Grotesk" pitchFamily="34" charset="0"/>
                <a:ea typeface="Space Grotesk" pitchFamily="34" charset="-122"/>
                <a:cs typeface="Space Grotesk" pitchFamily="34" charset="-120"/>
              </a:rPr>
              <a:t>Every decision points back to </a:t>
            </a:r>
            <a:r>
              <a:rPr lang="en-US" sz="3600" b="1" dirty="0">
                <a:solidFill>
                  <a:srgbClr val="E8A33D"/>
                </a:solidFill>
                <a:latin typeface="Space Grotesk" pitchFamily="34" charset="0"/>
                <a:ea typeface="Space Grotesk" pitchFamily="34" charset="-122"/>
                <a:cs typeface="Space Grotesk" pitchFamily="34" charset="-120"/>
              </a:rPr>
              <a:t>a source</a:t>
            </a:r>
            <a:r>
              <a:rPr lang="en-US" sz="3600" b="1" dirty="0">
                <a:solidFill>
                  <a:srgbClr val="F4F1EA"/>
                </a:solidFill>
                <a:latin typeface="Space Grotesk" pitchFamily="34" charset="0"/>
                <a:ea typeface="Space Grotesk" pitchFamily="34" charset="-122"/>
                <a:cs typeface="Space Grotesk" pitchFamily="34" charset="-120"/>
              </a:rPr>
              <a:t>.</a:t>
            </a:r>
            <a:endParaRPr lang="en-US" sz="3600" dirty="0"/>
          </a:p>
        </p:txBody>
      </p:sp>
      <p:sp>
        <p:nvSpPr>
          <p:cNvPr id="5" name="Shape 3"/>
          <p:cNvSpPr/>
          <p:nvPr/>
        </p:nvSpPr>
        <p:spPr>
          <a:xfrm>
            <a:off x="812800" y="3417255"/>
            <a:ext cx="3352800" cy="0"/>
          </a:xfrm>
          <a:prstGeom prst="line">
            <a:avLst/>
          </a:prstGeom>
          <a:noFill/>
          <a:ln w="25400">
            <a:solidFill>
              <a:srgbClr val="E8A33D"/>
            </a:solidFill>
            <a:prstDash val="solid"/>
          </a:ln>
        </p:spPr>
      </p:sp>
      <p:sp>
        <p:nvSpPr>
          <p:cNvPr id="6" name="Text 4"/>
          <p:cNvSpPr/>
          <p:nvPr/>
        </p:nvSpPr>
        <p:spPr>
          <a:xfrm>
            <a:off x="812800" y="3556955"/>
            <a:ext cx="3453384"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E8A33D"/>
                </a:solidFill>
                <a:latin typeface="IBM Plex Mono" pitchFamily="34" charset="0"/>
                <a:ea typeface="IBM Plex Mono" pitchFamily="34" charset="-122"/>
                <a:cs typeface="IBM Plex Mono" pitchFamily="34" charset="-120"/>
              </a:rPr>
              <a:t>WE CLAIM</a:t>
            </a:r>
            <a:endParaRPr lang="en-US" sz="1200" dirty="0"/>
          </a:p>
        </p:txBody>
      </p:sp>
      <p:sp>
        <p:nvSpPr>
          <p:cNvPr id="7" name="Text 5"/>
          <p:cNvSpPr/>
          <p:nvPr/>
        </p:nvSpPr>
        <p:spPr>
          <a:xfrm>
            <a:off x="812800" y="3821113"/>
            <a:ext cx="3453384" cy="694055"/>
          </a:xfrm>
          <a:prstGeom prst="rect">
            <a:avLst/>
          </a:prstGeom>
          <a:noFill/>
          <a:ln/>
        </p:spPr>
        <p:txBody>
          <a:bodyPr wrap="square" lIns="0" tIns="0" rIns="0" bIns="0" rtlCol="0" anchor="t">
            <a:normAutofit/>
          </a:bodyPr>
          <a:lstStyle/>
          <a:p>
            <a:pPr algn="l" indent="0" marL="0">
              <a:lnSpc>
                <a:spcPts val="1755"/>
              </a:lnSpc>
              <a:buNone/>
            </a:pPr>
            <a:r>
              <a:rPr lang="en-US" sz="1300" dirty="0">
                <a:solidFill>
                  <a:srgbClr val="F4F1EA"/>
                </a:solidFill>
                <a:latin typeface="IBM Plex Sans" pitchFamily="34" charset="0"/>
                <a:ea typeface="IBM Plex Sans" pitchFamily="34" charset="-122"/>
                <a:cs typeface="IBM Plex Sans" pitchFamily="34" charset="-120"/>
              </a:rPr>
              <a:t>The system evaluates a constrained incident response in simulation and records each decision.</a:t>
            </a:r>
            <a:endParaRPr lang="en-US" sz="1300" dirty="0"/>
          </a:p>
        </p:txBody>
      </p:sp>
      <p:sp>
        <p:nvSpPr>
          <p:cNvPr id="8" name="Shape 6"/>
          <p:cNvSpPr/>
          <p:nvPr/>
        </p:nvSpPr>
        <p:spPr>
          <a:xfrm>
            <a:off x="4419600" y="3417255"/>
            <a:ext cx="3352800" cy="0"/>
          </a:xfrm>
          <a:prstGeom prst="line">
            <a:avLst/>
          </a:prstGeom>
          <a:noFill/>
          <a:ln w="25400">
            <a:solidFill>
              <a:srgbClr val="A9B4BB"/>
            </a:solidFill>
            <a:prstDash val="solid"/>
          </a:ln>
        </p:spPr>
      </p:sp>
      <p:sp>
        <p:nvSpPr>
          <p:cNvPr id="9" name="Text 7"/>
          <p:cNvSpPr/>
          <p:nvPr/>
        </p:nvSpPr>
        <p:spPr>
          <a:xfrm>
            <a:off x="4419600" y="3556955"/>
            <a:ext cx="3453384"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A9B4BB"/>
                </a:solidFill>
                <a:latin typeface="IBM Plex Mono" pitchFamily="34" charset="0"/>
                <a:ea typeface="IBM Plex Mono" pitchFamily="34" charset="-122"/>
                <a:cs typeface="IBM Plex Mono" pitchFamily="34" charset="-120"/>
              </a:rPr>
              <a:t>WE DO NOT CLAIM</a:t>
            </a:r>
            <a:endParaRPr lang="en-US" sz="1200" dirty="0"/>
          </a:p>
        </p:txBody>
      </p:sp>
      <p:sp>
        <p:nvSpPr>
          <p:cNvPr id="10" name="Text 8"/>
          <p:cNvSpPr/>
          <p:nvPr/>
        </p:nvSpPr>
        <p:spPr>
          <a:xfrm>
            <a:off x="4419600" y="3821113"/>
            <a:ext cx="3453384" cy="471170"/>
          </a:xfrm>
          <a:prstGeom prst="rect">
            <a:avLst/>
          </a:prstGeom>
          <a:noFill/>
          <a:ln/>
        </p:spPr>
        <p:txBody>
          <a:bodyPr wrap="square" lIns="0" tIns="0" rIns="0" bIns="0" rtlCol="0" anchor="t">
            <a:normAutofit/>
          </a:bodyPr>
          <a:lstStyle/>
          <a:p>
            <a:pPr algn="l" indent="0" marL="0">
              <a:lnSpc>
                <a:spcPts val="1755"/>
              </a:lnSpc>
              <a:buNone/>
            </a:pPr>
            <a:r>
              <a:rPr lang="en-US" sz="1300" dirty="0">
                <a:solidFill>
                  <a:srgbClr val="F4F1EA"/>
                </a:solidFill>
                <a:latin typeface="IBM Plex Sans" pitchFamily="34" charset="0"/>
                <a:ea typeface="IBM Plex Sans" pitchFamily="34" charset="-122"/>
                <a:cs typeface="IBM Plex Sans" pitchFamily="34" charset="-120"/>
              </a:rPr>
              <a:t>Lives saved · measured air · a Tunis deployment · a winner from one seed.</a:t>
            </a:r>
            <a:endParaRPr lang="en-US" sz="1300" dirty="0"/>
          </a:p>
        </p:txBody>
      </p:sp>
      <p:sp>
        <p:nvSpPr>
          <p:cNvPr id="11" name="Shape 9"/>
          <p:cNvSpPr/>
          <p:nvPr/>
        </p:nvSpPr>
        <p:spPr>
          <a:xfrm>
            <a:off x="8026400" y="3417255"/>
            <a:ext cx="3352800" cy="0"/>
          </a:xfrm>
          <a:prstGeom prst="line">
            <a:avLst/>
          </a:prstGeom>
          <a:noFill/>
          <a:ln w="25400">
            <a:solidFill>
              <a:srgbClr val="A9B4BB"/>
            </a:solidFill>
            <a:prstDash val="solid"/>
          </a:ln>
        </p:spPr>
      </p:sp>
      <p:sp>
        <p:nvSpPr>
          <p:cNvPr id="12" name="Text 10"/>
          <p:cNvSpPr/>
          <p:nvPr/>
        </p:nvSpPr>
        <p:spPr>
          <a:xfrm>
            <a:off x="8026400" y="3556955"/>
            <a:ext cx="3453384"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A9B4BB"/>
                </a:solidFill>
                <a:latin typeface="IBM Plex Mono" pitchFamily="34" charset="0"/>
                <a:ea typeface="IBM Plex Mono" pitchFamily="34" charset="-122"/>
                <a:cs typeface="IBM Plex Mono" pitchFamily="34" charset="-120"/>
              </a:rPr>
              <a:t>STILL MISSING</a:t>
            </a:r>
            <a:endParaRPr lang="en-US" sz="1200" dirty="0"/>
          </a:p>
        </p:txBody>
      </p:sp>
      <p:sp>
        <p:nvSpPr>
          <p:cNvPr id="13" name="Text 11"/>
          <p:cNvSpPr/>
          <p:nvPr/>
        </p:nvSpPr>
        <p:spPr>
          <a:xfrm>
            <a:off x="8026400" y="3821113"/>
            <a:ext cx="3453384" cy="471170"/>
          </a:xfrm>
          <a:prstGeom prst="rect">
            <a:avLst/>
          </a:prstGeom>
          <a:noFill/>
          <a:ln/>
        </p:spPr>
        <p:txBody>
          <a:bodyPr wrap="square" lIns="0" tIns="0" rIns="0" bIns="0" rtlCol="0" anchor="t">
            <a:normAutofit/>
          </a:bodyPr>
          <a:lstStyle/>
          <a:p>
            <a:pPr algn="l" indent="0" marL="0">
              <a:lnSpc>
                <a:spcPts val="1755"/>
              </a:lnSpc>
              <a:buNone/>
            </a:pPr>
            <a:r>
              <a:rPr lang="en-US" sz="1300" dirty="0">
                <a:solidFill>
                  <a:srgbClr val="F4F1EA"/>
                </a:solidFill>
                <a:latin typeface="IBM Plex Sans" pitchFamily="34" charset="0"/>
                <a:ea typeface="IBM Plex Sans" pitchFamily="34" charset="-122"/>
                <a:cs typeface="IBM Plex Sans" pitchFamily="34" charset="-120"/>
              </a:rPr>
              <a:t>Interviews with real users, and runs across more than one seed.</a:t>
            </a:r>
            <a:endParaRPr lang="en-US" sz="1300" dirty="0"/>
          </a:p>
        </p:txBody>
      </p:sp>
      <p:sp>
        <p:nvSpPr>
          <p:cNvPr id="14" name="Text 12"/>
          <p:cNvSpPr/>
          <p:nvPr/>
        </p:nvSpPr>
        <p:spPr>
          <a:xfrm>
            <a:off x="812800" y="5618485"/>
            <a:ext cx="10883392" cy="452120"/>
          </a:xfrm>
          <a:prstGeom prst="rect">
            <a:avLst/>
          </a:prstGeom>
          <a:noFill/>
          <a:ln/>
        </p:spPr>
        <p:txBody>
          <a:bodyPr wrap="square" lIns="0" tIns="0" rIns="0" bIns="0" rtlCol="0" anchor="t">
            <a:normAutofit/>
          </a:bodyPr>
          <a:lstStyle/>
          <a:p>
            <a:pPr algn="l" indent="0" marL="0">
              <a:lnSpc>
                <a:spcPts val="3360"/>
              </a:lnSpc>
              <a:buNone/>
            </a:pPr>
            <a:r>
              <a:rPr lang="en-US" sz="2400" b="1" dirty="0">
                <a:solidFill>
                  <a:srgbClr val="F4F1EA"/>
                </a:solidFill>
                <a:latin typeface="Space Grotesk" pitchFamily="34" charset="0"/>
                <a:ea typeface="Space Grotesk" pitchFamily="34" charset="-122"/>
                <a:cs typeface="Space Grotesk" pitchFamily="34" charset="-120"/>
              </a:rPr>
              <a:t>Questions</a:t>
            </a:r>
            <a:endParaRPr lang="en-US" sz="24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4F1EA"/>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1F6B72"/>
                </a:solidFill>
                <a:latin typeface="IBM Plex Mono" pitchFamily="34" charset="0"/>
                <a:ea typeface="IBM Plex Mono" pitchFamily="34" charset="-122"/>
                <a:cs typeface="IBM Plex Mono" pitchFamily="34" charset="-120"/>
              </a:rPr>
              <a:t>EMPATHIZE · CAUSE CLASSES, ONSR 2024</a:t>
            </a:r>
            <a:endParaRPr lang="en-US" sz="1200" dirty="0"/>
          </a:p>
        </p:txBody>
      </p:sp>
      <p:sp>
        <p:nvSpPr>
          <p:cNvPr id="3" name="Text 1"/>
          <p:cNvSpPr/>
          <p:nvPr/>
        </p:nvSpPr>
        <p:spPr>
          <a:xfrm>
            <a:off x="812800" y="1127758"/>
            <a:ext cx="10883392" cy="472440"/>
          </a:xfrm>
          <a:prstGeom prst="rect">
            <a:avLst/>
          </a:prstGeom>
          <a:noFill/>
          <a:ln/>
        </p:spPr>
        <p:txBody>
          <a:bodyPr wrap="square" lIns="0" tIns="0" rIns="0" bIns="0" rtlCol="0" anchor="t">
            <a:normAutofit/>
          </a:bodyPr>
          <a:lstStyle/>
          <a:p>
            <a:pPr algn="l" indent="0" marL="0">
              <a:lnSpc>
                <a:spcPts val="3520"/>
              </a:lnSpc>
              <a:buNone/>
            </a:pPr>
            <a:r>
              <a:rPr lang="en-US" sz="3200" b="1" dirty="0">
                <a:solidFill>
                  <a:srgbClr val="16222C"/>
                </a:solidFill>
                <a:latin typeface="Space Grotesk" pitchFamily="34" charset="0"/>
                <a:ea typeface="Space Grotesk" pitchFamily="34" charset="-122"/>
                <a:cs typeface="Space Grotesk" pitchFamily="34" charset="-120"/>
              </a:rPr>
              <a:t>Speeding: 14% of crashes, about 30% of deaths</a:t>
            </a:r>
            <a:endParaRPr lang="en-US" sz="3200" dirty="0"/>
          </a:p>
        </p:txBody>
      </p:sp>
      <p:pic>
        <p:nvPicPr>
          <p:cNvPr id="4" name="Image 0" descr="Bar chart of cause classes: inattention about 42 percent of crashes; speeding about 14 percent of crashes and about 30 percent of deaths; unsafe pedestrian crossing about 8 percent of crashes">    </p:cNvPr>
          <p:cNvPicPr>
            <a:picLocks noChangeAspect="1"/>
          </p:cNvPicPr>
          <p:nvPr/>
        </p:nvPicPr>
        <p:blipFill>
          <a:blip r:embed="rId1"/>
          <a:srcRect l="0" r="0" t="-9" b="-9"/>
          <a:stretch/>
        </p:blipFill>
        <p:spPr>
          <a:xfrm>
            <a:off x="812800" y="1879600"/>
            <a:ext cx="10566400" cy="2286000"/>
          </a:xfrm>
          <a:prstGeom prst="rect">
            <a:avLst/>
          </a:prstGeom>
        </p:spPr>
      </p:pic>
      <p:sp>
        <p:nvSpPr>
          <p:cNvPr id="5" name="Shape 2"/>
          <p:cNvSpPr/>
          <p:nvPr/>
        </p:nvSpPr>
        <p:spPr>
          <a:xfrm>
            <a:off x="815975" y="4473575"/>
            <a:ext cx="2364184" cy="974090"/>
          </a:xfrm>
          <a:prstGeom prst="roundRect">
            <a:avLst>
              <a:gd name="adj" fmla="val 7497"/>
            </a:avLst>
          </a:prstGeom>
          <a:solidFill>
            <a:srgbClr val="FBFAF6"/>
          </a:solidFill>
          <a:ln w="6350">
            <a:solidFill>
              <a:srgbClr val="DDD8CC"/>
            </a:solidFill>
            <a:prstDash val="solid"/>
          </a:ln>
        </p:spPr>
      </p:sp>
      <p:sp>
        <p:nvSpPr>
          <p:cNvPr id="6" name="Text 3"/>
          <p:cNvSpPr/>
          <p:nvPr/>
        </p:nvSpPr>
        <p:spPr>
          <a:xfrm>
            <a:off x="1021080" y="4627885"/>
            <a:ext cx="2012594" cy="452120"/>
          </a:xfrm>
          <a:prstGeom prst="rect">
            <a:avLst/>
          </a:prstGeom>
          <a:noFill/>
          <a:ln/>
        </p:spPr>
        <p:txBody>
          <a:bodyPr wrap="square" lIns="0" tIns="0" rIns="0" bIns="0" rtlCol="0" anchor="t">
            <a:normAutofit/>
          </a:bodyPr>
          <a:lstStyle/>
          <a:p>
            <a:pPr algn="l" indent="0" marL="0">
              <a:lnSpc>
                <a:spcPts val="3360"/>
              </a:lnSpc>
              <a:buNone/>
            </a:pPr>
            <a:r>
              <a:rPr lang="en-US" sz="2400" b="1" dirty="0">
                <a:solidFill>
                  <a:srgbClr val="16222C"/>
                </a:solidFill>
                <a:latin typeface="Space Grotesk" pitchFamily="34" charset="0"/>
                <a:ea typeface="Space Grotesk" pitchFamily="34" charset="-122"/>
                <a:cs typeface="Space Grotesk" pitchFamily="34" charset="-120"/>
              </a:rPr>
              <a:t>5,687</a:t>
            </a:r>
            <a:endParaRPr lang="en-US" sz="2400" dirty="0"/>
          </a:p>
        </p:txBody>
      </p:sp>
      <p:sp>
        <p:nvSpPr>
          <p:cNvPr id="7" name="Text 4"/>
          <p:cNvSpPr/>
          <p:nvPr/>
        </p:nvSpPr>
        <p:spPr>
          <a:xfrm>
            <a:off x="1021080" y="5080000"/>
            <a:ext cx="2012594"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3A4852"/>
                </a:solidFill>
                <a:latin typeface="IBM Plex Sans" pitchFamily="34" charset="0"/>
                <a:ea typeface="IBM Plex Sans" pitchFamily="34" charset="-122"/>
                <a:cs typeface="IBM Plex Sans" pitchFamily="34" charset="-120"/>
              </a:rPr>
              <a:t>crashes, national 2024</a:t>
            </a:r>
            <a:endParaRPr lang="en-US" sz="1200" dirty="0"/>
          </a:p>
        </p:txBody>
      </p:sp>
      <p:sp>
        <p:nvSpPr>
          <p:cNvPr id="8" name="Shape 5"/>
          <p:cNvSpPr/>
          <p:nvPr/>
        </p:nvSpPr>
        <p:spPr>
          <a:xfrm>
            <a:off x="3338909" y="4473575"/>
            <a:ext cx="2364264" cy="974090"/>
          </a:xfrm>
          <a:prstGeom prst="roundRect">
            <a:avLst>
              <a:gd name="adj" fmla="val 7497"/>
            </a:avLst>
          </a:prstGeom>
          <a:solidFill>
            <a:srgbClr val="FBFAF6"/>
          </a:solidFill>
          <a:ln w="6350">
            <a:solidFill>
              <a:srgbClr val="DDD8CC"/>
            </a:solidFill>
            <a:prstDash val="solid"/>
          </a:ln>
        </p:spPr>
      </p:sp>
      <p:sp>
        <p:nvSpPr>
          <p:cNvPr id="9" name="Text 6"/>
          <p:cNvSpPr/>
          <p:nvPr/>
        </p:nvSpPr>
        <p:spPr>
          <a:xfrm>
            <a:off x="3544014" y="4627885"/>
            <a:ext cx="2012675" cy="452120"/>
          </a:xfrm>
          <a:prstGeom prst="rect">
            <a:avLst/>
          </a:prstGeom>
          <a:noFill/>
          <a:ln/>
        </p:spPr>
        <p:txBody>
          <a:bodyPr wrap="square" lIns="0" tIns="0" rIns="0" bIns="0" rtlCol="0" anchor="t">
            <a:normAutofit/>
          </a:bodyPr>
          <a:lstStyle/>
          <a:p>
            <a:pPr algn="l" indent="0" marL="0">
              <a:lnSpc>
                <a:spcPts val="3360"/>
              </a:lnSpc>
              <a:buNone/>
            </a:pPr>
            <a:r>
              <a:rPr lang="en-US" sz="2400" b="1" dirty="0">
                <a:solidFill>
                  <a:srgbClr val="16222C"/>
                </a:solidFill>
                <a:latin typeface="Space Grotesk" pitchFamily="34" charset="0"/>
                <a:ea typeface="Space Grotesk" pitchFamily="34" charset="-122"/>
                <a:cs typeface="Space Grotesk" pitchFamily="34" charset="-120"/>
              </a:rPr>
              <a:t>1,169</a:t>
            </a:r>
            <a:endParaRPr lang="en-US" sz="2400" dirty="0"/>
          </a:p>
        </p:txBody>
      </p:sp>
      <p:sp>
        <p:nvSpPr>
          <p:cNvPr id="10" name="Text 7"/>
          <p:cNvSpPr/>
          <p:nvPr/>
        </p:nvSpPr>
        <p:spPr>
          <a:xfrm>
            <a:off x="3544014" y="5080000"/>
            <a:ext cx="2012675"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3A4852"/>
                </a:solidFill>
                <a:latin typeface="IBM Plex Sans" pitchFamily="34" charset="0"/>
                <a:ea typeface="IBM Plex Sans" pitchFamily="34" charset="-122"/>
                <a:cs typeface="IBM Plex Sans" pitchFamily="34" charset="-120"/>
              </a:rPr>
              <a:t>deaths, national 2024</a:t>
            </a:r>
            <a:endParaRPr lang="en-US" sz="1200" dirty="0"/>
          </a:p>
        </p:txBody>
      </p:sp>
      <p:sp>
        <p:nvSpPr>
          <p:cNvPr id="11" name="Shape 8"/>
          <p:cNvSpPr/>
          <p:nvPr/>
        </p:nvSpPr>
        <p:spPr>
          <a:xfrm>
            <a:off x="5861923" y="4473575"/>
            <a:ext cx="2364264" cy="974090"/>
          </a:xfrm>
          <a:prstGeom prst="roundRect">
            <a:avLst>
              <a:gd name="adj" fmla="val 7497"/>
            </a:avLst>
          </a:prstGeom>
          <a:solidFill>
            <a:srgbClr val="FBFAF6"/>
          </a:solidFill>
          <a:ln w="6350">
            <a:solidFill>
              <a:srgbClr val="DDD8CC"/>
            </a:solidFill>
            <a:prstDash val="solid"/>
          </a:ln>
        </p:spPr>
      </p:sp>
      <p:sp>
        <p:nvSpPr>
          <p:cNvPr id="12" name="Text 9"/>
          <p:cNvSpPr/>
          <p:nvPr/>
        </p:nvSpPr>
        <p:spPr>
          <a:xfrm>
            <a:off x="6067028" y="4627885"/>
            <a:ext cx="2012675" cy="452120"/>
          </a:xfrm>
          <a:prstGeom prst="rect">
            <a:avLst/>
          </a:prstGeom>
          <a:noFill/>
          <a:ln/>
        </p:spPr>
        <p:txBody>
          <a:bodyPr wrap="square" lIns="0" tIns="0" rIns="0" bIns="0" rtlCol="0" anchor="t">
            <a:normAutofit/>
          </a:bodyPr>
          <a:lstStyle/>
          <a:p>
            <a:pPr algn="l" indent="0" marL="0">
              <a:lnSpc>
                <a:spcPts val="3360"/>
              </a:lnSpc>
              <a:buNone/>
            </a:pPr>
            <a:r>
              <a:rPr lang="en-US" sz="2400" b="1" dirty="0">
                <a:solidFill>
                  <a:srgbClr val="16222C"/>
                </a:solidFill>
                <a:latin typeface="Space Grotesk" pitchFamily="34" charset="0"/>
                <a:ea typeface="Space Grotesk" pitchFamily="34" charset="-122"/>
                <a:cs typeface="Space Grotesk" pitchFamily="34" charset="-120"/>
              </a:rPr>
              <a:t>7,786</a:t>
            </a:r>
            <a:endParaRPr lang="en-US" sz="2400" dirty="0"/>
          </a:p>
        </p:txBody>
      </p:sp>
      <p:sp>
        <p:nvSpPr>
          <p:cNvPr id="13" name="Text 10"/>
          <p:cNvSpPr/>
          <p:nvPr/>
        </p:nvSpPr>
        <p:spPr>
          <a:xfrm>
            <a:off x="6067028" y="5080000"/>
            <a:ext cx="2012675"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3A4852"/>
                </a:solidFill>
                <a:latin typeface="IBM Plex Sans" pitchFamily="34" charset="0"/>
                <a:ea typeface="IBM Plex Sans" pitchFamily="34" charset="-122"/>
                <a:cs typeface="IBM Plex Sans" pitchFamily="34" charset="-120"/>
              </a:rPr>
              <a:t>injuries, national 2024</a:t>
            </a:r>
            <a:endParaRPr lang="en-US" sz="1200" dirty="0"/>
          </a:p>
        </p:txBody>
      </p:sp>
      <p:sp>
        <p:nvSpPr>
          <p:cNvPr id="14" name="Shape 11"/>
          <p:cNvSpPr/>
          <p:nvPr/>
        </p:nvSpPr>
        <p:spPr>
          <a:xfrm>
            <a:off x="8407162" y="4470400"/>
            <a:ext cx="0" cy="980440"/>
          </a:xfrm>
          <a:prstGeom prst="line">
            <a:avLst/>
          </a:prstGeom>
          <a:noFill/>
          <a:ln w="50800">
            <a:solidFill>
              <a:srgbClr val="D9822B"/>
            </a:solidFill>
            <a:prstDash val="solid"/>
          </a:ln>
        </p:spPr>
      </p:sp>
      <p:sp>
        <p:nvSpPr>
          <p:cNvPr id="15" name="Text 12"/>
          <p:cNvSpPr/>
          <p:nvPr/>
        </p:nvSpPr>
        <p:spPr>
          <a:xfrm>
            <a:off x="8635762" y="4737733"/>
            <a:ext cx="2616445" cy="471170"/>
          </a:xfrm>
          <a:prstGeom prst="rect">
            <a:avLst/>
          </a:prstGeom>
          <a:noFill/>
          <a:ln/>
        </p:spPr>
        <p:txBody>
          <a:bodyPr wrap="square" lIns="0" tIns="0" rIns="0" bIns="0" rtlCol="0" anchor="t">
            <a:normAutofit/>
          </a:bodyPr>
          <a:lstStyle/>
          <a:p>
            <a:pPr algn="l" indent="0" marL="0">
              <a:lnSpc>
                <a:spcPts val="1755"/>
              </a:lnSpc>
              <a:buNone/>
            </a:pPr>
            <a:r>
              <a:rPr lang="en-US" sz="1300" b="1" dirty="0">
                <a:solidFill>
                  <a:srgbClr val="16222C"/>
                </a:solidFill>
                <a:latin typeface="IBM Plex Sans" pitchFamily="34" charset="0"/>
                <a:ea typeface="IBM Plex Sans" pitchFamily="34" charset="-122"/>
                <a:cs typeface="IBM Plex Sans" pitchFamily="34" charset="-120"/>
              </a:rPr>
              <a:t>Cause classes, not a model of our junction.</a:t>
            </a:r>
            <a:endParaRPr lang="en-US" sz="1300" dirty="0"/>
          </a:p>
        </p:txBody>
      </p:sp>
      <p:sp>
        <p:nvSpPr>
          <p:cNvPr id="16" name="Text 13"/>
          <p:cNvSpPr/>
          <p:nvPr/>
        </p:nvSpPr>
        <p:spPr>
          <a:xfrm>
            <a:off x="812800" y="6238242"/>
            <a:ext cx="5119249"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B73"/>
                </a:solidFill>
                <a:latin typeface="IBM Plex Sans" pitchFamily="34" charset="0"/>
                <a:ea typeface="IBM Plex Sans" pitchFamily="34" charset="-122"/>
                <a:cs typeface="IBM Plex Sans" pitchFamily="34" charset="-120"/>
              </a:rPr>
              <a:t>Source: La Presse briefing of the ONSR 2024 balance sheet, 17 Jan 2025</a:t>
            </a:r>
            <a:endParaRPr lang="en-US" sz="1200" dirty="0"/>
          </a:p>
        </p:txBody>
      </p:sp>
      <p:sp>
        <p:nvSpPr>
          <p:cNvPr id="17" name="Text 14"/>
          <p:cNvSpPr/>
          <p:nvPr/>
        </p:nvSpPr>
        <p:spPr>
          <a:xfrm>
            <a:off x="11196320" y="6238242"/>
            <a:ext cx="23368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B73"/>
                </a:solidFill>
                <a:latin typeface="IBM Plex Sans" pitchFamily="34" charset="0"/>
                <a:ea typeface="IBM Plex Sans" pitchFamily="34" charset="-122"/>
                <a:cs typeface="IBM Plex Sans" pitchFamily="34" charset="-120"/>
              </a:rPr>
              <a:t>08</a:t>
            </a:r>
            <a:endParaRPr lang="en-US" sz="12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4F1EA"/>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1F6B72"/>
                </a:solidFill>
                <a:latin typeface="IBM Plex Mono" pitchFamily="34" charset="0"/>
                <a:ea typeface="IBM Plex Mono" pitchFamily="34" charset="-122"/>
                <a:cs typeface="IBM Plex Mono" pitchFamily="34" charset="-120"/>
              </a:rPr>
              <a:t>ROADMAP</a:t>
            </a:r>
            <a:endParaRPr lang="en-US" sz="1200" dirty="0"/>
          </a:p>
        </p:txBody>
      </p:sp>
      <p:sp>
        <p:nvSpPr>
          <p:cNvPr id="3" name="Text 1"/>
          <p:cNvSpPr/>
          <p:nvPr/>
        </p:nvSpPr>
        <p:spPr>
          <a:xfrm>
            <a:off x="812800" y="1127758"/>
            <a:ext cx="10883392" cy="472440"/>
          </a:xfrm>
          <a:prstGeom prst="rect">
            <a:avLst/>
          </a:prstGeom>
          <a:noFill/>
          <a:ln/>
        </p:spPr>
        <p:txBody>
          <a:bodyPr wrap="square" lIns="0" tIns="0" rIns="0" bIns="0" rtlCol="0" anchor="t">
            <a:normAutofit/>
          </a:bodyPr>
          <a:lstStyle/>
          <a:p>
            <a:pPr algn="l" indent="0" marL="0">
              <a:lnSpc>
                <a:spcPts val="3520"/>
              </a:lnSpc>
              <a:buNone/>
            </a:pPr>
            <a:r>
              <a:rPr lang="en-US" sz="3200" b="1" dirty="0">
                <a:solidFill>
                  <a:srgbClr val="16222C"/>
                </a:solidFill>
                <a:latin typeface="Space Grotesk" pitchFamily="34" charset="0"/>
                <a:ea typeface="Space Grotesk" pitchFamily="34" charset="-122"/>
                <a:cs typeface="Space Grotesk" pitchFamily="34" charset="-120"/>
              </a:rPr>
              <a:t>The chain we will walk, step by step</a:t>
            </a:r>
            <a:endParaRPr lang="en-US" sz="3200" dirty="0"/>
          </a:p>
        </p:txBody>
      </p:sp>
      <p:sp>
        <p:nvSpPr>
          <p:cNvPr id="4" name="Shape 2"/>
          <p:cNvSpPr/>
          <p:nvPr/>
        </p:nvSpPr>
        <p:spPr>
          <a:xfrm>
            <a:off x="812800" y="1879600"/>
            <a:ext cx="5950823" cy="340360"/>
          </a:xfrm>
          <a:prstGeom prst="roundRect">
            <a:avLst>
              <a:gd name="adj" fmla="val 14925"/>
            </a:avLst>
          </a:prstGeom>
          <a:solidFill>
            <a:srgbClr val="1F6B72"/>
          </a:solidFill>
          <a:ln/>
        </p:spPr>
      </p:sp>
      <p:sp>
        <p:nvSpPr>
          <p:cNvPr id="5" name="Text 3"/>
          <p:cNvSpPr/>
          <p:nvPr/>
        </p:nvSpPr>
        <p:spPr>
          <a:xfrm>
            <a:off x="939800" y="1943100"/>
            <a:ext cx="5867728" cy="23876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F4F1EA"/>
                </a:solidFill>
                <a:latin typeface="IBM Plex Mono" pitchFamily="34" charset="0"/>
                <a:ea typeface="IBM Plex Mono" pitchFamily="34" charset="-122"/>
                <a:cs typeface="IBM Plex Mono" pitchFamily="34" charset="-120"/>
              </a:rPr>
              <a:t>EMPATHIZE</a:t>
            </a:r>
            <a:endParaRPr lang="en-US" sz="1200" dirty="0"/>
          </a:p>
        </p:txBody>
      </p:sp>
      <p:sp>
        <p:nvSpPr>
          <p:cNvPr id="6" name="Shape 4"/>
          <p:cNvSpPr/>
          <p:nvPr/>
        </p:nvSpPr>
        <p:spPr>
          <a:xfrm>
            <a:off x="815975" y="2324733"/>
            <a:ext cx="1405096" cy="1024890"/>
          </a:xfrm>
          <a:prstGeom prst="roundRect">
            <a:avLst>
              <a:gd name="adj" fmla="val 7125"/>
            </a:avLst>
          </a:prstGeom>
          <a:solidFill>
            <a:srgbClr val="FBFAF6"/>
          </a:solidFill>
          <a:ln w="6350">
            <a:solidFill>
              <a:srgbClr val="DDD8CC"/>
            </a:solidFill>
            <a:prstDash val="solid"/>
          </a:ln>
        </p:spPr>
      </p:sp>
      <p:sp>
        <p:nvSpPr>
          <p:cNvPr id="7" name="Text 5"/>
          <p:cNvSpPr/>
          <p:nvPr/>
        </p:nvSpPr>
        <p:spPr>
          <a:xfrm>
            <a:off x="970280" y="2479042"/>
            <a:ext cx="1147286"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F6B72"/>
                </a:solidFill>
                <a:latin typeface="IBM Plex Mono" pitchFamily="34" charset="0"/>
                <a:ea typeface="IBM Plex Mono" pitchFamily="34" charset="-122"/>
                <a:cs typeface="IBM Plex Mono" pitchFamily="34" charset="-120"/>
              </a:rPr>
              <a:t>01</a:t>
            </a:r>
            <a:endParaRPr lang="en-US" sz="1200" dirty="0"/>
          </a:p>
        </p:txBody>
      </p:sp>
      <p:sp>
        <p:nvSpPr>
          <p:cNvPr id="8" name="Text 6"/>
          <p:cNvSpPr/>
          <p:nvPr/>
        </p:nvSpPr>
        <p:spPr>
          <a:xfrm>
            <a:off x="970280" y="2768600"/>
            <a:ext cx="1147286" cy="45212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16222C"/>
                </a:solidFill>
                <a:latin typeface="Space Grotesk" pitchFamily="34" charset="0"/>
                <a:ea typeface="Space Grotesk" pitchFamily="34" charset="-122"/>
                <a:cs typeface="Space Grotesk" pitchFamily="34" charset="-120"/>
              </a:rPr>
              <a:t>User research</a:t>
            </a:r>
            <a:endParaRPr lang="en-US" sz="1400" dirty="0"/>
          </a:p>
        </p:txBody>
      </p:sp>
      <p:sp>
        <p:nvSpPr>
          <p:cNvPr id="9" name="Shape 7"/>
          <p:cNvSpPr/>
          <p:nvPr/>
        </p:nvSpPr>
        <p:spPr>
          <a:xfrm>
            <a:off x="2329021" y="2324733"/>
            <a:ext cx="1405176" cy="1024890"/>
          </a:xfrm>
          <a:prstGeom prst="roundRect">
            <a:avLst>
              <a:gd name="adj" fmla="val 7125"/>
            </a:avLst>
          </a:prstGeom>
          <a:solidFill>
            <a:srgbClr val="FBFAF6"/>
          </a:solidFill>
          <a:ln w="6350">
            <a:solidFill>
              <a:srgbClr val="DDD8CC"/>
            </a:solidFill>
            <a:prstDash val="solid"/>
          </a:ln>
        </p:spPr>
      </p:sp>
      <p:sp>
        <p:nvSpPr>
          <p:cNvPr id="10" name="Text 8"/>
          <p:cNvSpPr/>
          <p:nvPr/>
        </p:nvSpPr>
        <p:spPr>
          <a:xfrm>
            <a:off x="2483326" y="2479042"/>
            <a:ext cx="1147366"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F6B72"/>
                </a:solidFill>
                <a:latin typeface="IBM Plex Mono" pitchFamily="34" charset="0"/>
                <a:ea typeface="IBM Plex Mono" pitchFamily="34" charset="-122"/>
                <a:cs typeface="IBM Plex Mono" pitchFamily="34" charset="-120"/>
              </a:rPr>
              <a:t>02</a:t>
            </a:r>
            <a:endParaRPr lang="en-US" sz="1200" dirty="0"/>
          </a:p>
        </p:txBody>
      </p:sp>
      <p:sp>
        <p:nvSpPr>
          <p:cNvPr id="11" name="Text 9"/>
          <p:cNvSpPr/>
          <p:nvPr/>
        </p:nvSpPr>
        <p:spPr>
          <a:xfrm>
            <a:off x="2483326" y="2768600"/>
            <a:ext cx="1147366" cy="23876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16222C"/>
                </a:solidFill>
                <a:latin typeface="Space Grotesk" pitchFamily="34" charset="0"/>
                <a:ea typeface="Space Grotesk" pitchFamily="34" charset="-122"/>
                <a:cs typeface="Space Grotesk" pitchFamily="34" charset="-120"/>
              </a:rPr>
              <a:t>Evidence</a:t>
            </a:r>
            <a:endParaRPr lang="en-US" sz="1400" dirty="0"/>
          </a:p>
        </p:txBody>
      </p:sp>
      <p:sp>
        <p:nvSpPr>
          <p:cNvPr id="12" name="Shape 10"/>
          <p:cNvSpPr/>
          <p:nvPr/>
        </p:nvSpPr>
        <p:spPr>
          <a:xfrm>
            <a:off x="3842147" y="2324733"/>
            <a:ext cx="1405176" cy="1024890"/>
          </a:xfrm>
          <a:prstGeom prst="roundRect">
            <a:avLst>
              <a:gd name="adj" fmla="val 7125"/>
            </a:avLst>
          </a:prstGeom>
          <a:solidFill>
            <a:srgbClr val="FBFAF6"/>
          </a:solidFill>
          <a:ln w="6350">
            <a:solidFill>
              <a:srgbClr val="DDD8CC"/>
            </a:solidFill>
            <a:prstDash val="solid"/>
          </a:ln>
        </p:spPr>
      </p:sp>
      <p:sp>
        <p:nvSpPr>
          <p:cNvPr id="13" name="Text 11"/>
          <p:cNvSpPr/>
          <p:nvPr/>
        </p:nvSpPr>
        <p:spPr>
          <a:xfrm>
            <a:off x="3996452" y="2479042"/>
            <a:ext cx="1147366"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F6B72"/>
                </a:solidFill>
                <a:latin typeface="IBM Plex Mono" pitchFamily="34" charset="0"/>
                <a:ea typeface="IBM Plex Mono" pitchFamily="34" charset="-122"/>
                <a:cs typeface="IBM Plex Mono" pitchFamily="34" charset="-120"/>
              </a:rPr>
              <a:t>03</a:t>
            </a:r>
            <a:endParaRPr lang="en-US" sz="1200" dirty="0"/>
          </a:p>
        </p:txBody>
      </p:sp>
      <p:sp>
        <p:nvSpPr>
          <p:cNvPr id="14" name="Text 12"/>
          <p:cNvSpPr/>
          <p:nvPr/>
        </p:nvSpPr>
        <p:spPr>
          <a:xfrm>
            <a:off x="3996452" y="2768600"/>
            <a:ext cx="1147366" cy="23876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16222C"/>
                </a:solidFill>
                <a:latin typeface="Space Grotesk" pitchFamily="34" charset="0"/>
                <a:ea typeface="Space Grotesk" pitchFamily="34" charset="-122"/>
                <a:cs typeface="Space Grotesk" pitchFamily="34" charset="-120"/>
              </a:rPr>
              <a:t>Personas</a:t>
            </a:r>
            <a:endParaRPr lang="en-US" sz="1400" dirty="0"/>
          </a:p>
        </p:txBody>
      </p:sp>
      <p:sp>
        <p:nvSpPr>
          <p:cNvPr id="15" name="Shape 13"/>
          <p:cNvSpPr/>
          <p:nvPr/>
        </p:nvSpPr>
        <p:spPr>
          <a:xfrm>
            <a:off x="5355273" y="2324733"/>
            <a:ext cx="1405176" cy="1024890"/>
          </a:xfrm>
          <a:prstGeom prst="roundRect">
            <a:avLst>
              <a:gd name="adj" fmla="val 7125"/>
            </a:avLst>
          </a:prstGeom>
          <a:solidFill>
            <a:srgbClr val="FBFAF6"/>
          </a:solidFill>
          <a:ln w="6350">
            <a:solidFill>
              <a:srgbClr val="DDD8CC"/>
            </a:solidFill>
            <a:prstDash val="solid"/>
          </a:ln>
        </p:spPr>
      </p:sp>
      <p:sp>
        <p:nvSpPr>
          <p:cNvPr id="16" name="Text 14"/>
          <p:cNvSpPr/>
          <p:nvPr/>
        </p:nvSpPr>
        <p:spPr>
          <a:xfrm>
            <a:off x="5509578" y="2479042"/>
            <a:ext cx="1147366"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F6B72"/>
                </a:solidFill>
                <a:latin typeface="IBM Plex Mono" pitchFamily="34" charset="0"/>
                <a:ea typeface="IBM Plex Mono" pitchFamily="34" charset="-122"/>
                <a:cs typeface="IBM Plex Mono" pitchFamily="34" charset="-120"/>
              </a:rPr>
              <a:t>04</a:t>
            </a:r>
            <a:endParaRPr lang="en-US" sz="1200" dirty="0"/>
          </a:p>
        </p:txBody>
      </p:sp>
      <p:sp>
        <p:nvSpPr>
          <p:cNvPr id="17" name="Text 15"/>
          <p:cNvSpPr/>
          <p:nvPr/>
        </p:nvSpPr>
        <p:spPr>
          <a:xfrm>
            <a:off x="5509578" y="2768600"/>
            <a:ext cx="1147366" cy="45212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16222C"/>
                </a:solidFill>
                <a:latin typeface="Space Grotesk" pitchFamily="34" charset="0"/>
                <a:ea typeface="Space Grotesk" pitchFamily="34" charset="-122"/>
                <a:cs typeface="Space Grotesk" pitchFamily="34" charset="-120"/>
              </a:rPr>
              <a:t>Needs &amp; pain points</a:t>
            </a:r>
            <a:endParaRPr lang="en-US" sz="1400" dirty="0"/>
          </a:p>
        </p:txBody>
      </p:sp>
      <p:sp>
        <p:nvSpPr>
          <p:cNvPr id="18" name="Shape 16"/>
          <p:cNvSpPr/>
          <p:nvPr/>
        </p:nvSpPr>
        <p:spPr>
          <a:xfrm>
            <a:off x="6916024" y="1879600"/>
            <a:ext cx="4463177" cy="340360"/>
          </a:xfrm>
          <a:prstGeom prst="roundRect">
            <a:avLst>
              <a:gd name="adj" fmla="val 14925"/>
            </a:avLst>
          </a:prstGeom>
          <a:solidFill>
            <a:srgbClr val="E8A33D"/>
          </a:solidFill>
          <a:ln/>
        </p:spPr>
      </p:sp>
      <p:sp>
        <p:nvSpPr>
          <p:cNvPr id="19" name="Text 17"/>
          <p:cNvSpPr/>
          <p:nvPr/>
        </p:nvSpPr>
        <p:spPr>
          <a:xfrm>
            <a:off x="7043024" y="1943100"/>
            <a:ext cx="4335452" cy="23876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16222C"/>
                </a:solidFill>
                <a:latin typeface="IBM Plex Mono" pitchFamily="34" charset="0"/>
                <a:ea typeface="IBM Plex Mono" pitchFamily="34" charset="-122"/>
                <a:cs typeface="IBM Plex Mono" pitchFamily="34" charset="-120"/>
              </a:rPr>
              <a:t>IDEATION</a:t>
            </a:r>
            <a:endParaRPr lang="en-US" sz="1200" dirty="0"/>
          </a:p>
        </p:txBody>
      </p:sp>
      <p:sp>
        <p:nvSpPr>
          <p:cNvPr id="20" name="Shape 18"/>
          <p:cNvSpPr/>
          <p:nvPr/>
        </p:nvSpPr>
        <p:spPr>
          <a:xfrm>
            <a:off x="6919199" y="2324733"/>
            <a:ext cx="1417003" cy="1024890"/>
          </a:xfrm>
          <a:prstGeom prst="roundRect">
            <a:avLst>
              <a:gd name="adj" fmla="val 7125"/>
            </a:avLst>
          </a:prstGeom>
          <a:solidFill>
            <a:srgbClr val="FBFAF6"/>
          </a:solidFill>
          <a:ln w="6350">
            <a:solidFill>
              <a:srgbClr val="DDD8CC"/>
            </a:solidFill>
            <a:prstDash val="solid"/>
          </a:ln>
        </p:spPr>
      </p:sp>
      <p:sp>
        <p:nvSpPr>
          <p:cNvPr id="21" name="Text 19"/>
          <p:cNvSpPr/>
          <p:nvPr/>
        </p:nvSpPr>
        <p:spPr>
          <a:xfrm>
            <a:off x="7073503" y="2479042"/>
            <a:ext cx="1159193"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F6B72"/>
                </a:solidFill>
                <a:latin typeface="IBM Plex Mono" pitchFamily="34" charset="0"/>
                <a:ea typeface="IBM Plex Mono" pitchFamily="34" charset="-122"/>
                <a:cs typeface="IBM Plex Mono" pitchFamily="34" charset="-120"/>
              </a:rPr>
              <a:t>05</a:t>
            </a:r>
            <a:endParaRPr lang="en-US" sz="1200" dirty="0"/>
          </a:p>
        </p:txBody>
      </p:sp>
      <p:sp>
        <p:nvSpPr>
          <p:cNvPr id="22" name="Text 20"/>
          <p:cNvSpPr/>
          <p:nvPr/>
        </p:nvSpPr>
        <p:spPr>
          <a:xfrm>
            <a:off x="7073503" y="2768600"/>
            <a:ext cx="1159193" cy="45212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16222C"/>
                </a:solidFill>
                <a:latin typeface="Space Grotesk" pitchFamily="34" charset="0"/>
                <a:ea typeface="Space Grotesk" pitchFamily="34" charset="-122"/>
                <a:cs typeface="Space Grotesk" pitchFamily="34" charset="-120"/>
              </a:rPr>
              <a:t>Problem statement</a:t>
            </a:r>
            <a:endParaRPr lang="en-US" sz="1400" dirty="0"/>
          </a:p>
        </p:txBody>
      </p:sp>
      <p:sp>
        <p:nvSpPr>
          <p:cNvPr id="23" name="Shape 21"/>
          <p:cNvSpPr/>
          <p:nvPr/>
        </p:nvSpPr>
        <p:spPr>
          <a:xfrm>
            <a:off x="8444150" y="2324733"/>
            <a:ext cx="1417082" cy="1024890"/>
          </a:xfrm>
          <a:prstGeom prst="roundRect">
            <a:avLst>
              <a:gd name="adj" fmla="val 7125"/>
            </a:avLst>
          </a:prstGeom>
          <a:solidFill>
            <a:srgbClr val="FBFAF6"/>
          </a:solidFill>
          <a:ln w="6350">
            <a:solidFill>
              <a:srgbClr val="DDD8CC"/>
            </a:solidFill>
            <a:prstDash val="solid"/>
          </a:ln>
        </p:spPr>
      </p:sp>
      <p:sp>
        <p:nvSpPr>
          <p:cNvPr id="24" name="Text 22"/>
          <p:cNvSpPr/>
          <p:nvPr/>
        </p:nvSpPr>
        <p:spPr>
          <a:xfrm>
            <a:off x="8598456" y="2479042"/>
            <a:ext cx="1159272"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F6B72"/>
                </a:solidFill>
                <a:latin typeface="IBM Plex Mono" pitchFamily="34" charset="0"/>
                <a:ea typeface="IBM Plex Mono" pitchFamily="34" charset="-122"/>
                <a:cs typeface="IBM Plex Mono" pitchFamily="34" charset="-120"/>
              </a:rPr>
              <a:t>06</a:t>
            </a:r>
            <a:endParaRPr lang="en-US" sz="1200" dirty="0"/>
          </a:p>
        </p:txBody>
      </p:sp>
      <p:sp>
        <p:nvSpPr>
          <p:cNvPr id="25" name="Text 23"/>
          <p:cNvSpPr/>
          <p:nvPr/>
        </p:nvSpPr>
        <p:spPr>
          <a:xfrm>
            <a:off x="8598456" y="2768600"/>
            <a:ext cx="1159272" cy="23876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16222C"/>
                </a:solidFill>
                <a:latin typeface="Space Grotesk" pitchFamily="34" charset="0"/>
                <a:ea typeface="Space Grotesk" pitchFamily="34" charset="-122"/>
                <a:cs typeface="Space Grotesk" pitchFamily="34" charset="-120"/>
              </a:rPr>
              <a:t>Ideas</a:t>
            </a:r>
            <a:endParaRPr lang="en-US" sz="1400" dirty="0"/>
          </a:p>
        </p:txBody>
      </p:sp>
      <p:sp>
        <p:nvSpPr>
          <p:cNvPr id="26" name="Shape 24"/>
          <p:cNvSpPr/>
          <p:nvPr/>
        </p:nvSpPr>
        <p:spPr>
          <a:xfrm>
            <a:off x="9966008" y="2321558"/>
            <a:ext cx="1413193" cy="1031240"/>
          </a:xfrm>
          <a:prstGeom prst="roundRect">
            <a:avLst>
              <a:gd name="adj" fmla="val 7389"/>
            </a:avLst>
          </a:prstGeom>
          <a:solidFill>
            <a:srgbClr val="16222C"/>
          </a:solidFill>
          <a:ln/>
        </p:spPr>
      </p:sp>
      <p:sp>
        <p:nvSpPr>
          <p:cNvPr id="27" name="Text 25"/>
          <p:cNvSpPr/>
          <p:nvPr/>
        </p:nvSpPr>
        <p:spPr>
          <a:xfrm>
            <a:off x="10118408" y="2473958"/>
            <a:ext cx="1159193"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E8A33D"/>
                </a:solidFill>
                <a:latin typeface="IBM Plex Mono" pitchFamily="34" charset="0"/>
                <a:ea typeface="IBM Plex Mono" pitchFamily="34" charset="-122"/>
                <a:cs typeface="IBM Plex Mono" pitchFamily="34" charset="-120"/>
              </a:rPr>
              <a:t>07</a:t>
            </a:r>
            <a:endParaRPr lang="en-US" sz="1200" dirty="0"/>
          </a:p>
        </p:txBody>
      </p:sp>
      <p:sp>
        <p:nvSpPr>
          <p:cNvPr id="28" name="Text 26"/>
          <p:cNvSpPr/>
          <p:nvPr/>
        </p:nvSpPr>
        <p:spPr>
          <a:xfrm>
            <a:off x="10118408" y="2763527"/>
            <a:ext cx="1159193" cy="45212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F4F1EA"/>
                </a:solidFill>
                <a:latin typeface="Space Grotesk" pitchFamily="34" charset="0"/>
                <a:ea typeface="Space Grotesk" pitchFamily="34" charset="-122"/>
                <a:cs typeface="Space Grotesk" pitchFamily="34" charset="-120"/>
              </a:rPr>
              <a:t>Selected solution</a:t>
            </a:r>
            <a:endParaRPr lang="en-US" sz="1400" dirty="0"/>
          </a:p>
        </p:txBody>
      </p:sp>
      <p:sp>
        <p:nvSpPr>
          <p:cNvPr id="29" name="Text 27"/>
          <p:cNvSpPr/>
          <p:nvPr/>
        </p:nvSpPr>
        <p:spPr>
          <a:xfrm>
            <a:off x="812800" y="3657600"/>
            <a:ext cx="8502650" cy="322580"/>
          </a:xfrm>
          <a:prstGeom prst="rect">
            <a:avLst/>
          </a:prstGeom>
          <a:noFill/>
          <a:ln/>
        </p:spPr>
        <p:txBody>
          <a:bodyPr wrap="square" lIns="0" tIns="0" rIns="0" bIns="0" rtlCol="0" anchor="t">
            <a:normAutofit/>
          </a:bodyPr>
          <a:lstStyle/>
          <a:p>
            <a:pPr algn="l" indent="0" marL="0">
              <a:lnSpc>
                <a:spcPts val="2340"/>
              </a:lnSpc>
              <a:buNone/>
            </a:pPr>
            <a:r>
              <a:rPr lang="en-US" sz="1800" dirty="0">
                <a:solidFill>
                  <a:srgbClr val="16222C"/>
                </a:solidFill>
                <a:latin typeface="Space Grotesk" pitchFamily="34" charset="0"/>
                <a:ea typeface="Space Grotesk" pitchFamily="34" charset="-122"/>
                <a:cs typeface="Space Grotesk" pitchFamily="34" charset="-120"/>
              </a:rPr>
              <a:t>Every step keeps a source. Where we have no data, the cell stays empty.</a:t>
            </a:r>
            <a:endParaRPr lang="en-US" sz="1800" dirty="0"/>
          </a:p>
        </p:txBody>
      </p:sp>
      <p:sp>
        <p:nvSpPr>
          <p:cNvPr id="30" name="Text 28"/>
          <p:cNvSpPr/>
          <p:nvPr/>
        </p:nvSpPr>
        <p:spPr>
          <a:xfrm>
            <a:off x="812800" y="6238242"/>
            <a:ext cx="2295715"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B73"/>
                </a:solidFill>
                <a:latin typeface="IBM Plex Sans" pitchFamily="34" charset="0"/>
                <a:ea typeface="IBM Plex Sans" pitchFamily="34" charset="-122"/>
                <a:cs typeface="IBM Plex Sans" pitchFamily="34" charset="-120"/>
              </a:rPr>
              <a:t>CoFlow-5 Synapse · ESPRIT 4DS</a:t>
            </a:r>
            <a:endParaRPr lang="en-US" sz="1200" dirty="0"/>
          </a:p>
        </p:txBody>
      </p:sp>
      <p:sp>
        <p:nvSpPr>
          <p:cNvPr id="31" name="Text 29"/>
          <p:cNvSpPr/>
          <p:nvPr/>
        </p:nvSpPr>
        <p:spPr>
          <a:xfrm>
            <a:off x="11196320" y="6238242"/>
            <a:ext cx="23368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B73"/>
                </a:solidFill>
                <a:latin typeface="IBM Plex Sans" pitchFamily="34" charset="0"/>
                <a:ea typeface="IBM Plex Sans" pitchFamily="34" charset="-122"/>
                <a:cs typeface="IBM Plex Sans" pitchFamily="34" charset="-120"/>
              </a:rPr>
              <a:t>03</a:t>
            </a:r>
            <a:endParaRPr lang="en-US" sz="12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14202B"/>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E8A33D"/>
                </a:solidFill>
                <a:latin typeface="IBM Plex Mono" pitchFamily="34" charset="0"/>
                <a:ea typeface="IBM Plex Mono" pitchFamily="34" charset="-122"/>
                <a:cs typeface="IBM Plex Mono" pitchFamily="34" charset="-120"/>
              </a:rPr>
              <a:t>FRAMING</a:t>
            </a:r>
            <a:endParaRPr lang="en-US" sz="1200" dirty="0"/>
          </a:p>
        </p:txBody>
      </p:sp>
      <p:sp>
        <p:nvSpPr>
          <p:cNvPr id="3" name="Text 1"/>
          <p:cNvSpPr/>
          <p:nvPr/>
        </p:nvSpPr>
        <p:spPr>
          <a:xfrm>
            <a:off x="812800" y="1127758"/>
            <a:ext cx="10883392" cy="472440"/>
          </a:xfrm>
          <a:prstGeom prst="rect">
            <a:avLst/>
          </a:prstGeom>
          <a:noFill/>
          <a:ln/>
        </p:spPr>
        <p:txBody>
          <a:bodyPr wrap="square" lIns="0" tIns="0" rIns="0" bIns="0" rtlCol="0" anchor="t">
            <a:normAutofit/>
          </a:bodyPr>
          <a:lstStyle/>
          <a:p>
            <a:pPr algn="l" indent="0" marL="0">
              <a:lnSpc>
                <a:spcPts val="3520"/>
              </a:lnSpc>
              <a:buNone/>
            </a:pPr>
            <a:r>
              <a:rPr lang="en-US" sz="3200" b="1" dirty="0">
                <a:solidFill>
                  <a:srgbClr val="F4F1EA"/>
                </a:solidFill>
                <a:latin typeface="Space Grotesk" pitchFamily="34" charset="0"/>
                <a:ea typeface="Space Grotesk" pitchFamily="34" charset="-122"/>
                <a:cs typeface="Space Grotesk" pitchFamily="34" charset="-120"/>
              </a:rPr>
              <a:t>One claim, and five things we do not claim</a:t>
            </a:r>
            <a:endParaRPr lang="en-US" sz="3200" dirty="0"/>
          </a:p>
        </p:txBody>
      </p:sp>
      <p:sp>
        <p:nvSpPr>
          <p:cNvPr id="4" name="Shape 2"/>
          <p:cNvSpPr/>
          <p:nvPr/>
        </p:nvSpPr>
        <p:spPr>
          <a:xfrm>
            <a:off x="812800" y="1879600"/>
            <a:ext cx="5601891" cy="2778760"/>
          </a:xfrm>
          <a:prstGeom prst="roundRect">
            <a:avLst>
              <a:gd name="adj" fmla="val 1828"/>
            </a:avLst>
          </a:prstGeom>
          <a:solidFill>
            <a:srgbClr val="1E2E3B"/>
          </a:solidFill>
          <a:ln/>
        </p:spPr>
      </p:sp>
      <p:sp>
        <p:nvSpPr>
          <p:cNvPr id="5" name="Shape 3"/>
          <p:cNvSpPr/>
          <p:nvPr/>
        </p:nvSpPr>
        <p:spPr>
          <a:xfrm>
            <a:off x="812800" y="1879600"/>
            <a:ext cx="5601891" cy="2778760"/>
          </a:xfrm>
          <a:custGeom>
            <a:avLst/>
            <a:gdLst/>
            <a:ahLst/>
            <a:cxnLst/>
            <a:rect l="l" t="t" r="r" b="b"/>
            <a:pathLst>
              <a:path w="5601891" h="2778760">
                <a:moveTo>
                  <a:pt x="50800" y="2778760"/>
                </a:moveTo>
                <a:lnTo>
                  <a:pt x="50800" y="2778760"/>
                </a:lnTo>
                <a:arcTo hR="50800" wR="50800" stAng="5400000" swAng="5400000"/>
                <a:lnTo>
                  <a:pt x="0" y="50800"/>
                </a:lnTo>
                <a:arcTo hR="50800" wR="50800" stAng="10800000" swAng="5400000"/>
                <a:lnTo>
                  <a:pt x="50800" y="0"/>
                </a:lnTo>
                <a:lnTo>
                  <a:pt x="50800" y="2778760"/>
                </a:lnTo>
                <a:close/>
              </a:path>
            </a:pathLst>
          </a:custGeom>
          <a:solidFill>
            <a:srgbClr val="E8A33D"/>
          </a:solidFill>
          <a:ln/>
        </p:spPr>
      </p:sp>
      <p:sp>
        <p:nvSpPr>
          <p:cNvPr id="6" name="Text 4"/>
          <p:cNvSpPr/>
          <p:nvPr/>
        </p:nvSpPr>
        <p:spPr>
          <a:xfrm>
            <a:off x="1117600" y="2133600"/>
            <a:ext cx="5194383" cy="23876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E8A33D"/>
                </a:solidFill>
                <a:latin typeface="IBM Plex Mono" pitchFamily="34" charset="0"/>
                <a:ea typeface="IBM Plex Mono" pitchFamily="34" charset="-122"/>
                <a:cs typeface="IBM Plex Mono" pitchFamily="34" charset="-120"/>
              </a:rPr>
              <a:t>WE CLAIM</a:t>
            </a:r>
            <a:endParaRPr lang="en-US" sz="1200" dirty="0"/>
          </a:p>
        </p:txBody>
      </p:sp>
      <p:sp>
        <p:nvSpPr>
          <p:cNvPr id="7" name="Text 5"/>
          <p:cNvSpPr/>
          <p:nvPr/>
        </p:nvSpPr>
        <p:spPr>
          <a:xfrm>
            <a:off x="1117600" y="2499370"/>
            <a:ext cx="5194383" cy="1073150"/>
          </a:xfrm>
          <a:prstGeom prst="rect">
            <a:avLst/>
          </a:prstGeom>
          <a:noFill/>
          <a:ln/>
        </p:spPr>
        <p:txBody>
          <a:bodyPr wrap="square" lIns="0" tIns="0" rIns="0" bIns="0" rtlCol="0" anchor="t">
            <a:normAutofit/>
          </a:bodyPr>
          <a:lstStyle/>
          <a:p>
            <a:pPr algn="l" indent="0" marL="0">
              <a:lnSpc>
                <a:spcPts val="2750"/>
              </a:lnSpc>
              <a:buNone/>
            </a:pPr>
            <a:r>
              <a:rPr lang="en-US" sz="2200" dirty="0">
                <a:solidFill>
                  <a:srgbClr val="F4F1EA"/>
                </a:solidFill>
                <a:latin typeface="Space Grotesk" pitchFamily="34" charset="0"/>
                <a:ea typeface="Space Grotesk" pitchFamily="34" charset="-122"/>
                <a:cs typeface="Space Grotesk" pitchFamily="34" charset="-120"/>
              </a:rPr>
              <a:t>The system evaluates a constrained incident response </a:t>
            </a:r>
            <a:r>
              <a:rPr lang="en-US" sz="2200" dirty="0">
                <a:solidFill>
                  <a:srgbClr val="E8A33D"/>
                </a:solidFill>
                <a:latin typeface="Space Grotesk" pitchFamily="34" charset="0"/>
                <a:ea typeface="Space Grotesk" pitchFamily="34" charset="-122"/>
                <a:cs typeface="Space Grotesk" pitchFamily="34" charset="-120"/>
              </a:rPr>
              <a:t>in simulation</a:t>
            </a:r>
            <a:r>
              <a:rPr lang="en-US" sz="2200" dirty="0">
                <a:solidFill>
                  <a:srgbClr val="F4F1EA"/>
                </a:solidFill>
                <a:latin typeface="Space Grotesk" pitchFamily="34" charset="0"/>
                <a:ea typeface="Space Grotesk" pitchFamily="34" charset="-122"/>
                <a:cs typeface="Space Grotesk" pitchFamily="34" charset="-120"/>
              </a:rPr>
              <a:t> and keeps a record of each decision.</a:t>
            </a:r>
            <a:endParaRPr lang="en-US" sz="2200" dirty="0"/>
          </a:p>
        </p:txBody>
      </p:sp>
      <p:sp>
        <p:nvSpPr>
          <p:cNvPr id="8" name="Shape 6"/>
          <p:cNvSpPr/>
          <p:nvPr/>
        </p:nvSpPr>
        <p:spPr>
          <a:xfrm>
            <a:off x="6668691" y="1879600"/>
            <a:ext cx="4710509" cy="2778760"/>
          </a:xfrm>
          <a:prstGeom prst="roundRect">
            <a:avLst>
              <a:gd name="adj" fmla="val 1828"/>
            </a:avLst>
          </a:prstGeom>
          <a:solidFill>
            <a:srgbClr val="1E2E3B"/>
          </a:solidFill>
          <a:ln/>
        </p:spPr>
      </p:sp>
      <p:sp>
        <p:nvSpPr>
          <p:cNvPr id="9" name="Text 7"/>
          <p:cNvSpPr/>
          <p:nvPr/>
        </p:nvSpPr>
        <p:spPr>
          <a:xfrm>
            <a:off x="6922691" y="2133600"/>
            <a:ext cx="4328585" cy="23876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A9B4BB"/>
                </a:solidFill>
                <a:latin typeface="IBM Plex Mono" pitchFamily="34" charset="0"/>
                <a:ea typeface="IBM Plex Mono" pitchFamily="34" charset="-122"/>
                <a:cs typeface="IBM Plex Mono" pitchFamily="34" charset="-120"/>
              </a:rPr>
              <a:t>WE DO NOT CLAIM</a:t>
            </a:r>
            <a:endParaRPr lang="en-US" sz="1200" dirty="0"/>
          </a:p>
        </p:txBody>
      </p:sp>
      <p:sp>
        <p:nvSpPr>
          <p:cNvPr id="10" name="Text 8"/>
          <p:cNvSpPr/>
          <p:nvPr/>
        </p:nvSpPr>
        <p:spPr>
          <a:xfrm>
            <a:off x="6922691" y="2473970"/>
            <a:ext cx="4328585" cy="30988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E8A33D"/>
                </a:solidFill>
                <a:latin typeface="IBM Plex Sans" pitchFamily="34" charset="0"/>
                <a:ea typeface="IBM Plex Sans" pitchFamily="34" charset="-122"/>
                <a:cs typeface="IBM Plex Sans" pitchFamily="34" charset="-120"/>
              </a:rPr>
              <a:t>✕</a:t>
            </a:r>
            <a:r>
              <a:rPr lang="en-US" sz="1600" dirty="0">
                <a:solidFill>
                  <a:srgbClr val="F4F1EA"/>
                </a:solidFill>
                <a:latin typeface="IBM Plex Sans" pitchFamily="34" charset="0"/>
                <a:ea typeface="IBM Plex Sans" pitchFamily="34" charset="-122"/>
                <a:cs typeface="IBM Plex Sans" pitchFamily="34" charset="-120"/>
              </a:rPr>
              <a:t> Prevents accidents in Tunisia</a:t>
            </a:r>
            <a:endParaRPr lang="en-US" sz="1600" dirty="0"/>
          </a:p>
        </p:txBody>
      </p:sp>
      <p:sp>
        <p:nvSpPr>
          <p:cNvPr id="11" name="Text 9"/>
          <p:cNvSpPr/>
          <p:nvPr/>
        </p:nvSpPr>
        <p:spPr>
          <a:xfrm>
            <a:off x="6922691" y="2885455"/>
            <a:ext cx="4328585" cy="30988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E8A33D"/>
                </a:solidFill>
                <a:latin typeface="IBM Plex Sans" pitchFamily="34" charset="0"/>
                <a:ea typeface="IBM Plex Sans" pitchFamily="34" charset="-122"/>
                <a:cs typeface="IBM Plex Sans" pitchFamily="34" charset="-120"/>
              </a:rPr>
              <a:t>✕</a:t>
            </a:r>
            <a:r>
              <a:rPr lang="en-US" sz="1600" dirty="0">
                <a:solidFill>
                  <a:srgbClr val="F4F1EA"/>
                </a:solidFill>
                <a:latin typeface="IBM Plex Sans" pitchFamily="34" charset="0"/>
                <a:ea typeface="IBM Plex Sans" pitchFamily="34" charset="-122"/>
                <a:cs typeface="IBM Plex Sans" pitchFamily="34" charset="-120"/>
              </a:rPr>
              <a:t> Lives saved</a:t>
            </a:r>
            <a:endParaRPr lang="en-US" sz="1600" dirty="0"/>
          </a:p>
        </p:txBody>
      </p:sp>
      <p:sp>
        <p:nvSpPr>
          <p:cNvPr id="12" name="Text 10"/>
          <p:cNvSpPr/>
          <p:nvPr/>
        </p:nvSpPr>
        <p:spPr>
          <a:xfrm>
            <a:off x="6922691" y="3296915"/>
            <a:ext cx="4328585" cy="30988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E8A33D"/>
                </a:solidFill>
                <a:latin typeface="IBM Plex Sans" pitchFamily="34" charset="0"/>
                <a:ea typeface="IBM Plex Sans" pitchFamily="34" charset="-122"/>
                <a:cs typeface="IBM Plex Sans" pitchFamily="34" charset="-120"/>
              </a:rPr>
              <a:t>✕</a:t>
            </a:r>
            <a:r>
              <a:rPr lang="en-US" sz="1600" dirty="0">
                <a:solidFill>
                  <a:srgbClr val="F4F1EA"/>
                </a:solidFill>
                <a:latin typeface="IBM Plex Sans" pitchFamily="34" charset="0"/>
                <a:ea typeface="IBM Plex Sans" pitchFamily="34" charset="-122"/>
                <a:cs typeface="IBM Plex Sans" pitchFamily="34" charset="-120"/>
              </a:rPr>
              <a:t> Measured air quality</a:t>
            </a:r>
            <a:endParaRPr lang="en-US" sz="1600" dirty="0"/>
          </a:p>
        </p:txBody>
      </p:sp>
      <p:sp>
        <p:nvSpPr>
          <p:cNvPr id="13" name="Text 11"/>
          <p:cNvSpPr/>
          <p:nvPr/>
        </p:nvSpPr>
        <p:spPr>
          <a:xfrm>
            <a:off x="6922691" y="3708400"/>
            <a:ext cx="4328585" cy="30988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E8A33D"/>
                </a:solidFill>
                <a:latin typeface="IBM Plex Sans" pitchFamily="34" charset="0"/>
                <a:ea typeface="IBM Plex Sans" pitchFamily="34" charset="-122"/>
                <a:cs typeface="IBM Plex Sans" pitchFamily="34" charset="-120"/>
              </a:rPr>
              <a:t>✕</a:t>
            </a:r>
            <a:r>
              <a:rPr lang="en-US" sz="1600" dirty="0">
                <a:solidFill>
                  <a:srgbClr val="F4F1EA"/>
                </a:solidFill>
                <a:latin typeface="IBM Plex Sans" pitchFamily="34" charset="0"/>
                <a:ea typeface="IBM Plex Sans" pitchFamily="34" charset="-122"/>
                <a:cs typeface="IBM Plex Sans" pitchFamily="34" charset="-120"/>
              </a:rPr>
              <a:t> A Tunis deployment</a:t>
            </a:r>
            <a:endParaRPr lang="en-US" sz="1600" dirty="0"/>
          </a:p>
        </p:txBody>
      </p:sp>
      <p:sp>
        <p:nvSpPr>
          <p:cNvPr id="14" name="Text 12"/>
          <p:cNvSpPr/>
          <p:nvPr/>
        </p:nvSpPr>
        <p:spPr>
          <a:xfrm>
            <a:off x="6922691" y="4119885"/>
            <a:ext cx="4328585" cy="30988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E8A33D"/>
                </a:solidFill>
                <a:latin typeface="IBM Plex Sans" pitchFamily="34" charset="0"/>
                <a:ea typeface="IBM Plex Sans" pitchFamily="34" charset="-122"/>
                <a:cs typeface="IBM Plex Sans" pitchFamily="34" charset="-120"/>
              </a:rPr>
              <a:t>✕</a:t>
            </a:r>
            <a:r>
              <a:rPr lang="en-US" sz="1600" dirty="0">
                <a:solidFill>
                  <a:srgbClr val="F4F1EA"/>
                </a:solidFill>
                <a:latin typeface="IBM Plex Sans" pitchFamily="34" charset="0"/>
                <a:ea typeface="IBM Plex Sans" pitchFamily="34" charset="-122"/>
                <a:cs typeface="IBM Plex Sans" pitchFamily="34" charset="-120"/>
              </a:rPr>
              <a:t> A winner from one seed</a:t>
            </a:r>
            <a:endParaRPr lang="en-US" sz="1600" dirty="0"/>
          </a:p>
        </p:txBody>
      </p:sp>
      <p:sp>
        <p:nvSpPr>
          <p:cNvPr id="15" name="Text 13"/>
          <p:cNvSpPr/>
          <p:nvPr/>
        </p:nvSpPr>
        <p:spPr>
          <a:xfrm>
            <a:off x="812800" y="6238255"/>
            <a:ext cx="6791247"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A9B4BB"/>
                </a:solidFill>
                <a:latin typeface="IBM Plex Sans" pitchFamily="34" charset="0"/>
                <a:ea typeface="IBM Plex Sans" pitchFamily="34" charset="-122"/>
                <a:cs typeface="IBM Plex Sans" pitchFamily="34" charset="-120"/>
              </a:rPr>
              <a:t>Persona ages, jobs and statements are design readings, not interviews. Portraits are illustrations.</a:t>
            </a:r>
            <a:endParaRPr lang="en-US" sz="1200" dirty="0"/>
          </a:p>
        </p:txBody>
      </p:sp>
      <p:sp>
        <p:nvSpPr>
          <p:cNvPr id="16" name="Text 14"/>
          <p:cNvSpPr/>
          <p:nvPr/>
        </p:nvSpPr>
        <p:spPr>
          <a:xfrm>
            <a:off x="11196320" y="6238255"/>
            <a:ext cx="23368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A9B4BB"/>
                </a:solidFill>
                <a:latin typeface="IBM Plex Sans" pitchFamily="34" charset="0"/>
                <a:ea typeface="IBM Plex Sans" pitchFamily="34" charset="-122"/>
                <a:cs typeface="IBM Plex Sans" pitchFamily="34" charset="-120"/>
              </a:rPr>
              <a:t>02</a:t>
            </a:r>
            <a:endParaRPr lang="en-US" sz="12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14202B"/>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E8A33D"/>
                </a:solidFill>
                <a:latin typeface="IBM Plex Mono" pitchFamily="34" charset="0"/>
                <a:ea typeface="IBM Plex Mono" pitchFamily="34" charset="-122"/>
                <a:cs typeface="IBM Plex Mono" pitchFamily="34" charset="-120"/>
              </a:rPr>
              <a:t>WHAT TO REMEMBER</a:t>
            </a:r>
            <a:endParaRPr lang="en-US" sz="1200" dirty="0"/>
          </a:p>
        </p:txBody>
      </p:sp>
      <p:sp>
        <p:nvSpPr>
          <p:cNvPr id="3" name="Text 1"/>
          <p:cNvSpPr/>
          <p:nvPr/>
        </p:nvSpPr>
        <p:spPr>
          <a:xfrm>
            <a:off x="812800" y="2235200"/>
            <a:ext cx="10883392" cy="30988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C9D1D6"/>
                </a:solidFill>
                <a:latin typeface="IBM Plex Sans" pitchFamily="34" charset="0"/>
                <a:ea typeface="IBM Plex Sans" pitchFamily="34" charset="-122"/>
                <a:cs typeface="IBM Plex Sans" pitchFamily="34" charset="-120"/>
              </a:rPr>
              <a:t>User research → evidence → personas → needs → problem → ideas → selected solution</a:t>
            </a:r>
            <a:endParaRPr lang="en-US" sz="1600" dirty="0"/>
          </a:p>
        </p:txBody>
      </p:sp>
      <p:sp>
        <p:nvSpPr>
          <p:cNvPr id="4" name="Text 2"/>
          <p:cNvSpPr/>
          <p:nvPr/>
        </p:nvSpPr>
        <p:spPr>
          <a:xfrm>
            <a:off x="812800" y="2773685"/>
            <a:ext cx="10464800" cy="1076960"/>
          </a:xfrm>
          <a:prstGeom prst="rect">
            <a:avLst/>
          </a:prstGeom>
          <a:noFill/>
          <a:ln/>
        </p:spPr>
        <p:txBody>
          <a:bodyPr wrap="square" lIns="0" tIns="0" rIns="0" bIns="0" rtlCol="0" anchor="t">
            <a:normAutofit/>
          </a:bodyPr>
          <a:lstStyle/>
          <a:p>
            <a:pPr algn="l" indent="0" marL="0">
              <a:lnSpc>
                <a:spcPts val="4140"/>
              </a:lnSpc>
              <a:buNone/>
            </a:pPr>
            <a:r>
              <a:rPr lang="en-US" sz="3600" b="1" dirty="0">
                <a:solidFill>
                  <a:srgbClr val="F4F1EA"/>
                </a:solidFill>
                <a:latin typeface="Space Grotesk" pitchFamily="34" charset="0"/>
                <a:ea typeface="Space Grotesk" pitchFamily="34" charset="-122"/>
                <a:cs typeface="Space Grotesk" pitchFamily="34" charset="-120"/>
              </a:rPr>
              <a:t>An auditable simulation that </a:t>
            </a:r>
            <a:r>
              <a:rPr lang="en-US" sz="3600" b="1" dirty="0">
                <a:solidFill>
                  <a:srgbClr val="E8A33D"/>
                </a:solidFill>
                <a:latin typeface="Space Grotesk" pitchFamily="34" charset="0"/>
                <a:ea typeface="Space Grotesk" pitchFamily="34" charset="-122"/>
                <a:cs typeface="Space Grotesk" pitchFamily="34" charset="-120"/>
              </a:rPr>
              <a:t>keeps its evidence</a:t>
            </a:r>
            <a:r>
              <a:rPr lang="en-US" sz="3600" b="1" dirty="0">
                <a:solidFill>
                  <a:srgbClr val="F4F1EA"/>
                </a:solidFill>
                <a:latin typeface="Space Grotesk" pitchFamily="34" charset="0"/>
                <a:ea typeface="Space Grotesk" pitchFamily="34" charset="-122"/>
                <a:cs typeface="Space Grotesk" pitchFamily="34" charset="-120"/>
              </a:rPr>
              <a:t>.</a:t>
            </a:r>
            <a:endParaRPr lang="en-US" sz="3600" dirty="0"/>
          </a:p>
        </p:txBody>
      </p:sp>
      <p:sp>
        <p:nvSpPr>
          <p:cNvPr id="5" name="Text 3"/>
          <p:cNvSpPr/>
          <p:nvPr/>
        </p:nvSpPr>
        <p:spPr>
          <a:xfrm>
            <a:off x="812800" y="4079255"/>
            <a:ext cx="10883392" cy="355600"/>
          </a:xfrm>
          <a:prstGeom prst="rect">
            <a:avLst/>
          </a:prstGeom>
          <a:noFill/>
          <a:ln/>
        </p:spPr>
        <p:txBody>
          <a:bodyPr wrap="square" lIns="0" tIns="0" rIns="0" bIns="0" rtlCol="0" anchor="t">
            <a:normAutofit/>
          </a:bodyPr>
          <a:lstStyle/>
          <a:p>
            <a:pPr algn="l" indent="0" marL="0">
              <a:lnSpc>
                <a:spcPts val="2600"/>
              </a:lnSpc>
              <a:buNone/>
            </a:pPr>
            <a:r>
              <a:rPr lang="en-US" sz="2000" dirty="0">
                <a:solidFill>
                  <a:srgbClr val="C9D1D6"/>
                </a:solidFill>
                <a:latin typeface="Space Grotesk" pitchFamily="34" charset="0"/>
                <a:ea typeface="Space Grotesk" pitchFamily="34" charset="-122"/>
                <a:cs typeface="Space Grotesk" pitchFamily="34" charset="-120"/>
              </a:rPr>
              <a:t>No lives saved. No measured air. No Tunis deployment. No winner.</a:t>
            </a:r>
            <a:endParaRPr lang="en-US" sz="2000" dirty="0"/>
          </a:p>
        </p:txBody>
      </p:sp>
      <p:sp>
        <p:nvSpPr>
          <p:cNvPr id="6" name="Text 4"/>
          <p:cNvSpPr/>
          <p:nvPr/>
        </p:nvSpPr>
        <p:spPr>
          <a:xfrm>
            <a:off x="812800" y="5618485"/>
            <a:ext cx="10883392" cy="452120"/>
          </a:xfrm>
          <a:prstGeom prst="rect">
            <a:avLst/>
          </a:prstGeom>
          <a:noFill/>
          <a:ln/>
        </p:spPr>
        <p:txBody>
          <a:bodyPr wrap="square" lIns="0" tIns="0" rIns="0" bIns="0" rtlCol="0" anchor="t">
            <a:normAutofit/>
          </a:bodyPr>
          <a:lstStyle/>
          <a:p>
            <a:pPr algn="l" indent="0" marL="0">
              <a:lnSpc>
                <a:spcPts val="3360"/>
              </a:lnSpc>
              <a:buNone/>
            </a:pPr>
            <a:r>
              <a:rPr lang="en-US" sz="2400" b="1" dirty="0">
                <a:solidFill>
                  <a:srgbClr val="F4F1EA"/>
                </a:solidFill>
                <a:latin typeface="Space Grotesk" pitchFamily="34" charset="0"/>
                <a:ea typeface="Space Grotesk" pitchFamily="34" charset="-122"/>
                <a:cs typeface="Space Grotesk" pitchFamily="34" charset="-120"/>
              </a:rPr>
              <a:t>Questions</a:t>
            </a:r>
            <a:endParaRPr lang="en-US" sz="24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E9E4D8"/>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1F6B72"/>
                </a:solidFill>
                <a:latin typeface="IBM Plex Mono" pitchFamily="34" charset="0"/>
                <a:ea typeface="IBM Plex Mono" pitchFamily="34" charset="-122"/>
                <a:cs typeface="IBM Plex Mono" pitchFamily="34" charset="-120"/>
              </a:rPr>
              <a:t>UX / UI · OPERATOR CONSOLE CONCEPT</a:t>
            </a:r>
            <a:endParaRPr lang="en-US" sz="1200" dirty="0"/>
          </a:p>
        </p:txBody>
      </p:sp>
      <p:sp>
        <p:nvSpPr>
          <p:cNvPr id="3" name="Text 1"/>
          <p:cNvSpPr/>
          <p:nvPr/>
        </p:nvSpPr>
        <p:spPr>
          <a:xfrm>
            <a:off x="812800" y="1127770"/>
            <a:ext cx="10883392" cy="472440"/>
          </a:xfrm>
          <a:prstGeom prst="rect">
            <a:avLst/>
          </a:prstGeom>
          <a:noFill/>
          <a:ln/>
        </p:spPr>
        <p:txBody>
          <a:bodyPr wrap="square" lIns="0" tIns="0" rIns="0" bIns="0" rtlCol="0" anchor="t">
            <a:normAutofit/>
          </a:bodyPr>
          <a:lstStyle/>
          <a:p>
            <a:pPr algn="l" indent="0" marL="0">
              <a:lnSpc>
                <a:spcPts val="3520"/>
              </a:lnSpc>
              <a:buNone/>
            </a:pPr>
            <a:r>
              <a:rPr lang="en-US" sz="3200" b="1" dirty="0">
                <a:solidFill>
                  <a:srgbClr val="16222C"/>
                </a:solidFill>
                <a:latin typeface="Space Grotesk" pitchFamily="34" charset="0"/>
                <a:ea typeface="Space Grotesk" pitchFamily="34" charset="-122"/>
                <a:cs typeface="Space Grotesk" pitchFamily="34" charset="-120"/>
              </a:rPr>
              <a:t>A console designed for Rosa and Omar</a:t>
            </a:r>
            <a:endParaRPr lang="en-US" sz="3200" dirty="0"/>
          </a:p>
        </p:txBody>
      </p:sp>
      <p:sp>
        <p:nvSpPr>
          <p:cNvPr id="4" name="Shape 2"/>
          <p:cNvSpPr/>
          <p:nvPr/>
        </p:nvSpPr>
        <p:spPr>
          <a:xfrm>
            <a:off x="812800" y="1803400"/>
            <a:ext cx="10566400" cy="2397760"/>
          </a:xfrm>
          <a:prstGeom prst="roundRect">
            <a:avLst>
              <a:gd name="adj" fmla="val 4237"/>
            </a:avLst>
          </a:prstGeom>
          <a:solidFill>
            <a:srgbClr val="16222C"/>
          </a:solidFill>
          <a:ln/>
        </p:spPr>
      </p:sp>
      <p:sp>
        <p:nvSpPr>
          <p:cNvPr id="5" name="Text 3"/>
          <p:cNvSpPr/>
          <p:nvPr/>
        </p:nvSpPr>
        <p:spPr>
          <a:xfrm>
            <a:off x="1016000" y="1981200"/>
            <a:ext cx="5180076"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C9D1D6"/>
                </a:solidFill>
                <a:latin typeface="IBM Plex Mono" pitchFamily="34" charset="0"/>
                <a:ea typeface="IBM Plex Mono" pitchFamily="34" charset="-122"/>
                <a:cs typeface="IBM Plex Mono" pitchFamily="34" charset="-120"/>
              </a:rPr>
              <a:t>CoFlow-5 · junction [J-__] · run [id] · scenario [hash]</a:t>
            </a:r>
            <a:endParaRPr lang="en-US" sz="1200" dirty="0"/>
          </a:p>
        </p:txBody>
      </p:sp>
      <p:sp>
        <p:nvSpPr>
          <p:cNvPr id="6" name="Shape 4"/>
          <p:cNvSpPr/>
          <p:nvPr/>
        </p:nvSpPr>
        <p:spPr>
          <a:xfrm>
            <a:off x="10058400" y="1955800"/>
            <a:ext cx="1117600" cy="264160"/>
          </a:xfrm>
          <a:prstGeom prst="roundRect">
            <a:avLst>
              <a:gd name="adj" fmla="val 14423"/>
            </a:avLst>
          </a:prstGeom>
          <a:solidFill>
            <a:srgbClr val="E8A33D"/>
          </a:solidFill>
          <a:ln/>
        </p:spPr>
      </p:sp>
      <p:sp>
        <p:nvSpPr>
          <p:cNvPr id="7" name="Text 5"/>
          <p:cNvSpPr/>
          <p:nvPr/>
        </p:nvSpPr>
        <p:spPr>
          <a:xfrm>
            <a:off x="10160000" y="1981200"/>
            <a:ext cx="96520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6222C"/>
                </a:solidFill>
                <a:latin typeface="IBM Plex Mono" pitchFamily="34" charset="0"/>
                <a:ea typeface="IBM Plex Mono" pitchFamily="34" charset="-122"/>
                <a:cs typeface="IBM Plex Mono" pitchFamily="34" charset="-120"/>
              </a:rPr>
              <a:t>SIMULATION</a:t>
            </a:r>
            <a:endParaRPr lang="en-US" sz="1200" dirty="0"/>
          </a:p>
        </p:txBody>
      </p:sp>
      <p:sp>
        <p:nvSpPr>
          <p:cNvPr id="8" name="Shape 6"/>
          <p:cNvSpPr/>
          <p:nvPr/>
        </p:nvSpPr>
        <p:spPr>
          <a:xfrm>
            <a:off x="965200" y="2321570"/>
            <a:ext cx="3162300" cy="1727200"/>
          </a:xfrm>
          <a:prstGeom prst="roundRect">
            <a:avLst>
              <a:gd name="adj" fmla="val 4412"/>
            </a:avLst>
          </a:prstGeom>
          <a:solidFill>
            <a:srgbClr val="1E2E3B"/>
          </a:solidFill>
          <a:ln/>
        </p:spPr>
      </p:sp>
      <p:sp>
        <p:nvSpPr>
          <p:cNvPr id="9" name="Text 7"/>
          <p:cNvSpPr/>
          <p:nvPr/>
        </p:nvSpPr>
        <p:spPr>
          <a:xfrm>
            <a:off x="1117600" y="2473970"/>
            <a:ext cx="2943225"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E8A33D"/>
                </a:solidFill>
                <a:latin typeface="IBM Plex Mono" pitchFamily="34" charset="0"/>
                <a:ea typeface="IBM Plex Mono" pitchFamily="34" charset="-122"/>
                <a:cs typeface="IBM Plex Mono" pitchFamily="34" charset="-120"/>
              </a:rPr>
              <a:t>A4 · CONDITION</a:t>
            </a:r>
            <a:endParaRPr lang="en-US" sz="1200" dirty="0"/>
          </a:p>
        </p:txBody>
      </p:sp>
      <p:sp>
        <p:nvSpPr>
          <p:cNvPr id="10" name="Text 8"/>
          <p:cNvSpPr/>
          <p:nvPr/>
        </p:nvSpPr>
        <p:spPr>
          <a:xfrm>
            <a:off x="1117600" y="2763515"/>
            <a:ext cx="2943225" cy="23876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F4F1EA"/>
                </a:solidFill>
                <a:latin typeface="Space Grotesk" pitchFamily="34" charset="0"/>
                <a:ea typeface="Space Grotesk" pitchFamily="34" charset="-122"/>
                <a:cs typeface="Space Grotesk" pitchFamily="34" charset="-120"/>
              </a:rPr>
              <a:t>Incident or congestion</a:t>
            </a:r>
            <a:endParaRPr lang="en-US" sz="1400" dirty="0"/>
          </a:p>
        </p:txBody>
      </p:sp>
      <p:sp>
        <p:nvSpPr>
          <p:cNvPr id="11" name="Text 9"/>
          <p:cNvSpPr/>
          <p:nvPr/>
        </p:nvSpPr>
        <p:spPr>
          <a:xfrm>
            <a:off x="1117600" y="3053085"/>
            <a:ext cx="2943225"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C9D1D6"/>
                </a:solidFill>
                <a:latin typeface="IBM Plex Sans" pitchFamily="34" charset="0"/>
                <a:ea typeface="IBM Plex Sans" pitchFamily="34" charset="-122"/>
                <a:cs typeface="IBM Plex Sans" pitchFamily="34" charset="-120"/>
              </a:rPr>
              <a:t>Confidence: [value]</a:t>
            </a:r>
            <a:endParaRPr lang="en-US" sz="1200" dirty="0"/>
          </a:p>
        </p:txBody>
      </p:sp>
      <p:sp>
        <p:nvSpPr>
          <p:cNvPr id="12" name="Shape 10"/>
          <p:cNvSpPr/>
          <p:nvPr/>
        </p:nvSpPr>
        <p:spPr>
          <a:xfrm>
            <a:off x="1117600" y="3342655"/>
            <a:ext cx="2857500" cy="264160"/>
          </a:xfrm>
          <a:prstGeom prst="roundRect">
            <a:avLst>
              <a:gd name="adj" fmla="val 14423"/>
            </a:avLst>
          </a:prstGeom>
          <a:solidFill>
            <a:srgbClr val="E8A33D"/>
          </a:solidFill>
          <a:ln/>
        </p:spPr>
      </p:sp>
      <p:sp>
        <p:nvSpPr>
          <p:cNvPr id="13" name="Text 11"/>
          <p:cNvSpPr/>
          <p:nvPr/>
        </p:nvSpPr>
        <p:spPr>
          <a:xfrm>
            <a:off x="1193800" y="3368055"/>
            <a:ext cx="2786253"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6222C"/>
                </a:solidFill>
                <a:latin typeface="IBM Plex Sans" pitchFamily="34" charset="0"/>
                <a:ea typeface="IBM Plex Sans" pitchFamily="34" charset="-122"/>
                <a:cs typeface="IBM Plex Sans" pitchFamily="34" charset="-120"/>
              </a:rPr>
              <a:t>STALE · last update [hh:mm]</a:t>
            </a:r>
            <a:endParaRPr lang="en-US" sz="1200" dirty="0"/>
          </a:p>
        </p:txBody>
      </p:sp>
      <p:sp>
        <p:nvSpPr>
          <p:cNvPr id="14" name="Text 12"/>
          <p:cNvSpPr/>
          <p:nvPr/>
        </p:nvSpPr>
        <p:spPr>
          <a:xfrm>
            <a:off x="1117600" y="3683000"/>
            <a:ext cx="2943225"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C9D1D6"/>
                </a:solidFill>
                <a:latin typeface="IBM Plex Sans" pitchFamily="34" charset="0"/>
                <a:ea typeface="IBM Plex Sans" pitchFamily="34" charset="-122"/>
                <a:cs typeface="IBM Plex Sans" pitchFamily="34" charset="-120"/>
              </a:rPr>
              <a:t>Cause: not named</a:t>
            </a:r>
            <a:endParaRPr lang="en-US" sz="1200" dirty="0"/>
          </a:p>
        </p:txBody>
      </p:sp>
      <p:sp>
        <p:nvSpPr>
          <p:cNvPr id="15" name="Shape 13"/>
          <p:cNvSpPr/>
          <p:nvPr/>
        </p:nvSpPr>
        <p:spPr>
          <a:xfrm>
            <a:off x="4229100" y="2321570"/>
            <a:ext cx="3733800" cy="1727200"/>
          </a:xfrm>
          <a:prstGeom prst="roundRect">
            <a:avLst>
              <a:gd name="adj" fmla="val 4412"/>
            </a:avLst>
          </a:prstGeom>
          <a:solidFill>
            <a:srgbClr val="1E2E3B"/>
          </a:solidFill>
          <a:ln/>
        </p:spPr>
      </p:sp>
      <p:sp>
        <p:nvSpPr>
          <p:cNvPr id="16" name="Text 14"/>
          <p:cNvSpPr/>
          <p:nvPr/>
        </p:nvSpPr>
        <p:spPr>
          <a:xfrm>
            <a:off x="4381500" y="2473970"/>
            <a:ext cx="353187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E8A33D"/>
                </a:solidFill>
                <a:latin typeface="IBM Plex Mono" pitchFamily="34" charset="0"/>
                <a:ea typeface="IBM Plex Mono" pitchFamily="34" charset="-122"/>
                <a:cs typeface="IBM Plex Mono" pitchFamily="34" charset="-120"/>
              </a:rPr>
              <a:t>DECISION LOG</a:t>
            </a:r>
            <a:endParaRPr lang="en-US" sz="1200" dirty="0"/>
          </a:p>
        </p:txBody>
      </p:sp>
      <p:sp>
        <p:nvSpPr>
          <p:cNvPr id="17" name="Text 15"/>
          <p:cNvSpPr/>
          <p:nvPr/>
        </p:nvSpPr>
        <p:spPr>
          <a:xfrm>
            <a:off x="4381500" y="2763515"/>
            <a:ext cx="353187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F4F1EA"/>
                </a:solidFill>
                <a:latin typeface="IBM Plex Sans" pitchFamily="34" charset="0"/>
                <a:ea typeface="IBM Plex Sans" pitchFamily="34" charset="-122"/>
                <a:cs typeface="IBM Plex Sans" pitchFamily="34" charset="-120"/>
              </a:rPr>
              <a:t>A2 ambulance · </a:t>
            </a:r>
            <a:r>
              <a:rPr lang="en-US" sz="1200" dirty="0">
                <a:solidFill>
                  <a:srgbClr val="7FC4C9"/>
                </a:solidFill>
                <a:latin typeface="IBM Plex Sans" pitchFamily="34" charset="0"/>
                <a:ea typeface="IBM Plex Sans" pitchFamily="34" charset="-122"/>
                <a:cs typeface="IBM Plex Sans" pitchFamily="34" charset="-120"/>
              </a:rPr>
              <a:t>GRANTED</a:t>
            </a:r>
            <a:r>
              <a:rPr lang="en-US" sz="1200" dirty="0">
                <a:solidFill>
                  <a:srgbClr val="F4F1EA"/>
                </a:solidFill>
                <a:latin typeface="IBM Plex Sans" pitchFamily="34" charset="0"/>
                <a:ea typeface="IBM Plex Sans" pitchFamily="34" charset="-122"/>
                <a:cs typeface="IBM Plex Sans" pitchFamily="34" charset="-120"/>
              </a:rPr>
              <a:t> · exit clear</a:t>
            </a:r>
            <a:endParaRPr lang="en-US" sz="1200" dirty="0"/>
          </a:p>
        </p:txBody>
      </p:sp>
      <p:sp>
        <p:nvSpPr>
          <p:cNvPr id="18" name="Text 16"/>
          <p:cNvSpPr/>
          <p:nvPr/>
        </p:nvSpPr>
        <p:spPr>
          <a:xfrm>
            <a:off x="4381500" y="3053085"/>
            <a:ext cx="353187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F4F1EA"/>
                </a:solidFill>
                <a:latin typeface="IBM Plex Sans" pitchFamily="34" charset="0"/>
                <a:ea typeface="IBM Plex Sans" pitchFamily="34" charset="-122"/>
                <a:cs typeface="IBM Plex Sans" pitchFamily="34" charset="-120"/>
              </a:rPr>
              <a:t>A3 bus · </a:t>
            </a:r>
            <a:r>
              <a:rPr lang="en-US" sz="1200" dirty="0">
                <a:solidFill>
                  <a:srgbClr val="F0A868"/>
                </a:solidFill>
                <a:latin typeface="IBM Plex Sans" pitchFamily="34" charset="0"/>
                <a:ea typeface="IBM Plex Sans" pitchFamily="34" charset="-122"/>
                <a:cs typeface="IBM Plex Sans" pitchFamily="34" charset="-120"/>
              </a:rPr>
              <a:t>DENIED</a:t>
            </a:r>
            <a:r>
              <a:rPr lang="en-US" sz="1200" dirty="0">
                <a:solidFill>
                  <a:srgbClr val="F4F1EA"/>
                </a:solidFill>
                <a:latin typeface="IBM Plex Sans" pitchFamily="34" charset="0"/>
                <a:ea typeface="IBM Plex Sans" pitchFamily="34" charset="-122"/>
                <a:cs typeface="IBM Plex Sans" pitchFamily="34" charset="-120"/>
              </a:rPr>
              <a:t> · early, no gap</a:t>
            </a:r>
            <a:endParaRPr lang="en-US" sz="1200" dirty="0"/>
          </a:p>
        </p:txBody>
      </p:sp>
      <p:sp>
        <p:nvSpPr>
          <p:cNvPr id="19" name="Text 17"/>
          <p:cNvSpPr/>
          <p:nvPr/>
        </p:nvSpPr>
        <p:spPr>
          <a:xfrm>
            <a:off x="4381500" y="3342655"/>
            <a:ext cx="353187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F4F1EA"/>
                </a:solidFill>
                <a:latin typeface="IBM Plex Sans" pitchFamily="34" charset="0"/>
                <a:ea typeface="IBM Plex Sans" pitchFamily="34" charset="-122"/>
                <a:cs typeface="IBM Plex Sans" pitchFamily="34" charset="-120"/>
              </a:rPr>
              <a:t>A3 crossing · </a:t>
            </a:r>
            <a:r>
              <a:rPr lang="en-US" sz="1200" dirty="0">
                <a:solidFill>
                  <a:srgbClr val="7FC4C9"/>
                </a:solidFill>
                <a:latin typeface="IBM Plex Sans" pitchFamily="34" charset="0"/>
                <a:ea typeface="IBM Plex Sans" pitchFamily="34" charset="-122"/>
                <a:cs typeface="IBM Plex Sans" pitchFamily="34" charset="-120"/>
              </a:rPr>
              <a:t>HELD</a:t>
            </a:r>
            <a:r>
              <a:rPr lang="en-US" sz="1200" dirty="0">
                <a:solidFill>
                  <a:srgbClr val="F4F1EA"/>
                </a:solidFill>
                <a:latin typeface="IBM Plex Sans" pitchFamily="34" charset="0"/>
                <a:ea typeface="IBM Plex Sans" pitchFamily="34" charset="-122"/>
                <a:cs typeface="IBM Plex Sans" pitchFamily="34" charset="-120"/>
              </a:rPr>
              <a:t> · truncations [n]</a:t>
            </a:r>
            <a:endParaRPr lang="en-US" sz="1200" dirty="0"/>
          </a:p>
        </p:txBody>
      </p:sp>
      <p:sp>
        <p:nvSpPr>
          <p:cNvPr id="20" name="Text 18"/>
          <p:cNvSpPr/>
          <p:nvPr/>
        </p:nvSpPr>
        <p:spPr>
          <a:xfrm>
            <a:off x="4381500" y="3632200"/>
            <a:ext cx="353187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F4F1EA"/>
                </a:solidFill>
                <a:latin typeface="IBM Plex Sans" pitchFamily="34" charset="0"/>
                <a:ea typeface="IBM Plex Sans" pitchFamily="34" charset="-122"/>
                <a:cs typeface="IBM Plex Sans" pitchFamily="34" charset="-120"/>
              </a:rPr>
              <a:t>A5 Route B · </a:t>
            </a:r>
            <a:r>
              <a:rPr lang="en-US" sz="1200" dirty="0">
                <a:solidFill>
                  <a:srgbClr val="C9D1D6"/>
                </a:solidFill>
                <a:latin typeface="IBM Plex Sans" pitchFamily="34" charset="0"/>
                <a:ea typeface="IBM Plex Sans" pitchFamily="34" charset="-122"/>
                <a:cs typeface="IBM Plex Sans" pitchFamily="34" charset="-120"/>
              </a:rPr>
              <a:t>ADVISORY</a:t>
            </a:r>
            <a:endParaRPr lang="en-US" sz="1200" dirty="0"/>
          </a:p>
        </p:txBody>
      </p:sp>
      <p:sp>
        <p:nvSpPr>
          <p:cNvPr id="21" name="Shape 19"/>
          <p:cNvSpPr/>
          <p:nvPr/>
        </p:nvSpPr>
        <p:spPr>
          <a:xfrm>
            <a:off x="8064500" y="2321570"/>
            <a:ext cx="3162300" cy="1727200"/>
          </a:xfrm>
          <a:prstGeom prst="roundRect">
            <a:avLst>
              <a:gd name="adj" fmla="val 4412"/>
            </a:avLst>
          </a:prstGeom>
          <a:solidFill>
            <a:srgbClr val="1E2E3B"/>
          </a:solidFill>
          <a:ln/>
        </p:spPr>
      </p:sp>
      <p:sp>
        <p:nvSpPr>
          <p:cNvPr id="22" name="Text 20"/>
          <p:cNvSpPr/>
          <p:nvPr/>
        </p:nvSpPr>
        <p:spPr>
          <a:xfrm>
            <a:off x="8216900" y="2473970"/>
            <a:ext cx="2943225"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E8A33D"/>
                </a:solidFill>
                <a:latin typeface="IBM Plex Mono" pitchFamily="34" charset="0"/>
                <a:ea typeface="IBM Plex Mono" pitchFamily="34" charset="-122"/>
                <a:cs typeface="IBM Plex Mono" pitchFamily="34" charset="-120"/>
              </a:rPr>
              <a:t>SYNAPSE</a:t>
            </a:r>
            <a:endParaRPr lang="en-US" sz="1200" dirty="0"/>
          </a:p>
        </p:txBody>
      </p:sp>
      <p:sp>
        <p:nvSpPr>
          <p:cNvPr id="23" name="Text 21"/>
          <p:cNvSpPr/>
          <p:nvPr/>
        </p:nvSpPr>
        <p:spPr>
          <a:xfrm>
            <a:off x="8216900" y="2763515"/>
            <a:ext cx="2943225" cy="238760"/>
          </a:xfrm>
          <a:prstGeom prst="rect">
            <a:avLst/>
          </a:prstGeom>
          <a:noFill/>
          <a:ln/>
        </p:spPr>
        <p:txBody>
          <a:bodyPr wrap="square" lIns="0" tIns="0" rIns="0" bIns="0" rtlCol="0" anchor="t">
            <a:normAutofit/>
          </a:bodyPr>
          <a:lstStyle/>
          <a:p>
            <a:pPr algn="l" indent="0" marL="0">
              <a:lnSpc>
                <a:spcPts val="1680"/>
              </a:lnSpc>
              <a:buNone/>
            </a:pPr>
            <a:r>
              <a:rPr lang="en-US" sz="1200" i="1" dirty="0">
                <a:solidFill>
                  <a:srgbClr val="C9D1D6"/>
                </a:solidFill>
                <a:latin typeface="IBM Plex Sans" pitchFamily="34" charset="0"/>
                <a:ea typeface="IBM Plex Sans" pitchFamily="34" charset="-122"/>
                <a:cs typeface="IBM Plex Sans" pitchFamily="34" charset="-120"/>
              </a:rPr>
              <a:t>“Why was the bus denied?”</a:t>
            </a:r>
            <a:endParaRPr lang="en-US" sz="1200" dirty="0"/>
          </a:p>
        </p:txBody>
      </p:sp>
      <p:sp>
        <p:nvSpPr>
          <p:cNvPr id="24" name="Text 22"/>
          <p:cNvSpPr/>
          <p:nvPr/>
        </p:nvSpPr>
        <p:spPr>
          <a:xfrm>
            <a:off x="8216900" y="3053085"/>
            <a:ext cx="2943225" cy="43688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F4F1EA"/>
                </a:solidFill>
                <a:latin typeface="IBM Plex Sans" pitchFamily="34" charset="0"/>
                <a:ea typeface="IBM Plex Sans" pitchFamily="34" charset="-122"/>
                <a:cs typeface="IBM Plex Sans" pitchFamily="34" charset="-120"/>
              </a:rPr>
              <a:t>Bus ahead of schedule; no headway gap. Cites event [#], policy [P-].</a:t>
            </a:r>
            <a:endParaRPr lang="en-US" sz="1200" dirty="0"/>
          </a:p>
        </p:txBody>
      </p:sp>
      <p:sp>
        <p:nvSpPr>
          <p:cNvPr id="25" name="Text 23"/>
          <p:cNvSpPr/>
          <p:nvPr/>
        </p:nvSpPr>
        <p:spPr>
          <a:xfrm>
            <a:off x="8216900" y="3540770"/>
            <a:ext cx="2943225"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C9D1D6"/>
                </a:solidFill>
                <a:latin typeface="IBM Plex Sans" pitchFamily="34" charset="0"/>
                <a:ea typeface="IBM Plex Sans" pitchFamily="34" charset="-122"/>
                <a:cs typeface="IBM Plex Sans" pitchFamily="34" charset="-120"/>
              </a:rPr>
              <a:t>No supporting entry → abstains.</a:t>
            </a:r>
            <a:endParaRPr lang="en-US" sz="1200" dirty="0"/>
          </a:p>
        </p:txBody>
      </p:sp>
      <p:sp>
        <p:nvSpPr>
          <p:cNvPr id="26" name="Shape 24"/>
          <p:cNvSpPr/>
          <p:nvPr/>
        </p:nvSpPr>
        <p:spPr>
          <a:xfrm>
            <a:off x="815975" y="4432945"/>
            <a:ext cx="2559050" cy="488950"/>
          </a:xfrm>
          <a:prstGeom prst="roundRect">
            <a:avLst>
              <a:gd name="adj" fmla="val 12338"/>
            </a:avLst>
          </a:prstGeom>
          <a:solidFill>
            <a:srgbClr val="FBFAF6"/>
          </a:solidFill>
          <a:ln w="6350">
            <a:solidFill>
              <a:srgbClr val="DDD8CC"/>
            </a:solidFill>
            <a:prstDash val="solid"/>
          </a:ln>
        </p:spPr>
      </p:sp>
      <p:sp>
        <p:nvSpPr>
          <p:cNvPr id="27" name="Text 25"/>
          <p:cNvSpPr/>
          <p:nvPr/>
        </p:nvSpPr>
        <p:spPr>
          <a:xfrm>
            <a:off x="970280" y="4561855"/>
            <a:ext cx="2317953" cy="25654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16222C"/>
                </a:solidFill>
                <a:latin typeface="IBM Plex Sans" pitchFamily="34" charset="0"/>
                <a:ea typeface="IBM Plex Sans" pitchFamily="34" charset="-122"/>
                <a:cs typeface="IBM Plex Sans" pitchFamily="34" charset="-120"/>
              </a:rPr>
              <a:t>Empty ≠ all-clear</a:t>
            </a:r>
            <a:endParaRPr lang="en-US" sz="1300" dirty="0"/>
          </a:p>
        </p:txBody>
      </p:sp>
      <p:sp>
        <p:nvSpPr>
          <p:cNvPr id="28" name="Shape 26"/>
          <p:cNvSpPr/>
          <p:nvPr/>
        </p:nvSpPr>
        <p:spPr>
          <a:xfrm>
            <a:off x="3482975" y="4432945"/>
            <a:ext cx="2559050" cy="488950"/>
          </a:xfrm>
          <a:prstGeom prst="roundRect">
            <a:avLst>
              <a:gd name="adj" fmla="val 12338"/>
            </a:avLst>
          </a:prstGeom>
          <a:solidFill>
            <a:srgbClr val="FBFAF6"/>
          </a:solidFill>
          <a:ln w="6350">
            <a:solidFill>
              <a:srgbClr val="DDD8CC"/>
            </a:solidFill>
            <a:prstDash val="solid"/>
          </a:ln>
        </p:spPr>
      </p:sp>
      <p:sp>
        <p:nvSpPr>
          <p:cNvPr id="29" name="Text 27"/>
          <p:cNvSpPr/>
          <p:nvPr/>
        </p:nvSpPr>
        <p:spPr>
          <a:xfrm>
            <a:off x="3637280" y="4561855"/>
            <a:ext cx="2317953" cy="25654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16222C"/>
                </a:solidFill>
                <a:latin typeface="IBM Plex Sans" pitchFamily="34" charset="0"/>
                <a:ea typeface="IBM Plex Sans" pitchFamily="34" charset="-122"/>
                <a:cs typeface="IBM Plex Sans" pitchFamily="34" charset="-120"/>
              </a:rPr>
              <a:t>Stale looks stale</a:t>
            </a:r>
            <a:endParaRPr lang="en-US" sz="1300" dirty="0"/>
          </a:p>
        </p:txBody>
      </p:sp>
      <p:sp>
        <p:nvSpPr>
          <p:cNvPr id="30" name="Shape 28"/>
          <p:cNvSpPr/>
          <p:nvPr/>
        </p:nvSpPr>
        <p:spPr>
          <a:xfrm>
            <a:off x="6149975" y="4432945"/>
            <a:ext cx="2559050" cy="488950"/>
          </a:xfrm>
          <a:prstGeom prst="roundRect">
            <a:avLst>
              <a:gd name="adj" fmla="val 12338"/>
            </a:avLst>
          </a:prstGeom>
          <a:solidFill>
            <a:srgbClr val="FBFAF6"/>
          </a:solidFill>
          <a:ln w="6350">
            <a:solidFill>
              <a:srgbClr val="DDD8CC"/>
            </a:solidFill>
            <a:prstDash val="solid"/>
          </a:ln>
        </p:spPr>
      </p:sp>
      <p:sp>
        <p:nvSpPr>
          <p:cNvPr id="31" name="Text 29"/>
          <p:cNvSpPr/>
          <p:nvPr/>
        </p:nvSpPr>
        <p:spPr>
          <a:xfrm>
            <a:off x="6304280" y="4561855"/>
            <a:ext cx="2317953" cy="25654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16222C"/>
                </a:solidFill>
                <a:latin typeface="IBM Plex Sans" pitchFamily="34" charset="0"/>
                <a:ea typeface="IBM Plex Sans" pitchFamily="34" charset="-122"/>
                <a:cs typeface="IBM Plex Sans" pitchFamily="34" charset="-120"/>
              </a:rPr>
              <a:t>Every no has a reason</a:t>
            </a:r>
            <a:endParaRPr lang="en-US" sz="1300" dirty="0"/>
          </a:p>
        </p:txBody>
      </p:sp>
      <p:sp>
        <p:nvSpPr>
          <p:cNvPr id="32" name="Shape 30"/>
          <p:cNvSpPr/>
          <p:nvPr/>
        </p:nvSpPr>
        <p:spPr>
          <a:xfrm>
            <a:off x="8816975" y="4432945"/>
            <a:ext cx="2559050" cy="488950"/>
          </a:xfrm>
          <a:prstGeom prst="roundRect">
            <a:avLst>
              <a:gd name="adj" fmla="val 12338"/>
            </a:avLst>
          </a:prstGeom>
          <a:solidFill>
            <a:srgbClr val="FBFAF6"/>
          </a:solidFill>
          <a:ln w="6350">
            <a:solidFill>
              <a:srgbClr val="DDD8CC"/>
            </a:solidFill>
            <a:prstDash val="solid"/>
          </a:ln>
        </p:spPr>
      </p:sp>
      <p:sp>
        <p:nvSpPr>
          <p:cNvPr id="33" name="Text 31"/>
          <p:cNvSpPr/>
          <p:nvPr/>
        </p:nvSpPr>
        <p:spPr>
          <a:xfrm>
            <a:off x="8971280" y="4561855"/>
            <a:ext cx="2317953" cy="25654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16222C"/>
                </a:solidFill>
                <a:latin typeface="IBM Plex Sans" pitchFamily="34" charset="0"/>
                <a:ea typeface="IBM Plex Sans" pitchFamily="34" charset="-122"/>
                <a:cs typeface="IBM Plex Sans" pitchFamily="34" charset="-120"/>
              </a:rPr>
              <a:t>The tail sits beside the mean</a:t>
            </a:r>
            <a:endParaRPr lang="en-US" sz="1300" dirty="0"/>
          </a:p>
        </p:txBody>
      </p:sp>
      <p:sp>
        <p:nvSpPr>
          <p:cNvPr id="34" name="Text 32"/>
          <p:cNvSpPr/>
          <p:nvPr/>
        </p:nvSpPr>
        <p:spPr>
          <a:xfrm>
            <a:off x="812800" y="6238255"/>
            <a:ext cx="4744479"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B73"/>
                </a:solidFill>
                <a:latin typeface="IBM Plex Sans" pitchFamily="34" charset="0"/>
                <a:ea typeface="IBM Plex Sans" pitchFamily="34" charset="-122"/>
                <a:cs typeface="IBM Plex Sans" pitchFamily="34" charset="-120"/>
              </a:rPr>
              <a:t>Illustrative wireframe. Rows show the interface pattern, not results.</a:t>
            </a:r>
            <a:endParaRPr lang="en-US" sz="1200" dirty="0"/>
          </a:p>
        </p:txBody>
      </p:sp>
      <p:sp>
        <p:nvSpPr>
          <p:cNvPr id="35" name="Text 33"/>
          <p:cNvSpPr/>
          <p:nvPr/>
        </p:nvSpPr>
        <p:spPr>
          <a:xfrm>
            <a:off x="11196320" y="6238255"/>
            <a:ext cx="23368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B73"/>
                </a:solidFill>
                <a:latin typeface="IBM Plex Sans" pitchFamily="34" charset="0"/>
                <a:ea typeface="IBM Plex Sans" pitchFamily="34" charset="-122"/>
                <a:cs typeface="IBM Plex Sans" pitchFamily="34" charset="-120"/>
              </a:rPr>
              <a:t>24</a:t>
            </a:r>
            <a:endParaRPr lang="en-US" sz="12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F4F1EA"/>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1F6B72"/>
                </a:solidFill>
                <a:latin typeface="IBM Plex Mono" pitchFamily="34" charset="0"/>
                <a:ea typeface="IBM Plex Mono" pitchFamily="34" charset="-122"/>
                <a:cs typeface="IBM Plex Mono" pitchFamily="34" charset="-120"/>
              </a:rPr>
              <a:t>SELECTED SOLUTION · DEMO SCRIPT</a:t>
            </a:r>
            <a:endParaRPr lang="en-US" sz="1200" dirty="0"/>
          </a:p>
        </p:txBody>
      </p:sp>
      <p:sp>
        <p:nvSpPr>
          <p:cNvPr id="3" name="Text 1"/>
          <p:cNvSpPr/>
          <p:nvPr/>
        </p:nvSpPr>
        <p:spPr>
          <a:xfrm>
            <a:off x="812800" y="1127770"/>
            <a:ext cx="10883392" cy="472440"/>
          </a:xfrm>
          <a:prstGeom prst="rect">
            <a:avLst/>
          </a:prstGeom>
          <a:noFill/>
          <a:ln/>
        </p:spPr>
        <p:txBody>
          <a:bodyPr wrap="square" lIns="0" tIns="0" rIns="0" bIns="0" rtlCol="0" anchor="t">
            <a:normAutofit/>
          </a:bodyPr>
          <a:lstStyle/>
          <a:p>
            <a:pPr algn="l" indent="0" marL="0">
              <a:lnSpc>
                <a:spcPts val="3520"/>
              </a:lnSpc>
              <a:buNone/>
            </a:pPr>
            <a:r>
              <a:rPr lang="en-US" sz="3200" b="1" dirty="0">
                <a:solidFill>
                  <a:srgbClr val="16222C"/>
                </a:solidFill>
                <a:latin typeface="Space Grotesk" pitchFamily="34" charset="0"/>
                <a:ea typeface="Space Grotesk" pitchFamily="34" charset="-122"/>
                <a:cs typeface="Space Grotesk" pitchFamily="34" charset="-120"/>
              </a:rPr>
              <a:t>Demo: a flood, an ambulance and a readable no</a:t>
            </a:r>
            <a:endParaRPr lang="en-US" sz="3200" dirty="0"/>
          </a:p>
        </p:txBody>
      </p:sp>
      <p:sp>
        <p:nvSpPr>
          <p:cNvPr id="4" name="Shape 2"/>
          <p:cNvSpPr/>
          <p:nvPr/>
        </p:nvSpPr>
        <p:spPr>
          <a:xfrm>
            <a:off x="815975" y="1831975"/>
            <a:ext cx="1650524" cy="2327910"/>
          </a:xfrm>
          <a:prstGeom prst="roundRect">
            <a:avLst>
              <a:gd name="adj" fmla="val 4424"/>
            </a:avLst>
          </a:prstGeom>
          <a:solidFill>
            <a:srgbClr val="FBFAF6"/>
          </a:solidFill>
          <a:ln w="6350">
            <a:solidFill>
              <a:srgbClr val="DDD8CC"/>
            </a:solidFill>
            <a:prstDash val="solid"/>
          </a:ln>
        </p:spPr>
      </p:sp>
      <p:sp>
        <p:nvSpPr>
          <p:cNvPr id="5" name="Text 3"/>
          <p:cNvSpPr/>
          <p:nvPr/>
        </p:nvSpPr>
        <p:spPr>
          <a:xfrm>
            <a:off x="970280" y="1986285"/>
            <a:ext cx="1392714"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F6B72"/>
                </a:solidFill>
                <a:latin typeface="IBM Plex Mono" pitchFamily="34" charset="0"/>
                <a:ea typeface="IBM Plex Mono" pitchFamily="34" charset="-122"/>
                <a:cs typeface="IBM Plex Mono" pitchFamily="34" charset="-120"/>
              </a:rPr>
              <a:t>01</a:t>
            </a:r>
            <a:endParaRPr lang="en-US" sz="1200" dirty="0"/>
          </a:p>
        </p:txBody>
      </p:sp>
      <p:sp>
        <p:nvSpPr>
          <p:cNvPr id="6" name="Text 4"/>
          <p:cNvSpPr/>
          <p:nvPr/>
        </p:nvSpPr>
        <p:spPr>
          <a:xfrm>
            <a:off x="970280" y="2275855"/>
            <a:ext cx="1392714" cy="23876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16222C"/>
                </a:solidFill>
                <a:latin typeface="Space Grotesk" pitchFamily="34" charset="0"/>
                <a:ea typeface="Space Grotesk" pitchFamily="34" charset="-122"/>
                <a:cs typeface="Space Grotesk" pitchFamily="34" charset="-120"/>
              </a:rPr>
              <a:t>Configure</a:t>
            </a:r>
            <a:endParaRPr lang="en-US" sz="1400" dirty="0"/>
          </a:p>
        </p:txBody>
      </p:sp>
      <p:sp>
        <p:nvSpPr>
          <p:cNvPr id="7" name="Text 5"/>
          <p:cNvSpPr/>
          <p:nvPr/>
        </p:nvSpPr>
        <p:spPr>
          <a:xfrm>
            <a:off x="970280" y="2565400"/>
            <a:ext cx="1392714" cy="105410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16222C"/>
                </a:solidFill>
                <a:latin typeface="IBM Plex Sans" pitchFamily="34" charset="0"/>
                <a:ea typeface="IBM Plex Sans" pitchFamily="34" charset="-122"/>
                <a:cs typeface="IBM Plex Sans" pitchFamily="34" charset="-120"/>
              </a:rPr>
              <a:t>Pick settings and run. SUMO is the live picture. Panels start empty; empty is not an all-clear.</a:t>
            </a:r>
            <a:endParaRPr lang="en-US" sz="1200" dirty="0"/>
          </a:p>
        </p:txBody>
      </p:sp>
      <p:sp>
        <p:nvSpPr>
          <p:cNvPr id="8" name="Shape 6"/>
          <p:cNvSpPr/>
          <p:nvPr/>
        </p:nvSpPr>
        <p:spPr>
          <a:xfrm>
            <a:off x="2599849" y="1831975"/>
            <a:ext cx="1650603" cy="2327910"/>
          </a:xfrm>
          <a:prstGeom prst="roundRect">
            <a:avLst>
              <a:gd name="adj" fmla="val 4424"/>
            </a:avLst>
          </a:prstGeom>
          <a:solidFill>
            <a:srgbClr val="FBFAF6"/>
          </a:solidFill>
          <a:ln w="6350">
            <a:solidFill>
              <a:srgbClr val="DDD8CC"/>
            </a:solidFill>
            <a:prstDash val="solid"/>
          </a:ln>
        </p:spPr>
      </p:sp>
      <p:sp>
        <p:nvSpPr>
          <p:cNvPr id="9" name="Text 7"/>
          <p:cNvSpPr/>
          <p:nvPr/>
        </p:nvSpPr>
        <p:spPr>
          <a:xfrm>
            <a:off x="2754154" y="1986285"/>
            <a:ext cx="1392793"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F6B72"/>
                </a:solidFill>
                <a:latin typeface="IBM Plex Mono" pitchFamily="34" charset="0"/>
                <a:ea typeface="IBM Plex Mono" pitchFamily="34" charset="-122"/>
                <a:cs typeface="IBM Plex Mono" pitchFamily="34" charset="-120"/>
              </a:rPr>
              <a:t>02</a:t>
            </a:r>
            <a:endParaRPr lang="en-US" sz="1200" dirty="0"/>
          </a:p>
        </p:txBody>
      </p:sp>
      <p:sp>
        <p:nvSpPr>
          <p:cNvPr id="10" name="Text 8"/>
          <p:cNvSpPr/>
          <p:nvPr/>
        </p:nvSpPr>
        <p:spPr>
          <a:xfrm>
            <a:off x="2754154" y="2275855"/>
            <a:ext cx="1392793" cy="23876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16222C"/>
                </a:solidFill>
                <a:latin typeface="Space Grotesk" pitchFamily="34" charset="0"/>
                <a:ea typeface="Space Grotesk" pitchFamily="34" charset="-122"/>
                <a:cs typeface="Space Grotesk" pitchFamily="34" charset="-120"/>
              </a:rPr>
              <a:t>Flood hits E17</a:t>
            </a:r>
            <a:endParaRPr lang="en-US" sz="1400" dirty="0"/>
          </a:p>
        </p:txBody>
      </p:sp>
      <p:sp>
        <p:nvSpPr>
          <p:cNvPr id="11" name="Text 9"/>
          <p:cNvSpPr/>
          <p:nvPr/>
        </p:nvSpPr>
        <p:spPr>
          <a:xfrm>
            <a:off x="2754154" y="2565400"/>
            <a:ext cx="1392793" cy="125984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16222C"/>
                </a:solidFill>
                <a:latin typeface="IBM Plex Sans" pitchFamily="34" charset="0"/>
                <a:ea typeface="IBM Plex Sans" pitchFamily="34" charset="-122"/>
                <a:cs typeface="IBM Plex Sans" pitchFamily="34" charset="-120"/>
              </a:rPr>
              <a:t>Mixed demand, heavy rain, then a flood pack closes edge E17. Queues form on the approaches.</a:t>
            </a:r>
            <a:endParaRPr lang="en-US" sz="1200" dirty="0"/>
          </a:p>
        </p:txBody>
      </p:sp>
      <p:sp>
        <p:nvSpPr>
          <p:cNvPr id="12" name="Shape 10"/>
          <p:cNvSpPr/>
          <p:nvPr/>
        </p:nvSpPr>
        <p:spPr>
          <a:xfrm>
            <a:off x="4383802" y="1831975"/>
            <a:ext cx="1650524" cy="2327910"/>
          </a:xfrm>
          <a:prstGeom prst="roundRect">
            <a:avLst>
              <a:gd name="adj" fmla="val 4424"/>
            </a:avLst>
          </a:prstGeom>
          <a:solidFill>
            <a:srgbClr val="FBFAF6"/>
          </a:solidFill>
          <a:ln w="6350">
            <a:solidFill>
              <a:srgbClr val="DDD8CC"/>
            </a:solidFill>
            <a:prstDash val="solid"/>
          </a:ln>
        </p:spPr>
      </p:sp>
      <p:sp>
        <p:nvSpPr>
          <p:cNvPr id="13" name="Text 11"/>
          <p:cNvSpPr/>
          <p:nvPr/>
        </p:nvSpPr>
        <p:spPr>
          <a:xfrm>
            <a:off x="4538107" y="1986285"/>
            <a:ext cx="1392714"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F6B72"/>
                </a:solidFill>
                <a:latin typeface="IBM Plex Mono" pitchFamily="34" charset="0"/>
                <a:ea typeface="IBM Plex Mono" pitchFamily="34" charset="-122"/>
                <a:cs typeface="IBM Plex Mono" pitchFamily="34" charset="-120"/>
              </a:rPr>
              <a:t>03</a:t>
            </a:r>
            <a:endParaRPr lang="en-US" sz="1200" dirty="0"/>
          </a:p>
        </p:txBody>
      </p:sp>
      <p:sp>
        <p:nvSpPr>
          <p:cNvPr id="14" name="Text 12"/>
          <p:cNvSpPr/>
          <p:nvPr/>
        </p:nvSpPr>
        <p:spPr>
          <a:xfrm>
            <a:off x="4538107" y="2275855"/>
            <a:ext cx="1392714" cy="23876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16222C"/>
                </a:solidFill>
                <a:latin typeface="Space Grotesk" pitchFamily="34" charset="0"/>
                <a:ea typeface="Space Grotesk" pitchFamily="34" charset="-122"/>
                <a:cs typeface="Space Grotesk" pitchFamily="34" charset="-120"/>
              </a:rPr>
              <a:t>A4 reads</a:t>
            </a:r>
            <a:endParaRPr lang="en-US" sz="1400" dirty="0"/>
          </a:p>
        </p:txBody>
      </p:sp>
      <p:sp>
        <p:nvSpPr>
          <p:cNvPr id="15" name="Text 13"/>
          <p:cNvSpPr/>
          <p:nvPr/>
        </p:nvSpPr>
        <p:spPr>
          <a:xfrm>
            <a:off x="4538107" y="2565400"/>
            <a:ext cx="1392714" cy="125984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16222C"/>
                </a:solidFill>
                <a:latin typeface="IBM Plex Sans" pitchFamily="34" charset="0"/>
                <a:ea typeface="IBM Plex Sans" pitchFamily="34" charset="-122"/>
                <a:cs typeface="IBM Plex Sans" pitchFamily="34" charset="-120"/>
              </a:rPr>
              <a:t>Queue up, speed down, a class, a confidence, fresh or stale. No confirmed crash without a crash file.</a:t>
            </a:r>
            <a:endParaRPr lang="en-US" sz="1200" dirty="0"/>
          </a:p>
        </p:txBody>
      </p:sp>
      <p:sp>
        <p:nvSpPr>
          <p:cNvPr id="16" name="Shape 14"/>
          <p:cNvSpPr/>
          <p:nvPr/>
        </p:nvSpPr>
        <p:spPr>
          <a:xfrm>
            <a:off x="6167676" y="1831975"/>
            <a:ext cx="1650603" cy="2327910"/>
          </a:xfrm>
          <a:prstGeom prst="roundRect">
            <a:avLst>
              <a:gd name="adj" fmla="val 4424"/>
            </a:avLst>
          </a:prstGeom>
          <a:solidFill>
            <a:srgbClr val="FBFAF6"/>
          </a:solidFill>
          <a:ln w="6350">
            <a:solidFill>
              <a:srgbClr val="DDD8CC"/>
            </a:solidFill>
            <a:prstDash val="solid"/>
          </a:ln>
        </p:spPr>
      </p:sp>
      <p:sp>
        <p:nvSpPr>
          <p:cNvPr id="17" name="Text 15"/>
          <p:cNvSpPr/>
          <p:nvPr/>
        </p:nvSpPr>
        <p:spPr>
          <a:xfrm>
            <a:off x="6321981" y="1986285"/>
            <a:ext cx="1392793"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F6B72"/>
                </a:solidFill>
                <a:latin typeface="IBM Plex Mono" pitchFamily="34" charset="0"/>
                <a:ea typeface="IBM Plex Mono" pitchFamily="34" charset="-122"/>
                <a:cs typeface="IBM Plex Mono" pitchFamily="34" charset="-120"/>
              </a:rPr>
              <a:t>04</a:t>
            </a:r>
            <a:endParaRPr lang="en-US" sz="1200" dirty="0"/>
          </a:p>
        </p:txBody>
      </p:sp>
      <p:sp>
        <p:nvSpPr>
          <p:cNvPr id="18" name="Text 16"/>
          <p:cNvSpPr/>
          <p:nvPr/>
        </p:nvSpPr>
        <p:spPr>
          <a:xfrm>
            <a:off x="6321981" y="2275855"/>
            <a:ext cx="1392793" cy="23876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16222C"/>
                </a:solidFill>
                <a:latin typeface="Space Grotesk" pitchFamily="34" charset="0"/>
                <a:ea typeface="Space Grotesk" pitchFamily="34" charset="-122"/>
                <a:cs typeface="Space Grotesk" pitchFamily="34" charset="-120"/>
              </a:rPr>
              <a:t>Advisers ask</a:t>
            </a:r>
            <a:endParaRPr lang="en-US" sz="1400" dirty="0"/>
          </a:p>
        </p:txBody>
      </p:sp>
      <p:sp>
        <p:nvSpPr>
          <p:cNvPr id="19" name="Text 17"/>
          <p:cNvSpPr/>
          <p:nvPr/>
        </p:nvSpPr>
        <p:spPr>
          <a:xfrm>
            <a:off x="6321981" y="2565400"/>
            <a:ext cx="1392793" cy="146558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16222C"/>
                </a:solidFill>
                <a:latin typeface="IBM Plex Sans" pitchFamily="34" charset="0"/>
                <a:ea typeface="IBM Plex Sans" pitchFamily="34" charset="-122"/>
                <a:cs typeface="IBM Plex Sans" pitchFamily="34" charset="-120"/>
              </a:rPr>
              <a:t>A5 requests Route B as a projection. A3 asks to protect the crossing. An ambulance request arrives with an expiry.</a:t>
            </a:r>
            <a:endParaRPr lang="en-US" sz="1200" dirty="0"/>
          </a:p>
        </p:txBody>
      </p:sp>
      <p:sp>
        <p:nvSpPr>
          <p:cNvPr id="20" name="Shape 18"/>
          <p:cNvSpPr/>
          <p:nvPr/>
        </p:nvSpPr>
        <p:spPr>
          <a:xfrm>
            <a:off x="7948454" y="1828800"/>
            <a:ext cx="1646793" cy="2334260"/>
          </a:xfrm>
          <a:prstGeom prst="roundRect">
            <a:avLst>
              <a:gd name="adj" fmla="val 4627"/>
            </a:avLst>
          </a:prstGeom>
          <a:solidFill>
            <a:srgbClr val="16222C"/>
          </a:solidFill>
          <a:ln/>
        </p:spPr>
      </p:sp>
      <p:sp>
        <p:nvSpPr>
          <p:cNvPr id="21" name="Shape 19"/>
          <p:cNvSpPr/>
          <p:nvPr/>
        </p:nvSpPr>
        <p:spPr>
          <a:xfrm>
            <a:off x="7948454" y="1828800"/>
            <a:ext cx="1646793" cy="2334260"/>
          </a:xfrm>
          <a:custGeom>
            <a:avLst/>
            <a:gdLst/>
            <a:ahLst/>
            <a:cxnLst/>
            <a:rect l="l" t="t" r="r" b="b"/>
            <a:pathLst>
              <a:path w="1646793" h="2334260">
                <a:moveTo>
                  <a:pt x="0" y="76200"/>
                </a:moveTo>
                <a:lnTo>
                  <a:pt x="0" y="76200"/>
                </a:lnTo>
                <a:arcTo hR="76200" wR="76200" stAng="10800000" swAng="5400000"/>
                <a:lnTo>
                  <a:pt x="1570593" y="0"/>
                </a:lnTo>
                <a:arcTo hR="76200" wR="76200" stAng="16200000" swAng="5400000"/>
                <a:lnTo>
                  <a:pt x="1646793" y="76200"/>
                </a:lnTo>
                <a:arcTo hR="38100" wR="76200" stAng="0" swAng="-5400000"/>
                <a:lnTo>
                  <a:pt x="76200" y="38100"/>
                </a:lnTo>
                <a:arcTo hR="38100" wR="76200" stAng="16200000" swAng="-5400000"/>
                <a:close/>
              </a:path>
            </a:pathLst>
          </a:custGeom>
          <a:solidFill>
            <a:srgbClr val="E8A33D"/>
          </a:solidFill>
          <a:ln/>
        </p:spPr>
      </p:sp>
      <p:sp>
        <p:nvSpPr>
          <p:cNvPr id="22" name="Text 20"/>
          <p:cNvSpPr/>
          <p:nvPr/>
        </p:nvSpPr>
        <p:spPr>
          <a:xfrm>
            <a:off x="8100854" y="2016770"/>
            <a:ext cx="1392793"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E8A33D"/>
                </a:solidFill>
                <a:latin typeface="IBM Plex Mono" pitchFamily="34" charset="0"/>
                <a:ea typeface="IBM Plex Mono" pitchFamily="34" charset="-122"/>
                <a:cs typeface="IBM Plex Mono" pitchFamily="34" charset="-120"/>
              </a:rPr>
              <a:t>05</a:t>
            </a:r>
            <a:endParaRPr lang="en-US" sz="1200" dirty="0"/>
          </a:p>
        </p:txBody>
      </p:sp>
      <p:sp>
        <p:nvSpPr>
          <p:cNvPr id="23" name="Text 21"/>
          <p:cNvSpPr/>
          <p:nvPr/>
        </p:nvSpPr>
        <p:spPr>
          <a:xfrm>
            <a:off x="8100854" y="2306315"/>
            <a:ext cx="1392793" cy="23876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F4F1EA"/>
                </a:solidFill>
                <a:latin typeface="Space Grotesk" pitchFamily="34" charset="0"/>
                <a:ea typeface="Space Grotesk" pitchFamily="34" charset="-122"/>
                <a:cs typeface="Space Grotesk" pitchFamily="34" charset="-120"/>
              </a:rPr>
              <a:t>A1 decides</a:t>
            </a:r>
            <a:endParaRPr lang="en-US" sz="1400" dirty="0"/>
          </a:p>
        </p:txBody>
      </p:sp>
      <p:sp>
        <p:nvSpPr>
          <p:cNvPr id="24" name="Text 22"/>
          <p:cNvSpPr/>
          <p:nvPr/>
        </p:nvSpPr>
        <p:spPr>
          <a:xfrm>
            <a:off x="8100854" y="2595885"/>
            <a:ext cx="1392793" cy="125984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C9D1D6"/>
                </a:solidFill>
                <a:latin typeface="IBM Plex Sans" pitchFamily="34" charset="0"/>
                <a:ea typeface="IBM Plex Sans" pitchFamily="34" charset="-122"/>
                <a:cs typeface="IBM Plex Sans" pitchFamily="34" charset="-120"/>
              </a:rPr>
              <a:t>Cooperative Max-Pressure. The mask passes, the executor writes the phase, Rosa reads the reason code.</a:t>
            </a:r>
            <a:endParaRPr lang="en-US" sz="1200" dirty="0"/>
          </a:p>
        </p:txBody>
      </p:sp>
      <p:sp>
        <p:nvSpPr>
          <p:cNvPr id="25" name="Shape 23"/>
          <p:cNvSpPr/>
          <p:nvPr/>
        </p:nvSpPr>
        <p:spPr>
          <a:xfrm>
            <a:off x="9725422" y="1831975"/>
            <a:ext cx="1650603" cy="2327910"/>
          </a:xfrm>
          <a:prstGeom prst="roundRect">
            <a:avLst>
              <a:gd name="adj" fmla="val 4424"/>
            </a:avLst>
          </a:prstGeom>
          <a:solidFill>
            <a:srgbClr val="FBFAF6"/>
          </a:solidFill>
          <a:ln w="6350">
            <a:solidFill>
              <a:srgbClr val="DDD8CC"/>
            </a:solidFill>
            <a:prstDash val="solid"/>
          </a:ln>
        </p:spPr>
      </p:sp>
      <p:sp>
        <p:nvSpPr>
          <p:cNvPr id="26" name="Text 24"/>
          <p:cNvSpPr/>
          <p:nvPr/>
        </p:nvSpPr>
        <p:spPr>
          <a:xfrm>
            <a:off x="9879727" y="1986285"/>
            <a:ext cx="1392793"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F6B72"/>
                </a:solidFill>
                <a:latin typeface="IBM Plex Mono" pitchFamily="34" charset="0"/>
                <a:ea typeface="IBM Plex Mono" pitchFamily="34" charset="-122"/>
                <a:cs typeface="IBM Plex Mono" pitchFamily="34" charset="-120"/>
              </a:rPr>
              <a:t>06</a:t>
            </a:r>
            <a:endParaRPr lang="en-US" sz="1200" dirty="0"/>
          </a:p>
        </p:txBody>
      </p:sp>
      <p:sp>
        <p:nvSpPr>
          <p:cNvPr id="27" name="Text 25"/>
          <p:cNvSpPr/>
          <p:nvPr/>
        </p:nvSpPr>
        <p:spPr>
          <a:xfrm>
            <a:off x="9879727" y="2275855"/>
            <a:ext cx="1392793" cy="23876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16222C"/>
                </a:solidFill>
                <a:latin typeface="Space Grotesk" pitchFamily="34" charset="0"/>
                <a:ea typeface="Space Grotesk" pitchFamily="34" charset="-122"/>
                <a:cs typeface="Space Grotesk" pitchFamily="34" charset="-120"/>
              </a:rPr>
              <a:t>Proof</a:t>
            </a:r>
            <a:endParaRPr lang="en-US" sz="1400" dirty="0"/>
          </a:p>
        </p:txBody>
      </p:sp>
      <p:sp>
        <p:nvSpPr>
          <p:cNvPr id="28" name="Text 26"/>
          <p:cNvSpPr/>
          <p:nvPr/>
        </p:nvSpPr>
        <p:spPr>
          <a:xfrm>
            <a:off x="9879727" y="2565400"/>
            <a:ext cx="1392793" cy="146558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16222C"/>
                </a:solidFill>
                <a:latin typeface="IBM Plex Sans" pitchFamily="34" charset="0"/>
                <a:ea typeface="IBM Plex Sans" pitchFamily="34" charset="-122"/>
                <a:cs typeface="IBM Plex Sans" pitchFamily="34" charset="-120"/>
              </a:rPr>
              <a:t>Only measured fields: wait, trips, emergency delay, truncations, accept, refuse. Synapse cites or abstains.</a:t>
            </a:r>
            <a:endParaRPr lang="en-US" sz="1200" dirty="0"/>
          </a:p>
        </p:txBody>
      </p:sp>
      <p:sp>
        <p:nvSpPr>
          <p:cNvPr id="29" name="Text 27"/>
          <p:cNvSpPr/>
          <p:nvPr/>
        </p:nvSpPr>
        <p:spPr>
          <a:xfrm>
            <a:off x="812800" y="4417070"/>
            <a:ext cx="9810750" cy="25654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3A4852"/>
                </a:solidFill>
                <a:latin typeface="IBM Plex Sans" pitchFamily="34" charset="0"/>
                <a:ea typeface="IBM Plex Sans" pitchFamily="34" charset="-122"/>
                <a:cs typeface="IBM Plex Sans" pitchFamily="34" charset="-120"/>
              </a:rPr>
              <a:t>A demo script, not a saved Tunis result and not a measured flood run. A blank on the proof slide is never filled in later.</a:t>
            </a:r>
            <a:endParaRPr lang="en-US" sz="1300" dirty="0"/>
          </a:p>
        </p:txBody>
      </p:sp>
      <p:sp>
        <p:nvSpPr>
          <p:cNvPr id="30" name="Text 28"/>
          <p:cNvSpPr/>
          <p:nvPr/>
        </p:nvSpPr>
        <p:spPr>
          <a:xfrm>
            <a:off x="812800" y="6238255"/>
            <a:ext cx="4205133"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B73"/>
                </a:solidFill>
                <a:latin typeface="IBM Plex Sans" pitchFamily="34" charset="0"/>
                <a:ea typeface="IBM Plex Sans" pitchFamily="34" charset="-122"/>
                <a:cs typeface="IBM Plex Sans" pitchFamily="34" charset="-120"/>
              </a:rPr>
              <a:t>Acceptors may reroute to Route B. A refusal stays in the log.</a:t>
            </a:r>
            <a:endParaRPr lang="en-US" sz="1200" dirty="0"/>
          </a:p>
        </p:txBody>
      </p:sp>
      <p:sp>
        <p:nvSpPr>
          <p:cNvPr id="31" name="Text 29"/>
          <p:cNvSpPr/>
          <p:nvPr/>
        </p:nvSpPr>
        <p:spPr>
          <a:xfrm>
            <a:off x="11196320" y="6238255"/>
            <a:ext cx="23368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B73"/>
                </a:solidFill>
                <a:latin typeface="IBM Plex Sans" pitchFamily="34" charset="0"/>
                <a:ea typeface="IBM Plex Sans" pitchFamily="34" charset="-122"/>
                <a:cs typeface="IBM Plex Sans" pitchFamily="34" charset="-120"/>
              </a:rPr>
              <a:t>25</a:t>
            </a:r>
            <a:endParaRPr lang="en-US" sz="12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F4F1EA"/>
        </a:solidFill>
      </p:bgPr>
    </p:bg>
    <p:spTree>
      <p:nvGrpSpPr>
        <p:cNvPr id="1" name=""/>
        <p:cNvGrpSpPr/>
        <p:nvPr/>
      </p:nvGrpSpPr>
      <p:grpSpPr>
        <a:xfrm>
          <a:off x="0" y="0"/>
          <a:ext cx="0" cy="0"/>
          <a:chOff x="0" y="0"/>
          <a:chExt cx="0" cy="0"/>
        </a:xfrm>
      </p:grpSpPr>
      <p:sp>
        <p:nvSpPr>
          <p:cNvPr id="2" name="Text 0"/>
          <p:cNvSpPr/>
          <p:nvPr/>
        </p:nvSpPr>
        <p:spPr>
          <a:xfrm>
            <a:off x="812800" y="812800"/>
            <a:ext cx="10883392" cy="198834"/>
          </a:xfrm>
          <a:prstGeom prst="rect">
            <a:avLst/>
          </a:prstGeom>
          <a:noFill/>
          <a:ln/>
        </p:spPr>
        <p:txBody>
          <a:bodyPr wrap="square" lIns="0" tIns="0" rIns="0" bIns="0" rtlCol="0" anchor="t">
            <a:normAutofit/>
          </a:bodyPr>
          <a:lstStyle/>
          <a:p>
            <a:pPr algn="l" indent="0" marL="0">
              <a:lnSpc>
                <a:spcPts val="1370"/>
              </a:lnSpc>
              <a:buNone/>
            </a:pPr>
            <a:r>
              <a:rPr lang="en-US" sz="979" spc="100" kern="0" dirty="0">
                <a:solidFill>
                  <a:srgbClr val="1F6B72"/>
                </a:solidFill>
                <a:latin typeface="IBM Plex Mono" pitchFamily="34" charset="0"/>
                <a:ea typeface="IBM Plex Mono" pitchFamily="34" charset="-122"/>
                <a:cs typeface="IBM Plex Mono" pitchFamily="34" charset="-120"/>
              </a:rPr>
              <a:t>IDEATION · IDEAS GENERATED</a:t>
            </a:r>
            <a:endParaRPr lang="en-US" sz="979" dirty="0"/>
          </a:p>
        </p:txBody>
      </p:sp>
      <p:sp>
        <p:nvSpPr>
          <p:cNvPr id="3" name="Text 1"/>
          <p:cNvSpPr/>
          <p:nvPr/>
        </p:nvSpPr>
        <p:spPr>
          <a:xfrm>
            <a:off x="812800" y="1087834"/>
            <a:ext cx="10883392" cy="388699"/>
          </a:xfrm>
          <a:prstGeom prst="rect">
            <a:avLst/>
          </a:prstGeom>
          <a:noFill/>
          <a:ln/>
        </p:spPr>
        <p:txBody>
          <a:bodyPr wrap="square" lIns="0" tIns="0" rIns="0" bIns="0" rtlCol="0" anchor="t">
            <a:normAutofit/>
          </a:bodyPr>
          <a:lstStyle/>
          <a:p>
            <a:pPr algn="l" indent="0" marL="0">
              <a:lnSpc>
                <a:spcPts val="2871"/>
              </a:lnSpc>
              <a:buNone/>
            </a:pPr>
            <a:r>
              <a:rPr lang="en-US" sz="2610" b="1" dirty="0">
                <a:solidFill>
                  <a:srgbClr val="16222C"/>
                </a:solidFill>
                <a:latin typeface="Space Grotesk" pitchFamily="34" charset="0"/>
                <a:ea typeface="Space Grotesk" pitchFamily="34" charset="-122"/>
                <a:cs typeface="Space Grotesk" pitchFamily="34" charset="-120"/>
              </a:rPr>
              <a:t>Kept and refused: the refusals are evidence too</a:t>
            </a:r>
            <a:endParaRPr lang="en-US" sz="261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22960" y="1715309"/>
          <a:ext cx="10556240" cy="3485436"/>
        </p:xfrm>
        <a:graphic>
          <a:graphicData uri="http://schemas.openxmlformats.org/drawingml/2006/table">
            <a:tbl>
              <a:tblPr/>
              <a:tblGrid>
                <a:gridCol w="3518747"/>
                <a:gridCol w="3518747"/>
                <a:gridCol w="3518747"/>
              </a:tblGrid>
              <a:tr h="459184">
                <a:tc>
                  <a:txBody>
                    <a:bodyPr/>
                    <a:lstStyle/>
                    <a:p>
                      <a:pPr indent="0" marL="0">
                        <a:lnSpc>
                          <a:spcPts val="2135"/>
                        </a:lnSpc>
                        <a:buNone/>
                      </a:pPr>
                      <a:r>
                        <a:rPr lang="en-US" sz="1525" b="1" dirty="0">
                          <a:solidFill>
                            <a:srgbClr val="F4F1EA"/>
                          </a:solidFill>
                          <a:latin typeface="IBM Plex Sans" pitchFamily="34" charset="0"/>
                          <a:ea typeface="IBM Plex Sans" pitchFamily="34" charset="-122"/>
                          <a:cs typeface="IBM Plex Sans" pitchFamily="34" charset="-120"/>
                        </a:rPr>
                        <a:t>Who</a:t>
                      </a:r>
                      <a:endParaRPr lang="en-US" sz="1525" dirty="0">
                        <a:latin typeface="IBM Plex Sans" charset="0"/>
                        <a:ea typeface="IBM Plex Sans" charset="0"/>
                        <a:cs typeface="IBM Plex Sans" charset="0"/>
                      </a:endParaRPr>
                    </a:p>
                  </a:txBody>
                  <a:tcPr marL="127000" marR="127000" marT="88900" marB="88900" anchor="t">
                    <a:lnL w="12700" cap="flat" cmpd="sng" algn="ctr">
                      <a:solidFill>
                        <a:srgbClr val="C3C0BB"/>
                      </a:solidFill>
                      <a:prstDash val="solid"/>
                      <a:round/>
                      <a:headEnd type="none" w="med" len="med"/>
                      <a:tailEnd type="none" w="med" len="med"/>
                    </a:lnL>
                    <a:lnR w="12700" cap="flat" cmpd="sng" algn="ctr">
                      <a:solidFill>
                        <a:srgbClr val="B5B2AD"/>
                      </a:solidFill>
                      <a:prstDash val="solid"/>
                      <a:round/>
                      <a:headEnd type="none" w="med" len="med"/>
                      <a:tailEnd type="none" w="med" len="med"/>
                    </a:lnR>
                    <a:lnT w="12700" cap="flat" cmpd="sng" algn="ctr">
                      <a:solidFill>
                        <a:srgbClr val="C3C0BB"/>
                      </a:solidFill>
                      <a:prstDash val="solid"/>
                      <a:round/>
                      <a:headEnd type="none" w="med" len="med"/>
                      <a:tailEnd type="none" w="med" len="med"/>
                    </a:lnT>
                    <a:lnB w="12700" cap="flat" cmpd="sng" algn="ctr">
                      <a:solidFill>
                        <a:srgbClr val="B5B2AD"/>
                      </a:solidFill>
                      <a:prstDash val="solid"/>
                      <a:round/>
                      <a:headEnd type="none" w="med" len="med"/>
                      <a:tailEnd type="none" w="med" len="med"/>
                    </a:lnB>
                    <a:solidFill>
                      <a:srgbClr val="E2DFD9"/>
                    </a:solidFill>
                  </a:tcPr>
                </a:tc>
                <a:tc>
                  <a:txBody>
                    <a:bodyPr/>
                    <a:lstStyle/>
                    <a:p>
                      <a:pPr indent="0" marL="0">
                        <a:lnSpc>
                          <a:spcPts val="2135"/>
                        </a:lnSpc>
                        <a:buNone/>
                      </a:pPr>
                      <a:r>
                        <a:rPr lang="en-US" sz="1525" b="1" dirty="0">
                          <a:solidFill>
                            <a:srgbClr val="F4F1EA"/>
                          </a:solidFill>
                          <a:latin typeface="IBM Plex Sans" pitchFamily="34" charset="0"/>
                          <a:ea typeface="IBM Plex Sans" pitchFamily="34" charset="-122"/>
                          <a:cs typeface="IBM Plex Sans" pitchFamily="34" charset="-120"/>
                        </a:rPr>
                        <a:t>✓ Idea we kept</a:t>
                      </a:r>
                      <a:endParaRPr lang="en-US" sz="1525" dirty="0">
                        <a:latin typeface="IBM Plex Sans" charset="0"/>
                        <a:ea typeface="IBM Plex Sans" charset="0"/>
                        <a:cs typeface="IBM Plex Sans" charset="0"/>
                      </a:endParaRPr>
                    </a:p>
                  </a:txBody>
                  <a:tcPr marL="127000" marR="127000" marT="88900" marB="88900" anchor="t">
                    <a:lnL w="12700" cap="flat" cmpd="sng" algn="ctr">
                      <a:solidFill>
                        <a:srgbClr val="B5B2AD"/>
                      </a:solidFill>
                      <a:prstDash val="solid"/>
                      <a:round/>
                      <a:headEnd type="none" w="med" len="med"/>
                      <a:tailEnd type="none" w="med" len="med"/>
                    </a:lnL>
                    <a:lnR w="12700" cap="flat" cmpd="sng" algn="ctr">
                      <a:solidFill>
                        <a:srgbClr val="B5B2AD"/>
                      </a:solidFill>
                      <a:prstDash val="solid"/>
                      <a:round/>
                      <a:headEnd type="none" w="med" len="med"/>
                      <a:tailEnd type="none" w="med" len="med"/>
                    </a:lnR>
                    <a:lnT w="12700" cap="flat" cmpd="sng" algn="ctr">
                      <a:solidFill>
                        <a:srgbClr val="C3C0BB"/>
                      </a:solidFill>
                      <a:prstDash val="solid"/>
                      <a:round/>
                      <a:headEnd type="none" w="med" len="med"/>
                      <a:tailEnd type="none" w="med" len="med"/>
                    </a:lnT>
                    <a:lnB w="12700" cap="flat" cmpd="sng" algn="ctr">
                      <a:solidFill>
                        <a:srgbClr val="B5B2AD"/>
                      </a:solidFill>
                      <a:prstDash val="solid"/>
                      <a:round/>
                      <a:headEnd type="none" w="med" len="med"/>
                      <a:tailEnd type="none" w="med" len="med"/>
                    </a:lnB>
                    <a:solidFill>
                      <a:srgbClr val="E2DFD9"/>
                    </a:solidFill>
                  </a:tcPr>
                </a:tc>
                <a:tc>
                  <a:txBody>
                    <a:bodyPr/>
                    <a:lstStyle/>
                    <a:p>
                      <a:pPr indent="0" marL="0">
                        <a:lnSpc>
                          <a:spcPts val="2135"/>
                        </a:lnSpc>
                        <a:buNone/>
                      </a:pPr>
                      <a:r>
                        <a:rPr lang="en-US" sz="1525" b="1" dirty="0">
                          <a:solidFill>
                            <a:srgbClr val="F4F1EA"/>
                          </a:solidFill>
                          <a:latin typeface="IBM Plex Sans" pitchFamily="34" charset="0"/>
                          <a:ea typeface="IBM Plex Sans" pitchFamily="34" charset="-122"/>
                          <a:cs typeface="IBM Plex Sans" pitchFamily="34" charset="-120"/>
                        </a:rPr>
                        <a:t>✕ Idea we refused</a:t>
                      </a:r>
                      <a:endParaRPr lang="en-US" sz="1525" dirty="0">
                        <a:latin typeface="IBM Plex Sans" charset="0"/>
                        <a:ea typeface="IBM Plex Sans" charset="0"/>
                        <a:cs typeface="IBM Plex Sans" charset="0"/>
                      </a:endParaRPr>
                    </a:p>
                  </a:txBody>
                  <a:tcPr marL="127000" marR="127000" marT="88900" marB="88900" anchor="t">
                    <a:lnL w="12700" cap="flat" cmpd="sng" algn="ctr">
                      <a:solidFill>
                        <a:srgbClr val="B5B2AD"/>
                      </a:solidFill>
                      <a:prstDash val="solid"/>
                      <a:round/>
                      <a:headEnd type="none" w="med" len="med"/>
                      <a:tailEnd type="none" w="med" len="med"/>
                    </a:lnL>
                    <a:lnR w="12700" cap="flat" cmpd="sng" algn="ctr">
                      <a:solidFill>
                        <a:srgbClr val="B5B2AD"/>
                      </a:solidFill>
                      <a:prstDash val="solid"/>
                      <a:round/>
                      <a:headEnd type="none" w="med" len="med"/>
                      <a:tailEnd type="none" w="med" len="med"/>
                    </a:lnR>
                    <a:lnT w="12700" cap="flat" cmpd="sng" algn="ctr">
                      <a:solidFill>
                        <a:srgbClr val="C3C0BB"/>
                      </a:solidFill>
                      <a:prstDash val="solid"/>
                      <a:round/>
                      <a:headEnd type="none" w="med" len="med"/>
                      <a:tailEnd type="none" w="med" len="med"/>
                    </a:lnT>
                    <a:lnB w="12700" cap="flat" cmpd="sng" algn="ctr">
                      <a:solidFill>
                        <a:srgbClr val="B5B2AD"/>
                      </a:solidFill>
                      <a:prstDash val="solid"/>
                      <a:round/>
                      <a:headEnd type="none" w="med" len="med"/>
                      <a:tailEnd type="none" w="med" len="med"/>
                    </a:lnB>
                    <a:solidFill>
                      <a:srgbClr val="E2DFD9"/>
                    </a:solidFill>
                  </a:tcPr>
                </a:tc>
              </a:tr>
              <a:tr h="459184">
                <a:tc>
                  <a:txBody>
                    <a:bodyPr/>
                    <a:lstStyle/>
                    <a:p>
                      <a:pPr indent="0" marL="0">
                        <a:lnSpc>
                          <a:spcPts val="2135"/>
                        </a:lnSpc>
                        <a:buNone/>
                      </a:pPr>
                      <a:r>
                        <a:rPr lang="en-US" sz="1525" dirty="0">
                          <a:solidFill>
                            <a:srgbClr val="16222C"/>
                          </a:solidFill>
                          <a:latin typeface="IBM Plex Sans" pitchFamily="34" charset="0"/>
                          <a:ea typeface="IBM Plex Sans" pitchFamily="34" charset="-122"/>
                          <a:cs typeface="IBM Plex Sans" pitchFamily="34" charset="-120"/>
                        </a:rPr>
                        <a:t>Amara</a:t>
                      </a:r>
                      <a:endParaRPr lang="en-US" sz="1525" dirty="0">
                        <a:latin typeface="IBM Plex Sans" charset="0"/>
                        <a:ea typeface="IBM Plex Sans" charset="0"/>
                        <a:cs typeface="IBM Plex Sans" charset="0"/>
                      </a:endParaRPr>
                    </a:p>
                  </a:txBody>
                  <a:tcPr marL="127000" marR="127000" marT="88900" marB="88900" anchor="t">
                    <a:lnL w="12700" cap="flat" cmpd="sng" algn="ctr">
                      <a:solidFill>
                        <a:srgbClr val="C3C0BB"/>
                      </a:solidFill>
                      <a:prstDash val="solid"/>
                      <a:round/>
                      <a:headEnd type="none" w="med" len="med"/>
                      <a:tailEnd type="none" w="med" len="med"/>
                    </a:lnL>
                    <a:lnR w="12700" cap="flat" cmpd="sng" algn="ctr">
                      <a:solidFill>
                        <a:srgbClr val="C3C0BB"/>
                      </a:solidFill>
                      <a:prstDash val="solid"/>
                      <a:round/>
                      <a:headEnd type="none" w="med" len="med"/>
                      <a:tailEnd type="none" w="med" len="med"/>
                    </a:lnR>
                    <a:lnT w="12700" cap="flat" cmpd="sng" algn="ctr">
                      <a:solidFill>
                        <a:srgbClr val="B5B2AD"/>
                      </a:solidFill>
                      <a:prstDash val="solid"/>
                      <a:round/>
                      <a:headEnd type="none" w="med" len="med"/>
                      <a:tailEnd type="none" w="med" len="med"/>
                    </a:lnT>
                    <a:lnB w="12700" cap="flat" cmpd="sng" algn="ctr">
                      <a:solidFill>
                        <a:srgbClr val="C3C0BB"/>
                      </a:solidFill>
                      <a:prstDash val="solid"/>
                      <a:round/>
                      <a:headEnd type="none" w="med" len="med"/>
                      <a:tailEnd type="none" w="med" len="med"/>
                    </a:lnB>
                  </a:tcPr>
                </a:tc>
                <a:tc>
                  <a:txBody>
                    <a:bodyPr/>
                    <a:lstStyle/>
                    <a:p>
                      <a:pPr indent="0" marL="0">
                        <a:lnSpc>
                          <a:spcPts val="2135"/>
                        </a:lnSpc>
                        <a:buNone/>
                      </a:pPr>
                      <a:r>
                        <a:rPr lang="en-US" sz="1525" dirty="0">
                          <a:solidFill>
                            <a:srgbClr val="16222C"/>
                          </a:solidFill>
                          <a:latin typeface="IBM Plex Sans" pitchFamily="34" charset="0"/>
                          <a:ea typeface="IBM Plex Sans" pitchFamily="34" charset="-122"/>
                          <a:cs typeface="IBM Plex Sans" pitchFamily="34" charset="-120"/>
                        </a:rPr>
                        <a:t>Hold the green. Count truncations.</a:t>
                      </a:r>
                      <a:endParaRPr lang="en-US" sz="1525" dirty="0">
                        <a:latin typeface="IBM Plex Sans" charset="0"/>
                        <a:ea typeface="IBM Plex Sans" charset="0"/>
                        <a:cs typeface="IBM Plex Sans" charset="0"/>
                      </a:endParaRPr>
                    </a:p>
                  </a:txBody>
                  <a:tcPr marL="127000" marR="127000" marT="88900" marB="88900" anchor="t">
                    <a:lnL w="12700" cap="flat" cmpd="sng" algn="ctr">
                      <a:solidFill>
                        <a:srgbClr val="C3C0BB"/>
                      </a:solidFill>
                      <a:prstDash val="solid"/>
                      <a:round/>
                      <a:headEnd type="none" w="med" len="med"/>
                      <a:tailEnd type="none" w="med" len="med"/>
                    </a:lnL>
                    <a:lnR w="12700" cap="flat" cmpd="sng" algn="ctr">
                      <a:solidFill>
                        <a:srgbClr val="C3C0BB"/>
                      </a:solidFill>
                      <a:prstDash val="solid"/>
                      <a:round/>
                      <a:headEnd type="none" w="med" len="med"/>
                      <a:tailEnd type="none" w="med" len="med"/>
                    </a:lnR>
                    <a:lnT w="12700" cap="flat" cmpd="sng" algn="ctr">
                      <a:solidFill>
                        <a:srgbClr val="B5B2AD"/>
                      </a:solidFill>
                      <a:prstDash val="solid"/>
                      <a:round/>
                      <a:headEnd type="none" w="med" len="med"/>
                      <a:tailEnd type="none" w="med" len="med"/>
                    </a:lnT>
                    <a:lnB w="12700" cap="flat" cmpd="sng" algn="ctr">
                      <a:solidFill>
                        <a:srgbClr val="C3C0BB"/>
                      </a:solidFill>
                      <a:prstDash val="solid"/>
                      <a:round/>
                      <a:headEnd type="none" w="med" len="med"/>
                      <a:tailEnd type="none" w="med" len="med"/>
                    </a:lnB>
                  </a:tcPr>
                </a:tc>
                <a:tc>
                  <a:txBody>
                    <a:bodyPr/>
                    <a:lstStyle/>
                    <a:p>
                      <a:pPr indent="0" marL="0">
                        <a:lnSpc>
                          <a:spcPts val="2135"/>
                        </a:lnSpc>
                        <a:buNone/>
                      </a:pPr>
                      <a:r>
                        <a:rPr lang="en-US" sz="1525" dirty="0">
                          <a:solidFill>
                            <a:srgbClr val="8A3E14"/>
                          </a:solidFill>
                          <a:latin typeface="IBM Plex Sans" pitchFamily="34" charset="0"/>
                          <a:ea typeface="IBM Plex Sans" pitchFamily="34" charset="-122"/>
                          <a:cs typeface="IBM Plex Sans" pitchFamily="34" charset="-120"/>
                        </a:rPr>
                        <a:t>A camera that guesses her ability</a:t>
                      </a:r>
                      <a:endParaRPr lang="en-US" sz="1525" dirty="0">
                        <a:latin typeface="IBM Plex Sans" charset="0"/>
                        <a:ea typeface="IBM Plex Sans" charset="0"/>
                        <a:cs typeface="IBM Plex Sans" charset="0"/>
                      </a:endParaRPr>
                    </a:p>
                  </a:txBody>
                  <a:tcPr marL="127000" marR="127000" marT="88900" marB="88900" anchor="t">
                    <a:lnL w="12700" cap="flat" cmpd="sng" algn="ctr">
                      <a:solidFill>
                        <a:srgbClr val="C3C0BB"/>
                      </a:solidFill>
                      <a:prstDash val="solid"/>
                      <a:round/>
                      <a:headEnd type="none" w="med" len="med"/>
                      <a:tailEnd type="none" w="med" len="med"/>
                    </a:lnL>
                    <a:lnR w="12700" cap="flat" cmpd="sng" algn="ctr">
                      <a:solidFill>
                        <a:srgbClr val="C3C0BB"/>
                      </a:solidFill>
                      <a:prstDash val="solid"/>
                      <a:round/>
                      <a:headEnd type="none" w="med" len="med"/>
                      <a:tailEnd type="none" w="med" len="med"/>
                    </a:lnR>
                    <a:lnT w="12700" cap="flat" cmpd="sng" algn="ctr">
                      <a:solidFill>
                        <a:srgbClr val="B5B2AD"/>
                      </a:solidFill>
                      <a:prstDash val="solid"/>
                      <a:round/>
                      <a:headEnd type="none" w="med" len="med"/>
                      <a:tailEnd type="none" w="med" len="med"/>
                    </a:lnT>
                    <a:lnB w="12700" cap="flat" cmpd="sng" algn="ctr">
                      <a:solidFill>
                        <a:srgbClr val="C3C0BB"/>
                      </a:solidFill>
                      <a:prstDash val="solid"/>
                      <a:round/>
                      <a:headEnd type="none" w="med" len="med"/>
                      <a:tailEnd type="none" w="med" len="med"/>
                    </a:lnB>
                  </a:tcPr>
                </a:tc>
              </a:tr>
              <a:tr h="459184">
                <a:tc>
                  <a:txBody>
                    <a:bodyPr/>
                    <a:lstStyle/>
                    <a:p>
                      <a:pPr indent="0" marL="0">
                        <a:lnSpc>
                          <a:spcPts val="2135"/>
                        </a:lnSpc>
                        <a:buNone/>
                      </a:pPr>
                      <a:r>
                        <a:rPr lang="en-US" sz="1525" dirty="0">
                          <a:solidFill>
                            <a:srgbClr val="16222C"/>
                          </a:solidFill>
                          <a:latin typeface="IBM Plex Sans" pitchFamily="34" charset="0"/>
                          <a:ea typeface="IBM Plex Sans" pitchFamily="34" charset="-122"/>
                          <a:cs typeface="IBM Plex Sans" pitchFamily="34" charset="-120"/>
                        </a:rPr>
                        <a:t>David</a:t>
                      </a:r>
                      <a:endParaRPr lang="en-US" sz="1525" dirty="0">
                        <a:latin typeface="IBM Plex Sans" charset="0"/>
                        <a:ea typeface="IBM Plex Sans" charset="0"/>
                        <a:cs typeface="IBM Plex Sans" charset="0"/>
                      </a:endParaRPr>
                    </a:p>
                  </a:txBody>
                  <a:tcPr marL="127000" marR="127000" marT="88900" marB="88900" anchor="t">
                    <a:lnL w="12700" cap="flat" cmpd="sng" algn="ctr">
                      <a:solidFill>
                        <a:srgbClr val="C3C0BB"/>
                      </a:solidFill>
                      <a:prstDash val="solid"/>
                      <a:round/>
                      <a:headEnd type="none" w="med" len="med"/>
                      <a:tailEnd type="none" w="med" len="med"/>
                    </a:lnL>
                    <a:lnR w="12700" cap="flat" cmpd="sng" algn="ctr">
                      <a:solidFill>
                        <a:srgbClr val="C3C0BB"/>
                      </a:solidFill>
                      <a:prstDash val="solid"/>
                      <a:round/>
                      <a:headEnd type="none" w="med" len="med"/>
                      <a:tailEnd type="none" w="med" len="med"/>
                    </a:lnR>
                    <a:lnT w="12700" cap="flat" cmpd="sng" algn="ctr">
                      <a:solidFill>
                        <a:srgbClr val="C3C0BB"/>
                      </a:solidFill>
                      <a:prstDash val="solid"/>
                      <a:round/>
                      <a:headEnd type="none" w="med" len="med"/>
                      <a:tailEnd type="none" w="med" len="med"/>
                    </a:lnT>
                    <a:lnB w="12700" cap="flat" cmpd="sng" algn="ctr">
                      <a:solidFill>
                        <a:srgbClr val="C3C0BB"/>
                      </a:solidFill>
                      <a:prstDash val="solid"/>
                      <a:round/>
                      <a:headEnd type="none" w="med" len="med"/>
                      <a:tailEnd type="none" w="med" len="med"/>
                    </a:lnB>
                  </a:tcPr>
                </a:tc>
                <a:tc>
                  <a:txBody>
                    <a:bodyPr/>
                    <a:lstStyle/>
                    <a:p>
                      <a:pPr indent="0" marL="0">
                        <a:lnSpc>
                          <a:spcPts val="2135"/>
                        </a:lnSpc>
                        <a:buNone/>
                      </a:pPr>
                      <a:r>
                        <a:rPr lang="en-US" sz="1525" dirty="0">
                          <a:solidFill>
                            <a:srgbClr val="16222C"/>
                          </a:solidFill>
                          <a:latin typeface="IBM Plex Sans" pitchFamily="34" charset="0"/>
                          <a:ea typeface="IBM Plex Sans" pitchFamily="34" charset="-122"/>
                          <a:cs typeface="IBM Plex Sans" pitchFamily="34" charset="-120"/>
                        </a:rPr>
                        <a:t>Keep unfinished trips in the count.</a:t>
                      </a:r>
                      <a:endParaRPr lang="en-US" sz="1525" dirty="0">
                        <a:latin typeface="IBM Plex Sans" charset="0"/>
                        <a:ea typeface="IBM Plex Sans" charset="0"/>
                        <a:cs typeface="IBM Plex Sans" charset="0"/>
                      </a:endParaRPr>
                    </a:p>
                  </a:txBody>
                  <a:tcPr marL="127000" marR="127000" marT="88900" marB="88900" anchor="t">
                    <a:lnL w="12700" cap="flat" cmpd="sng" algn="ctr">
                      <a:solidFill>
                        <a:srgbClr val="C3C0BB"/>
                      </a:solidFill>
                      <a:prstDash val="solid"/>
                      <a:round/>
                      <a:headEnd type="none" w="med" len="med"/>
                      <a:tailEnd type="none" w="med" len="med"/>
                    </a:lnL>
                    <a:lnR w="12700" cap="flat" cmpd="sng" algn="ctr">
                      <a:solidFill>
                        <a:srgbClr val="C3C0BB"/>
                      </a:solidFill>
                      <a:prstDash val="solid"/>
                      <a:round/>
                      <a:headEnd type="none" w="med" len="med"/>
                      <a:tailEnd type="none" w="med" len="med"/>
                    </a:lnR>
                    <a:lnT w="12700" cap="flat" cmpd="sng" algn="ctr">
                      <a:solidFill>
                        <a:srgbClr val="C3C0BB"/>
                      </a:solidFill>
                      <a:prstDash val="solid"/>
                      <a:round/>
                      <a:headEnd type="none" w="med" len="med"/>
                      <a:tailEnd type="none" w="med" len="med"/>
                    </a:lnT>
                    <a:lnB w="12700" cap="flat" cmpd="sng" algn="ctr">
                      <a:solidFill>
                        <a:srgbClr val="C3C0BB"/>
                      </a:solidFill>
                      <a:prstDash val="solid"/>
                      <a:round/>
                      <a:headEnd type="none" w="med" len="med"/>
                      <a:tailEnd type="none" w="med" len="med"/>
                    </a:lnB>
                  </a:tcPr>
                </a:tc>
                <a:tc>
                  <a:txBody>
                    <a:bodyPr/>
                    <a:lstStyle/>
                    <a:p>
                      <a:pPr indent="0" marL="0">
                        <a:lnSpc>
                          <a:spcPts val="2135"/>
                        </a:lnSpc>
                        <a:buNone/>
                      </a:pPr>
                      <a:r>
                        <a:rPr lang="en-US" sz="1525" dirty="0">
                          <a:solidFill>
                            <a:srgbClr val="8A3E14"/>
                          </a:solidFill>
                          <a:latin typeface="IBM Plex Sans" pitchFamily="34" charset="0"/>
                          <a:ea typeface="IBM Plex Sans" pitchFamily="34" charset="-122"/>
                          <a:cs typeface="IBM Plex Sans" pitchFamily="34" charset="-120"/>
                        </a:rPr>
                        <a:t>A scraped live map treated as his trip</a:t>
                      </a:r>
                      <a:endParaRPr lang="en-US" sz="1525" dirty="0">
                        <a:latin typeface="IBM Plex Sans" charset="0"/>
                        <a:ea typeface="IBM Plex Sans" charset="0"/>
                        <a:cs typeface="IBM Plex Sans" charset="0"/>
                      </a:endParaRPr>
                    </a:p>
                  </a:txBody>
                  <a:tcPr marL="127000" marR="127000" marT="88900" marB="88900" anchor="t">
                    <a:lnL w="12700" cap="flat" cmpd="sng" algn="ctr">
                      <a:solidFill>
                        <a:srgbClr val="C3C0BB"/>
                      </a:solidFill>
                      <a:prstDash val="solid"/>
                      <a:round/>
                      <a:headEnd type="none" w="med" len="med"/>
                      <a:tailEnd type="none" w="med" len="med"/>
                    </a:lnL>
                    <a:lnR w="12700" cap="flat" cmpd="sng" algn="ctr">
                      <a:solidFill>
                        <a:srgbClr val="C3C0BB"/>
                      </a:solidFill>
                      <a:prstDash val="solid"/>
                      <a:round/>
                      <a:headEnd type="none" w="med" len="med"/>
                      <a:tailEnd type="none" w="med" len="med"/>
                    </a:lnR>
                    <a:lnT w="12700" cap="flat" cmpd="sng" algn="ctr">
                      <a:solidFill>
                        <a:srgbClr val="C3C0BB"/>
                      </a:solidFill>
                      <a:prstDash val="solid"/>
                      <a:round/>
                      <a:headEnd type="none" w="med" len="med"/>
                      <a:tailEnd type="none" w="med" len="med"/>
                    </a:lnT>
                    <a:lnB w="12700" cap="flat" cmpd="sng" algn="ctr">
                      <a:solidFill>
                        <a:srgbClr val="C3C0BB"/>
                      </a:solidFill>
                      <a:prstDash val="solid"/>
                      <a:round/>
                      <a:headEnd type="none" w="med" len="med"/>
                      <a:tailEnd type="none" w="med" len="med"/>
                    </a:lnB>
                  </a:tcPr>
                </a:tc>
              </a:tr>
              <a:tr h="459184">
                <a:tc>
                  <a:txBody>
                    <a:bodyPr/>
                    <a:lstStyle/>
                    <a:p>
                      <a:pPr indent="0" marL="0">
                        <a:lnSpc>
                          <a:spcPts val="2135"/>
                        </a:lnSpc>
                        <a:buNone/>
                      </a:pPr>
                      <a:r>
                        <a:rPr lang="en-US" sz="1525" dirty="0">
                          <a:solidFill>
                            <a:srgbClr val="16222C"/>
                          </a:solidFill>
                          <a:latin typeface="IBM Plex Sans" pitchFamily="34" charset="0"/>
                          <a:ea typeface="IBM Plex Sans" pitchFamily="34" charset="-122"/>
                          <a:cs typeface="IBM Plex Sans" pitchFamily="34" charset="-120"/>
                        </a:rPr>
                        <a:t>Chidi</a:t>
                      </a:r>
                      <a:endParaRPr lang="en-US" sz="1525" dirty="0">
                        <a:latin typeface="IBM Plex Sans" charset="0"/>
                        <a:ea typeface="IBM Plex Sans" charset="0"/>
                        <a:cs typeface="IBM Plex Sans" charset="0"/>
                      </a:endParaRPr>
                    </a:p>
                  </a:txBody>
                  <a:tcPr marL="127000" marR="127000" marT="88900" marB="88900" anchor="t">
                    <a:lnL w="12700" cap="flat" cmpd="sng" algn="ctr">
                      <a:solidFill>
                        <a:srgbClr val="C3C0BB"/>
                      </a:solidFill>
                      <a:prstDash val="solid"/>
                      <a:round/>
                      <a:headEnd type="none" w="med" len="med"/>
                      <a:tailEnd type="none" w="med" len="med"/>
                    </a:lnL>
                    <a:lnR w="12700" cap="flat" cmpd="sng" algn="ctr">
                      <a:solidFill>
                        <a:srgbClr val="C3C0BB"/>
                      </a:solidFill>
                      <a:prstDash val="solid"/>
                      <a:round/>
                      <a:headEnd type="none" w="med" len="med"/>
                      <a:tailEnd type="none" w="med" len="med"/>
                    </a:lnR>
                    <a:lnT w="12700" cap="flat" cmpd="sng" algn="ctr">
                      <a:solidFill>
                        <a:srgbClr val="C3C0BB"/>
                      </a:solidFill>
                      <a:prstDash val="solid"/>
                      <a:round/>
                      <a:headEnd type="none" w="med" len="med"/>
                      <a:tailEnd type="none" w="med" len="med"/>
                    </a:lnT>
                    <a:lnB w="12700" cap="flat" cmpd="sng" algn="ctr">
                      <a:solidFill>
                        <a:srgbClr val="C3C0BB"/>
                      </a:solidFill>
                      <a:prstDash val="solid"/>
                      <a:round/>
                      <a:headEnd type="none" w="med" len="med"/>
                      <a:tailEnd type="none" w="med" len="med"/>
                    </a:lnB>
                  </a:tcPr>
                </a:tc>
                <a:tc>
                  <a:txBody>
                    <a:bodyPr/>
                    <a:lstStyle/>
                    <a:p>
                      <a:pPr indent="0" marL="0">
                        <a:lnSpc>
                          <a:spcPts val="2135"/>
                        </a:lnSpc>
                        <a:buNone/>
                      </a:pPr>
                      <a:r>
                        <a:rPr lang="en-US" sz="1525" dirty="0">
                          <a:solidFill>
                            <a:srgbClr val="16222C"/>
                          </a:solidFill>
                          <a:latin typeface="IBM Plex Sans" pitchFamily="34" charset="0"/>
                          <a:ea typeface="IBM Plex Sans" pitchFamily="34" charset="-122"/>
                          <a:cs typeface="IBM Plex Sans" pitchFamily="34" charset="-120"/>
                        </a:rPr>
                        <a:t>Priority only after a real gap.</a:t>
                      </a:r>
                      <a:endParaRPr lang="en-US" sz="1525" dirty="0">
                        <a:latin typeface="IBM Plex Sans" charset="0"/>
                        <a:ea typeface="IBM Plex Sans" charset="0"/>
                        <a:cs typeface="IBM Plex Sans" charset="0"/>
                      </a:endParaRPr>
                    </a:p>
                  </a:txBody>
                  <a:tcPr marL="127000" marR="127000" marT="88900" marB="88900" anchor="t">
                    <a:lnL w="12700" cap="flat" cmpd="sng" algn="ctr">
                      <a:solidFill>
                        <a:srgbClr val="C3C0BB"/>
                      </a:solidFill>
                      <a:prstDash val="solid"/>
                      <a:round/>
                      <a:headEnd type="none" w="med" len="med"/>
                      <a:tailEnd type="none" w="med" len="med"/>
                    </a:lnL>
                    <a:lnR w="12700" cap="flat" cmpd="sng" algn="ctr">
                      <a:solidFill>
                        <a:srgbClr val="C3C0BB"/>
                      </a:solidFill>
                      <a:prstDash val="solid"/>
                      <a:round/>
                      <a:headEnd type="none" w="med" len="med"/>
                      <a:tailEnd type="none" w="med" len="med"/>
                    </a:lnR>
                    <a:lnT w="12700" cap="flat" cmpd="sng" algn="ctr">
                      <a:solidFill>
                        <a:srgbClr val="C3C0BB"/>
                      </a:solidFill>
                      <a:prstDash val="solid"/>
                      <a:round/>
                      <a:headEnd type="none" w="med" len="med"/>
                      <a:tailEnd type="none" w="med" len="med"/>
                    </a:lnT>
                    <a:lnB w="12700" cap="flat" cmpd="sng" algn="ctr">
                      <a:solidFill>
                        <a:srgbClr val="C3C0BB"/>
                      </a:solidFill>
                      <a:prstDash val="solid"/>
                      <a:round/>
                      <a:headEnd type="none" w="med" len="med"/>
                      <a:tailEnd type="none" w="med" len="med"/>
                    </a:lnB>
                  </a:tcPr>
                </a:tc>
                <a:tc>
                  <a:txBody>
                    <a:bodyPr/>
                    <a:lstStyle/>
                    <a:p>
                      <a:pPr indent="0" marL="0">
                        <a:lnSpc>
                          <a:spcPts val="2135"/>
                        </a:lnSpc>
                        <a:buNone/>
                      </a:pPr>
                      <a:r>
                        <a:rPr lang="en-US" sz="1525" dirty="0">
                          <a:solidFill>
                            <a:srgbClr val="8A3E14"/>
                          </a:solidFill>
                          <a:latin typeface="IBM Plex Sans" pitchFamily="34" charset="0"/>
                          <a:ea typeface="IBM Plex Sans" pitchFamily="34" charset="-122"/>
                          <a:cs typeface="IBM Plex Sans" pitchFamily="34" charset="-120"/>
                        </a:rPr>
                        <a:t>Green for every bus</a:t>
                      </a:r>
                      <a:endParaRPr lang="en-US" sz="1525" dirty="0">
                        <a:latin typeface="IBM Plex Sans" charset="0"/>
                        <a:ea typeface="IBM Plex Sans" charset="0"/>
                        <a:cs typeface="IBM Plex Sans" charset="0"/>
                      </a:endParaRPr>
                    </a:p>
                  </a:txBody>
                  <a:tcPr marL="127000" marR="127000" marT="88900" marB="88900" anchor="t">
                    <a:lnL w="12700" cap="flat" cmpd="sng" algn="ctr">
                      <a:solidFill>
                        <a:srgbClr val="C3C0BB"/>
                      </a:solidFill>
                      <a:prstDash val="solid"/>
                      <a:round/>
                      <a:headEnd type="none" w="med" len="med"/>
                      <a:tailEnd type="none" w="med" len="med"/>
                    </a:lnL>
                    <a:lnR w="12700" cap="flat" cmpd="sng" algn="ctr">
                      <a:solidFill>
                        <a:srgbClr val="C3C0BB"/>
                      </a:solidFill>
                      <a:prstDash val="solid"/>
                      <a:round/>
                      <a:headEnd type="none" w="med" len="med"/>
                      <a:tailEnd type="none" w="med" len="med"/>
                    </a:lnR>
                    <a:lnT w="12700" cap="flat" cmpd="sng" algn="ctr">
                      <a:solidFill>
                        <a:srgbClr val="C3C0BB"/>
                      </a:solidFill>
                      <a:prstDash val="solid"/>
                      <a:round/>
                      <a:headEnd type="none" w="med" len="med"/>
                      <a:tailEnd type="none" w="med" len="med"/>
                    </a:lnT>
                    <a:lnB w="12700" cap="flat" cmpd="sng" algn="ctr">
                      <a:solidFill>
                        <a:srgbClr val="C3C0BB"/>
                      </a:solidFill>
                      <a:prstDash val="solid"/>
                      <a:round/>
                      <a:headEnd type="none" w="med" len="med"/>
                      <a:tailEnd type="none" w="med" len="med"/>
                    </a:lnB>
                  </a:tcPr>
                </a:tc>
              </a:tr>
              <a:tr h="459184">
                <a:tc>
                  <a:txBody>
                    <a:bodyPr/>
                    <a:lstStyle/>
                    <a:p>
                      <a:pPr indent="0" marL="0">
                        <a:lnSpc>
                          <a:spcPts val="2135"/>
                        </a:lnSpc>
                        <a:buNone/>
                      </a:pPr>
                      <a:r>
                        <a:rPr lang="en-US" sz="1525" dirty="0">
                          <a:solidFill>
                            <a:srgbClr val="16222C"/>
                          </a:solidFill>
                          <a:latin typeface="IBM Plex Sans" pitchFamily="34" charset="0"/>
                          <a:ea typeface="IBM Plex Sans" pitchFamily="34" charset="-122"/>
                          <a:cs typeface="IBM Plex Sans" pitchFamily="34" charset="-120"/>
                        </a:rPr>
                        <a:t>Rosa</a:t>
                      </a:r>
                      <a:endParaRPr lang="en-US" sz="1525" dirty="0">
                        <a:latin typeface="IBM Plex Sans" charset="0"/>
                        <a:ea typeface="IBM Plex Sans" charset="0"/>
                        <a:cs typeface="IBM Plex Sans" charset="0"/>
                      </a:endParaRPr>
                    </a:p>
                  </a:txBody>
                  <a:tcPr marL="127000" marR="127000" marT="88900" marB="88900" anchor="t">
                    <a:lnL w="12700" cap="flat" cmpd="sng" algn="ctr">
                      <a:solidFill>
                        <a:srgbClr val="C3C0BB"/>
                      </a:solidFill>
                      <a:prstDash val="solid"/>
                      <a:round/>
                      <a:headEnd type="none" w="med" len="med"/>
                      <a:tailEnd type="none" w="med" len="med"/>
                    </a:lnL>
                    <a:lnR w="12700" cap="flat" cmpd="sng" algn="ctr">
                      <a:solidFill>
                        <a:srgbClr val="C3C0BB"/>
                      </a:solidFill>
                      <a:prstDash val="solid"/>
                      <a:round/>
                      <a:headEnd type="none" w="med" len="med"/>
                      <a:tailEnd type="none" w="med" len="med"/>
                    </a:lnR>
                    <a:lnT w="12700" cap="flat" cmpd="sng" algn="ctr">
                      <a:solidFill>
                        <a:srgbClr val="C3C0BB"/>
                      </a:solidFill>
                      <a:prstDash val="solid"/>
                      <a:round/>
                      <a:headEnd type="none" w="med" len="med"/>
                      <a:tailEnd type="none" w="med" len="med"/>
                    </a:lnT>
                    <a:lnB w="12700" cap="flat" cmpd="sng" algn="ctr">
                      <a:solidFill>
                        <a:srgbClr val="C3C0BB"/>
                      </a:solidFill>
                      <a:prstDash val="solid"/>
                      <a:round/>
                      <a:headEnd type="none" w="med" len="med"/>
                      <a:tailEnd type="none" w="med" len="med"/>
                    </a:lnB>
                  </a:tcPr>
                </a:tc>
                <a:tc>
                  <a:txBody>
                    <a:bodyPr/>
                    <a:lstStyle/>
                    <a:p>
                      <a:pPr indent="0" marL="0">
                        <a:lnSpc>
                          <a:spcPts val="2135"/>
                        </a:lnSpc>
                        <a:buNone/>
                      </a:pPr>
                      <a:r>
                        <a:rPr lang="en-US" sz="1525" dirty="0">
                          <a:solidFill>
                            <a:srgbClr val="16222C"/>
                          </a:solidFill>
                          <a:latin typeface="IBM Plex Sans" pitchFamily="34" charset="0"/>
                          <a:ea typeface="IBM Plex Sans" pitchFamily="34" charset="-122"/>
                          <a:cs typeface="IBM Plex Sans" pitchFamily="34" charset="-120"/>
                        </a:rPr>
                        <a:t>One cited explanation, or abstain.</a:t>
                      </a:r>
                      <a:endParaRPr lang="en-US" sz="1525" dirty="0">
                        <a:latin typeface="IBM Plex Sans" charset="0"/>
                        <a:ea typeface="IBM Plex Sans" charset="0"/>
                        <a:cs typeface="IBM Plex Sans" charset="0"/>
                      </a:endParaRPr>
                    </a:p>
                  </a:txBody>
                  <a:tcPr marL="127000" marR="127000" marT="88900" marB="88900" anchor="t">
                    <a:lnL w="12700" cap="flat" cmpd="sng" algn="ctr">
                      <a:solidFill>
                        <a:srgbClr val="C3C0BB"/>
                      </a:solidFill>
                      <a:prstDash val="solid"/>
                      <a:round/>
                      <a:headEnd type="none" w="med" len="med"/>
                      <a:tailEnd type="none" w="med" len="med"/>
                    </a:lnL>
                    <a:lnR w="12700" cap="flat" cmpd="sng" algn="ctr">
                      <a:solidFill>
                        <a:srgbClr val="C3C0BB"/>
                      </a:solidFill>
                      <a:prstDash val="solid"/>
                      <a:round/>
                      <a:headEnd type="none" w="med" len="med"/>
                      <a:tailEnd type="none" w="med" len="med"/>
                    </a:lnR>
                    <a:lnT w="12700" cap="flat" cmpd="sng" algn="ctr">
                      <a:solidFill>
                        <a:srgbClr val="C3C0BB"/>
                      </a:solidFill>
                      <a:prstDash val="solid"/>
                      <a:round/>
                      <a:headEnd type="none" w="med" len="med"/>
                      <a:tailEnd type="none" w="med" len="med"/>
                    </a:lnT>
                    <a:lnB w="12700" cap="flat" cmpd="sng" algn="ctr">
                      <a:solidFill>
                        <a:srgbClr val="C3C0BB"/>
                      </a:solidFill>
                      <a:prstDash val="solid"/>
                      <a:round/>
                      <a:headEnd type="none" w="med" len="med"/>
                      <a:tailEnd type="none" w="med" len="med"/>
                    </a:lnB>
                  </a:tcPr>
                </a:tc>
                <a:tc>
                  <a:txBody>
                    <a:bodyPr/>
                    <a:lstStyle/>
                    <a:p>
                      <a:pPr indent="0" marL="0">
                        <a:lnSpc>
                          <a:spcPts val="2135"/>
                        </a:lnSpc>
                        <a:buNone/>
                      </a:pPr>
                      <a:r>
                        <a:rPr lang="en-US" sz="1525" dirty="0">
                          <a:solidFill>
                            <a:srgbClr val="8A3E14"/>
                          </a:solidFill>
                          <a:latin typeface="IBM Plex Sans" pitchFamily="34" charset="0"/>
                          <a:ea typeface="IBM Plex Sans" pitchFamily="34" charset="-122"/>
                          <a:cs typeface="IBM Plex Sans" pitchFamily="34" charset="-120"/>
                        </a:rPr>
                        <a:t>A chatbot that negotiates the phase</a:t>
                      </a:r>
                      <a:endParaRPr lang="en-US" sz="1525" dirty="0">
                        <a:latin typeface="IBM Plex Sans" charset="0"/>
                        <a:ea typeface="IBM Plex Sans" charset="0"/>
                        <a:cs typeface="IBM Plex Sans" charset="0"/>
                      </a:endParaRPr>
                    </a:p>
                  </a:txBody>
                  <a:tcPr marL="127000" marR="127000" marT="88900" marB="88900" anchor="t">
                    <a:lnL w="12700" cap="flat" cmpd="sng" algn="ctr">
                      <a:solidFill>
                        <a:srgbClr val="C3C0BB"/>
                      </a:solidFill>
                      <a:prstDash val="solid"/>
                      <a:round/>
                      <a:headEnd type="none" w="med" len="med"/>
                      <a:tailEnd type="none" w="med" len="med"/>
                    </a:lnL>
                    <a:lnR w="12700" cap="flat" cmpd="sng" algn="ctr">
                      <a:solidFill>
                        <a:srgbClr val="C3C0BB"/>
                      </a:solidFill>
                      <a:prstDash val="solid"/>
                      <a:round/>
                      <a:headEnd type="none" w="med" len="med"/>
                      <a:tailEnd type="none" w="med" len="med"/>
                    </a:lnR>
                    <a:lnT w="12700" cap="flat" cmpd="sng" algn="ctr">
                      <a:solidFill>
                        <a:srgbClr val="C3C0BB"/>
                      </a:solidFill>
                      <a:prstDash val="solid"/>
                      <a:round/>
                      <a:headEnd type="none" w="med" len="med"/>
                      <a:tailEnd type="none" w="med" len="med"/>
                    </a:lnT>
                    <a:lnB w="12700" cap="flat" cmpd="sng" algn="ctr">
                      <a:solidFill>
                        <a:srgbClr val="C3C0BB"/>
                      </a:solidFill>
                      <a:prstDash val="solid"/>
                      <a:round/>
                      <a:headEnd type="none" w="med" len="med"/>
                      <a:tailEnd type="none" w="med" len="med"/>
                    </a:lnB>
                  </a:tcPr>
                </a:tc>
              </a:tr>
              <a:tr h="730329">
                <a:tc>
                  <a:txBody>
                    <a:bodyPr/>
                    <a:lstStyle/>
                    <a:p>
                      <a:pPr indent="0" marL="0">
                        <a:lnSpc>
                          <a:spcPts val="2135"/>
                        </a:lnSpc>
                        <a:buNone/>
                      </a:pPr>
                      <a:r>
                        <a:rPr lang="en-US" sz="1525" dirty="0">
                          <a:solidFill>
                            <a:srgbClr val="16222C"/>
                          </a:solidFill>
                          <a:latin typeface="IBM Plex Sans" pitchFamily="34" charset="0"/>
                          <a:ea typeface="IBM Plex Sans" pitchFamily="34" charset="-122"/>
                          <a:cs typeface="IBM Plex Sans" pitchFamily="34" charset="-120"/>
                        </a:rPr>
                        <a:t>Marcus</a:t>
                      </a:r>
                      <a:endParaRPr lang="en-US" sz="1525" dirty="0">
                        <a:latin typeface="IBM Plex Sans" charset="0"/>
                        <a:ea typeface="IBM Plex Sans" charset="0"/>
                        <a:cs typeface="IBM Plex Sans" charset="0"/>
                      </a:endParaRPr>
                    </a:p>
                  </a:txBody>
                  <a:tcPr marL="127000" marR="127000" marT="88900" marB="88900" anchor="t">
                    <a:lnL w="12700" cap="flat" cmpd="sng" algn="ctr">
                      <a:solidFill>
                        <a:srgbClr val="C3C0BB"/>
                      </a:solidFill>
                      <a:prstDash val="solid"/>
                      <a:round/>
                      <a:headEnd type="none" w="med" len="med"/>
                      <a:tailEnd type="none" w="med" len="med"/>
                    </a:lnL>
                    <a:lnR w="12700" cap="flat" cmpd="sng" algn="ctr">
                      <a:solidFill>
                        <a:srgbClr val="C3C0BB"/>
                      </a:solidFill>
                      <a:prstDash val="solid"/>
                      <a:round/>
                      <a:headEnd type="none" w="med" len="med"/>
                      <a:tailEnd type="none" w="med" len="med"/>
                    </a:lnR>
                    <a:lnT w="12700" cap="flat" cmpd="sng" algn="ctr">
                      <a:solidFill>
                        <a:srgbClr val="C3C0BB"/>
                      </a:solidFill>
                      <a:prstDash val="solid"/>
                      <a:round/>
                      <a:headEnd type="none" w="med" len="med"/>
                      <a:tailEnd type="none" w="med" len="med"/>
                    </a:lnT>
                    <a:lnB w="12700" cap="flat" cmpd="sng" algn="ctr">
                      <a:solidFill>
                        <a:srgbClr val="C3C0BB"/>
                      </a:solidFill>
                      <a:prstDash val="solid"/>
                      <a:round/>
                      <a:headEnd type="none" w="med" len="med"/>
                      <a:tailEnd type="none" w="med" len="med"/>
                    </a:lnB>
                  </a:tcPr>
                </a:tc>
                <a:tc>
                  <a:txBody>
                    <a:bodyPr/>
                    <a:lstStyle/>
                    <a:p>
                      <a:pPr indent="0" marL="0">
                        <a:lnSpc>
                          <a:spcPts val="2135"/>
                        </a:lnSpc>
                        <a:buNone/>
                      </a:pPr>
                      <a:r>
                        <a:rPr lang="en-US" sz="1525" dirty="0">
                          <a:solidFill>
                            <a:srgbClr val="16222C"/>
                          </a:solidFill>
                          <a:latin typeface="IBM Plex Sans" pitchFamily="34" charset="0"/>
                          <a:ea typeface="IBM Plex Sans" pitchFamily="34" charset="-122"/>
                          <a:cs typeface="IBM Plex Sans" pitchFamily="34" charset="-120"/>
                        </a:rPr>
                        <a:t>Request, exit check, then recovery.</a:t>
                      </a:r>
                      <a:endParaRPr lang="en-US" sz="1525" dirty="0">
                        <a:latin typeface="IBM Plex Sans" charset="0"/>
                        <a:ea typeface="IBM Plex Sans" charset="0"/>
                        <a:cs typeface="IBM Plex Sans" charset="0"/>
                      </a:endParaRPr>
                    </a:p>
                  </a:txBody>
                  <a:tcPr marL="127000" marR="127000" marT="88900" marB="88900" anchor="t">
                    <a:lnL w="12700" cap="flat" cmpd="sng" algn="ctr">
                      <a:solidFill>
                        <a:srgbClr val="C3C0BB"/>
                      </a:solidFill>
                      <a:prstDash val="solid"/>
                      <a:round/>
                      <a:headEnd type="none" w="med" len="med"/>
                      <a:tailEnd type="none" w="med" len="med"/>
                    </a:lnL>
                    <a:lnR w="12700" cap="flat" cmpd="sng" algn="ctr">
                      <a:solidFill>
                        <a:srgbClr val="C3C0BB"/>
                      </a:solidFill>
                      <a:prstDash val="solid"/>
                      <a:round/>
                      <a:headEnd type="none" w="med" len="med"/>
                      <a:tailEnd type="none" w="med" len="med"/>
                    </a:lnR>
                    <a:lnT w="12700" cap="flat" cmpd="sng" algn="ctr">
                      <a:solidFill>
                        <a:srgbClr val="C3C0BB"/>
                      </a:solidFill>
                      <a:prstDash val="solid"/>
                      <a:round/>
                      <a:headEnd type="none" w="med" len="med"/>
                      <a:tailEnd type="none" w="med" len="med"/>
                    </a:lnT>
                    <a:lnB w="12700" cap="flat" cmpd="sng" algn="ctr">
                      <a:solidFill>
                        <a:srgbClr val="C3C0BB"/>
                      </a:solidFill>
                      <a:prstDash val="solid"/>
                      <a:round/>
                      <a:headEnd type="none" w="med" len="med"/>
                      <a:tailEnd type="none" w="med" len="med"/>
                    </a:lnB>
                  </a:tcPr>
                </a:tc>
                <a:tc>
                  <a:txBody>
                    <a:bodyPr/>
                    <a:lstStyle/>
                    <a:p>
                      <a:pPr indent="0" marL="0">
                        <a:lnSpc>
                          <a:spcPts val="2135"/>
                        </a:lnSpc>
                        <a:buNone/>
                      </a:pPr>
                      <a:r>
                        <a:rPr lang="en-US" sz="1525" dirty="0">
                          <a:solidFill>
                            <a:srgbClr val="8A3E14"/>
                          </a:solidFill>
                          <a:latin typeface="IBM Plex Sans" pitchFamily="34" charset="0"/>
                          <a:ea typeface="IBM Plex Sans" pitchFamily="34" charset="-122"/>
                          <a:cs typeface="IBM Plex Sans" pitchFamily="34" charset="-120"/>
                        </a:rPr>
                        <a:t>An always-green corridor, or “lives saved”</a:t>
                      </a:r>
                      <a:endParaRPr lang="en-US" sz="1525" dirty="0">
                        <a:latin typeface="IBM Plex Sans" charset="0"/>
                        <a:ea typeface="IBM Plex Sans" charset="0"/>
                        <a:cs typeface="IBM Plex Sans" charset="0"/>
                      </a:endParaRPr>
                    </a:p>
                  </a:txBody>
                  <a:tcPr marL="127000" marR="127000" marT="88900" marB="88900" anchor="t">
                    <a:lnL w="12700" cap="flat" cmpd="sng" algn="ctr">
                      <a:solidFill>
                        <a:srgbClr val="C3C0BB"/>
                      </a:solidFill>
                      <a:prstDash val="solid"/>
                      <a:round/>
                      <a:headEnd type="none" w="med" len="med"/>
                      <a:tailEnd type="none" w="med" len="med"/>
                    </a:lnL>
                    <a:lnR w="12700" cap="flat" cmpd="sng" algn="ctr">
                      <a:solidFill>
                        <a:srgbClr val="C3C0BB"/>
                      </a:solidFill>
                      <a:prstDash val="solid"/>
                      <a:round/>
                      <a:headEnd type="none" w="med" len="med"/>
                      <a:tailEnd type="none" w="med" len="med"/>
                    </a:lnR>
                    <a:lnT w="12700" cap="flat" cmpd="sng" algn="ctr">
                      <a:solidFill>
                        <a:srgbClr val="C3C0BB"/>
                      </a:solidFill>
                      <a:prstDash val="solid"/>
                      <a:round/>
                      <a:headEnd type="none" w="med" len="med"/>
                      <a:tailEnd type="none" w="med" len="med"/>
                    </a:lnT>
                    <a:lnB w="12700" cap="flat" cmpd="sng" algn="ctr">
                      <a:solidFill>
                        <a:srgbClr val="C3C0BB"/>
                      </a:solidFill>
                      <a:prstDash val="solid"/>
                      <a:round/>
                      <a:headEnd type="none" w="med" len="med"/>
                      <a:tailEnd type="none" w="med" len="med"/>
                    </a:lnB>
                  </a:tcPr>
                </a:tc>
              </a:tr>
              <a:tr h="459184">
                <a:tc>
                  <a:txBody>
                    <a:bodyPr/>
                    <a:lstStyle/>
                    <a:p>
                      <a:pPr indent="0" marL="0">
                        <a:lnSpc>
                          <a:spcPts val="2135"/>
                        </a:lnSpc>
                        <a:buNone/>
                      </a:pPr>
                      <a:r>
                        <a:rPr lang="en-US" sz="1525" dirty="0">
                          <a:solidFill>
                            <a:srgbClr val="16222C"/>
                          </a:solidFill>
                          <a:latin typeface="IBM Plex Sans" pitchFamily="34" charset="0"/>
                          <a:ea typeface="IBM Plex Sans" pitchFamily="34" charset="-122"/>
                          <a:cs typeface="IBM Plex Sans" pitchFamily="34" charset="-120"/>
                        </a:rPr>
                        <a:t>Omar</a:t>
                      </a:r>
                      <a:endParaRPr lang="en-US" sz="1525" dirty="0">
                        <a:latin typeface="IBM Plex Sans" charset="0"/>
                        <a:ea typeface="IBM Plex Sans" charset="0"/>
                        <a:cs typeface="IBM Plex Sans" charset="0"/>
                      </a:endParaRPr>
                    </a:p>
                  </a:txBody>
                  <a:tcPr marL="127000" marR="127000" marT="88900" marB="88900" anchor="t">
                    <a:lnL w="12700" cap="flat" cmpd="sng" algn="ctr">
                      <a:solidFill>
                        <a:srgbClr val="C3C0BB"/>
                      </a:solidFill>
                      <a:prstDash val="solid"/>
                      <a:round/>
                      <a:headEnd type="none" w="med" len="med"/>
                      <a:tailEnd type="none" w="med" len="med"/>
                    </a:lnL>
                    <a:lnR w="12700" cap="flat" cmpd="sng" algn="ctr">
                      <a:solidFill>
                        <a:srgbClr val="C3C0BB"/>
                      </a:solidFill>
                      <a:prstDash val="solid"/>
                      <a:round/>
                      <a:headEnd type="none" w="med" len="med"/>
                      <a:tailEnd type="none" w="med" len="med"/>
                    </a:lnR>
                    <a:lnT w="12700" cap="flat" cmpd="sng" algn="ctr">
                      <a:solidFill>
                        <a:srgbClr val="C3C0BB"/>
                      </a:solidFill>
                      <a:prstDash val="solid"/>
                      <a:round/>
                      <a:headEnd type="none" w="med" len="med"/>
                      <a:tailEnd type="none" w="med" len="med"/>
                    </a:lnT>
                    <a:lnB w="12700" cap="flat" cmpd="sng" algn="ctr">
                      <a:solidFill>
                        <a:srgbClr val="C3C0BB"/>
                      </a:solidFill>
                      <a:prstDash val="solid"/>
                      <a:round/>
                      <a:headEnd type="none" w="med" len="med"/>
                      <a:tailEnd type="none" w="med" len="med"/>
                    </a:lnB>
                  </a:tcPr>
                </a:tc>
                <a:tc>
                  <a:txBody>
                    <a:bodyPr/>
                    <a:lstStyle/>
                    <a:p>
                      <a:pPr indent="0" marL="0">
                        <a:lnSpc>
                          <a:spcPts val="2135"/>
                        </a:lnSpc>
                        <a:buNone/>
                      </a:pPr>
                      <a:r>
                        <a:rPr lang="en-US" sz="1525" dirty="0">
                          <a:solidFill>
                            <a:srgbClr val="16222C"/>
                          </a:solidFill>
                          <a:latin typeface="IBM Plex Sans" pitchFamily="34" charset="0"/>
                          <a:ea typeface="IBM Plex Sans" pitchFamily="34" charset="-122"/>
                          <a:cs typeface="IBM Plex Sans" pitchFamily="34" charset="-120"/>
                        </a:rPr>
                        <a:t>Class, confidence, freshness.</a:t>
                      </a:r>
                      <a:endParaRPr lang="en-US" sz="1525" dirty="0">
                        <a:latin typeface="IBM Plex Sans" charset="0"/>
                        <a:ea typeface="IBM Plex Sans" charset="0"/>
                        <a:cs typeface="IBM Plex Sans" charset="0"/>
                      </a:endParaRPr>
                    </a:p>
                  </a:txBody>
                  <a:tcPr marL="127000" marR="127000" marT="88900" marB="88900" anchor="t">
                    <a:lnL w="12700" cap="flat" cmpd="sng" algn="ctr">
                      <a:solidFill>
                        <a:srgbClr val="C3C0BB"/>
                      </a:solidFill>
                      <a:prstDash val="solid"/>
                      <a:round/>
                      <a:headEnd type="none" w="med" len="med"/>
                      <a:tailEnd type="none" w="med" len="med"/>
                    </a:lnL>
                    <a:lnR w="12700" cap="flat" cmpd="sng" algn="ctr">
                      <a:solidFill>
                        <a:srgbClr val="C3C0BB"/>
                      </a:solidFill>
                      <a:prstDash val="solid"/>
                      <a:round/>
                      <a:headEnd type="none" w="med" len="med"/>
                      <a:tailEnd type="none" w="med" len="med"/>
                    </a:lnR>
                    <a:lnT w="12700" cap="flat" cmpd="sng" algn="ctr">
                      <a:solidFill>
                        <a:srgbClr val="C3C0BB"/>
                      </a:solidFill>
                      <a:prstDash val="solid"/>
                      <a:round/>
                      <a:headEnd type="none" w="med" len="med"/>
                      <a:tailEnd type="none" w="med" len="med"/>
                    </a:lnT>
                    <a:lnB w="12700" cap="flat" cmpd="sng" algn="ctr">
                      <a:solidFill>
                        <a:srgbClr val="C3C0BB"/>
                      </a:solidFill>
                      <a:prstDash val="solid"/>
                      <a:round/>
                      <a:headEnd type="none" w="med" len="med"/>
                      <a:tailEnd type="none" w="med" len="med"/>
                    </a:lnB>
                  </a:tcPr>
                </a:tc>
                <a:tc>
                  <a:txBody>
                    <a:bodyPr/>
                    <a:lstStyle/>
                    <a:p>
                      <a:pPr indent="0" marL="0">
                        <a:lnSpc>
                          <a:spcPts val="2135"/>
                        </a:lnSpc>
                        <a:buNone/>
                      </a:pPr>
                      <a:r>
                        <a:rPr lang="en-US" sz="1525" dirty="0">
                          <a:solidFill>
                            <a:srgbClr val="8A3E14"/>
                          </a:solidFill>
                          <a:latin typeface="IBM Plex Sans" pitchFamily="34" charset="0"/>
                          <a:ea typeface="IBM Plex Sans" pitchFamily="34" charset="-122"/>
                          <a:cs typeface="IBM Plex Sans" pitchFamily="34" charset="-120"/>
                        </a:rPr>
                        <a:t>A news scrape that declares a crash</a:t>
                      </a:r>
                      <a:endParaRPr lang="en-US" sz="1525" dirty="0">
                        <a:latin typeface="IBM Plex Sans" charset="0"/>
                        <a:ea typeface="IBM Plex Sans" charset="0"/>
                        <a:cs typeface="IBM Plex Sans" charset="0"/>
                      </a:endParaRPr>
                    </a:p>
                  </a:txBody>
                  <a:tcPr marL="127000" marR="127000" marT="88900" marB="88900" anchor="t">
                    <a:lnL w="12700" cap="flat" cmpd="sng" algn="ctr">
                      <a:solidFill>
                        <a:srgbClr val="C3C0BB"/>
                      </a:solidFill>
                      <a:prstDash val="solid"/>
                      <a:round/>
                      <a:headEnd type="none" w="med" len="med"/>
                      <a:tailEnd type="none" w="med" len="med"/>
                    </a:lnL>
                    <a:lnR w="12700" cap="flat" cmpd="sng" algn="ctr">
                      <a:solidFill>
                        <a:srgbClr val="C3C0BB"/>
                      </a:solidFill>
                      <a:prstDash val="solid"/>
                      <a:round/>
                      <a:headEnd type="none" w="med" len="med"/>
                      <a:tailEnd type="none" w="med" len="med"/>
                    </a:lnR>
                    <a:lnT w="12700" cap="flat" cmpd="sng" algn="ctr">
                      <a:solidFill>
                        <a:srgbClr val="C3C0BB"/>
                      </a:solidFill>
                      <a:prstDash val="solid"/>
                      <a:round/>
                      <a:headEnd type="none" w="med" len="med"/>
                      <a:tailEnd type="none" w="med" len="med"/>
                    </a:lnT>
                    <a:lnB w="12700" cap="flat" cmpd="sng" algn="ctr">
                      <a:solidFill>
                        <a:srgbClr val="C3C0BB"/>
                      </a:solidFill>
                      <a:prstDash val="solid"/>
                      <a:round/>
                      <a:headEnd type="none" w="med" len="med"/>
                      <a:tailEnd type="none" w="med" len="med"/>
                    </a:lnB>
                  </a:tcPr>
                </a:tc>
              </a:tr>
            </a:tbl>
          </a:graphicData>
        </a:graphic>
      </p:graphicFrame>
      <p:sp>
        <p:nvSpPr>
          <p:cNvPr id="5" name="Text 2"/>
          <p:cNvSpPr/>
          <p:nvPr/>
        </p:nvSpPr>
        <p:spPr>
          <a:xfrm>
            <a:off x="812800" y="5454724"/>
            <a:ext cx="9810750" cy="412671"/>
          </a:xfrm>
          <a:prstGeom prst="rect">
            <a:avLst/>
          </a:prstGeom>
          <a:noFill/>
          <a:ln/>
        </p:spPr>
        <p:txBody>
          <a:bodyPr wrap="square" lIns="0" tIns="0" rIns="0" bIns="0" rtlCol="0" anchor="t">
            <a:normAutofit/>
          </a:bodyPr>
          <a:lstStyle/>
          <a:p>
            <a:pPr algn="l" indent="0" marL="0">
              <a:lnSpc>
                <a:spcPts val="1581"/>
              </a:lnSpc>
              <a:buNone/>
            </a:pPr>
            <a:r>
              <a:rPr lang="en-US" sz="1129" b="1" dirty="0">
                <a:solidFill>
                  <a:srgbClr val="16222C"/>
                </a:solidFill>
                <a:latin typeface="IBM Plex Sans" pitchFamily="34" charset="0"/>
                <a:ea typeface="IBM Plex Sans" pitchFamily="34" charset="-122"/>
                <a:cs typeface="IBM Plex Sans" pitchFamily="34" charset="-120"/>
              </a:rPr>
              <a:t>Also refused:</a:t>
            </a:r>
            <a:r>
              <a:rPr lang="en-US" sz="1129" dirty="0">
                <a:solidFill>
                  <a:srgbClr val="16222C"/>
                </a:solidFill>
                <a:latin typeface="IBM Plex Sans" pitchFamily="34" charset="0"/>
                <a:ea typeface="IBM Plex Sans" pitchFamily="34" charset="-122"/>
                <a:cs typeface="IBM Plex Sans" pitchFamily="34" charset="-120"/>
              </a:rPr>
              <a:t> a scraped map colour or news post treated as a ground-truth crash · a heatmap with no denominator · a sentence that writes the light.</a:t>
            </a:r>
            <a:endParaRPr lang="en-US" sz="1129" dirty="0"/>
          </a:p>
        </p:txBody>
      </p:sp>
      <p:sp>
        <p:nvSpPr>
          <p:cNvPr id="6" name="Text 3"/>
          <p:cNvSpPr/>
          <p:nvPr/>
        </p:nvSpPr>
        <p:spPr>
          <a:xfrm>
            <a:off x="812800" y="6238255"/>
            <a:ext cx="8420649"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B73"/>
                </a:solidFill>
                <a:latin typeface="IBM Plex Sans" pitchFamily="34" charset="0"/>
                <a:ea typeface="IBM Plex Sans" pitchFamily="34" charset="-122"/>
                <a:cs typeface="IBM Plex Sans" pitchFamily="34" charset="-120"/>
              </a:rPr>
              <a:t>Method: one idea per persona need, written beside its source, then kept or refused. Not SCAMPER, not a user workshop.</a:t>
            </a:r>
            <a:endParaRPr lang="en-US" sz="1200" dirty="0"/>
          </a:p>
        </p:txBody>
      </p:sp>
      <p:sp>
        <p:nvSpPr>
          <p:cNvPr id="7" name="Text 4"/>
          <p:cNvSpPr/>
          <p:nvPr/>
        </p:nvSpPr>
        <p:spPr>
          <a:xfrm>
            <a:off x="11196320" y="6238255"/>
            <a:ext cx="23368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B73"/>
                </a:solidFill>
                <a:latin typeface="IBM Plex Sans" pitchFamily="34" charset="0"/>
                <a:ea typeface="IBM Plex Sans" pitchFamily="34" charset="-122"/>
                <a:cs typeface="IBM Plex Sans" pitchFamily="34" charset="-120"/>
              </a:rPr>
              <a:t>17</a:t>
            </a:r>
            <a:endParaRPr lang="en-US" sz="120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F4F1EA"/>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1F6B72"/>
                </a:solidFill>
                <a:latin typeface="IBM Plex Mono" pitchFamily="34" charset="0"/>
                <a:ea typeface="IBM Plex Mono" pitchFamily="34" charset="-122"/>
                <a:cs typeface="IBM Plex Mono" pitchFamily="34" charset="-120"/>
              </a:rPr>
              <a:t>EVALUATION · LIMITS &amp; NEXT STEPS</a:t>
            </a:r>
            <a:endParaRPr lang="en-US" sz="1200" dirty="0"/>
          </a:p>
        </p:txBody>
      </p:sp>
      <p:sp>
        <p:nvSpPr>
          <p:cNvPr id="3" name="Text 1"/>
          <p:cNvSpPr/>
          <p:nvPr/>
        </p:nvSpPr>
        <p:spPr>
          <a:xfrm>
            <a:off x="812800" y="1127770"/>
            <a:ext cx="10883392" cy="472440"/>
          </a:xfrm>
          <a:prstGeom prst="rect">
            <a:avLst/>
          </a:prstGeom>
          <a:noFill/>
          <a:ln/>
        </p:spPr>
        <p:txBody>
          <a:bodyPr wrap="square" lIns="0" tIns="0" rIns="0" bIns="0" rtlCol="0" anchor="t">
            <a:normAutofit/>
          </a:bodyPr>
          <a:lstStyle/>
          <a:p>
            <a:pPr algn="l" indent="0" marL="0">
              <a:lnSpc>
                <a:spcPts val="3520"/>
              </a:lnSpc>
              <a:buNone/>
            </a:pPr>
            <a:r>
              <a:rPr lang="en-US" sz="3200" b="1" dirty="0">
                <a:solidFill>
                  <a:srgbClr val="16222C"/>
                </a:solidFill>
                <a:latin typeface="Space Grotesk" pitchFamily="34" charset="0"/>
                <a:ea typeface="Space Grotesk" pitchFamily="34" charset="-122"/>
                <a:cs typeface="Space Grotesk" pitchFamily="34" charset="-120"/>
              </a:rPr>
              <a:t>What is missing, and how we close it</a:t>
            </a:r>
            <a:endParaRPr lang="en-US" sz="3200" dirty="0"/>
          </a:p>
        </p:txBody>
      </p:sp>
      <p:sp>
        <p:nvSpPr>
          <p:cNvPr id="4" name="Shape 2"/>
          <p:cNvSpPr/>
          <p:nvPr/>
        </p:nvSpPr>
        <p:spPr>
          <a:xfrm>
            <a:off x="815975" y="1882775"/>
            <a:ext cx="5149850" cy="2500630"/>
          </a:xfrm>
          <a:prstGeom prst="roundRect">
            <a:avLst>
              <a:gd name="adj" fmla="val 3936"/>
            </a:avLst>
          </a:prstGeom>
          <a:solidFill>
            <a:srgbClr val="FBFAF6"/>
          </a:solidFill>
          <a:ln w="6350">
            <a:solidFill>
              <a:srgbClr val="DDD8CC"/>
            </a:solidFill>
            <a:prstDash val="solid"/>
          </a:ln>
        </p:spPr>
      </p:sp>
      <p:sp>
        <p:nvSpPr>
          <p:cNvPr id="5" name="Text 3"/>
          <p:cNvSpPr/>
          <p:nvPr/>
        </p:nvSpPr>
        <p:spPr>
          <a:xfrm>
            <a:off x="1071880" y="2138685"/>
            <a:ext cx="4777181" cy="26924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6222C"/>
                </a:solidFill>
                <a:latin typeface="Space Grotesk" pitchFamily="34" charset="0"/>
                <a:ea typeface="Space Grotesk" pitchFamily="34" charset="-122"/>
                <a:cs typeface="Space Grotesk" pitchFamily="34" charset="-120"/>
              </a:rPr>
              <a:t>Limits we state openly</a:t>
            </a:r>
            <a:endParaRPr lang="en-US" sz="1600" dirty="0"/>
          </a:p>
        </p:txBody>
      </p:sp>
      <p:sp>
        <p:nvSpPr>
          <p:cNvPr id="6" name="Text 4"/>
          <p:cNvSpPr/>
          <p:nvPr/>
        </p:nvSpPr>
        <p:spPr>
          <a:xfrm>
            <a:off x="1071880" y="2509515"/>
            <a:ext cx="4777181" cy="1412240"/>
          </a:xfrm>
          <a:prstGeom prst="rect">
            <a:avLst/>
          </a:prstGeom>
          <a:noFill/>
          <a:ln/>
        </p:spPr>
        <p:txBody>
          <a:bodyPr wrap="square" lIns="0" tIns="0" rIns="0" bIns="0" rtlCol="0" anchor="t">
            <a:normAutofit/>
          </a:bodyPr>
          <a:lstStyle/>
          <a:p>
            <a:pPr algn="l" marL="198120" indent="-168656">
              <a:lnSpc>
                <a:spcPts val="1820"/>
              </a:lnSpc>
              <a:buSzPct val="100000"/>
              <a:buChar char="•"/>
            </a:pPr>
            <a:r>
              <a:rPr lang="en-US" sz="1300" dirty="0">
                <a:solidFill>
                  <a:srgbClr val="16222C"/>
                </a:solidFill>
                <a:latin typeface="IBM Plex Sans" pitchFamily="34" charset="0"/>
                <a:ea typeface="IBM Plex Sans" pitchFamily="34" charset="-122"/>
                <a:cs typeface="IBM Plex Sans" pitchFamily="34" charset="-120"/>
              </a:rPr>
              <a:t>No interviews, questionnaires or ride-alongs yet. Personas are design readings.</a:t>
            </a:r>
            <a:endParaRPr lang="en-US" sz="1300" dirty="0"/>
          </a:p>
          <a:p>
            <a:pPr algn="l" marL="198120" indent="-168656">
              <a:lnSpc>
                <a:spcPts val="1820"/>
              </a:lnSpc>
              <a:buSzPct val="100000"/>
              <a:buChar char="•"/>
            </a:pPr>
            <a:r>
              <a:rPr lang="en-US" sz="1300" dirty="0">
                <a:solidFill>
                  <a:srgbClr val="16222C"/>
                </a:solidFill>
                <a:latin typeface="IBM Plex Sans" pitchFamily="34" charset="0"/>
                <a:ea typeface="IBM Plex Sans" pitchFamily="34" charset="-122"/>
                <a:cs typeface="IBM Plex Sans" pitchFamily="34" charset="-120"/>
              </a:rPr>
              <a:t>One matched seed. No winner can be claimed.</a:t>
            </a:r>
            <a:endParaRPr lang="en-US" sz="1300" dirty="0"/>
          </a:p>
          <a:p>
            <a:pPr algn="l" marL="198120" indent="-168656">
              <a:lnSpc>
                <a:spcPts val="1820"/>
              </a:lnSpc>
              <a:buSzPct val="100000"/>
              <a:buChar char="•"/>
            </a:pPr>
            <a:r>
              <a:rPr lang="en-US" sz="1300" dirty="0">
                <a:solidFill>
                  <a:srgbClr val="16222C"/>
                </a:solidFill>
                <a:latin typeface="IBM Plex Sans" pitchFamily="34" charset="0"/>
                <a:ea typeface="IBM Plex Sans" pitchFamily="34" charset="-122"/>
                <a:cs typeface="IBM Plex Sans" pitchFamily="34" charset="-120"/>
              </a:rPr>
              <a:t>A synthetic grid, not a measured Tunis junction.</a:t>
            </a:r>
            <a:endParaRPr lang="en-US" sz="1300" dirty="0"/>
          </a:p>
          <a:p>
            <a:pPr algn="l" marL="198120" indent="-168656">
              <a:lnSpc>
                <a:spcPts val="1820"/>
              </a:lnSpc>
              <a:buSzPct val="100000"/>
              <a:buChar char="•"/>
            </a:pPr>
            <a:r>
              <a:rPr lang="en-US" sz="1300" dirty="0">
                <a:solidFill>
                  <a:srgbClr val="16222C"/>
                </a:solidFill>
                <a:latin typeface="IBM Plex Sans" pitchFamily="34" charset="0"/>
                <a:ea typeface="IBM Plex Sans" pitchFamily="34" charset="-122"/>
                <a:cs typeface="IBM Plex Sans" pitchFamily="34" charset="-120"/>
              </a:rPr>
              <a:t>Ridership dates from 2018, and the 2023 death totals conflict.</a:t>
            </a:r>
            <a:endParaRPr lang="en-US" sz="1300" dirty="0"/>
          </a:p>
        </p:txBody>
      </p:sp>
      <p:sp>
        <p:nvSpPr>
          <p:cNvPr id="7" name="Shape 5"/>
          <p:cNvSpPr/>
          <p:nvPr/>
        </p:nvSpPr>
        <p:spPr>
          <a:xfrm>
            <a:off x="6226175" y="1882775"/>
            <a:ext cx="5149850" cy="2500630"/>
          </a:xfrm>
          <a:prstGeom prst="roundRect">
            <a:avLst>
              <a:gd name="adj" fmla="val 3936"/>
            </a:avLst>
          </a:prstGeom>
          <a:solidFill>
            <a:srgbClr val="FBFAF6"/>
          </a:solidFill>
          <a:ln w="6350">
            <a:solidFill>
              <a:srgbClr val="DDD8CC"/>
            </a:solidFill>
            <a:prstDash val="solid"/>
          </a:ln>
        </p:spPr>
      </p:sp>
      <p:sp>
        <p:nvSpPr>
          <p:cNvPr id="8" name="Text 6"/>
          <p:cNvSpPr/>
          <p:nvPr/>
        </p:nvSpPr>
        <p:spPr>
          <a:xfrm>
            <a:off x="6482080" y="2138685"/>
            <a:ext cx="4777181" cy="26924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6222C"/>
                </a:solidFill>
                <a:latin typeface="Space Grotesk" pitchFamily="34" charset="0"/>
                <a:ea typeface="Space Grotesk" pitchFamily="34" charset="-122"/>
                <a:cs typeface="Space Grotesk" pitchFamily="34" charset="-120"/>
              </a:rPr>
              <a:t>Next steps</a:t>
            </a:r>
            <a:endParaRPr lang="en-US" sz="1600" dirty="0"/>
          </a:p>
        </p:txBody>
      </p:sp>
      <p:sp>
        <p:nvSpPr>
          <p:cNvPr id="9" name="Text 7"/>
          <p:cNvSpPr/>
          <p:nvPr/>
        </p:nvSpPr>
        <p:spPr>
          <a:xfrm>
            <a:off x="6482080" y="2509515"/>
            <a:ext cx="4777181" cy="1643380"/>
          </a:xfrm>
          <a:prstGeom prst="rect">
            <a:avLst/>
          </a:prstGeom>
          <a:noFill/>
          <a:ln/>
        </p:spPr>
        <p:txBody>
          <a:bodyPr wrap="square" lIns="0" tIns="0" rIns="0" bIns="0" rtlCol="0" anchor="t">
            <a:normAutofit/>
          </a:bodyPr>
          <a:lstStyle/>
          <a:p>
            <a:pPr algn="l" marL="198120" indent="-168656">
              <a:lnSpc>
                <a:spcPts val="1820"/>
              </a:lnSpc>
              <a:buSzPct val="100000"/>
              <a:buChar char="•"/>
            </a:pPr>
            <a:r>
              <a:rPr lang="en-US" sz="1300" dirty="0">
                <a:solidFill>
                  <a:srgbClr val="16222C"/>
                </a:solidFill>
                <a:latin typeface="IBM Plex Sans" pitchFamily="34" charset="0"/>
                <a:ea typeface="IBM Plex Sans" pitchFamily="34" charset="-122"/>
                <a:cs typeface="IBM Plex Sans" pitchFamily="34" charset="-120"/>
              </a:rPr>
              <a:t>Interview [n] people per persona group, starting with duty officers and pedestrians with reduced mobility.</a:t>
            </a:r>
            <a:endParaRPr lang="en-US" sz="1300" dirty="0"/>
          </a:p>
          <a:p>
            <a:pPr algn="l" marL="198120" indent="-168656">
              <a:lnSpc>
                <a:spcPts val="1820"/>
              </a:lnSpc>
              <a:buSzPct val="100000"/>
              <a:buChar char="•"/>
            </a:pPr>
            <a:r>
              <a:rPr lang="en-US" sz="1300" dirty="0">
                <a:solidFill>
                  <a:srgbClr val="16222C"/>
                </a:solidFill>
                <a:latin typeface="IBM Plex Sans" pitchFamily="34" charset="0"/>
                <a:ea typeface="IBM Plex Sans" pitchFamily="34" charset="-122"/>
                <a:cs typeface="IBM Plex Sans" pitchFamily="34" charset="-120"/>
              </a:rPr>
              <a:t>Run [N] matched seeds per scenario and report intervals.</a:t>
            </a:r>
            <a:endParaRPr lang="en-US" sz="1300" dirty="0"/>
          </a:p>
          <a:p>
            <a:pPr algn="l" marL="198120" indent="-168656">
              <a:lnSpc>
                <a:spcPts val="1820"/>
              </a:lnSpc>
              <a:buSzPct val="100000"/>
              <a:buChar char="•"/>
            </a:pPr>
            <a:r>
              <a:rPr lang="en-US" sz="1300" dirty="0">
                <a:solidFill>
                  <a:srgbClr val="16222C"/>
                </a:solidFill>
                <a:latin typeface="IBM Plex Sans" pitchFamily="34" charset="0"/>
                <a:ea typeface="IBM Plex Sans" pitchFamily="34" charset="-122"/>
                <a:cs typeface="IBM Plex Sans" pitchFamily="34" charset="-120"/>
              </a:rPr>
              <a:t>Build the grid from a dated OpenStreetMap snapshot of a Tunis corridor.</a:t>
            </a:r>
            <a:endParaRPr lang="en-US" sz="1300" dirty="0"/>
          </a:p>
          <a:p>
            <a:pPr algn="l" marL="198120" indent="-168656">
              <a:lnSpc>
                <a:spcPts val="1820"/>
              </a:lnSpc>
              <a:buSzPct val="100000"/>
              <a:buChar char="•"/>
            </a:pPr>
            <a:r>
              <a:rPr lang="en-US" sz="1300" dirty="0">
                <a:solidFill>
                  <a:srgbClr val="16222C"/>
                </a:solidFill>
                <a:latin typeface="IBM Plex Sans" pitchFamily="34" charset="0"/>
                <a:ea typeface="IBM Plex Sans" pitchFamily="34" charset="-122"/>
                <a:cs typeface="IBM Plex Sans" pitchFamily="34" charset="-120"/>
              </a:rPr>
              <a:t>Usability-test the console: can a reader explain one yes and one no?</a:t>
            </a:r>
            <a:endParaRPr lang="en-US" sz="1300" dirty="0"/>
          </a:p>
        </p:txBody>
      </p:sp>
      <p:sp>
        <p:nvSpPr>
          <p:cNvPr id="10" name="Text 8"/>
          <p:cNvSpPr/>
          <p:nvPr/>
        </p:nvSpPr>
        <p:spPr>
          <a:xfrm>
            <a:off x="812800" y="6238255"/>
            <a:ext cx="2176433"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B73"/>
                </a:solidFill>
                <a:latin typeface="IBM Plex Sans" pitchFamily="34" charset="0"/>
                <a:ea typeface="IBM Plex Sans" pitchFamily="34" charset="-122"/>
                <a:cs typeface="IBM Plex Sans" pitchFamily="34" charset="-120"/>
              </a:rPr>
              <a:t>CoFlow-5 Synapse · Evaluation</a:t>
            </a:r>
            <a:endParaRPr lang="en-US" sz="1200" dirty="0"/>
          </a:p>
        </p:txBody>
      </p:sp>
      <p:sp>
        <p:nvSpPr>
          <p:cNvPr id="11" name="Text 9"/>
          <p:cNvSpPr/>
          <p:nvPr/>
        </p:nvSpPr>
        <p:spPr>
          <a:xfrm>
            <a:off x="11196320" y="6238255"/>
            <a:ext cx="23368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B73"/>
                </a:solidFill>
                <a:latin typeface="IBM Plex Sans" pitchFamily="34" charset="0"/>
                <a:ea typeface="IBM Plex Sans" pitchFamily="34" charset="-122"/>
                <a:cs typeface="IBM Plex Sans" pitchFamily="34" charset="-120"/>
              </a:rPr>
              <a:t>27</a:t>
            </a:r>
            <a:endParaRPr lang="en-US" sz="120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F4F1EA"/>
        </a:solidFill>
      </p:bgPr>
    </p:bg>
    <p:spTree>
      <p:nvGrpSpPr>
        <p:cNvPr id="1" name=""/>
        <p:cNvGrpSpPr/>
        <p:nvPr/>
      </p:nvGrpSpPr>
      <p:grpSpPr>
        <a:xfrm>
          <a:off x="0" y="0"/>
          <a:ext cx="0" cy="0"/>
          <a:chOff x="0" y="0"/>
          <a:chExt cx="0" cy="0"/>
        </a:xfrm>
      </p:grpSpPr>
      <p:sp>
        <p:nvSpPr>
          <p:cNvPr id="2" name="Text 0"/>
          <p:cNvSpPr/>
          <p:nvPr/>
        </p:nvSpPr>
        <p:spPr>
          <a:xfrm>
            <a:off x="812800" y="812800"/>
            <a:ext cx="10883392" cy="217964"/>
          </a:xfrm>
          <a:prstGeom prst="rect">
            <a:avLst/>
          </a:prstGeom>
          <a:noFill/>
          <a:ln/>
        </p:spPr>
        <p:txBody>
          <a:bodyPr wrap="square" lIns="0" tIns="0" rIns="0" bIns="0" rtlCol="0" anchor="t">
            <a:normAutofit/>
          </a:bodyPr>
          <a:lstStyle/>
          <a:p>
            <a:pPr algn="l" indent="0" marL="0">
              <a:lnSpc>
                <a:spcPts val="1523"/>
              </a:lnSpc>
              <a:buNone/>
            </a:pPr>
            <a:r>
              <a:rPr lang="en-US" sz="1088" spc="100" kern="0" dirty="0">
                <a:solidFill>
                  <a:srgbClr val="1F6B72"/>
                </a:solidFill>
                <a:latin typeface="IBM Plex Mono" pitchFamily="34" charset="0"/>
                <a:ea typeface="IBM Plex Mono" pitchFamily="34" charset="-122"/>
                <a:cs typeface="IBM Plex Mono" pitchFamily="34" charset="-120"/>
              </a:rPr>
              <a:t>SELECTED SOLUTION · CLOSED LOOP</a:t>
            </a:r>
            <a:endParaRPr lang="en-US" sz="1088" dirty="0"/>
          </a:p>
        </p:txBody>
      </p:sp>
      <p:sp>
        <p:nvSpPr>
          <p:cNvPr id="3" name="Text 1"/>
          <p:cNvSpPr/>
          <p:nvPr/>
        </p:nvSpPr>
        <p:spPr>
          <a:xfrm>
            <a:off x="812800" y="1106959"/>
            <a:ext cx="10883392" cy="428863"/>
          </a:xfrm>
          <a:prstGeom prst="rect">
            <a:avLst/>
          </a:prstGeom>
          <a:noFill/>
          <a:ln/>
        </p:spPr>
        <p:txBody>
          <a:bodyPr wrap="square" lIns="0" tIns="0" rIns="0" bIns="0" rtlCol="0" anchor="t">
            <a:normAutofit/>
          </a:bodyPr>
          <a:lstStyle/>
          <a:p>
            <a:pPr algn="l" indent="0" marL="0">
              <a:lnSpc>
                <a:spcPts val="3223"/>
              </a:lnSpc>
              <a:buNone/>
            </a:pPr>
            <a:r>
              <a:rPr lang="en-US" sz="2930" b="1" dirty="0">
                <a:solidFill>
                  <a:srgbClr val="16222C"/>
                </a:solidFill>
                <a:latin typeface="Space Grotesk" pitchFamily="34" charset="0"/>
                <a:ea typeface="Space Grotesk" pitchFamily="34" charset="-122"/>
                <a:cs typeface="Space Grotesk" pitchFamily="34" charset="-120"/>
              </a:rPr>
              <a:t>The loop, with personas as acceptance tests</a:t>
            </a:r>
            <a:endParaRPr lang="en-US" sz="2930" dirty="0"/>
          </a:p>
        </p:txBody>
      </p:sp>
      <p:sp>
        <p:nvSpPr>
          <p:cNvPr id="4" name="Shape 2"/>
          <p:cNvSpPr/>
          <p:nvPr/>
        </p:nvSpPr>
        <p:spPr>
          <a:xfrm>
            <a:off x="812800" y="1744663"/>
            <a:ext cx="1032272" cy="467360"/>
          </a:xfrm>
          <a:prstGeom prst="roundRect">
            <a:avLst>
              <a:gd name="adj" fmla="val 13587"/>
            </a:avLst>
          </a:prstGeom>
          <a:solidFill>
            <a:srgbClr val="E9E4D8"/>
          </a:solidFill>
          <a:ln/>
        </p:spPr>
      </p:sp>
      <p:sp>
        <p:nvSpPr>
          <p:cNvPr id="5" name="Text 3"/>
          <p:cNvSpPr/>
          <p:nvPr/>
        </p:nvSpPr>
        <p:spPr>
          <a:xfrm>
            <a:off x="1036003" y="1871663"/>
            <a:ext cx="636667"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6222C"/>
                </a:solidFill>
                <a:latin typeface="IBM Plex Sans" pitchFamily="34" charset="0"/>
                <a:ea typeface="IBM Plex Sans" pitchFamily="34" charset="-122"/>
                <a:cs typeface="IBM Plex Sans" pitchFamily="34" charset="-120"/>
              </a:rPr>
              <a:t>Observe</a:t>
            </a:r>
            <a:endParaRPr lang="en-US" sz="1200" dirty="0"/>
          </a:p>
        </p:txBody>
      </p:sp>
      <p:sp>
        <p:nvSpPr>
          <p:cNvPr id="6" name="Text 4"/>
          <p:cNvSpPr/>
          <p:nvPr/>
        </p:nvSpPr>
        <p:spPr>
          <a:xfrm>
            <a:off x="1895872" y="1853878"/>
            <a:ext cx="228600" cy="27432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5E6B73"/>
                </a:solidFill>
                <a:latin typeface="IBM Plex Sans" pitchFamily="34" charset="0"/>
                <a:ea typeface="IBM Plex Sans" pitchFamily="34" charset="-122"/>
                <a:cs typeface="IBM Plex Sans" pitchFamily="34" charset="-120"/>
              </a:rPr>
              <a:t>→</a:t>
            </a:r>
            <a:endParaRPr lang="en-US" sz="1400" dirty="0"/>
          </a:p>
        </p:txBody>
      </p:sp>
      <p:sp>
        <p:nvSpPr>
          <p:cNvPr id="7" name="Shape 5"/>
          <p:cNvSpPr/>
          <p:nvPr/>
        </p:nvSpPr>
        <p:spPr>
          <a:xfrm>
            <a:off x="2124472" y="1744663"/>
            <a:ext cx="1032351" cy="467360"/>
          </a:xfrm>
          <a:prstGeom prst="roundRect">
            <a:avLst>
              <a:gd name="adj" fmla="val 13587"/>
            </a:avLst>
          </a:prstGeom>
          <a:solidFill>
            <a:srgbClr val="E9E4D8"/>
          </a:solidFill>
          <a:ln/>
        </p:spPr>
      </p:sp>
      <p:sp>
        <p:nvSpPr>
          <p:cNvPr id="8" name="Text 6"/>
          <p:cNvSpPr/>
          <p:nvPr/>
        </p:nvSpPr>
        <p:spPr>
          <a:xfrm>
            <a:off x="2543651" y="1871663"/>
            <a:ext cx="244713"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6222C"/>
                </a:solidFill>
                <a:latin typeface="IBM Plex Sans" pitchFamily="34" charset="0"/>
                <a:ea typeface="IBM Plex Sans" pitchFamily="34" charset="-122"/>
                <a:cs typeface="IBM Plex Sans" pitchFamily="34" charset="-120"/>
              </a:rPr>
              <a:t>A4</a:t>
            </a:r>
            <a:endParaRPr lang="en-US" sz="1200" dirty="0"/>
          </a:p>
        </p:txBody>
      </p:sp>
      <p:sp>
        <p:nvSpPr>
          <p:cNvPr id="9" name="Text 7"/>
          <p:cNvSpPr/>
          <p:nvPr/>
        </p:nvSpPr>
        <p:spPr>
          <a:xfrm>
            <a:off x="3207623" y="1853878"/>
            <a:ext cx="228600" cy="27432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5E6B73"/>
                </a:solidFill>
                <a:latin typeface="IBM Plex Sans" pitchFamily="34" charset="0"/>
                <a:ea typeface="IBM Plex Sans" pitchFamily="34" charset="-122"/>
                <a:cs typeface="IBM Plex Sans" pitchFamily="34" charset="-120"/>
              </a:rPr>
              <a:t>→</a:t>
            </a:r>
            <a:endParaRPr lang="en-US" sz="1400" dirty="0"/>
          </a:p>
        </p:txBody>
      </p:sp>
      <p:sp>
        <p:nvSpPr>
          <p:cNvPr id="10" name="Shape 8"/>
          <p:cNvSpPr/>
          <p:nvPr/>
        </p:nvSpPr>
        <p:spPr>
          <a:xfrm>
            <a:off x="3436223" y="1744663"/>
            <a:ext cx="1208326" cy="467360"/>
          </a:xfrm>
          <a:prstGeom prst="roundRect">
            <a:avLst>
              <a:gd name="adj" fmla="val 13587"/>
            </a:avLst>
          </a:prstGeom>
          <a:solidFill>
            <a:srgbClr val="E9E4D8"/>
          </a:solidFill>
          <a:ln/>
        </p:spPr>
      </p:sp>
      <p:sp>
        <p:nvSpPr>
          <p:cNvPr id="11" name="Text 9"/>
          <p:cNvSpPr/>
          <p:nvPr/>
        </p:nvSpPr>
        <p:spPr>
          <a:xfrm>
            <a:off x="3624421" y="1871663"/>
            <a:ext cx="882650"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6222C"/>
                </a:solidFill>
                <a:latin typeface="IBM Plex Sans" pitchFamily="34" charset="0"/>
                <a:ea typeface="IBM Plex Sans" pitchFamily="34" charset="-122"/>
                <a:cs typeface="IBM Plex Sans" pitchFamily="34" charset="-120"/>
              </a:rPr>
              <a:t>A2 · A3 · A5</a:t>
            </a:r>
            <a:endParaRPr lang="en-US" sz="1200" dirty="0"/>
          </a:p>
        </p:txBody>
      </p:sp>
      <p:sp>
        <p:nvSpPr>
          <p:cNvPr id="12" name="Text 10"/>
          <p:cNvSpPr/>
          <p:nvPr/>
        </p:nvSpPr>
        <p:spPr>
          <a:xfrm>
            <a:off x="4695349" y="1853878"/>
            <a:ext cx="228600" cy="27432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5E6B73"/>
                </a:solidFill>
                <a:latin typeface="IBM Plex Sans" pitchFamily="34" charset="0"/>
                <a:ea typeface="IBM Plex Sans" pitchFamily="34" charset="-122"/>
                <a:cs typeface="IBM Plex Sans" pitchFamily="34" charset="-120"/>
              </a:rPr>
              <a:t>→</a:t>
            </a:r>
            <a:endParaRPr lang="en-US" sz="1400" dirty="0"/>
          </a:p>
        </p:txBody>
      </p:sp>
      <p:sp>
        <p:nvSpPr>
          <p:cNvPr id="13" name="Shape 11"/>
          <p:cNvSpPr/>
          <p:nvPr/>
        </p:nvSpPr>
        <p:spPr>
          <a:xfrm>
            <a:off x="4923949" y="1744663"/>
            <a:ext cx="1032272" cy="467360"/>
          </a:xfrm>
          <a:prstGeom prst="roundRect">
            <a:avLst>
              <a:gd name="adj" fmla="val 13587"/>
            </a:avLst>
          </a:prstGeom>
          <a:solidFill>
            <a:srgbClr val="16222C"/>
          </a:solidFill>
          <a:ln/>
        </p:spPr>
      </p:sp>
      <p:sp>
        <p:nvSpPr>
          <p:cNvPr id="14" name="Text 12"/>
          <p:cNvSpPr/>
          <p:nvPr/>
        </p:nvSpPr>
        <p:spPr>
          <a:xfrm>
            <a:off x="5343128" y="1871663"/>
            <a:ext cx="244713"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E8A33D"/>
                </a:solidFill>
                <a:latin typeface="IBM Plex Sans" pitchFamily="34" charset="0"/>
                <a:ea typeface="IBM Plex Sans" pitchFamily="34" charset="-122"/>
                <a:cs typeface="IBM Plex Sans" pitchFamily="34" charset="-120"/>
              </a:rPr>
              <a:t>A1</a:t>
            </a:r>
            <a:endParaRPr lang="en-US" sz="1200" dirty="0"/>
          </a:p>
        </p:txBody>
      </p:sp>
      <p:sp>
        <p:nvSpPr>
          <p:cNvPr id="15" name="Text 13"/>
          <p:cNvSpPr/>
          <p:nvPr/>
        </p:nvSpPr>
        <p:spPr>
          <a:xfrm>
            <a:off x="6007021" y="1853878"/>
            <a:ext cx="228600" cy="27432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5E6B73"/>
                </a:solidFill>
                <a:latin typeface="IBM Plex Sans" pitchFamily="34" charset="0"/>
                <a:ea typeface="IBM Plex Sans" pitchFamily="34" charset="-122"/>
                <a:cs typeface="IBM Plex Sans" pitchFamily="34" charset="-120"/>
              </a:rPr>
              <a:t>→</a:t>
            </a:r>
            <a:endParaRPr lang="en-US" sz="1400" dirty="0"/>
          </a:p>
        </p:txBody>
      </p:sp>
      <p:sp>
        <p:nvSpPr>
          <p:cNvPr id="16" name="Shape 14"/>
          <p:cNvSpPr/>
          <p:nvPr/>
        </p:nvSpPr>
        <p:spPr>
          <a:xfrm>
            <a:off x="6235621" y="1744663"/>
            <a:ext cx="1208326" cy="467360"/>
          </a:xfrm>
          <a:prstGeom prst="roundRect">
            <a:avLst>
              <a:gd name="adj" fmla="val 13587"/>
            </a:avLst>
          </a:prstGeom>
          <a:solidFill>
            <a:srgbClr val="E9E4D8"/>
          </a:solidFill>
          <a:ln/>
        </p:spPr>
      </p:sp>
      <p:sp>
        <p:nvSpPr>
          <p:cNvPr id="17" name="Text 15"/>
          <p:cNvSpPr/>
          <p:nvPr/>
        </p:nvSpPr>
        <p:spPr>
          <a:xfrm>
            <a:off x="6404213" y="1871663"/>
            <a:ext cx="921941"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6222C"/>
                </a:solidFill>
                <a:latin typeface="IBM Plex Sans" pitchFamily="34" charset="0"/>
                <a:ea typeface="IBM Plex Sans" pitchFamily="34" charset="-122"/>
                <a:cs typeface="IBM Plex Sans" pitchFamily="34" charset="-120"/>
              </a:rPr>
              <a:t>Safety mask</a:t>
            </a:r>
            <a:endParaRPr lang="en-US" sz="1200" dirty="0"/>
          </a:p>
        </p:txBody>
      </p:sp>
      <p:sp>
        <p:nvSpPr>
          <p:cNvPr id="18" name="Text 16"/>
          <p:cNvSpPr/>
          <p:nvPr/>
        </p:nvSpPr>
        <p:spPr>
          <a:xfrm>
            <a:off x="7494746" y="1853878"/>
            <a:ext cx="228600" cy="27432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5E6B73"/>
                </a:solidFill>
                <a:latin typeface="IBM Plex Sans" pitchFamily="34" charset="0"/>
                <a:ea typeface="IBM Plex Sans" pitchFamily="34" charset="-122"/>
                <a:cs typeface="IBM Plex Sans" pitchFamily="34" charset="-120"/>
              </a:rPr>
              <a:t>→</a:t>
            </a:r>
            <a:endParaRPr lang="en-US" sz="1400" dirty="0"/>
          </a:p>
        </p:txBody>
      </p:sp>
      <p:sp>
        <p:nvSpPr>
          <p:cNvPr id="19" name="Shape 17"/>
          <p:cNvSpPr/>
          <p:nvPr/>
        </p:nvSpPr>
        <p:spPr>
          <a:xfrm>
            <a:off x="7723346" y="1744663"/>
            <a:ext cx="1032351" cy="467360"/>
          </a:xfrm>
          <a:prstGeom prst="roundRect">
            <a:avLst>
              <a:gd name="adj" fmla="val 13587"/>
            </a:avLst>
          </a:prstGeom>
          <a:solidFill>
            <a:srgbClr val="E9E4D8"/>
          </a:solidFill>
          <a:ln/>
        </p:spPr>
      </p:sp>
      <p:sp>
        <p:nvSpPr>
          <p:cNvPr id="20" name="Text 18"/>
          <p:cNvSpPr/>
          <p:nvPr/>
        </p:nvSpPr>
        <p:spPr>
          <a:xfrm>
            <a:off x="8023940" y="1871663"/>
            <a:ext cx="481965"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6222C"/>
                </a:solidFill>
                <a:latin typeface="IBM Plex Sans" pitchFamily="34" charset="0"/>
                <a:ea typeface="IBM Plex Sans" pitchFamily="34" charset="-122"/>
                <a:cs typeface="IBM Plex Sans" pitchFamily="34" charset="-120"/>
              </a:rPr>
              <a:t>SUMO</a:t>
            </a:r>
            <a:endParaRPr lang="en-US" sz="1200" dirty="0"/>
          </a:p>
        </p:txBody>
      </p:sp>
      <p:sp>
        <p:nvSpPr>
          <p:cNvPr id="21" name="Text 19"/>
          <p:cNvSpPr/>
          <p:nvPr/>
        </p:nvSpPr>
        <p:spPr>
          <a:xfrm>
            <a:off x="8806497" y="1853878"/>
            <a:ext cx="228600" cy="27432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5E6B73"/>
                </a:solidFill>
                <a:latin typeface="IBM Plex Sans" pitchFamily="34" charset="0"/>
                <a:ea typeface="IBM Plex Sans" pitchFamily="34" charset="-122"/>
                <a:cs typeface="IBM Plex Sans" pitchFamily="34" charset="-120"/>
              </a:rPr>
              <a:t>→</a:t>
            </a:r>
            <a:endParaRPr lang="en-US" sz="1400" dirty="0"/>
          </a:p>
        </p:txBody>
      </p:sp>
      <p:sp>
        <p:nvSpPr>
          <p:cNvPr id="22" name="Shape 20"/>
          <p:cNvSpPr/>
          <p:nvPr/>
        </p:nvSpPr>
        <p:spPr>
          <a:xfrm>
            <a:off x="9035097" y="1744663"/>
            <a:ext cx="1032351" cy="467360"/>
          </a:xfrm>
          <a:prstGeom prst="roundRect">
            <a:avLst>
              <a:gd name="adj" fmla="val 13587"/>
            </a:avLst>
          </a:prstGeom>
          <a:solidFill>
            <a:srgbClr val="E9E4D8"/>
          </a:solidFill>
          <a:ln/>
        </p:spPr>
      </p:sp>
      <p:sp>
        <p:nvSpPr>
          <p:cNvPr id="23" name="Text 21"/>
          <p:cNvSpPr/>
          <p:nvPr/>
        </p:nvSpPr>
        <p:spPr>
          <a:xfrm>
            <a:off x="9248934" y="1871663"/>
            <a:ext cx="655399"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6222C"/>
                </a:solidFill>
                <a:latin typeface="IBM Plex Sans" pitchFamily="34" charset="0"/>
                <a:ea typeface="IBM Plex Sans" pitchFamily="34" charset="-122"/>
                <a:cs typeface="IBM Plex Sans" pitchFamily="34" charset="-120"/>
              </a:rPr>
              <a:t>Measure</a:t>
            </a:r>
            <a:endParaRPr lang="en-US" sz="1200" dirty="0"/>
          </a:p>
        </p:txBody>
      </p:sp>
      <p:sp>
        <p:nvSpPr>
          <p:cNvPr id="24" name="Text 22"/>
          <p:cNvSpPr/>
          <p:nvPr/>
        </p:nvSpPr>
        <p:spPr>
          <a:xfrm>
            <a:off x="10118249" y="1853878"/>
            <a:ext cx="228600" cy="27432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5E6B73"/>
                </a:solidFill>
                <a:latin typeface="IBM Plex Sans" pitchFamily="34" charset="0"/>
                <a:ea typeface="IBM Plex Sans" pitchFamily="34" charset="-122"/>
                <a:cs typeface="IBM Plex Sans" pitchFamily="34" charset="-120"/>
              </a:rPr>
              <a:t>→</a:t>
            </a:r>
            <a:endParaRPr lang="en-US" sz="1400" dirty="0"/>
          </a:p>
        </p:txBody>
      </p:sp>
      <p:sp>
        <p:nvSpPr>
          <p:cNvPr id="25" name="Shape 23"/>
          <p:cNvSpPr/>
          <p:nvPr/>
        </p:nvSpPr>
        <p:spPr>
          <a:xfrm>
            <a:off x="10346849" y="1744663"/>
            <a:ext cx="1032351" cy="467360"/>
          </a:xfrm>
          <a:prstGeom prst="roundRect">
            <a:avLst>
              <a:gd name="adj" fmla="val 13587"/>
            </a:avLst>
          </a:prstGeom>
          <a:solidFill>
            <a:srgbClr val="1F6B72"/>
          </a:solidFill>
          <a:ln/>
        </p:spPr>
      </p:sp>
      <p:sp>
        <p:nvSpPr>
          <p:cNvPr id="26" name="Text 24"/>
          <p:cNvSpPr/>
          <p:nvPr/>
        </p:nvSpPr>
        <p:spPr>
          <a:xfrm>
            <a:off x="10562828" y="1871663"/>
            <a:ext cx="651113"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F4F1EA"/>
                </a:solidFill>
                <a:latin typeface="IBM Plex Sans" pitchFamily="34" charset="0"/>
                <a:ea typeface="IBM Plex Sans" pitchFamily="34" charset="-122"/>
                <a:cs typeface="IBM Plex Sans" pitchFamily="34" charset="-120"/>
              </a:rPr>
              <a:t>Synapse</a:t>
            </a:r>
            <a:endParaRPr lang="en-US" sz="1200" dirty="0"/>
          </a:p>
        </p:txBody>
      </p:sp>
      <p:graphicFrame>
        <p:nvGraphicFramePr>
          <p:cNvPr id="27" name="Table 0"/>
          <p:cNvGraphicFramePr>
            <a:graphicFrameLocks noGrp="1"/>
          </p:cNvGraphicFramePr>
          <p:nvPr>
            <p:extLst>
              <p:ext uri="{D42A27DB-BD31-4B8C-83A1-F6EECF244321}">
                <p14:modId xmlns:p14="http://schemas.microsoft.com/office/powerpoint/2010/main" val="1579011935"/>
              </p:ext>
            </p:extLst>
          </p:nvPr>
        </p:nvGraphicFramePr>
        <p:xfrm>
          <a:off x="822960" y="2456423"/>
          <a:ext cx="10556240" cy="3385582"/>
        </p:xfrm>
        <a:graphic>
          <a:graphicData uri="http://schemas.openxmlformats.org/drawingml/2006/table">
            <a:tbl>
              <a:tblPr/>
              <a:tblGrid>
                <a:gridCol w="5278120"/>
                <a:gridCol w="5278120"/>
              </a:tblGrid>
              <a:tr h="446167">
                <a:tc>
                  <a:txBody>
                    <a:bodyPr/>
                    <a:lstStyle/>
                    <a:p>
                      <a:pPr indent="0" marL="0">
                        <a:lnSpc>
                          <a:spcPts val="2065"/>
                        </a:lnSpc>
                        <a:buNone/>
                      </a:pPr>
                      <a:r>
                        <a:rPr lang="en-US" sz="1475" b="1" dirty="0">
                          <a:solidFill>
                            <a:srgbClr val="F4F1EA"/>
                          </a:solidFill>
                          <a:latin typeface="IBM Plex Sans" pitchFamily="34" charset="0"/>
                          <a:ea typeface="IBM Plex Sans" pitchFamily="34" charset="-122"/>
                          <a:cs typeface="IBM Plex Sans" pitchFamily="34" charset="-120"/>
                        </a:rPr>
                        <a:t>Persona</a:t>
                      </a:r>
                      <a:endParaRPr lang="en-US" sz="1475" dirty="0">
                        <a:latin typeface="IBM Plex Sans" charset="0"/>
                        <a:ea typeface="IBM Plex Sans" charset="0"/>
                        <a:cs typeface="IBM Plex Sans" charset="0"/>
                      </a:endParaRPr>
                    </a:p>
                  </a:txBody>
                  <a:tcPr marL="127000" marR="127000" marT="76200" marB="76200" anchor="t">
                    <a:lnL w="12700" cap="flat" cmpd="sng" algn="ctr">
                      <a:solidFill>
                        <a:srgbClr val="C3C0BB"/>
                      </a:solidFill>
                      <a:prstDash val="solid"/>
                      <a:round/>
                      <a:headEnd type="none" w="med" len="med"/>
                      <a:tailEnd type="none" w="med" len="med"/>
                    </a:lnL>
                    <a:lnR w="12700" cap="flat" cmpd="sng" algn="ctr">
                      <a:solidFill>
                        <a:srgbClr val="B5B2AD"/>
                      </a:solidFill>
                      <a:prstDash val="solid"/>
                      <a:round/>
                      <a:headEnd type="none" w="med" len="med"/>
                      <a:tailEnd type="none" w="med" len="med"/>
                    </a:lnR>
                    <a:lnT w="12700" cap="flat" cmpd="sng" algn="ctr">
                      <a:solidFill>
                        <a:srgbClr val="C3C0BB"/>
                      </a:solidFill>
                      <a:prstDash val="solid"/>
                      <a:round/>
                      <a:headEnd type="none" w="med" len="med"/>
                      <a:tailEnd type="none" w="med" len="med"/>
                    </a:lnT>
                    <a:lnB w="12700" cap="flat" cmpd="sng" algn="ctr">
                      <a:solidFill>
                        <a:srgbClr val="B5B2AD"/>
                      </a:solidFill>
                      <a:prstDash val="solid"/>
                      <a:round/>
                      <a:headEnd type="none" w="med" len="med"/>
                      <a:tailEnd type="none" w="med" len="med"/>
                    </a:lnB>
                    <a:solidFill>
                      <a:srgbClr val="E2DFD9"/>
                    </a:solidFill>
                  </a:tcPr>
                </a:tc>
                <a:tc>
                  <a:txBody>
                    <a:bodyPr/>
                    <a:lstStyle/>
                    <a:p>
                      <a:pPr indent="0" marL="0">
                        <a:lnSpc>
                          <a:spcPts val="2065"/>
                        </a:lnSpc>
                        <a:buNone/>
                      </a:pPr>
                      <a:r>
                        <a:rPr lang="en-US" sz="1475" b="1" dirty="0">
                          <a:solidFill>
                            <a:srgbClr val="F4F1EA"/>
                          </a:solidFill>
                          <a:latin typeface="IBM Plex Sans" pitchFamily="34" charset="0"/>
                          <a:ea typeface="IBM Plex Sans" pitchFamily="34" charset="-122"/>
                          <a:cs typeface="IBM Plex Sans" pitchFamily="34" charset="-120"/>
                        </a:rPr>
                        <a:t>Acceptance test on the record</a:t>
                      </a:r>
                      <a:endParaRPr lang="en-US" sz="1475" dirty="0">
                        <a:latin typeface="IBM Plex Sans" charset="0"/>
                        <a:ea typeface="IBM Plex Sans" charset="0"/>
                        <a:cs typeface="IBM Plex Sans" charset="0"/>
                      </a:endParaRPr>
                    </a:p>
                  </a:txBody>
                  <a:tcPr marL="127000" marR="127000" marT="76200" marB="76200" anchor="t">
                    <a:lnL w="12700" cap="flat" cmpd="sng" algn="ctr">
                      <a:solidFill>
                        <a:srgbClr val="B5B2AD"/>
                      </a:solidFill>
                      <a:prstDash val="solid"/>
                      <a:round/>
                      <a:headEnd type="none" w="med" len="med"/>
                      <a:tailEnd type="none" w="med" len="med"/>
                    </a:lnL>
                    <a:lnR w="12700" cap="flat" cmpd="sng" algn="ctr">
                      <a:solidFill>
                        <a:srgbClr val="B5B2AD"/>
                      </a:solidFill>
                      <a:prstDash val="solid"/>
                      <a:round/>
                      <a:headEnd type="none" w="med" len="med"/>
                      <a:tailEnd type="none" w="med" len="med"/>
                    </a:lnR>
                    <a:lnT w="12700" cap="flat" cmpd="sng" algn="ctr">
                      <a:solidFill>
                        <a:srgbClr val="C3C0BB"/>
                      </a:solidFill>
                      <a:prstDash val="solid"/>
                      <a:round/>
                      <a:headEnd type="none" w="med" len="med"/>
                      <a:tailEnd type="none" w="med" len="med"/>
                    </a:lnT>
                    <a:lnB w="12700" cap="flat" cmpd="sng" algn="ctr">
                      <a:solidFill>
                        <a:srgbClr val="B5B2AD"/>
                      </a:solidFill>
                      <a:prstDash val="solid"/>
                      <a:round/>
                      <a:headEnd type="none" w="med" len="med"/>
                      <a:tailEnd type="none" w="med" len="med"/>
                    </a:lnB>
                    <a:solidFill>
                      <a:srgbClr val="E2DFD9"/>
                    </a:solidFill>
                  </a:tcPr>
                </a:tc>
              </a:tr>
              <a:tr h="446167">
                <a:tc>
                  <a:txBody>
                    <a:bodyPr/>
                    <a:lstStyle/>
                    <a:p>
                      <a:pPr indent="0" marL="0">
                        <a:lnSpc>
                          <a:spcPts val="2065"/>
                        </a:lnSpc>
                        <a:buNone/>
                      </a:pPr>
                      <a:r>
                        <a:rPr lang="en-US" sz="1475" dirty="0">
                          <a:solidFill>
                            <a:srgbClr val="16222C"/>
                          </a:solidFill>
                          <a:latin typeface="IBM Plex Sans" pitchFamily="34" charset="0"/>
                          <a:ea typeface="IBM Plex Sans" pitchFamily="34" charset="-122"/>
                          <a:cs typeface="IBM Plex Sans" pitchFamily="34" charset="-120"/>
                        </a:rPr>
                        <a:t>Amara</a:t>
                      </a:r>
                      <a:endParaRPr lang="en-US" sz="1475" dirty="0">
                        <a:latin typeface="IBM Plex Sans" charset="0"/>
                        <a:ea typeface="IBM Plex Sans" charset="0"/>
                        <a:cs typeface="IBM Plex Sans" charset="0"/>
                      </a:endParaRPr>
                    </a:p>
                  </a:txBody>
                  <a:tcPr marL="127000" marR="127000" marT="76200" marB="76200" anchor="t">
                    <a:lnL w="12700" cap="flat" cmpd="sng" algn="ctr">
                      <a:solidFill>
                        <a:srgbClr val="C3C0BB"/>
                      </a:solidFill>
                      <a:prstDash val="solid"/>
                      <a:round/>
                      <a:headEnd type="none" w="med" len="med"/>
                      <a:tailEnd type="none" w="med" len="med"/>
                    </a:lnL>
                    <a:lnR w="12700" cap="flat" cmpd="sng" algn="ctr">
                      <a:solidFill>
                        <a:srgbClr val="C3C0BB"/>
                      </a:solidFill>
                      <a:prstDash val="solid"/>
                      <a:round/>
                      <a:headEnd type="none" w="med" len="med"/>
                      <a:tailEnd type="none" w="med" len="med"/>
                    </a:lnR>
                    <a:lnT w="12700" cap="flat" cmpd="sng" algn="ctr">
                      <a:solidFill>
                        <a:srgbClr val="B5B2AD"/>
                      </a:solidFill>
                      <a:prstDash val="solid"/>
                      <a:round/>
                      <a:headEnd type="none" w="med" len="med"/>
                      <a:tailEnd type="none" w="med" len="med"/>
                    </a:lnT>
                    <a:lnB w="12700" cap="flat" cmpd="sng" algn="ctr">
                      <a:solidFill>
                        <a:srgbClr val="C3C0BB"/>
                      </a:solidFill>
                      <a:prstDash val="solid"/>
                      <a:round/>
                      <a:headEnd type="none" w="med" len="med"/>
                      <a:tailEnd type="none" w="med" len="med"/>
                    </a:lnB>
                  </a:tcPr>
                </a:tc>
                <a:tc>
                  <a:txBody>
                    <a:bodyPr/>
                    <a:lstStyle/>
                    <a:p>
                      <a:pPr indent="0" marL="0">
                        <a:lnSpc>
                          <a:spcPts val="2065"/>
                        </a:lnSpc>
                        <a:buNone/>
                      </a:pPr>
                      <a:r>
                        <a:rPr lang="en-US" sz="1475" dirty="0">
                          <a:solidFill>
                            <a:srgbClr val="16222C"/>
                          </a:solidFill>
                          <a:latin typeface="IBM Plex Sans" pitchFamily="34" charset="0"/>
                          <a:ea typeface="IBM Plex Sans" pitchFamily="34" charset="-122"/>
                          <a:cs typeface="IBM Plex Sans" pitchFamily="34" charset="-120"/>
                        </a:rPr>
                        <a:t>Crossing stays protected. Truncations are counted.</a:t>
                      </a:r>
                      <a:endParaRPr lang="en-US" sz="1475" dirty="0">
                        <a:latin typeface="IBM Plex Sans" charset="0"/>
                        <a:ea typeface="IBM Plex Sans" charset="0"/>
                        <a:cs typeface="IBM Plex Sans" charset="0"/>
                      </a:endParaRPr>
                    </a:p>
                  </a:txBody>
                  <a:tcPr marL="127000" marR="127000" marT="76200" marB="76200" anchor="t">
                    <a:lnL w="12700" cap="flat" cmpd="sng" algn="ctr">
                      <a:solidFill>
                        <a:srgbClr val="C3C0BB"/>
                      </a:solidFill>
                      <a:prstDash val="solid"/>
                      <a:round/>
                      <a:headEnd type="none" w="med" len="med"/>
                      <a:tailEnd type="none" w="med" len="med"/>
                    </a:lnL>
                    <a:lnR w="12700" cap="flat" cmpd="sng" algn="ctr">
                      <a:solidFill>
                        <a:srgbClr val="C3C0BB"/>
                      </a:solidFill>
                      <a:prstDash val="solid"/>
                      <a:round/>
                      <a:headEnd type="none" w="med" len="med"/>
                      <a:tailEnd type="none" w="med" len="med"/>
                    </a:lnR>
                    <a:lnT w="12700" cap="flat" cmpd="sng" algn="ctr">
                      <a:solidFill>
                        <a:srgbClr val="B5B2AD"/>
                      </a:solidFill>
                      <a:prstDash val="solid"/>
                      <a:round/>
                      <a:headEnd type="none" w="med" len="med"/>
                      <a:tailEnd type="none" w="med" len="med"/>
                    </a:lnT>
                    <a:lnB w="12700" cap="flat" cmpd="sng" algn="ctr">
                      <a:solidFill>
                        <a:srgbClr val="C3C0BB"/>
                      </a:solidFill>
                      <a:prstDash val="solid"/>
                      <a:round/>
                      <a:headEnd type="none" w="med" len="med"/>
                      <a:tailEnd type="none" w="med" len="med"/>
                    </a:lnB>
                  </a:tcPr>
                </a:tc>
              </a:tr>
              <a:tr h="446167">
                <a:tc>
                  <a:txBody>
                    <a:bodyPr/>
                    <a:lstStyle/>
                    <a:p>
                      <a:pPr indent="0" marL="0">
                        <a:lnSpc>
                          <a:spcPts val="2065"/>
                        </a:lnSpc>
                        <a:buNone/>
                      </a:pPr>
                      <a:r>
                        <a:rPr lang="en-US" sz="1475" dirty="0">
                          <a:solidFill>
                            <a:srgbClr val="16222C"/>
                          </a:solidFill>
                          <a:latin typeface="IBM Plex Sans" pitchFamily="34" charset="0"/>
                          <a:ea typeface="IBM Plex Sans" pitchFamily="34" charset="-122"/>
                          <a:cs typeface="IBM Plex Sans" pitchFamily="34" charset="-120"/>
                        </a:rPr>
                        <a:t>David</a:t>
                      </a:r>
                      <a:endParaRPr lang="en-US" sz="1475" dirty="0">
                        <a:latin typeface="IBM Plex Sans" charset="0"/>
                        <a:ea typeface="IBM Plex Sans" charset="0"/>
                        <a:cs typeface="IBM Plex Sans" charset="0"/>
                      </a:endParaRPr>
                    </a:p>
                  </a:txBody>
                  <a:tcPr marL="127000" marR="127000" marT="76200" marB="76200" anchor="t">
                    <a:lnL w="12700" cap="flat" cmpd="sng" algn="ctr">
                      <a:solidFill>
                        <a:srgbClr val="C3C0BB"/>
                      </a:solidFill>
                      <a:prstDash val="solid"/>
                      <a:round/>
                      <a:headEnd type="none" w="med" len="med"/>
                      <a:tailEnd type="none" w="med" len="med"/>
                    </a:lnL>
                    <a:lnR w="12700" cap="flat" cmpd="sng" algn="ctr">
                      <a:solidFill>
                        <a:srgbClr val="C3C0BB"/>
                      </a:solidFill>
                      <a:prstDash val="solid"/>
                      <a:round/>
                      <a:headEnd type="none" w="med" len="med"/>
                      <a:tailEnd type="none" w="med" len="med"/>
                    </a:lnR>
                    <a:lnT w="12700" cap="flat" cmpd="sng" algn="ctr">
                      <a:solidFill>
                        <a:srgbClr val="C3C0BB"/>
                      </a:solidFill>
                      <a:prstDash val="solid"/>
                      <a:round/>
                      <a:headEnd type="none" w="med" len="med"/>
                      <a:tailEnd type="none" w="med" len="med"/>
                    </a:lnT>
                    <a:lnB w="12700" cap="flat" cmpd="sng" algn="ctr">
                      <a:solidFill>
                        <a:srgbClr val="C3C0BB"/>
                      </a:solidFill>
                      <a:prstDash val="solid"/>
                      <a:round/>
                      <a:headEnd type="none" w="med" len="med"/>
                      <a:tailEnd type="none" w="med" len="med"/>
                    </a:lnB>
                  </a:tcPr>
                </a:tc>
                <a:tc>
                  <a:txBody>
                    <a:bodyPr/>
                    <a:lstStyle/>
                    <a:p>
                      <a:pPr indent="0" marL="0">
                        <a:lnSpc>
                          <a:spcPts val="2065"/>
                        </a:lnSpc>
                        <a:buNone/>
                      </a:pPr>
                      <a:r>
                        <a:rPr lang="en-US" sz="1475" dirty="0">
                          <a:solidFill>
                            <a:srgbClr val="16222C"/>
                          </a:solidFill>
                          <a:latin typeface="IBM Plex Sans" pitchFamily="34" charset="0"/>
                          <a:ea typeface="IBM Plex Sans" pitchFamily="34" charset="-122"/>
                          <a:cs typeface="IBM Plex Sans" pitchFamily="34" charset="-120"/>
                        </a:rPr>
                        <a:t>Unfinished trips stay in the count.</a:t>
                      </a:r>
                      <a:endParaRPr lang="en-US" sz="1475" dirty="0">
                        <a:latin typeface="IBM Plex Sans" charset="0"/>
                        <a:ea typeface="IBM Plex Sans" charset="0"/>
                        <a:cs typeface="IBM Plex Sans" charset="0"/>
                      </a:endParaRPr>
                    </a:p>
                  </a:txBody>
                  <a:tcPr marL="127000" marR="127000" marT="76200" marB="76200" anchor="t">
                    <a:lnL w="12700" cap="flat" cmpd="sng" algn="ctr">
                      <a:solidFill>
                        <a:srgbClr val="C3C0BB"/>
                      </a:solidFill>
                      <a:prstDash val="solid"/>
                      <a:round/>
                      <a:headEnd type="none" w="med" len="med"/>
                      <a:tailEnd type="none" w="med" len="med"/>
                    </a:lnL>
                    <a:lnR w="12700" cap="flat" cmpd="sng" algn="ctr">
                      <a:solidFill>
                        <a:srgbClr val="C3C0BB"/>
                      </a:solidFill>
                      <a:prstDash val="solid"/>
                      <a:round/>
                      <a:headEnd type="none" w="med" len="med"/>
                      <a:tailEnd type="none" w="med" len="med"/>
                    </a:lnR>
                    <a:lnT w="12700" cap="flat" cmpd="sng" algn="ctr">
                      <a:solidFill>
                        <a:srgbClr val="C3C0BB"/>
                      </a:solidFill>
                      <a:prstDash val="solid"/>
                      <a:round/>
                      <a:headEnd type="none" w="med" len="med"/>
                      <a:tailEnd type="none" w="med" len="med"/>
                    </a:lnT>
                    <a:lnB w="12700" cap="flat" cmpd="sng" algn="ctr">
                      <a:solidFill>
                        <a:srgbClr val="C3C0BB"/>
                      </a:solidFill>
                      <a:prstDash val="solid"/>
                      <a:round/>
                      <a:headEnd type="none" w="med" len="med"/>
                      <a:tailEnd type="none" w="med" len="med"/>
                    </a:lnB>
                  </a:tcPr>
                </a:tc>
              </a:tr>
              <a:tr h="708422">
                <a:tc>
                  <a:txBody>
                    <a:bodyPr/>
                    <a:lstStyle/>
                    <a:p>
                      <a:pPr indent="0" marL="0">
                        <a:lnSpc>
                          <a:spcPts val="2065"/>
                        </a:lnSpc>
                        <a:buNone/>
                      </a:pPr>
                      <a:r>
                        <a:rPr lang="en-US" sz="1475" dirty="0">
                          <a:solidFill>
                            <a:srgbClr val="16222C"/>
                          </a:solidFill>
                          <a:latin typeface="IBM Plex Sans" pitchFamily="34" charset="0"/>
                          <a:ea typeface="IBM Plex Sans" pitchFamily="34" charset="-122"/>
                          <a:cs typeface="IBM Plex Sans" pitchFamily="34" charset="-120"/>
                        </a:rPr>
                        <a:t>Chidi</a:t>
                      </a:r>
                      <a:endParaRPr lang="en-US" sz="1475" dirty="0">
                        <a:latin typeface="IBM Plex Sans" charset="0"/>
                        <a:ea typeface="IBM Plex Sans" charset="0"/>
                        <a:cs typeface="IBM Plex Sans" charset="0"/>
                      </a:endParaRPr>
                    </a:p>
                  </a:txBody>
                  <a:tcPr marL="127000" marR="127000" marT="76200" marB="76200" anchor="t">
                    <a:lnL w="12700" cap="flat" cmpd="sng" algn="ctr">
                      <a:solidFill>
                        <a:srgbClr val="C3C0BB"/>
                      </a:solidFill>
                      <a:prstDash val="solid"/>
                      <a:round/>
                      <a:headEnd type="none" w="med" len="med"/>
                      <a:tailEnd type="none" w="med" len="med"/>
                    </a:lnL>
                    <a:lnR w="12700" cap="flat" cmpd="sng" algn="ctr">
                      <a:solidFill>
                        <a:srgbClr val="C3C0BB"/>
                      </a:solidFill>
                      <a:prstDash val="solid"/>
                      <a:round/>
                      <a:headEnd type="none" w="med" len="med"/>
                      <a:tailEnd type="none" w="med" len="med"/>
                    </a:lnR>
                    <a:lnT w="12700" cap="flat" cmpd="sng" algn="ctr">
                      <a:solidFill>
                        <a:srgbClr val="C3C0BB"/>
                      </a:solidFill>
                      <a:prstDash val="solid"/>
                      <a:round/>
                      <a:headEnd type="none" w="med" len="med"/>
                      <a:tailEnd type="none" w="med" len="med"/>
                    </a:lnT>
                    <a:lnB w="12700" cap="flat" cmpd="sng" algn="ctr">
                      <a:solidFill>
                        <a:srgbClr val="C3C0BB"/>
                      </a:solidFill>
                      <a:prstDash val="solid"/>
                      <a:round/>
                      <a:headEnd type="none" w="med" len="med"/>
                      <a:tailEnd type="none" w="med" len="med"/>
                    </a:lnB>
                  </a:tcPr>
                </a:tc>
                <a:tc>
                  <a:txBody>
                    <a:bodyPr/>
                    <a:lstStyle/>
                    <a:p>
                      <a:pPr indent="0" marL="0">
                        <a:lnSpc>
                          <a:spcPts val="2065"/>
                        </a:lnSpc>
                        <a:buNone/>
                      </a:pPr>
                      <a:r>
                        <a:rPr lang="en-US" sz="1475" dirty="0">
                          <a:solidFill>
                            <a:srgbClr val="16222C"/>
                          </a:solidFill>
                          <a:latin typeface="IBM Plex Sans" pitchFamily="34" charset="0"/>
                          <a:ea typeface="IBM Plex Sans" pitchFamily="34" charset="-122"/>
                          <a:cs typeface="IBM Plex Sans" pitchFamily="34" charset="-120"/>
                        </a:rPr>
                        <a:t>An early bus gets nothing. Clearance stays ahead of the bus.</a:t>
                      </a:r>
                      <a:endParaRPr lang="en-US" sz="1475" dirty="0">
                        <a:latin typeface="IBM Plex Sans" charset="0"/>
                        <a:ea typeface="IBM Plex Sans" charset="0"/>
                        <a:cs typeface="IBM Plex Sans" charset="0"/>
                      </a:endParaRPr>
                    </a:p>
                  </a:txBody>
                  <a:tcPr marL="127000" marR="127000" marT="76200" marB="76200" anchor="t">
                    <a:lnL w="12700" cap="flat" cmpd="sng" algn="ctr">
                      <a:solidFill>
                        <a:srgbClr val="C3C0BB"/>
                      </a:solidFill>
                      <a:prstDash val="solid"/>
                      <a:round/>
                      <a:headEnd type="none" w="med" len="med"/>
                      <a:tailEnd type="none" w="med" len="med"/>
                    </a:lnL>
                    <a:lnR w="12700" cap="flat" cmpd="sng" algn="ctr">
                      <a:solidFill>
                        <a:srgbClr val="C3C0BB"/>
                      </a:solidFill>
                      <a:prstDash val="solid"/>
                      <a:round/>
                      <a:headEnd type="none" w="med" len="med"/>
                      <a:tailEnd type="none" w="med" len="med"/>
                    </a:lnR>
                    <a:lnT w="12700" cap="flat" cmpd="sng" algn="ctr">
                      <a:solidFill>
                        <a:srgbClr val="C3C0BB"/>
                      </a:solidFill>
                      <a:prstDash val="solid"/>
                      <a:round/>
                      <a:headEnd type="none" w="med" len="med"/>
                      <a:tailEnd type="none" w="med" len="med"/>
                    </a:lnT>
                    <a:lnB w="12700" cap="flat" cmpd="sng" algn="ctr">
                      <a:solidFill>
                        <a:srgbClr val="C3C0BB"/>
                      </a:solidFill>
                      <a:prstDash val="solid"/>
                      <a:round/>
                      <a:headEnd type="none" w="med" len="med"/>
                      <a:tailEnd type="none" w="med" len="med"/>
                    </a:lnB>
                  </a:tcPr>
                </a:tc>
              </a:tr>
              <a:tr h="446167">
                <a:tc>
                  <a:txBody>
                    <a:bodyPr/>
                    <a:lstStyle/>
                    <a:p>
                      <a:pPr indent="0" marL="0">
                        <a:lnSpc>
                          <a:spcPts val="2065"/>
                        </a:lnSpc>
                        <a:buNone/>
                      </a:pPr>
                      <a:r>
                        <a:rPr lang="en-US" sz="1475" dirty="0">
                          <a:solidFill>
                            <a:srgbClr val="16222C"/>
                          </a:solidFill>
                          <a:latin typeface="IBM Plex Sans" pitchFamily="34" charset="0"/>
                          <a:ea typeface="IBM Plex Sans" pitchFamily="34" charset="-122"/>
                          <a:cs typeface="IBM Plex Sans" pitchFamily="34" charset="-120"/>
                        </a:rPr>
                        <a:t>Rosa</a:t>
                      </a:r>
                      <a:endParaRPr lang="en-US" sz="1475" dirty="0">
                        <a:latin typeface="IBM Plex Sans" charset="0"/>
                        <a:ea typeface="IBM Plex Sans" charset="0"/>
                        <a:cs typeface="IBM Plex Sans" charset="0"/>
                      </a:endParaRPr>
                    </a:p>
                  </a:txBody>
                  <a:tcPr marL="127000" marR="127000" marT="76200" marB="76200" anchor="t">
                    <a:lnL w="12700" cap="flat" cmpd="sng" algn="ctr">
                      <a:solidFill>
                        <a:srgbClr val="C3C0BB"/>
                      </a:solidFill>
                      <a:prstDash val="solid"/>
                      <a:round/>
                      <a:headEnd type="none" w="med" len="med"/>
                      <a:tailEnd type="none" w="med" len="med"/>
                    </a:lnL>
                    <a:lnR w="12700" cap="flat" cmpd="sng" algn="ctr">
                      <a:solidFill>
                        <a:srgbClr val="C3C0BB"/>
                      </a:solidFill>
                      <a:prstDash val="solid"/>
                      <a:round/>
                      <a:headEnd type="none" w="med" len="med"/>
                      <a:tailEnd type="none" w="med" len="med"/>
                    </a:lnR>
                    <a:lnT w="12700" cap="flat" cmpd="sng" algn="ctr">
                      <a:solidFill>
                        <a:srgbClr val="C3C0BB"/>
                      </a:solidFill>
                      <a:prstDash val="solid"/>
                      <a:round/>
                      <a:headEnd type="none" w="med" len="med"/>
                      <a:tailEnd type="none" w="med" len="med"/>
                    </a:lnT>
                    <a:lnB w="12700" cap="flat" cmpd="sng" algn="ctr">
                      <a:solidFill>
                        <a:srgbClr val="C3C0BB"/>
                      </a:solidFill>
                      <a:prstDash val="solid"/>
                      <a:round/>
                      <a:headEnd type="none" w="med" len="med"/>
                      <a:tailEnd type="none" w="med" len="med"/>
                    </a:lnB>
                  </a:tcPr>
                </a:tc>
                <a:tc>
                  <a:txBody>
                    <a:bodyPr/>
                    <a:lstStyle/>
                    <a:p>
                      <a:pPr indent="0" marL="0">
                        <a:lnSpc>
                          <a:spcPts val="2065"/>
                        </a:lnSpc>
                        <a:buNone/>
                      </a:pPr>
                      <a:r>
                        <a:rPr lang="en-US" sz="1475" dirty="0">
                          <a:solidFill>
                            <a:srgbClr val="16222C"/>
                          </a:solidFill>
                          <a:latin typeface="IBM Plex Sans" pitchFamily="34" charset="0"/>
                          <a:ea typeface="IBM Plex Sans" pitchFamily="34" charset="-122"/>
                          <a:cs typeface="IBM Plex Sans" pitchFamily="34" charset="-120"/>
                        </a:rPr>
                        <a:t>Every grant and every denial has a reason code.</a:t>
                      </a:r>
                      <a:endParaRPr lang="en-US" sz="1475" dirty="0">
                        <a:latin typeface="IBM Plex Sans" charset="0"/>
                        <a:ea typeface="IBM Plex Sans" charset="0"/>
                        <a:cs typeface="IBM Plex Sans" charset="0"/>
                      </a:endParaRPr>
                    </a:p>
                  </a:txBody>
                  <a:tcPr marL="127000" marR="127000" marT="76200" marB="76200" anchor="t">
                    <a:lnL w="12700" cap="flat" cmpd="sng" algn="ctr">
                      <a:solidFill>
                        <a:srgbClr val="C3C0BB"/>
                      </a:solidFill>
                      <a:prstDash val="solid"/>
                      <a:round/>
                      <a:headEnd type="none" w="med" len="med"/>
                      <a:tailEnd type="none" w="med" len="med"/>
                    </a:lnL>
                    <a:lnR w="12700" cap="flat" cmpd="sng" algn="ctr">
                      <a:solidFill>
                        <a:srgbClr val="C3C0BB"/>
                      </a:solidFill>
                      <a:prstDash val="solid"/>
                      <a:round/>
                      <a:headEnd type="none" w="med" len="med"/>
                      <a:tailEnd type="none" w="med" len="med"/>
                    </a:lnR>
                    <a:lnT w="12700" cap="flat" cmpd="sng" algn="ctr">
                      <a:solidFill>
                        <a:srgbClr val="C3C0BB"/>
                      </a:solidFill>
                      <a:prstDash val="solid"/>
                      <a:round/>
                      <a:headEnd type="none" w="med" len="med"/>
                      <a:tailEnd type="none" w="med" len="med"/>
                    </a:lnT>
                    <a:lnB w="12700" cap="flat" cmpd="sng" algn="ctr">
                      <a:solidFill>
                        <a:srgbClr val="C3C0BB"/>
                      </a:solidFill>
                      <a:prstDash val="solid"/>
                      <a:round/>
                      <a:headEnd type="none" w="med" len="med"/>
                      <a:tailEnd type="none" w="med" len="med"/>
                    </a:lnB>
                  </a:tcPr>
                </a:tc>
              </a:tr>
              <a:tr h="446246">
                <a:tc>
                  <a:txBody>
                    <a:bodyPr/>
                    <a:lstStyle/>
                    <a:p>
                      <a:pPr indent="0" marL="0">
                        <a:lnSpc>
                          <a:spcPts val="2065"/>
                        </a:lnSpc>
                        <a:buNone/>
                      </a:pPr>
                      <a:r>
                        <a:rPr lang="en-US" sz="1475" dirty="0">
                          <a:solidFill>
                            <a:srgbClr val="16222C"/>
                          </a:solidFill>
                          <a:latin typeface="IBM Plex Sans" pitchFamily="34" charset="0"/>
                          <a:ea typeface="IBM Plex Sans" pitchFamily="34" charset="-122"/>
                          <a:cs typeface="IBM Plex Sans" pitchFamily="34" charset="-120"/>
                        </a:rPr>
                        <a:t>Marcus</a:t>
                      </a:r>
                      <a:endParaRPr lang="en-US" sz="1475" dirty="0">
                        <a:latin typeface="IBM Plex Sans" charset="0"/>
                        <a:ea typeface="IBM Plex Sans" charset="0"/>
                        <a:cs typeface="IBM Plex Sans" charset="0"/>
                      </a:endParaRPr>
                    </a:p>
                  </a:txBody>
                  <a:tcPr marL="127000" marR="127000" marT="76200" marB="76200" anchor="t">
                    <a:lnL w="12700" cap="flat" cmpd="sng" algn="ctr">
                      <a:solidFill>
                        <a:srgbClr val="C3C0BB"/>
                      </a:solidFill>
                      <a:prstDash val="solid"/>
                      <a:round/>
                      <a:headEnd type="none" w="med" len="med"/>
                      <a:tailEnd type="none" w="med" len="med"/>
                    </a:lnL>
                    <a:lnR w="12700" cap="flat" cmpd="sng" algn="ctr">
                      <a:solidFill>
                        <a:srgbClr val="C3C0BB"/>
                      </a:solidFill>
                      <a:prstDash val="solid"/>
                      <a:round/>
                      <a:headEnd type="none" w="med" len="med"/>
                      <a:tailEnd type="none" w="med" len="med"/>
                    </a:lnR>
                    <a:lnT w="12700" cap="flat" cmpd="sng" algn="ctr">
                      <a:solidFill>
                        <a:srgbClr val="C3C0BB"/>
                      </a:solidFill>
                      <a:prstDash val="solid"/>
                      <a:round/>
                      <a:headEnd type="none" w="med" len="med"/>
                      <a:tailEnd type="none" w="med" len="med"/>
                    </a:lnT>
                    <a:lnB w="12700" cap="flat" cmpd="sng" algn="ctr">
                      <a:solidFill>
                        <a:srgbClr val="C3C0BB"/>
                      </a:solidFill>
                      <a:prstDash val="solid"/>
                      <a:round/>
                      <a:headEnd type="none" w="med" len="med"/>
                      <a:tailEnd type="none" w="med" len="med"/>
                    </a:lnB>
                  </a:tcPr>
                </a:tc>
                <a:tc>
                  <a:txBody>
                    <a:bodyPr/>
                    <a:lstStyle/>
                    <a:p>
                      <a:pPr indent="0" marL="0">
                        <a:lnSpc>
                          <a:spcPts val="2065"/>
                        </a:lnSpc>
                        <a:buNone/>
                      </a:pPr>
                      <a:r>
                        <a:rPr lang="en-US" sz="1475" dirty="0">
                          <a:solidFill>
                            <a:srgbClr val="16222C"/>
                          </a:solidFill>
                          <a:latin typeface="IBM Plex Sans" pitchFamily="34" charset="0"/>
                          <a:ea typeface="IBM Plex Sans" pitchFamily="34" charset="-122"/>
                          <a:cs typeface="IBM Plex Sans" pitchFamily="34" charset="-120"/>
                        </a:rPr>
                        <a:t>The exit is checked. Civilian delay is logged. Not lives saved.</a:t>
                      </a:r>
                      <a:endParaRPr lang="en-US" sz="1475" dirty="0">
                        <a:latin typeface="IBM Plex Sans" charset="0"/>
                        <a:ea typeface="IBM Plex Sans" charset="0"/>
                        <a:cs typeface="IBM Plex Sans" charset="0"/>
                      </a:endParaRPr>
                    </a:p>
                  </a:txBody>
                  <a:tcPr marL="127000" marR="127000" marT="76200" marB="76200" anchor="t">
                    <a:lnL w="12700" cap="flat" cmpd="sng" algn="ctr">
                      <a:solidFill>
                        <a:srgbClr val="C3C0BB"/>
                      </a:solidFill>
                      <a:prstDash val="solid"/>
                      <a:round/>
                      <a:headEnd type="none" w="med" len="med"/>
                      <a:tailEnd type="none" w="med" len="med"/>
                    </a:lnL>
                    <a:lnR w="12700" cap="flat" cmpd="sng" algn="ctr">
                      <a:solidFill>
                        <a:srgbClr val="C3C0BB"/>
                      </a:solidFill>
                      <a:prstDash val="solid"/>
                      <a:round/>
                      <a:headEnd type="none" w="med" len="med"/>
                      <a:tailEnd type="none" w="med" len="med"/>
                    </a:lnR>
                    <a:lnT w="12700" cap="flat" cmpd="sng" algn="ctr">
                      <a:solidFill>
                        <a:srgbClr val="C3C0BB"/>
                      </a:solidFill>
                      <a:prstDash val="solid"/>
                      <a:round/>
                      <a:headEnd type="none" w="med" len="med"/>
                      <a:tailEnd type="none" w="med" len="med"/>
                    </a:lnT>
                    <a:lnB w="12700" cap="flat" cmpd="sng" algn="ctr">
                      <a:solidFill>
                        <a:srgbClr val="C3C0BB"/>
                      </a:solidFill>
                      <a:prstDash val="solid"/>
                      <a:round/>
                      <a:headEnd type="none" w="med" len="med"/>
                      <a:tailEnd type="none" w="med" len="med"/>
                    </a:lnB>
                  </a:tcPr>
                </a:tc>
              </a:tr>
              <a:tr h="446246">
                <a:tc>
                  <a:txBody>
                    <a:bodyPr/>
                    <a:lstStyle/>
                    <a:p>
                      <a:pPr indent="0" marL="0">
                        <a:lnSpc>
                          <a:spcPts val="2065"/>
                        </a:lnSpc>
                        <a:buNone/>
                      </a:pPr>
                      <a:r>
                        <a:rPr lang="en-US" sz="1475" dirty="0">
                          <a:solidFill>
                            <a:srgbClr val="16222C"/>
                          </a:solidFill>
                          <a:latin typeface="IBM Plex Sans" pitchFamily="34" charset="0"/>
                          <a:ea typeface="IBM Plex Sans" pitchFamily="34" charset="-122"/>
                          <a:cs typeface="IBM Plex Sans" pitchFamily="34" charset="-120"/>
                        </a:rPr>
                        <a:t>Omar</a:t>
                      </a:r>
                      <a:endParaRPr lang="en-US" sz="1475" dirty="0">
                        <a:latin typeface="IBM Plex Sans" charset="0"/>
                        <a:ea typeface="IBM Plex Sans" charset="0"/>
                        <a:cs typeface="IBM Plex Sans" charset="0"/>
                      </a:endParaRPr>
                    </a:p>
                  </a:txBody>
                  <a:tcPr marL="127000" marR="127000" marT="76200" marB="76200" anchor="t">
                    <a:lnL w="12700" cap="flat" cmpd="sng" algn="ctr">
                      <a:solidFill>
                        <a:srgbClr val="C3C0BB"/>
                      </a:solidFill>
                      <a:prstDash val="solid"/>
                      <a:round/>
                      <a:headEnd type="none" w="med" len="med"/>
                      <a:tailEnd type="none" w="med" len="med"/>
                    </a:lnL>
                    <a:lnR w="12700" cap="flat" cmpd="sng" algn="ctr">
                      <a:solidFill>
                        <a:srgbClr val="C3C0BB"/>
                      </a:solidFill>
                      <a:prstDash val="solid"/>
                      <a:round/>
                      <a:headEnd type="none" w="med" len="med"/>
                      <a:tailEnd type="none" w="med" len="med"/>
                    </a:lnR>
                    <a:lnT w="12700" cap="flat" cmpd="sng" algn="ctr">
                      <a:solidFill>
                        <a:srgbClr val="C3C0BB"/>
                      </a:solidFill>
                      <a:prstDash val="solid"/>
                      <a:round/>
                      <a:headEnd type="none" w="med" len="med"/>
                      <a:tailEnd type="none" w="med" len="med"/>
                    </a:lnT>
                    <a:lnB w="12700" cap="flat" cmpd="sng" algn="ctr">
                      <a:solidFill>
                        <a:srgbClr val="C3C0BB"/>
                      </a:solidFill>
                      <a:prstDash val="solid"/>
                      <a:round/>
                      <a:headEnd type="none" w="med" len="med"/>
                      <a:tailEnd type="none" w="med" len="med"/>
                    </a:lnB>
                  </a:tcPr>
                </a:tc>
                <a:tc>
                  <a:txBody>
                    <a:bodyPr/>
                    <a:lstStyle/>
                    <a:p>
                      <a:pPr indent="0" marL="0">
                        <a:lnSpc>
                          <a:spcPts val="2065"/>
                        </a:lnSpc>
                        <a:buNone/>
                      </a:pPr>
                      <a:r>
                        <a:rPr lang="en-US" sz="1475" dirty="0">
                          <a:solidFill>
                            <a:srgbClr val="16222C"/>
                          </a:solidFill>
                          <a:latin typeface="IBM Plex Sans" pitchFamily="34" charset="0"/>
                          <a:ea typeface="IBM Plex Sans" pitchFamily="34" charset="-122"/>
                          <a:cs typeface="IBM Plex Sans" pitchFamily="34" charset="-120"/>
                        </a:rPr>
                        <a:t>State, confidence and freshness. Stale shows as stale.</a:t>
                      </a:r>
                      <a:endParaRPr lang="en-US" sz="1475" dirty="0">
                        <a:latin typeface="IBM Plex Sans" charset="0"/>
                        <a:ea typeface="IBM Plex Sans" charset="0"/>
                        <a:cs typeface="IBM Plex Sans" charset="0"/>
                      </a:endParaRPr>
                    </a:p>
                  </a:txBody>
                  <a:tcPr marL="127000" marR="127000" marT="76200" marB="76200" anchor="t">
                    <a:lnL w="12700" cap="flat" cmpd="sng" algn="ctr">
                      <a:solidFill>
                        <a:srgbClr val="C3C0BB"/>
                      </a:solidFill>
                      <a:prstDash val="solid"/>
                      <a:round/>
                      <a:headEnd type="none" w="med" len="med"/>
                      <a:tailEnd type="none" w="med" len="med"/>
                    </a:lnL>
                    <a:lnR w="12700" cap="flat" cmpd="sng" algn="ctr">
                      <a:solidFill>
                        <a:srgbClr val="C3C0BB"/>
                      </a:solidFill>
                      <a:prstDash val="solid"/>
                      <a:round/>
                      <a:headEnd type="none" w="med" len="med"/>
                      <a:tailEnd type="none" w="med" len="med"/>
                    </a:lnR>
                    <a:lnT w="12700" cap="flat" cmpd="sng" algn="ctr">
                      <a:solidFill>
                        <a:srgbClr val="C3C0BB"/>
                      </a:solidFill>
                      <a:prstDash val="solid"/>
                      <a:round/>
                      <a:headEnd type="none" w="med" len="med"/>
                      <a:tailEnd type="none" w="med" len="med"/>
                    </a:lnT>
                    <a:lnB w="12700" cap="flat" cmpd="sng" algn="ctr">
                      <a:solidFill>
                        <a:srgbClr val="C3C0BB"/>
                      </a:solidFill>
                      <a:prstDash val="solid"/>
                      <a:round/>
                      <a:headEnd type="none" w="med" len="med"/>
                      <a:tailEnd type="none" w="med" len="med"/>
                    </a:lnB>
                  </a:tcPr>
                </a:tc>
              </a:tr>
            </a:tbl>
          </a:graphicData>
        </a:graphic>
      </p:graphicFrame>
      <p:sp>
        <p:nvSpPr>
          <p:cNvPr id="28" name="Text 25"/>
          <p:cNvSpPr/>
          <p:nvPr/>
        </p:nvSpPr>
        <p:spPr>
          <a:xfrm>
            <a:off x="812800" y="6238255"/>
            <a:ext cx="5235016"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B73"/>
                </a:solidFill>
                <a:latin typeface="IBM Plex Sans" pitchFamily="34" charset="0"/>
                <a:ea typeface="IBM Plex Sans" pitchFamily="34" charset="-122"/>
                <a:cs typeface="IBM Plex Sans" pitchFamily="34" charset="-120"/>
              </a:rPr>
              <a:t>The six personas are the acceptance criteria for the record, not decoration.</a:t>
            </a:r>
            <a:endParaRPr lang="en-US" sz="1200" dirty="0"/>
          </a:p>
        </p:txBody>
      </p:sp>
      <p:sp>
        <p:nvSpPr>
          <p:cNvPr id="29" name="Text 26"/>
          <p:cNvSpPr/>
          <p:nvPr/>
        </p:nvSpPr>
        <p:spPr>
          <a:xfrm>
            <a:off x="11196320" y="6238255"/>
            <a:ext cx="23368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B73"/>
                </a:solidFill>
                <a:latin typeface="IBM Plex Sans" pitchFamily="34" charset="0"/>
                <a:ea typeface="IBM Plex Sans" pitchFamily="34" charset="-122"/>
                <a:cs typeface="IBM Plex Sans" pitchFamily="34" charset="-120"/>
              </a:rPr>
              <a:t>22</a:t>
            </a:r>
            <a:endParaRPr lang="en-US" sz="120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F4F1EA"/>
        </a:solidFill>
      </p:bgPr>
    </p:bg>
    <p:spTree>
      <p:nvGrpSpPr>
        <p:cNvPr id="1" name=""/>
        <p:cNvGrpSpPr/>
        <p:nvPr/>
      </p:nvGrpSpPr>
      <p:grpSpPr>
        <a:xfrm>
          <a:off x="0" y="0"/>
          <a:ext cx="0" cy="0"/>
          <a:chOff x="0" y="0"/>
          <a:chExt cx="0" cy="0"/>
        </a:xfrm>
      </p:grpSpPr>
      <p:sp>
        <p:nvSpPr>
          <p:cNvPr id="2" name="Text 0"/>
          <p:cNvSpPr/>
          <p:nvPr/>
        </p:nvSpPr>
        <p:spPr>
          <a:xfrm>
            <a:off x="812800" y="812800"/>
            <a:ext cx="10883392" cy="178832"/>
          </a:xfrm>
          <a:prstGeom prst="rect">
            <a:avLst/>
          </a:prstGeom>
          <a:noFill/>
          <a:ln/>
        </p:spPr>
        <p:txBody>
          <a:bodyPr wrap="square" lIns="0" tIns="0" rIns="0" bIns="0" rtlCol="0" anchor="t">
            <a:normAutofit/>
          </a:bodyPr>
          <a:lstStyle/>
          <a:p>
            <a:pPr algn="l" indent="0" marL="0">
              <a:lnSpc>
                <a:spcPts val="1223"/>
              </a:lnSpc>
              <a:buNone/>
            </a:pPr>
            <a:r>
              <a:rPr lang="en-US" sz="874" spc="100" kern="0" dirty="0">
                <a:solidFill>
                  <a:srgbClr val="1F6B72"/>
                </a:solidFill>
                <a:latin typeface="IBM Plex Mono" pitchFamily="34" charset="0"/>
                <a:ea typeface="IBM Plex Mono" pitchFamily="34" charset="-122"/>
                <a:cs typeface="IBM Plex Mono" pitchFamily="34" charset="-120"/>
              </a:rPr>
              <a:t>EVALUATION PLAN · PROPOSED</a:t>
            </a:r>
            <a:endParaRPr lang="en-US" sz="874" dirty="0"/>
          </a:p>
        </p:txBody>
      </p:sp>
      <p:sp>
        <p:nvSpPr>
          <p:cNvPr id="3" name="Text 1"/>
          <p:cNvSpPr/>
          <p:nvPr/>
        </p:nvSpPr>
        <p:spPr>
          <a:xfrm>
            <a:off x="812800" y="1067842"/>
            <a:ext cx="10883392" cy="346789"/>
          </a:xfrm>
          <a:prstGeom prst="rect">
            <a:avLst/>
          </a:prstGeom>
          <a:noFill/>
          <a:ln/>
        </p:spPr>
        <p:txBody>
          <a:bodyPr wrap="square" lIns="0" tIns="0" rIns="0" bIns="0" rtlCol="0" anchor="t">
            <a:normAutofit/>
          </a:bodyPr>
          <a:lstStyle/>
          <a:p>
            <a:pPr algn="l" indent="0" marL="0">
              <a:lnSpc>
                <a:spcPts val="2574"/>
              </a:lnSpc>
              <a:buNone/>
            </a:pPr>
            <a:r>
              <a:rPr lang="en-US" sz="2340" b="1" dirty="0">
                <a:solidFill>
                  <a:srgbClr val="16222C"/>
                </a:solidFill>
                <a:latin typeface="Space Grotesk" pitchFamily="34" charset="0"/>
                <a:ea typeface="Space Grotesk" pitchFamily="34" charset="-122"/>
                <a:cs typeface="Space Grotesk" pitchFamily="34" charset="-120"/>
              </a:rPr>
              <a:t>How we will measure: tails, not just means</a:t>
            </a:r>
            <a:endParaRPr lang="en-US" sz="234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22960" y="1653396"/>
          <a:ext cx="10556240" cy="3658156"/>
        </p:xfrm>
        <a:graphic>
          <a:graphicData uri="http://schemas.openxmlformats.org/drawingml/2006/table">
            <a:tbl>
              <a:tblPr/>
              <a:tblGrid>
                <a:gridCol w="3518747"/>
                <a:gridCol w="3518747"/>
                <a:gridCol w="3518747"/>
              </a:tblGrid>
              <a:tr h="374015">
                <a:tc>
                  <a:txBody>
                    <a:bodyPr/>
                    <a:lstStyle/>
                    <a:p>
                      <a:pPr indent="0" marL="0">
                        <a:lnSpc>
                          <a:spcPts val="1638"/>
                        </a:lnSpc>
                        <a:buNone/>
                      </a:pPr>
                      <a:r>
                        <a:rPr lang="en-US" sz="1170" b="1" dirty="0">
                          <a:solidFill>
                            <a:srgbClr val="F4F1EA"/>
                          </a:solidFill>
                          <a:latin typeface="IBM Plex Sans" pitchFamily="34" charset="0"/>
                          <a:ea typeface="IBM Plex Sans" pitchFamily="34" charset="-122"/>
                          <a:cs typeface="IBM Plex Sans" pitchFamily="34" charset="-120"/>
                        </a:rPr>
                        <a:t>Persona</a:t>
                      </a:r>
                      <a:endParaRPr lang="en-US" sz="1170" dirty="0">
                        <a:latin typeface="IBM Plex Sans" charset="0"/>
                        <a:ea typeface="IBM Plex Sans" charset="0"/>
                        <a:cs typeface="IBM Plex Sans" charset="0"/>
                      </a:endParaRPr>
                    </a:p>
                  </a:txBody>
                  <a:tcPr marL="127000" marR="127000" marT="76200" marB="76200" anchor="t">
                    <a:lnL w="12700" cap="flat" cmpd="sng" algn="ctr">
                      <a:solidFill>
                        <a:srgbClr val="C3C0BB"/>
                      </a:solidFill>
                      <a:prstDash val="solid"/>
                      <a:round/>
                      <a:headEnd type="none" w="med" len="med"/>
                      <a:tailEnd type="none" w="med" len="med"/>
                    </a:lnL>
                    <a:lnR w="12700" cap="flat" cmpd="sng" algn="ctr">
                      <a:solidFill>
                        <a:srgbClr val="B5B2AD"/>
                      </a:solidFill>
                      <a:prstDash val="solid"/>
                      <a:round/>
                      <a:headEnd type="none" w="med" len="med"/>
                      <a:tailEnd type="none" w="med" len="med"/>
                    </a:lnR>
                    <a:lnT w="12700" cap="flat" cmpd="sng" algn="ctr">
                      <a:solidFill>
                        <a:srgbClr val="C3C0BB"/>
                      </a:solidFill>
                      <a:prstDash val="solid"/>
                      <a:round/>
                      <a:headEnd type="none" w="med" len="med"/>
                      <a:tailEnd type="none" w="med" len="med"/>
                    </a:lnT>
                    <a:lnB w="12700" cap="flat" cmpd="sng" algn="ctr">
                      <a:solidFill>
                        <a:srgbClr val="B5B2AD"/>
                      </a:solidFill>
                      <a:prstDash val="solid"/>
                      <a:round/>
                      <a:headEnd type="none" w="med" len="med"/>
                      <a:tailEnd type="none" w="med" len="med"/>
                    </a:lnB>
                    <a:solidFill>
                      <a:srgbClr val="E2DFD9"/>
                    </a:solidFill>
                  </a:tcPr>
                </a:tc>
                <a:tc>
                  <a:txBody>
                    <a:bodyPr/>
                    <a:lstStyle/>
                    <a:p>
                      <a:pPr indent="0" marL="0">
                        <a:lnSpc>
                          <a:spcPts val="1638"/>
                        </a:lnSpc>
                        <a:buNone/>
                      </a:pPr>
                      <a:r>
                        <a:rPr lang="en-US" sz="1170" b="1" dirty="0">
                          <a:solidFill>
                            <a:srgbClr val="F4F1EA"/>
                          </a:solidFill>
                          <a:latin typeface="IBM Plex Sans" pitchFamily="34" charset="0"/>
                          <a:ea typeface="IBM Plex Sans" pitchFamily="34" charset="-122"/>
                          <a:cs typeface="IBM Plex Sans" pitchFamily="34" charset="-120"/>
                        </a:rPr>
                        <a:t>Metrics</a:t>
                      </a:r>
                      <a:endParaRPr lang="en-US" sz="1170" dirty="0">
                        <a:latin typeface="IBM Plex Sans" charset="0"/>
                        <a:ea typeface="IBM Plex Sans" charset="0"/>
                        <a:cs typeface="IBM Plex Sans" charset="0"/>
                      </a:endParaRPr>
                    </a:p>
                  </a:txBody>
                  <a:tcPr marL="127000" marR="127000" marT="76200" marB="76200" anchor="t">
                    <a:lnL w="12700" cap="flat" cmpd="sng" algn="ctr">
                      <a:solidFill>
                        <a:srgbClr val="B5B2AD"/>
                      </a:solidFill>
                      <a:prstDash val="solid"/>
                      <a:round/>
                      <a:headEnd type="none" w="med" len="med"/>
                      <a:tailEnd type="none" w="med" len="med"/>
                    </a:lnL>
                    <a:lnR w="12700" cap="flat" cmpd="sng" algn="ctr">
                      <a:solidFill>
                        <a:srgbClr val="B5B2AD"/>
                      </a:solidFill>
                      <a:prstDash val="solid"/>
                      <a:round/>
                      <a:headEnd type="none" w="med" len="med"/>
                      <a:tailEnd type="none" w="med" len="med"/>
                    </a:lnR>
                    <a:lnT w="12700" cap="flat" cmpd="sng" algn="ctr">
                      <a:solidFill>
                        <a:srgbClr val="C3C0BB"/>
                      </a:solidFill>
                      <a:prstDash val="solid"/>
                      <a:round/>
                      <a:headEnd type="none" w="med" len="med"/>
                      <a:tailEnd type="none" w="med" len="med"/>
                    </a:lnT>
                    <a:lnB w="12700" cap="flat" cmpd="sng" algn="ctr">
                      <a:solidFill>
                        <a:srgbClr val="B5B2AD"/>
                      </a:solidFill>
                      <a:prstDash val="solid"/>
                      <a:round/>
                      <a:headEnd type="none" w="med" len="med"/>
                      <a:tailEnd type="none" w="med" len="med"/>
                    </a:lnB>
                    <a:solidFill>
                      <a:srgbClr val="E2DFD9"/>
                    </a:solidFill>
                  </a:tcPr>
                </a:tc>
                <a:tc>
                  <a:txBody>
                    <a:bodyPr/>
                    <a:lstStyle/>
                    <a:p>
                      <a:pPr indent="0" marL="0">
                        <a:lnSpc>
                          <a:spcPts val="1638"/>
                        </a:lnSpc>
                        <a:buNone/>
                      </a:pPr>
                      <a:r>
                        <a:rPr lang="en-US" sz="1170" b="1" dirty="0">
                          <a:solidFill>
                            <a:srgbClr val="F4F1EA"/>
                          </a:solidFill>
                          <a:latin typeface="IBM Plex Sans" pitchFamily="34" charset="0"/>
                          <a:ea typeface="IBM Plex Sans" pitchFamily="34" charset="-122"/>
                          <a:cs typeface="IBM Plex Sans" pitchFamily="34" charset="-120"/>
                        </a:rPr>
                        <a:t>Guardrail</a:t>
                      </a:r>
                      <a:endParaRPr lang="en-US" sz="1170" dirty="0">
                        <a:latin typeface="IBM Plex Sans" charset="0"/>
                        <a:ea typeface="IBM Plex Sans" charset="0"/>
                        <a:cs typeface="IBM Plex Sans" charset="0"/>
                      </a:endParaRPr>
                    </a:p>
                  </a:txBody>
                  <a:tcPr marL="127000" marR="127000" marT="76200" marB="76200" anchor="t">
                    <a:lnL w="12700" cap="flat" cmpd="sng" algn="ctr">
                      <a:solidFill>
                        <a:srgbClr val="B5B2AD"/>
                      </a:solidFill>
                      <a:prstDash val="solid"/>
                      <a:round/>
                      <a:headEnd type="none" w="med" len="med"/>
                      <a:tailEnd type="none" w="med" len="med"/>
                    </a:lnL>
                    <a:lnR w="12700" cap="flat" cmpd="sng" algn="ctr">
                      <a:solidFill>
                        <a:srgbClr val="B5B2AD"/>
                      </a:solidFill>
                      <a:prstDash val="solid"/>
                      <a:round/>
                      <a:headEnd type="none" w="med" len="med"/>
                      <a:tailEnd type="none" w="med" len="med"/>
                    </a:lnR>
                    <a:lnT w="12700" cap="flat" cmpd="sng" algn="ctr">
                      <a:solidFill>
                        <a:srgbClr val="C3C0BB"/>
                      </a:solidFill>
                      <a:prstDash val="solid"/>
                      <a:round/>
                      <a:headEnd type="none" w="med" len="med"/>
                      <a:tailEnd type="none" w="med" len="med"/>
                    </a:lnT>
                    <a:lnB w="12700" cap="flat" cmpd="sng" algn="ctr">
                      <a:solidFill>
                        <a:srgbClr val="B5B2AD"/>
                      </a:solidFill>
                      <a:prstDash val="solid"/>
                      <a:round/>
                      <a:headEnd type="none" w="med" len="med"/>
                      <a:tailEnd type="none" w="med" len="med"/>
                    </a:lnB>
                    <a:solidFill>
                      <a:srgbClr val="E2DFD9"/>
                    </a:solidFill>
                  </a:tcPr>
                </a:tc>
              </a:tr>
              <a:tr h="581978">
                <a:tc>
                  <a:txBody>
                    <a:bodyPr/>
                    <a:lstStyle/>
                    <a:p>
                      <a:pPr indent="0" marL="0">
                        <a:lnSpc>
                          <a:spcPts val="1638"/>
                        </a:lnSpc>
                        <a:buNone/>
                      </a:pPr>
                      <a:r>
                        <a:rPr lang="en-US" sz="1170" dirty="0">
                          <a:solidFill>
                            <a:srgbClr val="16222C"/>
                          </a:solidFill>
                          <a:latin typeface="IBM Plex Sans" pitchFamily="34" charset="0"/>
                          <a:ea typeface="IBM Plex Sans" pitchFamily="34" charset="-122"/>
                          <a:cs typeface="IBM Plex Sans" pitchFamily="34" charset="-120"/>
                        </a:rPr>
                        <a:t>Amara</a:t>
                      </a:r>
                      <a:endParaRPr lang="en-US" sz="1170" dirty="0">
                        <a:latin typeface="IBM Plex Sans" charset="0"/>
                        <a:ea typeface="IBM Plex Sans" charset="0"/>
                        <a:cs typeface="IBM Plex Sans" charset="0"/>
                      </a:endParaRPr>
                    </a:p>
                  </a:txBody>
                  <a:tcPr marL="127000" marR="127000" marT="76200" marB="76200" anchor="t">
                    <a:lnL w="12700" cap="flat" cmpd="sng" algn="ctr">
                      <a:solidFill>
                        <a:srgbClr val="C3C0BB"/>
                      </a:solidFill>
                      <a:prstDash val="solid"/>
                      <a:round/>
                      <a:headEnd type="none" w="med" len="med"/>
                      <a:tailEnd type="none" w="med" len="med"/>
                    </a:lnL>
                    <a:lnR w="12700" cap="flat" cmpd="sng" algn="ctr">
                      <a:solidFill>
                        <a:srgbClr val="C3C0BB"/>
                      </a:solidFill>
                      <a:prstDash val="solid"/>
                      <a:round/>
                      <a:headEnd type="none" w="med" len="med"/>
                      <a:tailEnd type="none" w="med" len="med"/>
                    </a:lnR>
                    <a:lnT w="12700" cap="flat" cmpd="sng" algn="ctr">
                      <a:solidFill>
                        <a:srgbClr val="B5B2AD"/>
                      </a:solidFill>
                      <a:prstDash val="solid"/>
                      <a:round/>
                      <a:headEnd type="none" w="med" len="med"/>
                      <a:tailEnd type="none" w="med" len="med"/>
                    </a:lnT>
                    <a:lnB w="12700" cap="flat" cmpd="sng" algn="ctr">
                      <a:solidFill>
                        <a:srgbClr val="C3C0BB"/>
                      </a:solidFill>
                      <a:prstDash val="solid"/>
                      <a:round/>
                      <a:headEnd type="none" w="med" len="med"/>
                      <a:tailEnd type="none" w="med" len="med"/>
                    </a:lnB>
                  </a:tcPr>
                </a:tc>
                <a:tc>
                  <a:txBody>
                    <a:bodyPr/>
                    <a:lstStyle/>
                    <a:p>
                      <a:pPr indent="0" marL="0">
                        <a:lnSpc>
                          <a:spcPts val="1638"/>
                        </a:lnSpc>
                        <a:buNone/>
                      </a:pPr>
                      <a:r>
                        <a:rPr lang="en-US" sz="1170" dirty="0">
                          <a:solidFill>
                            <a:srgbClr val="16222C"/>
                          </a:solidFill>
                          <a:latin typeface="IBM Plex Sans" pitchFamily="34" charset="0"/>
                          <a:ea typeface="IBM Plex Sans" pitchFamily="34" charset="-122"/>
                          <a:cs typeface="IBM Plex Sans" pitchFamily="34" charset="-120"/>
                        </a:rPr>
                        <a:t>Mean, P95, max pedestrian wait · clearance truncations</a:t>
                      </a:r>
                      <a:endParaRPr lang="en-US" sz="1170" dirty="0">
                        <a:latin typeface="IBM Plex Sans" charset="0"/>
                        <a:ea typeface="IBM Plex Sans" charset="0"/>
                        <a:cs typeface="IBM Plex Sans" charset="0"/>
                      </a:endParaRPr>
                    </a:p>
                  </a:txBody>
                  <a:tcPr marL="127000" marR="127000" marT="76200" marB="76200" anchor="t">
                    <a:lnL w="12700" cap="flat" cmpd="sng" algn="ctr">
                      <a:solidFill>
                        <a:srgbClr val="C3C0BB"/>
                      </a:solidFill>
                      <a:prstDash val="solid"/>
                      <a:round/>
                      <a:headEnd type="none" w="med" len="med"/>
                      <a:tailEnd type="none" w="med" len="med"/>
                    </a:lnL>
                    <a:lnR w="12700" cap="flat" cmpd="sng" algn="ctr">
                      <a:solidFill>
                        <a:srgbClr val="C3C0BB"/>
                      </a:solidFill>
                      <a:prstDash val="solid"/>
                      <a:round/>
                      <a:headEnd type="none" w="med" len="med"/>
                      <a:tailEnd type="none" w="med" len="med"/>
                    </a:lnR>
                    <a:lnT w="12700" cap="flat" cmpd="sng" algn="ctr">
                      <a:solidFill>
                        <a:srgbClr val="B5B2AD"/>
                      </a:solidFill>
                      <a:prstDash val="solid"/>
                      <a:round/>
                      <a:headEnd type="none" w="med" len="med"/>
                      <a:tailEnd type="none" w="med" len="med"/>
                    </a:lnT>
                    <a:lnB w="12700" cap="flat" cmpd="sng" algn="ctr">
                      <a:solidFill>
                        <a:srgbClr val="C3C0BB"/>
                      </a:solidFill>
                      <a:prstDash val="solid"/>
                      <a:round/>
                      <a:headEnd type="none" w="med" len="med"/>
                      <a:tailEnd type="none" w="med" len="med"/>
                    </a:lnB>
                  </a:tcPr>
                </a:tc>
                <a:tc>
                  <a:txBody>
                    <a:bodyPr/>
                    <a:lstStyle/>
                    <a:p>
                      <a:pPr indent="0" marL="0">
                        <a:lnSpc>
                          <a:spcPts val="1638"/>
                        </a:lnSpc>
                        <a:buNone/>
                      </a:pPr>
                      <a:r>
                        <a:rPr lang="en-US" sz="1170" dirty="0">
                          <a:solidFill>
                            <a:srgbClr val="16222C"/>
                          </a:solidFill>
                          <a:latin typeface="IBM Plex Sans" pitchFamily="34" charset="0"/>
                          <a:ea typeface="IBM Plex Sans" pitchFamily="34" charset="-122"/>
                          <a:cs typeface="IBM Plex Sans" pitchFamily="34" charset="-120"/>
                        </a:rPr>
                        <a:t>Zero truncations is not crashes prevented</a:t>
                      </a:r>
                      <a:endParaRPr lang="en-US" sz="1170" dirty="0">
                        <a:latin typeface="IBM Plex Sans" charset="0"/>
                        <a:ea typeface="IBM Plex Sans" charset="0"/>
                        <a:cs typeface="IBM Plex Sans" charset="0"/>
                      </a:endParaRPr>
                    </a:p>
                  </a:txBody>
                  <a:tcPr marL="127000" marR="127000" marT="76200" marB="76200" anchor="t">
                    <a:lnL w="12700" cap="flat" cmpd="sng" algn="ctr">
                      <a:solidFill>
                        <a:srgbClr val="C3C0BB"/>
                      </a:solidFill>
                      <a:prstDash val="solid"/>
                      <a:round/>
                      <a:headEnd type="none" w="med" len="med"/>
                      <a:tailEnd type="none" w="med" len="med"/>
                    </a:lnL>
                    <a:lnR w="12700" cap="flat" cmpd="sng" algn="ctr">
                      <a:solidFill>
                        <a:srgbClr val="C3C0BB"/>
                      </a:solidFill>
                      <a:prstDash val="solid"/>
                      <a:round/>
                      <a:headEnd type="none" w="med" len="med"/>
                      <a:tailEnd type="none" w="med" len="med"/>
                    </a:lnR>
                    <a:lnT w="12700" cap="flat" cmpd="sng" algn="ctr">
                      <a:solidFill>
                        <a:srgbClr val="B5B2AD"/>
                      </a:solidFill>
                      <a:prstDash val="solid"/>
                      <a:round/>
                      <a:headEnd type="none" w="med" len="med"/>
                      <a:tailEnd type="none" w="med" len="med"/>
                    </a:lnT>
                    <a:lnB w="12700" cap="flat" cmpd="sng" algn="ctr">
                      <a:solidFill>
                        <a:srgbClr val="C3C0BB"/>
                      </a:solidFill>
                      <a:prstDash val="solid"/>
                      <a:round/>
                      <a:headEnd type="none" w="med" len="med"/>
                      <a:tailEnd type="none" w="med" len="med"/>
                    </a:lnB>
                  </a:tcPr>
                </a:tc>
              </a:tr>
              <a:tr h="581978">
                <a:tc>
                  <a:txBody>
                    <a:bodyPr/>
                    <a:lstStyle/>
                    <a:p>
                      <a:pPr indent="0" marL="0">
                        <a:lnSpc>
                          <a:spcPts val="1638"/>
                        </a:lnSpc>
                        <a:buNone/>
                      </a:pPr>
                      <a:r>
                        <a:rPr lang="en-US" sz="1170" dirty="0">
                          <a:solidFill>
                            <a:srgbClr val="16222C"/>
                          </a:solidFill>
                          <a:latin typeface="IBM Plex Sans" pitchFamily="34" charset="0"/>
                          <a:ea typeface="IBM Plex Sans" pitchFamily="34" charset="-122"/>
                          <a:cs typeface="IBM Plex Sans" pitchFamily="34" charset="-120"/>
                        </a:rPr>
                        <a:t>David</a:t>
                      </a:r>
                      <a:endParaRPr lang="en-US" sz="1170" dirty="0">
                        <a:latin typeface="IBM Plex Sans" charset="0"/>
                        <a:ea typeface="IBM Plex Sans" charset="0"/>
                        <a:cs typeface="IBM Plex Sans" charset="0"/>
                      </a:endParaRPr>
                    </a:p>
                  </a:txBody>
                  <a:tcPr marL="127000" marR="127000" marT="76200" marB="76200" anchor="t">
                    <a:lnL w="12700" cap="flat" cmpd="sng" algn="ctr">
                      <a:solidFill>
                        <a:srgbClr val="C3C0BB"/>
                      </a:solidFill>
                      <a:prstDash val="solid"/>
                      <a:round/>
                      <a:headEnd type="none" w="med" len="med"/>
                      <a:tailEnd type="none" w="med" len="med"/>
                    </a:lnL>
                    <a:lnR w="12700" cap="flat" cmpd="sng" algn="ctr">
                      <a:solidFill>
                        <a:srgbClr val="C3C0BB"/>
                      </a:solidFill>
                      <a:prstDash val="solid"/>
                      <a:round/>
                      <a:headEnd type="none" w="med" len="med"/>
                      <a:tailEnd type="none" w="med" len="med"/>
                    </a:lnR>
                    <a:lnT w="12700" cap="flat" cmpd="sng" algn="ctr">
                      <a:solidFill>
                        <a:srgbClr val="C3C0BB"/>
                      </a:solidFill>
                      <a:prstDash val="solid"/>
                      <a:round/>
                      <a:headEnd type="none" w="med" len="med"/>
                      <a:tailEnd type="none" w="med" len="med"/>
                    </a:lnT>
                    <a:lnB w="12700" cap="flat" cmpd="sng" algn="ctr">
                      <a:solidFill>
                        <a:srgbClr val="C3C0BB"/>
                      </a:solidFill>
                      <a:prstDash val="solid"/>
                      <a:round/>
                      <a:headEnd type="none" w="med" len="med"/>
                      <a:tailEnd type="none" w="med" len="med"/>
                    </a:lnB>
                  </a:tcPr>
                </a:tc>
                <a:tc>
                  <a:txBody>
                    <a:bodyPr/>
                    <a:lstStyle/>
                    <a:p>
                      <a:pPr indent="0" marL="0">
                        <a:lnSpc>
                          <a:spcPts val="1638"/>
                        </a:lnSpc>
                        <a:buNone/>
                      </a:pPr>
                      <a:r>
                        <a:rPr lang="en-US" sz="1170" dirty="0">
                          <a:solidFill>
                            <a:srgbClr val="16222C"/>
                          </a:solidFill>
                          <a:latin typeface="IBM Plex Sans" pitchFamily="34" charset="0"/>
                          <a:ea typeface="IBM Plex Sans" pitchFamily="34" charset="-122"/>
                          <a:cs typeface="IBM Plex Sans" pitchFamily="34" charset="-120"/>
                        </a:rPr>
                        <a:t>Completed vs unfinished · P95, max duration · stops</a:t>
                      </a:r>
                      <a:endParaRPr lang="en-US" sz="1170" dirty="0">
                        <a:latin typeface="IBM Plex Sans" charset="0"/>
                        <a:ea typeface="IBM Plex Sans" charset="0"/>
                        <a:cs typeface="IBM Plex Sans" charset="0"/>
                      </a:endParaRPr>
                    </a:p>
                  </a:txBody>
                  <a:tcPr marL="127000" marR="127000" marT="76200" marB="76200" anchor="t">
                    <a:lnL w="12700" cap="flat" cmpd="sng" algn="ctr">
                      <a:solidFill>
                        <a:srgbClr val="C3C0BB"/>
                      </a:solidFill>
                      <a:prstDash val="solid"/>
                      <a:round/>
                      <a:headEnd type="none" w="med" len="med"/>
                      <a:tailEnd type="none" w="med" len="med"/>
                    </a:lnL>
                    <a:lnR w="12700" cap="flat" cmpd="sng" algn="ctr">
                      <a:solidFill>
                        <a:srgbClr val="C3C0BB"/>
                      </a:solidFill>
                      <a:prstDash val="solid"/>
                      <a:round/>
                      <a:headEnd type="none" w="med" len="med"/>
                      <a:tailEnd type="none" w="med" len="med"/>
                    </a:lnR>
                    <a:lnT w="12700" cap="flat" cmpd="sng" algn="ctr">
                      <a:solidFill>
                        <a:srgbClr val="C3C0BB"/>
                      </a:solidFill>
                      <a:prstDash val="solid"/>
                      <a:round/>
                      <a:headEnd type="none" w="med" len="med"/>
                      <a:tailEnd type="none" w="med" len="med"/>
                    </a:lnT>
                    <a:lnB w="12700" cap="flat" cmpd="sng" algn="ctr">
                      <a:solidFill>
                        <a:srgbClr val="C3C0BB"/>
                      </a:solidFill>
                      <a:prstDash val="solid"/>
                      <a:round/>
                      <a:headEnd type="none" w="med" len="med"/>
                      <a:tailEnd type="none" w="med" len="med"/>
                    </a:lnB>
                  </a:tcPr>
                </a:tc>
                <a:tc>
                  <a:txBody>
                    <a:bodyPr/>
                    <a:lstStyle/>
                    <a:p>
                      <a:pPr indent="0" marL="0">
                        <a:lnSpc>
                          <a:spcPts val="1638"/>
                        </a:lnSpc>
                        <a:buNone/>
                      </a:pPr>
                      <a:r>
                        <a:rPr lang="en-US" sz="1170" dirty="0">
                          <a:solidFill>
                            <a:srgbClr val="16222C"/>
                          </a:solidFill>
                          <a:latin typeface="IBM Plex Sans" pitchFamily="34" charset="0"/>
                          <a:ea typeface="IBM Plex Sans" pitchFamily="34" charset="-122"/>
                          <a:cs typeface="IBM Plex Sans" pitchFamily="34" charset="-120"/>
                        </a:rPr>
                        <a:t>Unfinished trips never leave the denominator</a:t>
                      </a:r>
                      <a:endParaRPr lang="en-US" sz="1170" dirty="0">
                        <a:latin typeface="IBM Plex Sans" charset="0"/>
                        <a:ea typeface="IBM Plex Sans" charset="0"/>
                        <a:cs typeface="IBM Plex Sans" charset="0"/>
                      </a:endParaRPr>
                    </a:p>
                  </a:txBody>
                  <a:tcPr marL="127000" marR="127000" marT="76200" marB="76200" anchor="t">
                    <a:lnL w="12700" cap="flat" cmpd="sng" algn="ctr">
                      <a:solidFill>
                        <a:srgbClr val="C3C0BB"/>
                      </a:solidFill>
                      <a:prstDash val="solid"/>
                      <a:round/>
                      <a:headEnd type="none" w="med" len="med"/>
                      <a:tailEnd type="none" w="med" len="med"/>
                    </a:lnL>
                    <a:lnR w="12700" cap="flat" cmpd="sng" algn="ctr">
                      <a:solidFill>
                        <a:srgbClr val="C3C0BB"/>
                      </a:solidFill>
                      <a:prstDash val="solid"/>
                      <a:round/>
                      <a:headEnd type="none" w="med" len="med"/>
                      <a:tailEnd type="none" w="med" len="med"/>
                    </a:lnR>
                    <a:lnT w="12700" cap="flat" cmpd="sng" algn="ctr">
                      <a:solidFill>
                        <a:srgbClr val="C3C0BB"/>
                      </a:solidFill>
                      <a:prstDash val="solid"/>
                      <a:round/>
                      <a:headEnd type="none" w="med" len="med"/>
                      <a:tailEnd type="none" w="med" len="med"/>
                    </a:lnT>
                    <a:lnB w="12700" cap="flat" cmpd="sng" algn="ctr">
                      <a:solidFill>
                        <a:srgbClr val="C3C0BB"/>
                      </a:solidFill>
                      <a:prstDash val="solid"/>
                      <a:round/>
                      <a:headEnd type="none" w="med" len="med"/>
                      <a:tailEnd type="none" w="med" len="med"/>
                    </a:lnB>
                  </a:tcPr>
                </a:tc>
              </a:tr>
              <a:tr h="581978">
                <a:tc>
                  <a:txBody>
                    <a:bodyPr/>
                    <a:lstStyle/>
                    <a:p>
                      <a:pPr indent="0" marL="0">
                        <a:lnSpc>
                          <a:spcPts val="1638"/>
                        </a:lnSpc>
                        <a:buNone/>
                      </a:pPr>
                      <a:r>
                        <a:rPr lang="en-US" sz="1170" dirty="0">
                          <a:solidFill>
                            <a:srgbClr val="16222C"/>
                          </a:solidFill>
                          <a:latin typeface="IBM Plex Sans" pitchFamily="34" charset="0"/>
                          <a:ea typeface="IBM Plex Sans" pitchFamily="34" charset="-122"/>
                          <a:cs typeface="IBM Plex Sans" pitchFamily="34" charset="-120"/>
                        </a:rPr>
                        <a:t>Chidi</a:t>
                      </a:r>
                      <a:endParaRPr lang="en-US" sz="1170" dirty="0">
                        <a:latin typeface="IBM Plex Sans" charset="0"/>
                        <a:ea typeface="IBM Plex Sans" charset="0"/>
                        <a:cs typeface="IBM Plex Sans" charset="0"/>
                      </a:endParaRPr>
                    </a:p>
                  </a:txBody>
                  <a:tcPr marL="127000" marR="127000" marT="76200" marB="76200" anchor="t">
                    <a:lnL w="12700" cap="flat" cmpd="sng" algn="ctr">
                      <a:solidFill>
                        <a:srgbClr val="C3C0BB"/>
                      </a:solidFill>
                      <a:prstDash val="solid"/>
                      <a:round/>
                      <a:headEnd type="none" w="med" len="med"/>
                      <a:tailEnd type="none" w="med" len="med"/>
                    </a:lnL>
                    <a:lnR w="12700" cap="flat" cmpd="sng" algn="ctr">
                      <a:solidFill>
                        <a:srgbClr val="C3C0BB"/>
                      </a:solidFill>
                      <a:prstDash val="solid"/>
                      <a:round/>
                      <a:headEnd type="none" w="med" len="med"/>
                      <a:tailEnd type="none" w="med" len="med"/>
                    </a:lnR>
                    <a:lnT w="12700" cap="flat" cmpd="sng" algn="ctr">
                      <a:solidFill>
                        <a:srgbClr val="C3C0BB"/>
                      </a:solidFill>
                      <a:prstDash val="solid"/>
                      <a:round/>
                      <a:headEnd type="none" w="med" len="med"/>
                      <a:tailEnd type="none" w="med" len="med"/>
                    </a:lnT>
                    <a:lnB w="12700" cap="flat" cmpd="sng" algn="ctr">
                      <a:solidFill>
                        <a:srgbClr val="C3C0BB"/>
                      </a:solidFill>
                      <a:prstDash val="solid"/>
                      <a:round/>
                      <a:headEnd type="none" w="med" len="med"/>
                      <a:tailEnd type="none" w="med" len="med"/>
                    </a:lnB>
                  </a:tcPr>
                </a:tc>
                <a:tc>
                  <a:txBody>
                    <a:bodyPr/>
                    <a:lstStyle/>
                    <a:p>
                      <a:pPr indent="0" marL="0">
                        <a:lnSpc>
                          <a:spcPts val="1638"/>
                        </a:lnSpc>
                        <a:buNone/>
                      </a:pPr>
                      <a:r>
                        <a:rPr lang="en-US" sz="1170" dirty="0">
                          <a:solidFill>
                            <a:srgbClr val="16222C"/>
                          </a:solidFill>
                          <a:latin typeface="IBM Plex Sans" pitchFamily="34" charset="0"/>
                          <a:ea typeface="IBM Plex Sans" pitchFamily="34" charset="-122"/>
                          <a:cs typeface="IBM Plex Sans" pitchFamily="34" charset="-120"/>
                        </a:rPr>
                        <a:t>Lateness · headway variation · passenger-wait proxy</a:t>
                      </a:r>
                      <a:endParaRPr lang="en-US" sz="1170" dirty="0">
                        <a:latin typeface="IBM Plex Sans" charset="0"/>
                        <a:ea typeface="IBM Plex Sans" charset="0"/>
                        <a:cs typeface="IBM Plex Sans" charset="0"/>
                      </a:endParaRPr>
                    </a:p>
                  </a:txBody>
                  <a:tcPr marL="127000" marR="127000" marT="76200" marB="76200" anchor="t">
                    <a:lnL w="12700" cap="flat" cmpd="sng" algn="ctr">
                      <a:solidFill>
                        <a:srgbClr val="C3C0BB"/>
                      </a:solidFill>
                      <a:prstDash val="solid"/>
                      <a:round/>
                      <a:headEnd type="none" w="med" len="med"/>
                      <a:tailEnd type="none" w="med" len="med"/>
                    </a:lnL>
                    <a:lnR w="12700" cap="flat" cmpd="sng" algn="ctr">
                      <a:solidFill>
                        <a:srgbClr val="C3C0BB"/>
                      </a:solidFill>
                      <a:prstDash val="solid"/>
                      <a:round/>
                      <a:headEnd type="none" w="med" len="med"/>
                      <a:tailEnd type="none" w="med" len="med"/>
                    </a:lnR>
                    <a:lnT w="12700" cap="flat" cmpd="sng" algn="ctr">
                      <a:solidFill>
                        <a:srgbClr val="C3C0BB"/>
                      </a:solidFill>
                      <a:prstDash val="solid"/>
                      <a:round/>
                      <a:headEnd type="none" w="med" len="med"/>
                      <a:tailEnd type="none" w="med" len="med"/>
                    </a:lnT>
                    <a:lnB w="12700" cap="flat" cmpd="sng" algn="ctr">
                      <a:solidFill>
                        <a:srgbClr val="C3C0BB"/>
                      </a:solidFill>
                      <a:prstDash val="solid"/>
                      <a:round/>
                      <a:headEnd type="none" w="med" len="med"/>
                      <a:tailEnd type="none" w="med" len="med"/>
                    </a:lnB>
                  </a:tcPr>
                </a:tc>
                <a:tc>
                  <a:txBody>
                    <a:bodyPr/>
                    <a:lstStyle/>
                    <a:p>
                      <a:pPr indent="0" marL="0">
                        <a:lnSpc>
                          <a:spcPts val="1638"/>
                        </a:lnSpc>
                        <a:buNone/>
                      </a:pPr>
                      <a:r>
                        <a:rPr lang="en-US" sz="1170" dirty="0">
                          <a:solidFill>
                            <a:srgbClr val="16222C"/>
                          </a:solidFill>
                          <a:latin typeface="IBM Plex Sans" pitchFamily="34" charset="0"/>
                          <a:ea typeface="IBM Plex Sans" pitchFamily="34" charset="-122"/>
                          <a:cs typeface="IBM Plex Sans" pitchFamily="34" charset="-120"/>
                        </a:rPr>
                        <a:t>Effect on other traffic is reported</a:t>
                      </a:r>
                      <a:endParaRPr lang="en-US" sz="1170" dirty="0">
                        <a:latin typeface="IBM Plex Sans" charset="0"/>
                        <a:ea typeface="IBM Plex Sans" charset="0"/>
                        <a:cs typeface="IBM Plex Sans" charset="0"/>
                      </a:endParaRPr>
                    </a:p>
                  </a:txBody>
                  <a:tcPr marL="127000" marR="127000" marT="76200" marB="76200" anchor="t">
                    <a:lnL w="12700" cap="flat" cmpd="sng" algn="ctr">
                      <a:solidFill>
                        <a:srgbClr val="C3C0BB"/>
                      </a:solidFill>
                      <a:prstDash val="solid"/>
                      <a:round/>
                      <a:headEnd type="none" w="med" len="med"/>
                      <a:tailEnd type="none" w="med" len="med"/>
                    </a:lnL>
                    <a:lnR w="12700" cap="flat" cmpd="sng" algn="ctr">
                      <a:solidFill>
                        <a:srgbClr val="C3C0BB"/>
                      </a:solidFill>
                      <a:prstDash val="solid"/>
                      <a:round/>
                      <a:headEnd type="none" w="med" len="med"/>
                      <a:tailEnd type="none" w="med" len="med"/>
                    </a:lnR>
                    <a:lnT w="12700" cap="flat" cmpd="sng" algn="ctr">
                      <a:solidFill>
                        <a:srgbClr val="C3C0BB"/>
                      </a:solidFill>
                      <a:prstDash val="solid"/>
                      <a:round/>
                      <a:headEnd type="none" w="med" len="med"/>
                      <a:tailEnd type="none" w="med" len="med"/>
                    </a:lnT>
                    <a:lnB w="12700" cap="flat" cmpd="sng" algn="ctr">
                      <a:solidFill>
                        <a:srgbClr val="C3C0BB"/>
                      </a:solidFill>
                      <a:prstDash val="solid"/>
                      <a:round/>
                      <a:headEnd type="none" w="med" len="med"/>
                      <a:tailEnd type="none" w="med" len="med"/>
                    </a:lnB>
                  </a:tcPr>
                </a:tc>
              </a:tr>
              <a:tr h="582057">
                <a:tc>
                  <a:txBody>
                    <a:bodyPr/>
                    <a:lstStyle/>
                    <a:p>
                      <a:pPr indent="0" marL="0">
                        <a:lnSpc>
                          <a:spcPts val="1638"/>
                        </a:lnSpc>
                        <a:buNone/>
                      </a:pPr>
                      <a:r>
                        <a:rPr lang="en-US" sz="1170" dirty="0">
                          <a:solidFill>
                            <a:srgbClr val="16222C"/>
                          </a:solidFill>
                          <a:latin typeface="IBM Plex Sans" pitchFamily="34" charset="0"/>
                          <a:ea typeface="IBM Plex Sans" pitchFamily="34" charset="-122"/>
                          <a:cs typeface="IBM Plex Sans" pitchFamily="34" charset="-120"/>
                        </a:rPr>
                        <a:t>Rosa</a:t>
                      </a:r>
                      <a:endParaRPr lang="en-US" sz="1170" dirty="0">
                        <a:latin typeface="IBM Plex Sans" charset="0"/>
                        <a:ea typeface="IBM Plex Sans" charset="0"/>
                        <a:cs typeface="IBM Plex Sans" charset="0"/>
                      </a:endParaRPr>
                    </a:p>
                  </a:txBody>
                  <a:tcPr marL="127000" marR="127000" marT="76200" marB="76200" anchor="t">
                    <a:lnL w="12700" cap="flat" cmpd="sng" algn="ctr">
                      <a:solidFill>
                        <a:srgbClr val="C3C0BB"/>
                      </a:solidFill>
                      <a:prstDash val="solid"/>
                      <a:round/>
                      <a:headEnd type="none" w="med" len="med"/>
                      <a:tailEnd type="none" w="med" len="med"/>
                    </a:lnL>
                    <a:lnR w="12700" cap="flat" cmpd="sng" algn="ctr">
                      <a:solidFill>
                        <a:srgbClr val="C3C0BB"/>
                      </a:solidFill>
                      <a:prstDash val="solid"/>
                      <a:round/>
                      <a:headEnd type="none" w="med" len="med"/>
                      <a:tailEnd type="none" w="med" len="med"/>
                    </a:lnR>
                    <a:lnT w="12700" cap="flat" cmpd="sng" algn="ctr">
                      <a:solidFill>
                        <a:srgbClr val="C3C0BB"/>
                      </a:solidFill>
                      <a:prstDash val="solid"/>
                      <a:round/>
                      <a:headEnd type="none" w="med" len="med"/>
                      <a:tailEnd type="none" w="med" len="med"/>
                    </a:lnT>
                    <a:lnB w="12700" cap="flat" cmpd="sng" algn="ctr">
                      <a:solidFill>
                        <a:srgbClr val="C3C0BB"/>
                      </a:solidFill>
                      <a:prstDash val="solid"/>
                      <a:round/>
                      <a:headEnd type="none" w="med" len="med"/>
                      <a:tailEnd type="none" w="med" len="med"/>
                    </a:lnB>
                  </a:tcPr>
                </a:tc>
                <a:tc>
                  <a:txBody>
                    <a:bodyPr/>
                    <a:lstStyle/>
                    <a:p>
                      <a:pPr indent="0" marL="0">
                        <a:lnSpc>
                          <a:spcPts val="1638"/>
                        </a:lnSpc>
                        <a:buNone/>
                      </a:pPr>
                      <a:r>
                        <a:rPr lang="en-US" sz="1170" dirty="0">
                          <a:solidFill>
                            <a:srgbClr val="16222C"/>
                          </a:solidFill>
                          <a:latin typeface="IBM Plex Sans" pitchFamily="34" charset="0"/>
                          <a:ea typeface="IBM Plex Sans" pitchFamily="34" charset="-122"/>
                          <a:cs typeface="IBM Plex Sans" pitchFamily="34" charset="-120"/>
                        </a:rPr>
                        <a:t>Reason-code coverage · one explained yes and no</a:t>
                      </a:r>
                      <a:endParaRPr lang="en-US" sz="1170" dirty="0">
                        <a:latin typeface="IBM Plex Sans" charset="0"/>
                        <a:ea typeface="IBM Plex Sans" charset="0"/>
                        <a:cs typeface="IBM Plex Sans" charset="0"/>
                      </a:endParaRPr>
                    </a:p>
                  </a:txBody>
                  <a:tcPr marL="127000" marR="127000" marT="76200" marB="76200" anchor="t">
                    <a:lnL w="12700" cap="flat" cmpd="sng" algn="ctr">
                      <a:solidFill>
                        <a:srgbClr val="C3C0BB"/>
                      </a:solidFill>
                      <a:prstDash val="solid"/>
                      <a:round/>
                      <a:headEnd type="none" w="med" len="med"/>
                      <a:tailEnd type="none" w="med" len="med"/>
                    </a:lnL>
                    <a:lnR w="12700" cap="flat" cmpd="sng" algn="ctr">
                      <a:solidFill>
                        <a:srgbClr val="C3C0BB"/>
                      </a:solidFill>
                      <a:prstDash val="solid"/>
                      <a:round/>
                      <a:headEnd type="none" w="med" len="med"/>
                      <a:tailEnd type="none" w="med" len="med"/>
                    </a:lnR>
                    <a:lnT w="12700" cap="flat" cmpd="sng" algn="ctr">
                      <a:solidFill>
                        <a:srgbClr val="C3C0BB"/>
                      </a:solidFill>
                      <a:prstDash val="solid"/>
                      <a:round/>
                      <a:headEnd type="none" w="med" len="med"/>
                      <a:tailEnd type="none" w="med" len="med"/>
                    </a:lnT>
                    <a:lnB w="12700" cap="flat" cmpd="sng" algn="ctr">
                      <a:solidFill>
                        <a:srgbClr val="C3C0BB"/>
                      </a:solidFill>
                      <a:prstDash val="solid"/>
                      <a:round/>
                      <a:headEnd type="none" w="med" len="med"/>
                      <a:tailEnd type="none" w="med" len="med"/>
                    </a:lnB>
                  </a:tcPr>
                </a:tc>
                <a:tc>
                  <a:txBody>
                    <a:bodyPr/>
                    <a:lstStyle/>
                    <a:p>
                      <a:pPr indent="0" marL="0">
                        <a:lnSpc>
                          <a:spcPts val="1638"/>
                        </a:lnSpc>
                        <a:buNone/>
                      </a:pPr>
                      <a:r>
                        <a:rPr lang="en-US" sz="1170" dirty="0">
                          <a:solidFill>
                            <a:srgbClr val="16222C"/>
                          </a:solidFill>
                          <a:latin typeface="IBM Plex Sans" pitchFamily="34" charset="0"/>
                          <a:ea typeface="IBM Plex Sans" pitchFamily="34" charset="-122"/>
                          <a:cs typeface="IBM Plex Sans" pitchFamily="34" charset="-120"/>
                        </a:rPr>
                        <a:t>Synapse abstains rather than guesses</a:t>
                      </a:r>
                      <a:endParaRPr lang="en-US" sz="1170" dirty="0">
                        <a:latin typeface="IBM Plex Sans" charset="0"/>
                        <a:ea typeface="IBM Plex Sans" charset="0"/>
                        <a:cs typeface="IBM Plex Sans" charset="0"/>
                      </a:endParaRPr>
                    </a:p>
                  </a:txBody>
                  <a:tcPr marL="127000" marR="127000" marT="76200" marB="76200" anchor="t">
                    <a:lnL w="12700" cap="flat" cmpd="sng" algn="ctr">
                      <a:solidFill>
                        <a:srgbClr val="C3C0BB"/>
                      </a:solidFill>
                      <a:prstDash val="solid"/>
                      <a:round/>
                      <a:headEnd type="none" w="med" len="med"/>
                      <a:tailEnd type="none" w="med" len="med"/>
                    </a:lnL>
                    <a:lnR w="12700" cap="flat" cmpd="sng" algn="ctr">
                      <a:solidFill>
                        <a:srgbClr val="C3C0BB"/>
                      </a:solidFill>
                      <a:prstDash val="solid"/>
                      <a:round/>
                      <a:headEnd type="none" w="med" len="med"/>
                      <a:tailEnd type="none" w="med" len="med"/>
                    </a:lnR>
                    <a:lnT w="12700" cap="flat" cmpd="sng" algn="ctr">
                      <a:solidFill>
                        <a:srgbClr val="C3C0BB"/>
                      </a:solidFill>
                      <a:prstDash val="solid"/>
                      <a:round/>
                      <a:headEnd type="none" w="med" len="med"/>
                      <a:tailEnd type="none" w="med" len="med"/>
                    </a:lnT>
                    <a:lnB w="12700" cap="flat" cmpd="sng" algn="ctr">
                      <a:solidFill>
                        <a:srgbClr val="C3C0BB"/>
                      </a:solidFill>
                      <a:prstDash val="solid"/>
                      <a:round/>
                      <a:headEnd type="none" w="med" len="med"/>
                      <a:tailEnd type="none" w="med" len="med"/>
                    </a:lnB>
                  </a:tcPr>
                </a:tc>
              </a:tr>
              <a:tr h="582057">
                <a:tc>
                  <a:txBody>
                    <a:bodyPr/>
                    <a:lstStyle/>
                    <a:p>
                      <a:pPr indent="0" marL="0">
                        <a:lnSpc>
                          <a:spcPts val="1638"/>
                        </a:lnSpc>
                        <a:buNone/>
                      </a:pPr>
                      <a:r>
                        <a:rPr lang="en-US" sz="1170" dirty="0">
                          <a:solidFill>
                            <a:srgbClr val="16222C"/>
                          </a:solidFill>
                          <a:latin typeface="IBM Plex Sans" pitchFamily="34" charset="0"/>
                          <a:ea typeface="IBM Plex Sans" pitchFamily="34" charset="-122"/>
                          <a:cs typeface="IBM Plex Sans" pitchFamily="34" charset="-120"/>
                        </a:rPr>
                        <a:t>Marcus</a:t>
                      </a:r>
                      <a:endParaRPr lang="en-US" sz="1170" dirty="0">
                        <a:latin typeface="IBM Plex Sans" charset="0"/>
                        <a:ea typeface="IBM Plex Sans" charset="0"/>
                        <a:cs typeface="IBM Plex Sans" charset="0"/>
                      </a:endParaRPr>
                    </a:p>
                  </a:txBody>
                  <a:tcPr marL="127000" marR="127000" marT="76200" marB="76200" anchor="t">
                    <a:lnL w="12700" cap="flat" cmpd="sng" algn="ctr">
                      <a:solidFill>
                        <a:srgbClr val="C3C0BB"/>
                      </a:solidFill>
                      <a:prstDash val="solid"/>
                      <a:round/>
                      <a:headEnd type="none" w="med" len="med"/>
                      <a:tailEnd type="none" w="med" len="med"/>
                    </a:lnL>
                    <a:lnR w="12700" cap="flat" cmpd="sng" algn="ctr">
                      <a:solidFill>
                        <a:srgbClr val="C3C0BB"/>
                      </a:solidFill>
                      <a:prstDash val="solid"/>
                      <a:round/>
                      <a:headEnd type="none" w="med" len="med"/>
                      <a:tailEnd type="none" w="med" len="med"/>
                    </a:lnR>
                    <a:lnT w="12700" cap="flat" cmpd="sng" algn="ctr">
                      <a:solidFill>
                        <a:srgbClr val="C3C0BB"/>
                      </a:solidFill>
                      <a:prstDash val="solid"/>
                      <a:round/>
                      <a:headEnd type="none" w="med" len="med"/>
                      <a:tailEnd type="none" w="med" len="med"/>
                    </a:lnT>
                    <a:lnB w="12700" cap="flat" cmpd="sng" algn="ctr">
                      <a:solidFill>
                        <a:srgbClr val="C3C0BB"/>
                      </a:solidFill>
                      <a:prstDash val="solid"/>
                      <a:round/>
                      <a:headEnd type="none" w="med" len="med"/>
                      <a:tailEnd type="none" w="med" len="med"/>
                    </a:lnB>
                  </a:tcPr>
                </a:tc>
                <a:tc>
                  <a:txBody>
                    <a:bodyPr/>
                    <a:lstStyle/>
                    <a:p>
                      <a:pPr indent="0" marL="0">
                        <a:lnSpc>
                          <a:spcPts val="1638"/>
                        </a:lnSpc>
                        <a:buNone/>
                      </a:pPr>
                      <a:r>
                        <a:rPr lang="en-US" sz="1170" dirty="0">
                          <a:solidFill>
                            <a:srgbClr val="16222C"/>
                          </a:solidFill>
                          <a:latin typeface="IBM Plex Sans" pitchFamily="34" charset="0"/>
                          <a:ea typeface="IBM Plex Sans" pitchFamily="34" charset="-122"/>
                          <a:cs typeface="IBM Plex Sans" pitchFamily="34" charset="-120"/>
                        </a:rPr>
                        <a:t>Emergency time · civilian delay · downstream rejection</a:t>
                      </a:r>
                      <a:endParaRPr lang="en-US" sz="1170" dirty="0">
                        <a:latin typeface="IBM Plex Sans" charset="0"/>
                        <a:ea typeface="IBM Plex Sans" charset="0"/>
                        <a:cs typeface="IBM Plex Sans" charset="0"/>
                      </a:endParaRPr>
                    </a:p>
                  </a:txBody>
                  <a:tcPr marL="127000" marR="127000" marT="76200" marB="76200" anchor="t">
                    <a:lnL w="12700" cap="flat" cmpd="sng" algn="ctr">
                      <a:solidFill>
                        <a:srgbClr val="C3C0BB"/>
                      </a:solidFill>
                      <a:prstDash val="solid"/>
                      <a:round/>
                      <a:headEnd type="none" w="med" len="med"/>
                      <a:tailEnd type="none" w="med" len="med"/>
                    </a:lnL>
                    <a:lnR w="12700" cap="flat" cmpd="sng" algn="ctr">
                      <a:solidFill>
                        <a:srgbClr val="C3C0BB"/>
                      </a:solidFill>
                      <a:prstDash val="solid"/>
                      <a:round/>
                      <a:headEnd type="none" w="med" len="med"/>
                      <a:tailEnd type="none" w="med" len="med"/>
                    </a:lnR>
                    <a:lnT w="12700" cap="flat" cmpd="sng" algn="ctr">
                      <a:solidFill>
                        <a:srgbClr val="C3C0BB"/>
                      </a:solidFill>
                      <a:prstDash val="solid"/>
                      <a:round/>
                      <a:headEnd type="none" w="med" len="med"/>
                      <a:tailEnd type="none" w="med" len="med"/>
                    </a:lnT>
                    <a:lnB w="12700" cap="flat" cmpd="sng" algn="ctr">
                      <a:solidFill>
                        <a:srgbClr val="C3C0BB"/>
                      </a:solidFill>
                      <a:prstDash val="solid"/>
                      <a:round/>
                      <a:headEnd type="none" w="med" len="med"/>
                      <a:tailEnd type="none" w="med" len="med"/>
                    </a:lnB>
                  </a:tcPr>
                </a:tc>
                <a:tc>
                  <a:txBody>
                    <a:bodyPr/>
                    <a:lstStyle/>
                    <a:p>
                      <a:pPr indent="0" marL="0">
                        <a:lnSpc>
                          <a:spcPts val="1638"/>
                        </a:lnSpc>
                        <a:buNone/>
                      </a:pPr>
                      <a:r>
                        <a:rPr lang="en-US" sz="1170" dirty="0">
                          <a:solidFill>
                            <a:srgbClr val="16222C"/>
                          </a:solidFill>
                          <a:latin typeface="IBM Plex Sans" pitchFamily="34" charset="0"/>
                          <a:ea typeface="IBM Plex Sans" pitchFamily="34" charset="-122"/>
                          <a:cs typeface="IBM Plex Sans" pitchFamily="34" charset="-120"/>
                        </a:rPr>
                        <a:t>No conversion of seconds into lives saved</a:t>
                      </a:r>
                      <a:endParaRPr lang="en-US" sz="1170" dirty="0">
                        <a:latin typeface="IBM Plex Sans" charset="0"/>
                        <a:ea typeface="IBM Plex Sans" charset="0"/>
                        <a:cs typeface="IBM Plex Sans" charset="0"/>
                      </a:endParaRPr>
                    </a:p>
                  </a:txBody>
                  <a:tcPr marL="127000" marR="127000" marT="76200" marB="76200" anchor="t">
                    <a:lnL w="12700" cap="flat" cmpd="sng" algn="ctr">
                      <a:solidFill>
                        <a:srgbClr val="C3C0BB"/>
                      </a:solidFill>
                      <a:prstDash val="solid"/>
                      <a:round/>
                      <a:headEnd type="none" w="med" len="med"/>
                      <a:tailEnd type="none" w="med" len="med"/>
                    </a:lnL>
                    <a:lnR w="12700" cap="flat" cmpd="sng" algn="ctr">
                      <a:solidFill>
                        <a:srgbClr val="C3C0BB"/>
                      </a:solidFill>
                      <a:prstDash val="solid"/>
                      <a:round/>
                      <a:headEnd type="none" w="med" len="med"/>
                      <a:tailEnd type="none" w="med" len="med"/>
                    </a:lnR>
                    <a:lnT w="12700" cap="flat" cmpd="sng" algn="ctr">
                      <a:solidFill>
                        <a:srgbClr val="C3C0BB"/>
                      </a:solidFill>
                      <a:prstDash val="solid"/>
                      <a:round/>
                      <a:headEnd type="none" w="med" len="med"/>
                      <a:tailEnd type="none" w="med" len="med"/>
                    </a:lnT>
                    <a:lnB w="12700" cap="flat" cmpd="sng" algn="ctr">
                      <a:solidFill>
                        <a:srgbClr val="C3C0BB"/>
                      </a:solidFill>
                      <a:prstDash val="solid"/>
                      <a:round/>
                      <a:headEnd type="none" w="med" len="med"/>
                      <a:tailEnd type="none" w="med" len="med"/>
                    </a:lnB>
                  </a:tcPr>
                </a:tc>
              </a:tr>
              <a:tr h="374094">
                <a:tc>
                  <a:txBody>
                    <a:bodyPr/>
                    <a:lstStyle/>
                    <a:p>
                      <a:pPr indent="0" marL="0">
                        <a:lnSpc>
                          <a:spcPts val="1638"/>
                        </a:lnSpc>
                        <a:buNone/>
                      </a:pPr>
                      <a:r>
                        <a:rPr lang="en-US" sz="1170" dirty="0">
                          <a:solidFill>
                            <a:srgbClr val="16222C"/>
                          </a:solidFill>
                          <a:latin typeface="IBM Plex Sans" pitchFamily="34" charset="0"/>
                          <a:ea typeface="IBM Plex Sans" pitchFamily="34" charset="-122"/>
                          <a:cs typeface="IBM Plex Sans" pitchFamily="34" charset="-120"/>
                        </a:rPr>
                        <a:t>Omar</a:t>
                      </a:r>
                      <a:endParaRPr lang="en-US" sz="1170" dirty="0">
                        <a:latin typeface="IBM Plex Sans" charset="0"/>
                        <a:ea typeface="IBM Plex Sans" charset="0"/>
                        <a:cs typeface="IBM Plex Sans" charset="0"/>
                      </a:endParaRPr>
                    </a:p>
                  </a:txBody>
                  <a:tcPr marL="127000" marR="127000" marT="76200" marB="76200" anchor="t">
                    <a:lnL w="12700" cap="flat" cmpd="sng" algn="ctr">
                      <a:solidFill>
                        <a:srgbClr val="C3C0BB"/>
                      </a:solidFill>
                      <a:prstDash val="solid"/>
                      <a:round/>
                      <a:headEnd type="none" w="med" len="med"/>
                      <a:tailEnd type="none" w="med" len="med"/>
                    </a:lnL>
                    <a:lnR w="12700" cap="flat" cmpd="sng" algn="ctr">
                      <a:solidFill>
                        <a:srgbClr val="C3C0BB"/>
                      </a:solidFill>
                      <a:prstDash val="solid"/>
                      <a:round/>
                      <a:headEnd type="none" w="med" len="med"/>
                      <a:tailEnd type="none" w="med" len="med"/>
                    </a:lnR>
                    <a:lnT w="12700" cap="flat" cmpd="sng" algn="ctr">
                      <a:solidFill>
                        <a:srgbClr val="C3C0BB"/>
                      </a:solidFill>
                      <a:prstDash val="solid"/>
                      <a:round/>
                      <a:headEnd type="none" w="med" len="med"/>
                      <a:tailEnd type="none" w="med" len="med"/>
                    </a:lnT>
                    <a:lnB w="12700" cap="flat" cmpd="sng" algn="ctr">
                      <a:solidFill>
                        <a:srgbClr val="C3C0BB"/>
                      </a:solidFill>
                      <a:prstDash val="solid"/>
                      <a:round/>
                      <a:headEnd type="none" w="med" len="med"/>
                      <a:tailEnd type="none" w="med" len="med"/>
                    </a:lnB>
                  </a:tcPr>
                </a:tc>
                <a:tc>
                  <a:txBody>
                    <a:bodyPr/>
                    <a:lstStyle/>
                    <a:p>
                      <a:pPr indent="0" marL="0">
                        <a:lnSpc>
                          <a:spcPts val="1638"/>
                        </a:lnSpc>
                        <a:buNone/>
                      </a:pPr>
                      <a:r>
                        <a:rPr lang="en-US" sz="1170" dirty="0">
                          <a:solidFill>
                            <a:srgbClr val="16222C"/>
                          </a:solidFill>
                          <a:latin typeface="IBM Plex Sans" pitchFamily="34" charset="0"/>
                          <a:ea typeface="IBM Plex Sans" pitchFamily="34" charset="-122"/>
                          <a:cs typeface="IBM Plex Sans" pitchFamily="34" charset="-120"/>
                        </a:rPr>
                        <a:t>Detection delay · false alarms · misses · recovery</a:t>
                      </a:r>
                      <a:endParaRPr lang="en-US" sz="1170" dirty="0">
                        <a:latin typeface="IBM Plex Sans" charset="0"/>
                        <a:ea typeface="IBM Plex Sans" charset="0"/>
                        <a:cs typeface="IBM Plex Sans" charset="0"/>
                      </a:endParaRPr>
                    </a:p>
                  </a:txBody>
                  <a:tcPr marL="127000" marR="127000" marT="76200" marB="76200" anchor="t">
                    <a:lnL w="12700" cap="flat" cmpd="sng" algn="ctr">
                      <a:solidFill>
                        <a:srgbClr val="C3C0BB"/>
                      </a:solidFill>
                      <a:prstDash val="solid"/>
                      <a:round/>
                      <a:headEnd type="none" w="med" len="med"/>
                      <a:tailEnd type="none" w="med" len="med"/>
                    </a:lnL>
                    <a:lnR w="12700" cap="flat" cmpd="sng" algn="ctr">
                      <a:solidFill>
                        <a:srgbClr val="C3C0BB"/>
                      </a:solidFill>
                      <a:prstDash val="solid"/>
                      <a:round/>
                      <a:headEnd type="none" w="med" len="med"/>
                      <a:tailEnd type="none" w="med" len="med"/>
                    </a:lnR>
                    <a:lnT w="12700" cap="flat" cmpd="sng" algn="ctr">
                      <a:solidFill>
                        <a:srgbClr val="C3C0BB"/>
                      </a:solidFill>
                      <a:prstDash val="solid"/>
                      <a:round/>
                      <a:headEnd type="none" w="med" len="med"/>
                      <a:tailEnd type="none" w="med" len="med"/>
                    </a:lnT>
                    <a:lnB w="12700" cap="flat" cmpd="sng" algn="ctr">
                      <a:solidFill>
                        <a:srgbClr val="C3C0BB"/>
                      </a:solidFill>
                      <a:prstDash val="solid"/>
                      <a:round/>
                      <a:headEnd type="none" w="med" len="med"/>
                      <a:tailEnd type="none" w="med" len="med"/>
                    </a:lnB>
                  </a:tcPr>
                </a:tc>
                <a:tc>
                  <a:txBody>
                    <a:bodyPr/>
                    <a:lstStyle/>
                    <a:p>
                      <a:pPr indent="0" marL="0">
                        <a:lnSpc>
                          <a:spcPts val="1638"/>
                        </a:lnSpc>
                        <a:buNone/>
                      </a:pPr>
                      <a:r>
                        <a:rPr lang="en-US" sz="1170" dirty="0">
                          <a:solidFill>
                            <a:srgbClr val="16222C"/>
                          </a:solidFill>
                          <a:latin typeface="IBM Plex Sans" pitchFamily="34" charset="0"/>
                          <a:ea typeface="IBM Plex Sans" pitchFamily="34" charset="-122"/>
                          <a:cs typeface="IBM Plex Sans" pitchFamily="34" charset="-120"/>
                        </a:rPr>
                        <a:t>Stale data is never shown as fresh</a:t>
                      </a:r>
                      <a:endParaRPr lang="en-US" sz="1170" dirty="0">
                        <a:latin typeface="IBM Plex Sans" charset="0"/>
                        <a:ea typeface="IBM Plex Sans" charset="0"/>
                        <a:cs typeface="IBM Plex Sans" charset="0"/>
                      </a:endParaRPr>
                    </a:p>
                  </a:txBody>
                  <a:tcPr marL="127000" marR="127000" marT="76200" marB="76200" anchor="t">
                    <a:lnL w="12700" cap="flat" cmpd="sng" algn="ctr">
                      <a:solidFill>
                        <a:srgbClr val="C3C0BB"/>
                      </a:solidFill>
                      <a:prstDash val="solid"/>
                      <a:round/>
                      <a:headEnd type="none" w="med" len="med"/>
                      <a:tailEnd type="none" w="med" len="med"/>
                    </a:lnL>
                    <a:lnR w="12700" cap="flat" cmpd="sng" algn="ctr">
                      <a:solidFill>
                        <a:srgbClr val="C3C0BB"/>
                      </a:solidFill>
                      <a:prstDash val="solid"/>
                      <a:round/>
                      <a:headEnd type="none" w="med" len="med"/>
                      <a:tailEnd type="none" w="med" len="med"/>
                    </a:lnR>
                    <a:lnT w="12700" cap="flat" cmpd="sng" algn="ctr">
                      <a:solidFill>
                        <a:srgbClr val="C3C0BB"/>
                      </a:solidFill>
                      <a:prstDash val="solid"/>
                      <a:round/>
                      <a:headEnd type="none" w="med" len="med"/>
                      <a:tailEnd type="none" w="med" len="med"/>
                    </a:lnT>
                    <a:lnB w="12700" cap="flat" cmpd="sng" algn="ctr">
                      <a:solidFill>
                        <a:srgbClr val="C3C0BB"/>
                      </a:solidFill>
                      <a:prstDash val="solid"/>
                      <a:round/>
                      <a:headEnd type="none" w="med" len="med"/>
                      <a:tailEnd type="none" w="med" len="med"/>
                    </a:lnB>
                  </a:tcPr>
                </a:tc>
              </a:tr>
            </a:tbl>
          </a:graphicData>
        </a:graphic>
      </p:graphicFrame>
      <p:sp>
        <p:nvSpPr>
          <p:cNvPr id="5" name="Shape 2"/>
          <p:cNvSpPr/>
          <p:nvPr/>
        </p:nvSpPr>
        <p:spPr>
          <a:xfrm>
            <a:off x="838200" y="5565552"/>
            <a:ext cx="0" cy="276463"/>
          </a:xfrm>
          <a:prstGeom prst="line">
            <a:avLst/>
          </a:prstGeom>
          <a:noFill/>
          <a:ln w="50800">
            <a:solidFill>
              <a:srgbClr val="1F6B72"/>
            </a:solidFill>
            <a:prstDash val="solid"/>
          </a:ln>
        </p:spPr>
      </p:sp>
      <p:sp>
        <p:nvSpPr>
          <p:cNvPr id="6" name="Text 3"/>
          <p:cNvSpPr/>
          <p:nvPr/>
        </p:nvSpPr>
        <p:spPr>
          <a:xfrm>
            <a:off x="1066800" y="5588248"/>
            <a:ext cx="10318620" cy="25654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16222C"/>
                </a:solidFill>
                <a:latin typeface="IBM Plex Sans" pitchFamily="34" charset="0"/>
                <a:ea typeface="IBM Plex Sans" pitchFamily="34" charset="-122"/>
                <a:cs typeface="IBM Plex Sans" pitchFamily="34" charset="-120"/>
              </a:rPr>
              <a:t>Reporting protocol:</a:t>
            </a:r>
            <a:r>
              <a:rPr lang="en-US" sz="1300" dirty="0">
                <a:solidFill>
                  <a:srgbClr val="16222C"/>
                </a:solidFill>
                <a:latin typeface="IBM Plex Sans" pitchFamily="34" charset="0"/>
                <a:ea typeface="IBM Plex Sans" pitchFamily="34" charset="-122"/>
                <a:cs typeface="IBM Plex Sans" pitchFamily="34" charset="-120"/>
              </a:rPr>
              <a:t> every metric as mean, P95 and max across [N] matched seeds, with intervals. No winner is declared from one seed.</a:t>
            </a:r>
            <a:endParaRPr lang="en-US" sz="1300" dirty="0"/>
          </a:p>
        </p:txBody>
      </p:sp>
      <p:sp>
        <p:nvSpPr>
          <p:cNvPr id="7" name="Text 4"/>
          <p:cNvSpPr/>
          <p:nvPr/>
        </p:nvSpPr>
        <p:spPr>
          <a:xfrm>
            <a:off x="812800" y="6238255"/>
            <a:ext cx="6815283"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B73"/>
                </a:solidFill>
                <a:latin typeface="IBM Plex Sans" pitchFamily="34" charset="0"/>
                <a:ea typeface="IBM Plex Sans" pitchFamily="34" charset="-122"/>
                <a:cs typeface="IBM Plex Sans" pitchFamily="34" charset="-120"/>
              </a:rPr>
              <a:t>Metrics come from the persona cards. The multi-seed protocol is our proposal for the next phase.</a:t>
            </a:r>
            <a:endParaRPr lang="en-US" sz="1200" dirty="0"/>
          </a:p>
        </p:txBody>
      </p:sp>
      <p:sp>
        <p:nvSpPr>
          <p:cNvPr id="8" name="Text 5"/>
          <p:cNvSpPr/>
          <p:nvPr/>
        </p:nvSpPr>
        <p:spPr>
          <a:xfrm>
            <a:off x="11196320" y="6238255"/>
            <a:ext cx="23368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B73"/>
                </a:solidFill>
                <a:latin typeface="IBM Plex Sans" pitchFamily="34" charset="0"/>
                <a:ea typeface="IBM Plex Sans" pitchFamily="34" charset="-122"/>
                <a:cs typeface="IBM Plex Sans" pitchFamily="34" charset="-120"/>
              </a:rPr>
              <a:t>26</a:t>
            </a:r>
            <a:endParaRPr lang="en-US" sz="120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bg>
      <p:bgPr>
        <a:solidFill>
          <a:srgbClr val="F4F1EA"/>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1F6B72"/>
                </a:solidFill>
                <a:latin typeface="IBM Plex Mono" pitchFamily="34" charset="0"/>
                <a:ea typeface="IBM Plex Mono" pitchFamily="34" charset="-122"/>
                <a:cs typeface="IBM Plex Mono" pitchFamily="34" charset="-120"/>
              </a:rPr>
              <a:t>EMPATHIZE · PERSONAS 1–2 OF 6</a:t>
            </a:r>
            <a:endParaRPr lang="en-US" sz="1200" dirty="0"/>
          </a:p>
        </p:txBody>
      </p:sp>
      <p:sp>
        <p:nvSpPr>
          <p:cNvPr id="3" name="Text 1"/>
          <p:cNvSpPr/>
          <p:nvPr/>
        </p:nvSpPr>
        <p:spPr>
          <a:xfrm>
            <a:off x="812800" y="1127770"/>
            <a:ext cx="10883392" cy="472440"/>
          </a:xfrm>
          <a:prstGeom prst="rect">
            <a:avLst/>
          </a:prstGeom>
          <a:noFill/>
          <a:ln/>
        </p:spPr>
        <p:txBody>
          <a:bodyPr wrap="square" lIns="0" tIns="0" rIns="0" bIns="0" rtlCol="0" anchor="t">
            <a:normAutofit/>
          </a:bodyPr>
          <a:lstStyle/>
          <a:p>
            <a:pPr algn="l" indent="0" marL="0">
              <a:lnSpc>
                <a:spcPts val="3520"/>
              </a:lnSpc>
              <a:buNone/>
            </a:pPr>
            <a:r>
              <a:rPr lang="en-US" sz="3200" b="1" dirty="0">
                <a:solidFill>
                  <a:srgbClr val="16222C"/>
                </a:solidFill>
                <a:latin typeface="Space Grotesk" pitchFamily="34" charset="0"/>
                <a:ea typeface="Space Grotesk" pitchFamily="34" charset="-122"/>
                <a:cs typeface="Space Grotesk" pitchFamily="34" charset="-120"/>
              </a:rPr>
              <a:t>Amara and David: the crossing and the road</a:t>
            </a:r>
            <a:endParaRPr lang="en-US" sz="3200" dirty="0"/>
          </a:p>
        </p:txBody>
      </p:sp>
      <p:sp>
        <p:nvSpPr>
          <p:cNvPr id="4" name="Shape 2"/>
          <p:cNvSpPr/>
          <p:nvPr/>
        </p:nvSpPr>
        <p:spPr>
          <a:xfrm>
            <a:off x="815975" y="1831975"/>
            <a:ext cx="5149850" cy="3536950"/>
          </a:xfrm>
          <a:prstGeom prst="roundRect">
            <a:avLst>
              <a:gd name="adj" fmla="val 2783"/>
            </a:avLst>
          </a:prstGeom>
          <a:solidFill>
            <a:srgbClr val="FBFAF6"/>
          </a:solidFill>
          <a:ln w="6350">
            <a:solidFill>
              <a:srgbClr val="DDD8CC"/>
            </a:solidFill>
            <a:prstDash val="solid"/>
          </a:ln>
        </p:spPr>
      </p:sp>
      <p:sp>
        <p:nvSpPr>
          <p:cNvPr id="5" name="Shape 3"/>
          <p:cNvSpPr/>
          <p:nvPr/>
        </p:nvSpPr>
        <p:spPr>
          <a:xfrm>
            <a:off x="1046480" y="2090415"/>
            <a:ext cx="457200" cy="457200"/>
          </a:xfrm>
          <a:prstGeom prst="roundRect">
            <a:avLst>
              <a:gd name="adj" fmla="val 50000"/>
            </a:avLst>
          </a:prstGeom>
          <a:solidFill>
            <a:srgbClr val="1F6B72"/>
          </a:solidFill>
          <a:ln/>
        </p:spPr>
      </p:sp>
      <p:sp>
        <p:nvSpPr>
          <p:cNvPr id="6" name="Text 4"/>
          <p:cNvSpPr/>
          <p:nvPr/>
        </p:nvSpPr>
        <p:spPr>
          <a:xfrm>
            <a:off x="1202611" y="2159000"/>
            <a:ext cx="195739" cy="345440"/>
          </a:xfrm>
          <a:prstGeom prst="rect">
            <a:avLst/>
          </a:prstGeom>
          <a:noFill/>
          <a:ln/>
        </p:spPr>
        <p:txBody>
          <a:bodyPr wrap="square" lIns="0" tIns="0" rIns="0" bIns="0" rtlCol="0" anchor="t">
            <a:normAutofit/>
          </a:bodyPr>
          <a:lstStyle/>
          <a:p>
            <a:pPr algn="l" indent="0" marL="0">
              <a:lnSpc>
                <a:spcPts val="2520"/>
              </a:lnSpc>
              <a:buNone/>
            </a:pPr>
            <a:r>
              <a:rPr lang="en-US" sz="1800" b="1" dirty="0">
                <a:solidFill>
                  <a:srgbClr val="F4F1EA"/>
                </a:solidFill>
                <a:latin typeface="Space Grotesk" pitchFamily="34" charset="0"/>
                <a:ea typeface="Space Grotesk" pitchFamily="34" charset="-122"/>
                <a:cs typeface="Space Grotesk" pitchFamily="34" charset="-120"/>
              </a:rPr>
              <a:t>A</a:t>
            </a:r>
            <a:endParaRPr lang="en-US" sz="1800" dirty="0"/>
          </a:p>
        </p:txBody>
      </p:sp>
      <p:sp>
        <p:nvSpPr>
          <p:cNvPr id="7" name="Text 5"/>
          <p:cNvSpPr/>
          <p:nvPr/>
        </p:nvSpPr>
        <p:spPr>
          <a:xfrm>
            <a:off x="1656080" y="2062485"/>
            <a:ext cx="2254020" cy="299720"/>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6222C"/>
                </a:solidFill>
                <a:latin typeface="Space Grotesk" pitchFamily="34" charset="0"/>
                <a:ea typeface="Space Grotesk" pitchFamily="34" charset="-122"/>
                <a:cs typeface="Space Grotesk" pitchFamily="34" charset="-120"/>
              </a:rPr>
              <a:t>Amara, 74</a:t>
            </a:r>
            <a:endParaRPr lang="en-US" sz="1800" dirty="0"/>
          </a:p>
        </p:txBody>
      </p:sp>
      <p:sp>
        <p:nvSpPr>
          <p:cNvPr id="8" name="Text 6"/>
          <p:cNvSpPr/>
          <p:nvPr/>
        </p:nvSpPr>
        <p:spPr>
          <a:xfrm>
            <a:off x="1656080" y="2362200"/>
            <a:ext cx="225402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B73"/>
                </a:solidFill>
                <a:latin typeface="IBM Plex Sans" pitchFamily="34" charset="0"/>
                <a:ea typeface="IBM Plex Sans" pitchFamily="34" charset="-122"/>
                <a:cs typeface="IBM Plex Sans" pitchFamily="34" charset="-120"/>
              </a:rPr>
              <a:t>Retired pedestrian · uses a cane</a:t>
            </a:r>
            <a:endParaRPr lang="en-US" sz="1200" dirty="0"/>
          </a:p>
        </p:txBody>
      </p:sp>
      <p:sp>
        <p:nvSpPr>
          <p:cNvPr id="9" name="Text 7"/>
          <p:cNvSpPr/>
          <p:nvPr/>
        </p:nvSpPr>
        <p:spPr>
          <a:xfrm>
            <a:off x="1046480" y="2702570"/>
            <a:ext cx="4829505" cy="505460"/>
          </a:xfrm>
          <a:prstGeom prst="rect">
            <a:avLst/>
          </a:prstGeom>
          <a:noFill/>
          <a:ln/>
        </p:spPr>
        <p:txBody>
          <a:bodyPr wrap="square" lIns="0" tIns="0" rIns="0" bIns="0" rtlCol="0" anchor="t">
            <a:normAutofit/>
          </a:bodyPr>
          <a:lstStyle/>
          <a:p>
            <a:pPr algn="l" indent="0" marL="0">
              <a:lnSpc>
                <a:spcPts val="1890"/>
              </a:lnSpc>
              <a:buNone/>
            </a:pPr>
            <a:r>
              <a:rPr lang="en-US" sz="1400" i="1" dirty="0">
                <a:solidFill>
                  <a:srgbClr val="16222C"/>
                </a:solidFill>
                <a:latin typeface="IBM Plex Sans" pitchFamily="34" charset="0"/>
                <a:ea typeface="IBM Plex Sans" pitchFamily="34" charset="-122"/>
                <a:cs typeface="IBM Plex Sans" pitchFamily="34" charset="-120"/>
              </a:rPr>
              <a:t>“I need enough time to finish crossing, even when traffic is busy.”</a:t>
            </a:r>
            <a:endParaRPr lang="en-US" sz="1400" dirty="0"/>
          </a:p>
        </p:txBody>
      </p:sp>
      <p:sp>
        <p:nvSpPr>
          <p:cNvPr id="10" name="Text 8"/>
          <p:cNvSpPr/>
          <p:nvPr/>
        </p:nvSpPr>
        <p:spPr>
          <a:xfrm>
            <a:off x="1046480" y="3309615"/>
            <a:ext cx="1003300" cy="43688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F6B72"/>
                </a:solidFill>
                <a:latin typeface="IBM Plex Mono" pitchFamily="34" charset="0"/>
                <a:ea typeface="IBM Plex Mono" pitchFamily="34" charset="-122"/>
                <a:cs typeface="IBM Plex Mono" pitchFamily="34" charset="-120"/>
              </a:rPr>
              <a:t>NEED</a:t>
            </a:r>
            <a:endParaRPr lang="en-US" sz="1200" dirty="0"/>
          </a:p>
        </p:txBody>
      </p:sp>
      <p:sp>
        <p:nvSpPr>
          <p:cNvPr id="11" name="Text 9"/>
          <p:cNvSpPr/>
          <p:nvPr/>
        </p:nvSpPr>
        <p:spPr>
          <a:xfrm>
            <a:off x="2100580" y="3309615"/>
            <a:ext cx="3743782" cy="43688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16222C"/>
                </a:solidFill>
                <a:latin typeface="IBM Plex Sans" pitchFamily="34" charset="0"/>
                <a:ea typeface="IBM Plex Sans" pitchFamily="34" charset="-122"/>
                <a:cs typeface="IBM Plex Sans" pitchFamily="34" charset="-120"/>
              </a:rPr>
              <a:t>Acknowledgement, shorter waits, enough clearance to finish.</a:t>
            </a:r>
            <a:endParaRPr lang="en-US" sz="1200" dirty="0"/>
          </a:p>
        </p:txBody>
      </p:sp>
      <p:sp>
        <p:nvSpPr>
          <p:cNvPr id="12" name="Text 10"/>
          <p:cNvSpPr/>
          <p:nvPr/>
        </p:nvSpPr>
        <p:spPr>
          <a:xfrm>
            <a:off x="1046480" y="3848100"/>
            <a:ext cx="100330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F6B72"/>
                </a:solidFill>
                <a:latin typeface="IBM Plex Mono" pitchFamily="34" charset="0"/>
                <a:ea typeface="IBM Plex Mono" pitchFamily="34" charset="-122"/>
                <a:cs typeface="IBM Plex Mono" pitchFamily="34" charset="-120"/>
              </a:rPr>
              <a:t>FEAR</a:t>
            </a:r>
            <a:endParaRPr lang="en-US" sz="1200" dirty="0"/>
          </a:p>
        </p:txBody>
      </p:sp>
      <p:sp>
        <p:nvSpPr>
          <p:cNvPr id="13" name="Text 11"/>
          <p:cNvSpPr/>
          <p:nvPr/>
        </p:nvSpPr>
        <p:spPr>
          <a:xfrm>
            <a:off x="2100580" y="3848100"/>
            <a:ext cx="3743782" cy="23876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16222C"/>
                </a:solidFill>
                <a:latin typeface="IBM Plex Sans" pitchFamily="34" charset="0"/>
                <a:ea typeface="IBM Plex Sans" pitchFamily="34" charset="-122"/>
                <a:cs typeface="IBM Plex Sans" pitchFamily="34" charset="-120"/>
              </a:rPr>
              <a:t>Cars get green while she is still in the crossing.</a:t>
            </a:r>
            <a:endParaRPr lang="en-US" sz="1200" dirty="0"/>
          </a:p>
        </p:txBody>
      </p:sp>
      <p:sp>
        <p:nvSpPr>
          <p:cNvPr id="14" name="Text 12"/>
          <p:cNvSpPr/>
          <p:nvPr/>
        </p:nvSpPr>
        <p:spPr>
          <a:xfrm>
            <a:off x="1046480" y="4188470"/>
            <a:ext cx="1003300" cy="43688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F6B72"/>
                </a:solidFill>
                <a:latin typeface="IBM Plex Mono" pitchFamily="34" charset="0"/>
                <a:ea typeface="IBM Plex Mono" pitchFamily="34" charset="-122"/>
                <a:cs typeface="IBM Plex Mono" pitchFamily="34" charset="-120"/>
              </a:rPr>
              <a:t>REJECTS</a:t>
            </a:r>
            <a:endParaRPr lang="en-US" sz="1200" dirty="0"/>
          </a:p>
        </p:txBody>
      </p:sp>
      <p:sp>
        <p:nvSpPr>
          <p:cNvPr id="15" name="Text 13"/>
          <p:cNvSpPr/>
          <p:nvPr/>
        </p:nvSpPr>
        <p:spPr>
          <a:xfrm>
            <a:off x="2100580" y="4188470"/>
            <a:ext cx="3743782" cy="43688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16222C"/>
                </a:solidFill>
                <a:latin typeface="IBM Plex Sans" pitchFamily="34" charset="0"/>
                <a:ea typeface="IBM Plex Sans" pitchFamily="34" charset="-122"/>
                <a:cs typeface="IBM Plex Sans" pitchFamily="34" charset="-120"/>
              </a:rPr>
              <a:t>Shortened clearance, inaccessible apps, invented success claims.</a:t>
            </a:r>
            <a:endParaRPr lang="en-US" sz="1200" dirty="0"/>
          </a:p>
        </p:txBody>
      </p:sp>
      <p:sp>
        <p:nvSpPr>
          <p:cNvPr id="16" name="Text 14"/>
          <p:cNvSpPr/>
          <p:nvPr/>
        </p:nvSpPr>
        <p:spPr>
          <a:xfrm>
            <a:off x="1046480" y="4726955"/>
            <a:ext cx="1003300" cy="43688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F6B72"/>
                </a:solidFill>
                <a:latin typeface="IBM Plex Mono" pitchFamily="34" charset="0"/>
                <a:ea typeface="IBM Plex Mono" pitchFamily="34" charset="-122"/>
                <a:cs typeface="IBM Plex Mono" pitchFamily="34" charset="-120"/>
              </a:rPr>
              <a:t>MEASURE</a:t>
            </a:r>
            <a:endParaRPr lang="en-US" sz="1200" dirty="0"/>
          </a:p>
        </p:txBody>
      </p:sp>
      <p:sp>
        <p:nvSpPr>
          <p:cNvPr id="17" name="Text 15"/>
          <p:cNvSpPr/>
          <p:nvPr/>
        </p:nvSpPr>
        <p:spPr>
          <a:xfrm>
            <a:off x="2100580" y="4726955"/>
            <a:ext cx="3743782" cy="43688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16222C"/>
                </a:solidFill>
                <a:latin typeface="IBM Plex Sans" pitchFamily="34" charset="0"/>
                <a:ea typeface="IBM Plex Sans" pitchFamily="34" charset="-122"/>
                <a:cs typeface="IBM Plex Sans" pitchFamily="34" charset="-120"/>
              </a:rPr>
              <a:t>Mean, P95 and max wait · zero clearance truncations.</a:t>
            </a:r>
            <a:endParaRPr lang="en-US" sz="1200" dirty="0"/>
          </a:p>
        </p:txBody>
      </p:sp>
      <p:sp>
        <p:nvSpPr>
          <p:cNvPr id="18" name="Shape 16"/>
          <p:cNvSpPr/>
          <p:nvPr/>
        </p:nvSpPr>
        <p:spPr>
          <a:xfrm>
            <a:off x="6226175" y="1831975"/>
            <a:ext cx="5149850" cy="3536950"/>
          </a:xfrm>
          <a:prstGeom prst="roundRect">
            <a:avLst>
              <a:gd name="adj" fmla="val 2783"/>
            </a:avLst>
          </a:prstGeom>
          <a:solidFill>
            <a:srgbClr val="FBFAF6"/>
          </a:solidFill>
          <a:ln w="6350">
            <a:solidFill>
              <a:srgbClr val="DDD8CC"/>
            </a:solidFill>
            <a:prstDash val="solid"/>
          </a:ln>
        </p:spPr>
      </p:sp>
      <p:sp>
        <p:nvSpPr>
          <p:cNvPr id="19" name="Shape 17"/>
          <p:cNvSpPr/>
          <p:nvPr/>
        </p:nvSpPr>
        <p:spPr>
          <a:xfrm>
            <a:off x="6456680" y="2090415"/>
            <a:ext cx="457200" cy="457200"/>
          </a:xfrm>
          <a:prstGeom prst="roundRect">
            <a:avLst>
              <a:gd name="adj" fmla="val 50000"/>
            </a:avLst>
          </a:prstGeom>
          <a:solidFill>
            <a:srgbClr val="1F6B72"/>
          </a:solidFill>
          <a:ln/>
        </p:spPr>
      </p:sp>
      <p:sp>
        <p:nvSpPr>
          <p:cNvPr id="20" name="Text 18"/>
          <p:cNvSpPr/>
          <p:nvPr/>
        </p:nvSpPr>
        <p:spPr>
          <a:xfrm>
            <a:off x="6609080" y="2159000"/>
            <a:ext cx="203121" cy="345440"/>
          </a:xfrm>
          <a:prstGeom prst="rect">
            <a:avLst/>
          </a:prstGeom>
          <a:noFill/>
          <a:ln/>
        </p:spPr>
        <p:txBody>
          <a:bodyPr wrap="square" lIns="0" tIns="0" rIns="0" bIns="0" rtlCol="0" anchor="t">
            <a:normAutofit/>
          </a:bodyPr>
          <a:lstStyle/>
          <a:p>
            <a:pPr algn="l" indent="0" marL="0">
              <a:lnSpc>
                <a:spcPts val="2520"/>
              </a:lnSpc>
              <a:buNone/>
            </a:pPr>
            <a:r>
              <a:rPr lang="en-US" sz="1800" b="1" dirty="0">
                <a:solidFill>
                  <a:srgbClr val="F4F1EA"/>
                </a:solidFill>
                <a:latin typeface="Space Grotesk" pitchFamily="34" charset="0"/>
                <a:ea typeface="Space Grotesk" pitchFamily="34" charset="-122"/>
                <a:cs typeface="Space Grotesk" pitchFamily="34" charset="-120"/>
              </a:rPr>
              <a:t>D</a:t>
            </a:r>
            <a:endParaRPr lang="en-US" sz="1800" dirty="0"/>
          </a:p>
        </p:txBody>
      </p:sp>
      <p:sp>
        <p:nvSpPr>
          <p:cNvPr id="21" name="Text 19"/>
          <p:cNvSpPr/>
          <p:nvPr/>
        </p:nvSpPr>
        <p:spPr>
          <a:xfrm>
            <a:off x="7066280" y="2062485"/>
            <a:ext cx="1338342" cy="299720"/>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6222C"/>
                </a:solidFill>
                <a:latin typeface="Space Grotesk" pitchFamily="34" charset="0"/>
                <a:ea typeface="Space Grotesk" pitchFamily="34" charset="-122"/>
                <a:cs typeface="Space Grotesk" pitchFamily="34" charset="-120"/>
              </a:rPr>
              <a:t>David, 41</a:t>
            </a:r>
            <a:endParaRPr lang="en-US" sz="1800" dirty="0"/>
          </a:p>
        </p:txBody>
      </p:sp>
      <p:sp>
        <p:nvSpPr>
          <p:cNvPr id="22" name="Text 20"/>
          <p:cNvSpPr/>
          <p:nvPr/>
        </p:nvSpPr>
        <p:spPr>
          <a:xfrm>
            <a:off x="7066280" y="2362200"/>
            <a:ext cx="1338342"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B73"/>
                </a:solidFill>
                <a:latin typeface="IBM Plex Sans" pitchFamily="34" charset="0"/>
                <a:ea typeface="IBM Plex Sans" pitchFamily="34" charset="-122"/>
                <a:cs typeface="IBM Plex Sans" pitchFamily="34" charset="-120"/>
              </a:rPr>
              <a:t>Delivery-van driver</a:t>
            </a:r>
            <a:endParaRPr lang="en-US" sz="1200" dirty="0"/>
          </a:p>
        </p:txBody>
      </p:sp>
      <p:sp>
        <p:nvSpPr>
          <p:cNvPr id="23" name="Text 21"/>
          <p:cNvSpPr/>
          <p:nvPr/>
        </p:nvSpPr>
        <p:spPr>
          <a:xfrm>
            <a:off x="6456680" y="2702570"/>
            <a:ext cx="4829505" cy="505460"/>
          </a:xfrm>
          <a:prstGeom prst="rect">
            <a:avLst/>
          </a:prstGeom>
          <a:noFill/>
          <a:ln/>
        </p:spPr>
        <p:txBody>
          <a:bodyPr wrap="square" lIns="0" tIns="0" rIns="0" bIns="0" rtlCol="0" anchor="t">
            <a:normAutofit/>
          </a:bodyPr>
          <a:lstStyle/>
          <a:p>
            <a:pPr algn="l" indent="0" marL="0">
              <a:lnSpc>
                <a:spcPts val="1890"/>
              </a:lnSpc>
              <a:buNone/>
            </a:pPr>
            <a:r>
              <a:rPr lang="en-US" sz="1400" i="1" dirty="0">
                <a:solidFill>
                  <a:srgbClr val="16222C"/>
                </a:solidFill>
                <a:latin typeface="IBM Plex Sans" pitchFamily="34" charset="0"/>
                <a:ea typeface="IBM Plex Sans" pitchFamily="34" charset="-122"/>
                <a:cs typeface="IBM Plex Sans" pitchFamily="34" charset="-120"/>
              </a:rPr>
              <a:t>“I can plan around a longer trip if I know how long it will actually take.”</a:t>
            </a:r>
            <a:endParaRPr lang="en-US" sz="1400" dirty="0"/>
          </a:p>
        </p:txBody>
      </p:sp>
      <p:sp>
        <p:nvSpPr>
          <p:cNvPr id="24" name="Text 22"/>
          <p:cNvSpPr/>
          <p:nvPr/>
        </p:nvSpPr>
        <p:spPr>
          <a:xfrm>
            <a:off x="6456680" y="3309615"/>
            <a:ext cx="100330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F6B72"/>
                </a:solidFill>
                <a:latin typeface="IBM Plex Mono" pitchFamily="34" charset="0"/>
                <a:ea typeface="IBM Plex Mono" pitchFamily="34" charset="-122"/>
                <a:cs typeface="IBM Plex Mono" pitchFamily="34" charset="-120"/>
              </a:rPr>
              <a:t>NEED</a:t>
            </a:r>
            <a:endParaRPr lang="en-US" sz="1200" dirty="0"/>
          </a:p>
        </p:txBody>
      </p:sp>
      <p:sp>
        <p:nvSpPr>
          <p:cNvPr id="25" name="Text 23"/>
          <p:cNvSpPr/>
          <p:nvPr/>
        </p:nvSpPr>
        <p:spPr>
          <a:xfrm>
            <a:off x="7510780" y="3309615"/>
            <a:ext cx="3743782" cy="23876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16222C"/>
                </a:solidFill>
                <a:latin typeface="IBM Plex Sans" pitchFamily="34" charset="0"/>
                <a:ea typeface="IBM Plex Sans" pitchFamily="34" charset="-122"/>
                <a:cs typeface="IBM Plex Sans" pitchFamily="34" charset="-120"/>
              </a:rPr>
              <a:t>Predictable journeys, fewer stops, visible incidents.</a:t>
            </a:r>
            <a:endParaRPr lang="en-US" sz="1200" dirty="0"/>
          </a:p>
        </p:txBody>
      </p:sp>
      <p:sp>
        <p:nvSpPr>
          <p:cNvPr id="26" name="Text 24"/>
          <p:cNvSpPr/>
          <p:nvPr/>
        </p:nvSpPr>
        <p:spPr>
          <a:xfrm>
            <a:off x="6456680" y="3649985"/>
            <a:ext cx="100330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F6B72"/>
                </a:solidFill>
                <a:latin typeface="IBM Plex Mono" pitchFamily="34" charset="0"/>
                <a:ea typeface="IBM Plex Mono" pitchFamily="34" charset="-122"/>
                <a:cs typeface="IBM Plex Mono" pitchFamily="34" charset="-120"/>
              </a:rPr>
              <a:t>FEAR</a:t>
            </a:r>
            <a:endParaRPr lang="en-US" sz="1200" dirty="0"/>
          </a:p>
        </p:txBody>
      </p:sp>
      <p:sp>
        <p:nvSpPr>
          <p:cNvPr id="27" name="Text 25"/>
          <p:cNvSpPr/>
          <p:nvPr/>
        </p:nvSpPr>
        <p:spPr>
          <a:xfrm>
            <a:off x="7510780" y="3649985"/>
            <a:ext cx="3743782" cy="23876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16222C"/>
                </a:solidFill>
                <a:latin typeface="IBM Plex Sans" pitchFamily="34" charset="0"/>
                <a:ea typeface="IBM Plex Sans" pitchFamily="34" charset="-122"/>
                <a:cs typeface="IBM Plex Sans" pitchFamily="34" charset="-120"/>
              </a:rPr>
              <a:t>A better mean hides unfinished or extreme trips.</a:t>
            </a:r>
            <a:endParaRPr lang="en-US" sz="1200" dirty="0"/>
          </a:p>
        </p:txBody>
      </p:sp>
      <p:sp>
        <p:nvSpPr>
          <p:cNvPr id="28" name="Text 26"/>
          <p:cNvSpPr/>
          <p:nvPr/>
        </p:nvSpPr>
        <p:spPr>
          <a:xfrm>
            <a:off x="6456680" y="3990355"/>
            <a:ext cx="100330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F6B72"/>
                </a:solidFill>
                <a:latin typeface="IBM Plex Mono" pitchFamily="34" charset="0"/>
                <a:ea typeface="IBM Plex Mono" pitchFamily="34" charset="-122"/>
                <a:cs typeface="IBM Plex Mono" pitchFamily="34" charset="-120"/>
              </a:rPr>
              <a:t>REJECTS</a:t>
            </a:r>
            <a:endParaRPr lang="en-US" sz="1200" dirty="0"/>
          </a:p>
        </p:txBody>
      </p:sp>
      <p:sp>
        <p:nvSpPr>
          <p:cNvPr id="29" name="Text 27"/>
          <p:cNvSpPr/>
          <p:nvPr/>
        </p:nvSpPr>
        <p:spPr>
          <a:xfrm>
            <a:off x="7510780" y="3990355"/>
            <a:ext cx="3743782" cy="23876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16222C"/>
                </a:solidFill>
                <a:latin typeface="IBM Plex Sans" pitchFamily="34" charset="0"/>
                <a:ea typeface="IBM Plex Sans" pitchFamily="34" charset="-122"/>
                <a:cs typeface="IBM Plex Sans" pitchFamily="34" charset="-120"/>
              </a:rPr>
              <a:t>Best-case headlines, deleted unfinished trips.</a:t>
            </a:r>
            <a:endParaRPr lang="en-US" sz="1200" dirty="0"/>
          </a:p>
        </p:txBody>
      </p:sp>
      <p:sp>
        <p:nvSpPr>
          <p:cNvPr id="30" name="Text 28"/>
          <p:cNvSpPr/>
          <p:nvPr/>
        </p:nvSpPr>
        <p:spPr>
          <a:xfrm>
            <a:off x="6456680" y="4330700"/>
            <a:ext cx="1003300" cy="43688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F6B72"/>
                </a:solidFill>
                <a:latin typeface="IBM Plex Mono" pitchFamily="34" charset="0"/>
                <a:ea typeface="IBM Plex Mono" pitchFamily="34" charset="-122"/>
                <a:cs typeface="IBM Plex Mono" pitchFamily="34" charset="-120"/>
              </a:rPr>
              <a:t>MEASURE</a:t>
            </a:r>
            <a:endParaRPr lang="en-US" sz="1200" dirty="0"/>
          </a:p>
        </p:txBody>
      </p:sp>
      <p:sp>
        <p:nvSpPr>
          <p:cNvPr id="31" name="Text 29"/>
          <p:cNvSpPr/>
          <p:nvPr/>
        </p:nvSpPr>
        <p:spPr>
          <a:xfrm>
            <a:off x="7510780" y="4330700"/>
            <a:ext cx="3743782" cy="43688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16222C"/>
                </a:solidFill>
                <a:latin typeface="IBM Plex Sans" pitchFamily="34" charset="0"/>
                <a:ea typeface="IBM Plex Sans" pitchFamily="34" charset="-122"/>
                <a:cs typeface="IBM Plex Sans" pitchFamily="34" charset="-120"/>
              </a:rPr>
              <a:t>Completed vs unfinished trips · P95 and max duration · stops.</a:t>
            </a:r>
            <a:endParaRPr lang="en-US" sz="1200" dirty="0"/>
          </a:p>
        </p:txBody>
      </p:sp>
      <p:sp>
        <p:nvSpPr>
          <p:cNvPr id="32" name="Text 30"/>
          <p:cNvSpPr/>
          <p:nvPr/>
        </p:nvSpPr>
        <p:spPr>
          <a:xfrm>
            <a:off x="812800" y="6238255"/>
            <a:ext cx="4977321"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B73"/>
                </a:solidFill>
                <a:latin typeface="IBM Plex Sans" pitchFamily="34" charset="0"/>
                <a:ea typeface="IBM Plex Sans" pitchFamily="34" charset="-122"/>
                <a:cs typeface="IBM Plex Sans" pitchFamily="34" charset="-120"/>
              </a:rPr>
              <a:t>Design readings, not interviews. Statements are syntheses, not quotes.</a:t>
            </a:r>
            <a:endParaRPr lang="en-US" sz="1200" dirty="0"/>
          </a:p>
        </p:txBody>
      </p:sp>
      <p:sp>
        <p:nvSpPr>
          <p:cNvPr id="33" name="Text 31"/>
          <p:cNvSpPr/>
          <p:nvPr/>
        </p:nvSpPr>
        <p:spPr>
          <a:xfrm>
            <a:off x="11196320" y="6238255"/>
            <a:ext cx="23368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B73"/>
                </a:solidFill>
                <a:latin typeface="IBM Plex Sans" pitchFamily="34" charset="0"/>
                <a:ea typeface="IBM Plex Sans" pitchFamily="34" charset="-122"/>
                <a:cs typeface="IBM Plex Sans" pitchFamily="34" charset="-120"/>
              </a:rPr>
              <a:t>11</a:t>
            </a:r>
            <a:endParaRPr lang="en-US" sz="120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bg>
      <p:bgPr>
        <a:solidFill>
          <a:srgbClr val="F4F1EA"/>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1F6B72"/>
                </a:solidFill>
                <a:latin typeface="IBM Plex Mono" pitchFamily="34" charset="0"/>
                <a:ea typeface="IBM Plex Mono" pitchFamily="34" charset="-122"/>
                <a:cs typeface="IBM Plex Mono" pitchFamily="34" charset="-120"/>
              </a:rPr>
              <a:t>EMPATHIZE · PERSONAS 3–4 OF 6</a:t>
            </a:r>
            <a:endParaRPr lang="en-US" sz="1200" dirty="0"/>
          </a:p>
        </p:txBody>
      </p:sp>
      <p:sp>
        <p:nvSpPr>
          <p:cNvPr id="3" name="Text 1"/>
          <p:cNvSpPr/>
          <p:nvPr/>
        </p:nvSpPr>
        <p:spPr>
          <a:xfrm>
            <a:off x="812800" y="1127770"/>
            <a:ext cx="10883392" cy="472440"/>
          </a:xfrm>
          <a:prstGeom prst="rect">
            <a:avLst/>
          </a:prstGeom>
          <a:noFill/>
          <a:ln/>
        </p:spPr>
        <p:txBody>
          <a:bodyPr wrap="square" lIns="0" tIns="0" rIns="0" bIns="0" rtlCol="0" anchor="t">
            <a:normAutofit/>
          </a:bodyPr>
          <a:lstStyle/>
          <a:p>
            <a:pPr algn="l" indent="0" marL="0">
              <a:lnSpc>
                <a:spcPts val="3520"/>
              </a:lnSpc>
              <a:buNone/>
            </a:pPr>
            <a:r>
              <a:rPr lang="en-US" sz="3200" b="1" dirty="0">
                <a:solidFill>
                  <a:srgbClr val="16222C"/>
                </a:solidFill>
                <a:latin typeface="Space Grotesk" pitchFamily="34" charset="0"/>
                <a:ea typeface="Space Grotesk" pitchFamily="34" charset="-122"/>
                <a:cs typeface="Space Grotesk" pitchFamily="34" charset="-120"/>
              </a:rPr>
              <a:t>Chidi and Marcus: the bus and the ambulance</a:t>
            </a:r>
            <a:endParaRPr lang="en-US" sz="3200" dirty="0"/>
          </a:p>
        </p:txBody>
      </p:sp>
      <p:sp>
        <p:nvSpPr>
          <p:cNvPr id="4" name="Shape 2"/>
          <p:cNvSpPr/>
          <p:nvPr/>
        </p:nvSpPr>
        <p:spPr>
          <a:xfrm>
            <a:off x="815975" y="1831975"/>
            <a:ext cx="5149850" cy="3536950"/>
          </a:xfrm>
          <a:prstGeom prst="roundRect">
            <a:avLst>
              <a:gd name="adj" fmla="val 2783"/>
            </a:avLst>
          </a:prstGeom>
          <a:solidFill>
            <a:srgbClr val="FBFAF6"/>
          </a:solidFill>
          <a:ln w="6350">
            <a:solidFill>
              <a:srgbClr val="DDD8CC"/>
            </a:solidFill>
            <a:prstDash val="solid"/>
          </a:ln>
        </p:spPr>
      </p:sp>
      <p:sp>
        <p:nvSpPr>
          <p:cNvPr id="5" name="Shape 3"/>
          <p:cNvSpPr/>
          <p:nvPr/>
        </p:nvSpPr>
        <p:spPr>
          <a:xfrm>
            <a:off x="1046480" y="2090415"/>
            <a:ext cx="457200" cy="457200"/>
          </a:xfrm>
          <a:prstGeom prst="roundRect">
            <a:avLst>
              <a:gd name="adj" fmla="val 50000"/>
            </a:avLst>
          </a:prstGeom>
          <a:solidFill>
            <a:srgbClr val="1F6B72"/>
          </a:solidFill>
          <a:ln/>
        </p:spPr>
      </p:sp>
      <p:sp>
        <p:nvSpPr>
          <p:cNvPr id="6" name="Text 4"/>
          <p:cNvSpPr/>
          <p:nvPr/>
        </p:nvSpPr>
        <p:spPr>
          <a:xfrm>
            <a:off x="1201420" y="2159000"/>
            <a:ext cx="198041" cy="345440"/>
          </a:xfrm>
          <a:prstGeom prst="rect">
            <a:avLst/>
          </a:prstGeom>
          <a:noFill/>
          <a:ln/>
        </p:spPr>
        <p:txBody>
          <a:bodyPr wrap="square" lIns="0" tIns="0" rIns="0" bIns="0" rtlCol="0" anchor="t">
            <a:normAutofit/>
          </a:bodyPr>
          <a:lstStyle/>
          <a:p>
            <a:pPr algn="l" indent="0" marL="0">
              <a:lnSpc>
                <a:spcPts val="2520"/>
              </a:lnSpc>
              <a:buNone/>
            </a:pPr>
            <a:r>
              <a:rPr lang="en-US" sz="1800" b="1" dirty="0">
                <a:solidFill>
                  <a:srgbClr val="F4F1EA"/>
                </a:solidFill>
                <a:latin typeface="Space Grotesk" pitchFamily="34" charset="0"/>
                <a:ea typeface="Space Grotesk" pitchFamily="34" charset="-122"/>
                <a:cs typeface="Space Grotesk" pitchFamily="34" charset="-120"/>
              </a:rPr>
              <a:t>C</a:t>
            </a:r>
            <a:endParaRPr lang="en-US" sz="1800" dirty="0"/>
          </a:p>
        </p:txBody>
      </p:sp>
      <p:sp>
        <p:nvSpPr>
          <p:cNvPr id="7" name="Text 5"/>
          <p:cNvSpPr/>
          <p:nvPr/>
        </p:nvSpPr>
        <p:spPr>
          <a:xfrm>
            <a:off x="1656080" y="2062485"/>
            <a:ext cx="1698308" cy="299720"/>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6222C"/>
                </a:solidFill>
                <a:latin typeface="Space Grotesk" pitchFamily="34" charset="0"/>
                <a:ea typeface="Space Grotesk" pitchFamily="34" charset="-122"/>
                <a:cs typeface="Space Grotesk" pitchFamily="34" charset="-120"/>
              </a:rPr>
              <a:t>Chidi, 27</a:t>
            </a:r>
            <a:endParaRPr lang="en-US" sz="1800" dirty="0"/>
          </a:p>
        </p:txBody>
      </p:sp>
      <p:sp>
        <p:nvSpPr>
          <p:cNvPr id="8" name="Text 6"/>
          <p:cNvSpPr/>
          <p:nvPr/>
        </p:nvSpPr>
        <p:spPr>
          <a:xfrm>
            <a:off x="1656080" y="2362200"/>
            <a:ext cx="1698308"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B73"/>
                </a:solidFill>
                <a:latin typeface="IBM Plex Sans" pitchFamily="34" charset="0"/>
                <a:ea typeface="IBM Plex Sans" pitchFamily="34" charset="-122"/>
                <a:cs typeface="IBM Plex Sans" pitchFamily="34" charset="-120"/>
              </a:rPr>
              <a:t>Frequent bus passenger</a:t>
            </a:r>
            <a:endParaRPr lang="en-US" sz="1200" dirty="0"/>
          </a:p>
        </p:txBody>
      </p:sp>
      <p:sp>
        <p:nvSpPr>
          <p:cNvPr id="9" name="Text 7"/>
          <p:cNvSpPr/>
          <p:nvPr/>
        </p:nvSpPr>
        <p:spPr>
          <a:xfrm>
            <a:off x="1046480" y="2702570"/>
            <a:ext cx="4829505" cy="505460"/>
          </a:xfrm>
          <a:prstGeom prst="rect">
            <a:avLst/>
          </a:prstGeom>
          <a:noFill/>
          <a:ln/>
        </p:spPr>
        <p:txBody>
          <a:bodyPr wrap="square" lIns="0" tIns="0" rIns="0" bIns="0" rtlCol="0" anchor="t">
            <a:normAutofit/>
          </a:bodyPr>
          <a:lstStyle/>
          <a:p>
            <a:pPr algn="l" indent="0" marL="0">
              <a:lnSpc>
                <a:spcPts val="1890"/>
              </a:lnSpc>
              <a:buNone/>
            </a:pPr>
            <a:r>
              <a:rPr lang="en-US" sz="1400" i="1" dirty="0">
                <a:solidFill>
                  <a:srgbClr val="16222C"/>
                </a:solidFill>
                <a:latin typeface="IBM Plex Sans" pitchFamily="34" charset="0"/>
                <a:ea typeface="IBM Plex Sans" pitchFamily="34" charset="-122"/>
                <a:cs typeface="IBM Plex Sans" pitchFamily="34" charset="-120"/>
              </a:rPr>
              <a:t>“Buses should arrive regularly, not three at once after a long wait.”</a:t>
            </a:r>
            <a:endParaRPr lang="en-US" sz="1400" dirty="0"/>
          </a:p>
        </p:txBody>
      </p:sp>
      <p:sp>
        <p:nvSpPr>
          <p:cNvPr id="10" name="Text 8"/>
          <p:cNvSpPr/>
          <p:nvPr/>
        </p:nvSpPr>
        <p:spPr>
          <a:xfrm>
            <a:off x="1046480" y="3309615"/>
            <a:ext cx="100330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F6B72"/>
                </a:solidFill>
                <a:latin typeface="IBM Plex Mono" pitchFamily="34" charset="0"/>
                <a:ea typeface="IBM Plex Mono" pitchFamily="34" charset="-122"/>
                <a:cs typeface="IBM Plex Mono" pitchFamily="34" charset="-120"/>
              </a:rPr>
              <a:t>NEED</a:t>
            </a:r>
            <a:endParaRPr lang="en-US" sz="1200" dirty="0"/>
          </a:p>
        </p:txBody>
      </p:sp>
      <p:sp>
        <p:nvSpPr>
          <p:cNvPr id="11" name="Text 9"/>
          <p:cNvSpPr/>
          <p:nvPr/>
        </p:nvSpPr>
        <p:spPr>
          <a:xfrm>
            <a:off x="2100580" y="3309615"/>
            <a:ext cx="3743782" cy="23876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16222C"/>
                </a:solidFill>
                <a:latin typeface="IBM Plex Sans" pitchFamily="34" charset="0"/>
                <a:ea typeface="IBM Plex Sans" pitchFamily="34" charset="-122"/>
                <a:cs typeface="IBM Plex Sans" pitchFamily="34" charset="-120"/>
              </a:rPr>
              <a:t>Priority only for a late bus or a large headway gap.</a:t>
            </a:r>
            <a:endParaRPr lang="en-US" sz="1200" dirty="0"/>
          </a:p>
        </p:txBody>
      </p:sp>
      <p:sp>
        <p:nvSpPr>
          <p:cNvPr id="12" name="Text 10"/>
          <p:cNvSpPr/>
          <p:nvPr/>
        </p:nvSpPr>
        <p:spPr>
          <a:xfrm>
            <a:off x="1046480" y="3649985"/>
            <a:ext cx="100330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F6B72"/>
                </a:solidFill>
                <a:latin typeface="IBM Plex Mono" pitchFamily="34" charset="0"/>
                <a:ea typeface="IBM Plex Mono" pitchFamily="34" charset="-122"/>
                <a:cs typeface="IBM Plex Mono" pitchFamily="34" charset="-120"/>
              </a:rPr>
              <a:t>FEAR</a:t>
            </a:r>
            <a:endParaRPr lang="en-US" sz="1200" dirty="0"/>
          </a:p>
        </p:txBody>
      </p:sp>
      <p:sp>
        <p:nvSpPr>
          <p:cNvPr id="13" name="Text 11"/>
          <p:cNvSpPr/>
          <p:nvPr/>
        </p:nvSpPr>
        <p:spPr>
          <a:xfrm>
            <a:off x="2100580" y="3649985"/>
            <a:ext cx="3743782" cy="23876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16222C"/>
                </a:solidFill>
                <a:latin typeface="IBM Plex Sans" pitchFamily="34" charset="0"/>
                <a:ea typeface="IBM Plex Sans" pitchFamily="34" charset="-122"/>
                <a:cs typeface="IBM Plex Sans" pitchFamily="34" charset="-120"/>
              </a:rPr>
              <a:t>Three buses arrive together after one long gap.</a:t>
            </a:r>
            <a:endParaRPr lang="en-US" sz="1200" dirty="0"/>
          </a:p>
        </p:txBody>
      </p:sp>
      <p:sp>
        <p:nvSpPr>
          <p:cNvPr id="14" name="Text 12"/>
          <p:cNvSpPr/>
          <p:nvPr/>
        </p:nvSpPr>
        <p:spPr>
          <a:xfrm>
            <a:off x="1046480" y="3990355"/>
            <a:ext cx="100330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F6B72"/>
                </a:solidFill>
                <a:latin typeface="IBM Plex Mono" pitchFamily="34" charset="0"/>
                <a:ea typeface="IBM Plex Mono" pitchFamily="34" charset="-122"/>
                <a:cs typeface="IBM Plex Mono" pitchFamily="34" charset="-120"/>
              </a:rPr>
              <a:t>REJECTS</a:t>
            </a:r>
            <a:endParaRPr lang="en-US" sz="1200" dirty="0"/>
          </a:p>
        </p:txBody>
      </p:sp>
      <p:sp>
        <p:nvSpPr>
          <p:cNvPr id="15" name="Text 13"/>
          <p:cNvSpPr/>
          <p:nvPr/>
        </p:nvSpPr>
        <p:spPr>
          <a:xfrm>
            <a:off x="2100580" y="3990355"/>
            <a:ext cx="3743782" cy="23876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16222C"/>
                </a:solidFill>
                <a:latin typeface="IBM Plex Sans" pitchFamily="34" charset="0"/>
                <a:ea typeface="IBM Plex Sans" pitchFamily="34" charset="-122"/>
                <a:cs typeface="IBM Plex Sans" pitchFamily="34" charset="-120"/>
              </a:rPr>
              <a:t>Priority for every bus; clearance sacrificed for transit.</a:t>
            </a:r>
            <a:endParaRPr lang="en-US" sz="1200" dirty="0"/>
          </a:p>
        </p:txBody>
      </p:sp>
      <p:sp>
        <p:nvSpPr>
          <p:cNvPr id="16" name="Text 14"/>
          <p:cNvSpPr/>
          <p:nvPr/>
        </p:nvSpPr>
        <p:spPr>
          <a:xfrm>
            <a:off x="1046480" y="4330700"/>
            <a:ext cx="1003300" cy="43688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F6B72"/>
                </a:solidFill>
                <a:latin typeface="IBM Plex Mono" pitchFamily="34" charset="0"/>
                <a:ea typeface="IBM Plex Mono" pitchFamily="34" charset="-122"/>
                <a:cs typeface="IBM Plex Mono" pitchFamily="34" charset="-120"/>
              </a:rPr>
              <a:t>MEASURE</a:t>
            </a:r>
            <a:endParaRPr lang="en-US" sz="1200" dirty="0"/>
          </a:p>
        </p:txBody>
      </p:sp>
      <p:sp>
        <p:nvSpPr>
          <p:cNvPr id="17" name="Text 15"/>
          <p:cNvSpPr/>
          <p:nvPr/>
        </p:nvSpPr>
        <p:spPr>
          <a:xfrm>
            <a:off x="2100580" y="4330700"/>
            <a:ext cx="3743782" cy="43688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16222C"/>
                </a:solidFill>
                <a:latin typeface="IBM Plex Sans" pitchFamily="34" charset="0"/>
                <a:ea typeface="IBM Plex Sans" pitchFamily="34" charset="-122"/>
                <a:cs typeface="IBM Plex Sans" pitchFamily="34" charset="-120"/>
              </a:rPr>
              <a:t>Lateness · headway variation · passenger-wait proxy · side effects.</a:t>
            </a:r>
            <a:endParaRPr lang="en-US" sz="1200" dirty="0"/>
          </a:p>
        </p:txBody>
      </p:sp>
      <p:sp>
        <p:nvSpPr>
          <p:cNvPr id="18" name="Shape 16"/>
          <p:cNvSpPr/>
          <p:nvPr/>
        </p:nvSpPr>
        <p:spPr>
          <a:xfrm>
            <a:off x="6226175" y="1831975"/>
            <a:ext cx="5149850" cy="3536950"/>
          </a:xfrm>
          <a:prstGeom prst="roundRect">
            <a:avLst>
              <a:gd name="adj" fmla="val 2783"/>
            </a:avLst>
          </a:prstGeom>
          <a:solidFill>
            <a:srgbClr val="FBFAF6"/>
          </a:solidFill>
          <a:ln w="6350">
            <a:solidFill>
              <a:srgbClr val="DDD8CC"/>
            </a:solidFill>
            <a:prstDash val="solid"/>
          </a:ln>
        </p:spPr>
      </p:sp>
      <p:sp>
        <p:nvSpPr>
          <p:cNvPr id="19" name="Shape 17"/>
          <p:cNvSpPr/>
          <p:nvPr/>
        </p:nvSpPr>
        <p:spPr>
          <a:xfrm>
            <a:off x="6456680" y="2090415"/>
            <a:ext cx="457200" cy="457200"/>
          </a:xfrm>
          <a:prstGeom prst="roundRect">
            <a:avLst>
              <a:gd name="adj" fmla="val 50000"/>
            </a:avLst>
          </a:prstGeom>
          <a:solidFill>
            <a:srgbClr val="1F6B72"/>
          </a:solidFill>
          <a:ln/>
        </p:spPr>
      </p:sp>
      <p:sp>
        <p:nvSpPr>
          <p:cNvPr id="20" name="Text 18"/>
          <p:cNvSpPr/>
          <p:nvPr/>
        </p:nvSpPr>
        <p:spPr>
          <a:xfrm>
            <a:off x="6584394" y="2159000"/>
            <a:ext cx="252492" cy="345440"/>
          </a:xfrm>
          <a:prstGeom prst="rect">
            <a:avLst/>
          </a:prstGeom>
          <a:noFill/>
          <a:ln/>
        </p:spPr>
        <p:txBody>
          <a:bodyPr wrap="square" lIns="0" tIns="0" rIns="0" bIns="0" rtlCol="0" anchor="t">
            <a:normAutofit/>
          </a:bodyPr>
          <a:lstStyle/>
          <a:p>
            <a:pPr algn="l" indent="0" marL="0">
              <a:lnSpc>
                <a:spcPts val="2520"/>
              </a:lnSpc>
              <a:buNone/>
            </a:pPr>
            <a:r>
              <a:rPr lang="en-US" sz="1800" b="1" dirty="0">
                <a:solidFill>
                  <a:srgbClr val="F4F1EA"/>
                </a:solidFill>
                <a:latin typeface="Space Grotesk" pitchFamily="34" charset="0"/>
                <a:ea typeface="Space Grotesk" pitchFamily="34" charset="-122"/>
                <a:cs typeface="Space Grotesk" pitchFamily="34" charset="-120"/>
              </a:rPr>
              <a:t>M</a:t>
            </a:r>
            <a:endParaRPr lang="en-US" sz="1800" dirty="0"/>
          </a:p>
        </p:txBody>
      </p:sp>
      <p:sp>
        <p:nvSpPr>
          <p:cNvPr id="21" name="Text 19"/>
          <p:cNvSpPr/>
          <p:nvPr/>
        </p:nvSpPr>
        <p:spPr>
          <a:xfrm>
            <a:off x="7066280" y="2062485"/>
            <a:ext cx="1628299" cy="299720"/>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6222C"/>
                </a:solidFill>
                <a:latin typeface="Space Grotesk" pitchFamily="34" charset="0"/>
                <a:ea typeface="Space Grotesk" pitchFamily="34" charset="-122"/>
                <a:cs typeface="Space Grotesk" pitchFamily="34" charset="-120"/>
              </a:rPr>
              <a:t>Marcus, 34</a:t>
            </a:r>
            <a:endParaRPr lang="en-US" sz="1800" dirty="0"/>
          </a:p>
        </p:txBody>
      </p:sp>
      <p:sp>
        <p:nvSpPr>
          <p:cNvPr id="22" name="Text 20"/>
          <p:cNvSpPr/>
          <p:nvPr/>
        </p:nvSpPr>
        <p:spPr>
          <a:xfrm>
            <a:off x="7066280" y="2362200"/>
            <a:ext cx="1628299"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B73"/>
                </a:solidFill>
                <a:latin typeface="IBM Plex Sans" pitchFamily="34" charset="0"/>
                <a:ea typeface="IBM Plex Sans" pitchFamily="34" charset="-122"/>
                <a:cs typeface="IBM Plex Sans" pitchFamily="34" charset="-120"/>
              </a:rPr>
              <a:t>Urban ambulance crew</a:t>
            </a:r>
            <a:endParaRPr lang="en-US" sz="1200" dirty="0"/>
          </a:p>
        </p:txBody>
      </p:sp>
      <p:sp>
        <p:nvSpPr>
          <p:cNvPr id="23" name="Text 21"/>
          <p:cNvSpPr/>
          <p:nvPr/>
        </p:nvSpPr>
        <p:spPr>
          <a:xfrm>
            <a:off x="6456680" y="2702570"/>
            <a:ext cx="4829505" cy="505460"/>
          </a:xfrm>
          <a:prstGeom prst="rect">
            <a:avLst/>
          </a:prstGeom>
          <a:noFill/>
          <a:ln/>
        </p:spPr>
        <p:txBody>
          <a:bodyPr wrap="square" lIns="0" tIns="0" rIns="0" bIns="0" rtlCol="0" anchor="t">
            <a:normAutofit/>
          </a:bodyPr>
          <a:lstStyle/>
          <a:p>
            <a:pPr algn="l" indent="0" marL="0">
              <a:lnSpc>
                <a:spcPts val="1890"/>
              </a:lnSpc>
              <a:buNone/>
            </a:pPr>
            <a:r>
              <a:rPr lang="en-US" sz="1400" i="1" dirty="0">
                <a:solidFill>
                  <a:srgbClr val="16222C"/>
                </a:solidFill>
                <a:latin typeface="IBM Plex Sans" pitchFamily="34" charset="0"/>
                <a:ea typeface="IBM Plex Sans" pitchFamily="34" charset="-122"/>
                <a:cs typeface="IBM Plex Sans" pitchFamily="34" charset="-120"/>
              </a:rPr>
              <a:t>“Get us through safely, and make sure traffic recovers after we pass.”</a:t>
            </a:r>
            <a:endParaRPr lang="en-US" sz="1400" dirty="0"/>
          </a:p>
        </p:txBody>
      </p:sp>
      <p:sp>
        <p:nvSpPr>
          <p:cNvPr id="24" name="Text 22"/>
          <p:cNvSpPr/>
          <p:nvPr/>
        </p:nvSpPr>
        <p:spPr>
          <a:xfrm>
            <a:off x="6456680" y="3309615"/>
            <a:ext cx="1003300" cy="43688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F6B72"/>
                </a:solidFill>
                <a:latin typeface="IBM Plex Mono" pitchFamily="34" charset="0"/>
                <a:ea typeface="IBM Plex Mono" pitchFamily="34" charset="-122"/>
                <a:cs typeface="IBM Plex Mono" pitchFamily="34" charset="-120"/>
              </a:rPr>
              <a:t>NEED</a:t>
            </a:r>
            <a:endParaRPr lang="en-US" sz="1200" dirty="0"/>
          </a:p>
        </p:txBody>
      </p:sp>
      <p:sp>
        <p:nvSpPr>
          <p:cNvPr id="25" name="Text 23"/>
          <p:cNvSpPr/>
          <p:nvPr/>
        </p:nvSpPr>
        <p:spPr>
          <a:xfrm>
            <a:off x="7510780" y="3309615"/>
            <a:ext cx="3743782" cy="43688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16222C"/>
                </a:solidFill>
                <a:latin typeface="IBM Plex Sans" pitchFamily="34" charset="0"/>
                <a:ea typeface="IBM Plex Sans" pitchFamily="34" charset="-122"/>
                <a:cs typeface="IBM Plex Sans" pitchFamily="34" charset="-120"/>
              </a:rPr>
              <a:t>A trusted route and ETA request, a downstream check, controlled recovery.</a:t>
            </a:r>
            <a:endParaRPr lang="en-US" sz="1200" dirty="0"/>
          </a:p>
        </p:txBody>
      </p:sp>
      <p:sp>
        <p:nvSpPr>
          <p:cNvPr id="26" name="Text 24"/>
          <p:cNvSpPr/>
          <p:nvPr/>
        </p:nvSpPr>
        <p:spPr>
          <a:xfrm>
            <a:off x="6456680" y="3848100"/>
            <a:ext cx="100330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F6B72"/>
                </a:solidFill>
                <a:latin typeface="IBM Plex Mono" pitchFamily="34" charset="0"/>
                <a:ea typeface="IBM Plex Mono" pitchFamily="34" charset="-122"/>
                <a:cs typeface="IBM Plex Mono" pitchFamily="34" charset="-120"/>
              </a:rPr>
              <a:t>FEAR</a:t>
            </a:r>
            <a:endParaRPr lang="en-US" sz="1200" dirty="0"/>
          </a:p>
        </p:txBody>
      </p:sp>
      <p:sp>
        <p:nvSpPr>
          <p:cNvPr id="27" name="Text 25"/>
          <p:cNvSpPr/>
          <p:nvPr/>
        </p:nvSpPr>
        <p:spPr>
          <a:xfrm>
            <a:off x="7510780" y="3848100"/>
            <a:ext cx="3743782" cy="23876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16222C"/>
                </a:solidFill>
                <a:latin typeface="IBM Plex Sans" pitchFamily="34" charset="0"/>
                <a:ea typeface="IBM Plex Sans" pitchFamily="34" charset="-122"/>
                <a:cs typeface="IBM Plex Sans" pitchFamily="34" charset="-120"/>
              </a:rPr>
              <a:t>A green light into a full link only moves the queue.</a:t>
            </a:r>
            <a:endParaRPr lang="en-US" sz="1200" dirty="0"/>
          </a:p>
        </p:txBody>
      </p:sp>
      <p:sp>
        <p:nvSpPr>
          <p:cNvPr id="28" name="Text 26"/>
          <p:cNvSpPr/>
          <p:nvPr/>
        </p:nvSpPr>
        <p:spPr>
          <a:xfrm>
            <a:off x="6456680" y="4188470"/>
            <a:ext cx="1003300" cy="43688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F6B72"/>
                </a:solidFill>
                <a:latin typeface="IBM Plex Mono" pitchFamily="34" charset="0"/>
                <a:ea typeface="IBM Plex Mono" pitchFamily="34" charset="-122"/>
                <a:cs typeface="IBM Plex Mono" pitchFamily="34" charset="-120"/>
              </a:rPr>
              <a:t>REJECTS</a:t>
            </a:r>
            <a:endParaRPr lang="en-US" sz="1200" dirty="0"/>
          </a:p>
        </p:txBody>
      </p:sp>
      <p:sp>
        <p:nvSpPr>
          <p:cNvPr id="29" name="Text 27"/>
          <p:cNvSpPr/>
          <p:nvPr/>
        </p:nvSpPr>
        <p:spPr>
          <a:xfrm>
            <a:off x="7510780" y="4188470"/>
            <a:ext cx="3743782" cy="43688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16222C"/>
                </a:solidFill>
                <a:latin typeface="IBM Plex Sans" pitchFamily="34" charset="0"/>
                <a:ea typeface="IBM Plex Sans" pitchFamily="34" charset="-122"/>
                <a:cs typeface="IBM Plex Sans" pitchFamily="34" charset="-120"/>
              </a:rPr>
              <a:t>Cutting an occupied crossing; seconds turned into casualties.</a:t>
            </a:r>
            <a:endParaRPr lang="en-US" sz="1200" dirty="0"/>
          </a:p>
        </p:txBody>
      </p:sp>
      <p:sp>
        <p:nvSpPr>
          <p:cNvPr id="30" name="Text 28"/>
          <p:cNvSpPr/>
          <p:nvPr/>
        </p:nvSpPr>
        <p:spPr>
          <a:xfrm>
            <a:off x="6456680" y="4726955"/>
            <a:ext cx="1003300" cy="43688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F6B72"/>
                </a:solidFill>
                <a:latin typeface="IBM Plex Mono" pitchFamily="34" charset="0"/>
                <a:ea typeface="IBM Plex Mono" pitchFamily="34" charset="-122"/>
                <a:cs typeface="IBM Plex Mono" pitchFamily="34" charset="-120"/>
              </a:rPr>
              <a:t>MEASURE</a:t>
            </a:r>
            <a:endParaRPr lang="en-US" sz="1200" dirty="0"/>
          </a:p>
        </p:txBody>
      </p:sp>
      <p:sp>
        <p:nvSpPr>
          <p:cNvPr id="31" name="Text 29"/>
          <p:cNvSpPr/>
          <p:nvPr/>
        </p:nvSpPr>
        <p:spPr>
          <a:xfrm>
            <a:off x="7510780" y="4726955"/>
            <a:ext cx="3743782" cy="43688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16222C"/>
                </a:solidFill>
                <a:latin typeface="IBM Plex Sans" pitchFamily="34" charset="0"/>
                <a:ea typeface="IBM Plex Sans" pitchFamily="34" charset="-122"/>
                <a:cs typeface="IBM Plex Sans" pitchFamily="34" charset="-120"/>
              </a:rPr>
              <a:t>Emergency time · civilian delay · downstream rejection · recovery.</a:t>
            </a:r>
            <a:endParaRPr lang="en-US" sz="1200" dirty="0"/>
          </a:p>
        </p:txBody>
      </p:sp>
      <p:sp>
        <p:nvSpPr>
          <p:cNvPr id="32" name="Text 30"/>
          <p:cNvSpPr/>
          <p:nvPr/>
        </p:nvSpPr>
        <p:spPr>
          <a:xfrm>
            <a:off x="812800" y="6238255"/>
            <a:ext cx="4216906"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B73"/>
                </a:solidFill>
                <a:latin typeface="IBM Plex Sans" pitchFamily="34" charset="0"/>
                <a:ea typeface="IBM Plex Sans" pitchFamily="34" charset="-122"/>
                <a:cs typeface="IBM Plex Sans" pitchFamily="34" charset="-120"/>
              </a:rPr>
              <a:t>Design readings, not interviews. We did not ride with a crew.</a:t>
            </a:r>
            <a:endParaRPr lang="en-US" sz="1200" dirty="0"/>
          </a:p>
        </p:txBody>
      </p:sp>
      <p:sp>
        <p:nvSpPr>
          <p:cNvPr id="33" name="Text 31"/>
          <p:cNvSpPr/>
          <p:nvPr/>
        </p:nvSpPr>
        <p:spPr>
          <a:xfrm>
            <a:off x="11196320" y="6238255"/>
            <a:ext cx="23368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B73"/>
                </a:solidFill>
                <a:latin typeface="IBM Plex Sans" pitchFamily="34" charset="0"/>
                <a:ea typeface="IBM Plex Sans" pitchFamily="34" charset="-122"/>
                <a:cs typeface="IBM Plex Sans" pitchFamily="34" charset="-120"/>
              </a:rPr>
              <a:t>12</a:t>
            </a:r>
            <a:endParaRPr lang="en-US" sz="120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bg>
      <p:bgPr>
        <a:solidFill>
          <a:srgbClr val="F4F1EA"/>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1F6B72"/>
                </a:solidFill>
                <a:latin typeface="IBM Plex Mono" pitchFamily="34" charset="0"/>
                <a:ea typeface="IBM Plex Mono" pitchFamily="34" charset="-122"/>
                <a:cs typeface="IBM Plex Mono" pitchFamily="34" charset="-120"/>
              </a:rPr>
              <a:t>EMPATHIZE · PERSONAS 5–6 OF 6</a:t>
            </a:r>
            <a:endParaRPr lang="en-US" sz="1200" dirty="0"/>
          </a:p>
        </p:txBody>
      </p:sp>
      <p:sp>
        <p:nvSpPr>
          <p:cNvPr id="3" name="Text 1"/>
          <p:cNvSpPr/>
          <p:nvPr/>
        </p:nvSpPr>
        <p:spPr>
          <a:xfrm>
            <a:off x="812800" y="1127770"/>
            <a:ext cx="10883392" cy="472440"/>
          </a:xfrm>
          <a:prstGeom prst="rect">
            <a:avLst/>
          </a:prstGeom>
          <a:noFill/>
          <a:ln/>
        </p:spPr>
        <p:txBody>
          <a:bodyPr wrap="square" lIns="0" tIns="0" rIns="0" bIns="0" rtlCol="0" anchor="t">
            <a:normAutofit/>
          </a:bodyPr>
          <a:lstStyle/>
          <a:p>
            <a:pPr algn="l" indent="0" marL="0">
              <a:lnSpc>
                <a:spcPts val="3520"/>
              </a:lnSpc>
              <a:buNone/>
            </a:pPr>
            <a:r>
              <a:rPr lang="en-US" sz="3200" b="1" dirty="0">
                <a:solidFill>
                  <a:srgbClr val="16222C"/>
                </a:solidFill>
                <a:latin typeface="Space Grotesk" pitchFamily="34" charset="0"/>
                <a:ea typeface="Space Grotesk" pitchFamily="34" charset="-122"/>
                <a:cs typeface="Space Grotesk" pitchFamily="34" charset="-120"/>
              </a:rPr>
              <a:t>Rosa and Omar: the people behind the record</a:t>
            </a:r>
            <a:endParaRPr lang="en-US" sz="3200" dirty="0"/>
          </a:p>
        </p:txBody>
      </p:sp>
      <p:sp>
        <p:nvSpPr>
          <p:cNvPr id="4" name="Shape 2"/>
          <p:cNvSpPr/>
          <p:nvPr/>
        </p:nvSpPr>
        <p:spPr>
          <a:xfrm>
            <a:off x="815975" y="1831975"/>
            <a:ext cx="5149850" cy="3735070"/>
          </a:xfrm>
          <a:prstGeom prst="roundRect">
            <a:avLst>
              <a:gd name="adj" fmla="val 2635"/>
            </a:avLst>
          </a:prstGeom>
          <a:solidFill>
            <a:srgbClr val="FBFAF6"/>
          </a:solidFill>
          <a:ln w="6350">
            <a:solidFill>
              <a:srgbClr val="DDD8CC"/>
            </a:solidFill>
            <a:prstDash val="solid"/>
          </a:ln>
        </p:spPr>
      </p:sp>
      <p:sp>
        <p:nvSpPr>
          <p:cNvPr id="5" name="Shape 3"/>
          <p:cNvSpPr/>
          <p:nvPr/>
        </p:nvSpPr>
        <p:spPr>
          <a:xfrm>
            <a:off x="1046480" y="2090415"/>
            <a:ext cx="457200" cy="457200"/>
          </a:xfrm>
          <a:prstGeom prst="roundRect">
            <a:avLst>
              <a:gd name="adj" fmla="val 50000"/>
            </a:avLst>
          </a:prstGeom>
          <a:solidFill>
            <a:srgbClr val="3D5566"/>
          </a:solidFill>
          <a:ln/>
        </p:spPr>
      </p:sp>
      <p:sp>
        <p:nvSpPr>
          <p:cNvPr id="6" name="Text 4"/>
          <p:cNvSpPr/>
          <p:nvPr/>
        </p:nvSpPr>
        <p:spPr>
          <a:xfrm>
            <a:off x="1202769" y="2159000"/>
            <a:ext cx="195342" cy="345440"/>
          </a:xfrm>
          <a:prstGeom prst="rect">
            <a:avLst/>
          </a:prstGeom>
          <a:noFill/>
          <a:ln/>
        </p:spPr>
        <p:txBody>
          <a:bodyPr wrap="square" lIns="0" tIns="0" rIns="0" bIns="0" rtlCol="0" anchor="t">
            <a:normAutofit/>
          </a:bodyPr>
          <a:lstStyle/>
          <a:p>
            <a:pPr algn="l" indent="0" marL="0">
              <a:lnSpc>
                <a:spcPts val="2520"/>
              </a:lnSpc>
              <a:buNone/>
            </a:pPr>
            <a:r>
              <a:rPr lang="en-US" sz="1800" b="1" dirty="0">
                <a:solidFill>
                  <a:srgbClr val="F4F1EA"/>
                </a:solidFill>
                <a:latin typeface="Space Grotesk" pitchFamily="34" charset="0"/>
                <a:ea typeface="Space Grotesk" pitchFamily="34" charset="-122"/>
                <a:cs typeface="Space Grotesk" pitchFamily="34" charset="-120"/>
              </a:rPr>
              <a:t>R</a:t>
            </a:r>
            <a:endParaRPr lang="en-US" sz="1800" dirty="0"/>
          </a:p>
        </p:txBody>
      </p:sp>
      <p:sp>
        <p:nvSpPr>
          <p:cNvPr id="7" name="Text 5"/>
          <p:cNvSpPr/>
          <p:nvPr/>
        </p:nvSpPr>
        <p:spPr>
          <a:xfrm>
            <a:off x="1656080" y="2062485"/>
            <a:ext cx="3340560" cy="299720"/>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6222C"/>
                </a:solidFill>
                <a:latin typeface="Space Grotesk" pitchFamily="34" charset="0"/>
                <a:ea typeface="Space Grotesk" pitchFamily="34" charset="-122"/>
                <a:cs typeface="Space Grotesk" pitchFamily="34" charset="-120"/>
              </a:rPr>
              <a:t>Rosa, 52</a:t>
            </a:r>
            <a:endParaRPr lang="en-US" sz="1800" dirty="0"/>
          </a:p>
        </p:txBody>
      </p:sp>
      <p:sp>
        <p:nvSpPr>
          <p:cNvPr id="8" name="Text 6"/>
          <p:cNvSpPr/>
          <p:nvPr/>
        </p:nvSpPr>
        <p:spPr>
          <a:xfrm>
            <a:off x="1656080" y="2362200"/>
            <a:ext cx="334056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B73"/>
                </a:solidFill>
                <a:latin typeface="IBM Plex Sans" pitchFamily="34" charset="0"/>
                <a:ea typeface="IBM Plex Sans" pitchFamily="34" charset="-122"/>
                <a:cs typeface="IBM Plex Sans" pitchFamily="34" charset="-120"/>
              </a:rPr>
              <a:t>Incident-report reader · never changes the light</a:t>
            </a:r>
            <a:endParaRPr lang="en-US" sz="1200" dirty="0"/>
          </a:p>
        </p:txBody>
      </p:sp>
      <p:sp>
        <p:nvSpPr>
          <p:cNvPr id="9" name="Text 7"/>
          <p:cNvSpPr/>
          <p:nvPr/>
        </p:nvSpPr>
        <p:spPr>
          <a:xfrm>
            <a:off x="1046480" y="2702570"/>
            <a:ext cx="4829505" cy="505460"/>
          </a:xfrm>
          <a:prstGeom prst="rect">
            <a:avLst/>
          </a:prstGeom>
          <a:noFill/>
          <a:ln/>
        </p:spPr>
        <p:txBody>
          <a:bodyPr wrap="square" lIns="0" tIns="0" rIns="0" bIns="0" rtlCol="0" anchor="t">
            <a:normAutofit/>
          </a:bodyPr>
          <a:lstStyle/>
          <a:p>
            <a:pPr algn="l" indent="0" marL="0">
              <a:lnSpc>
                <a:spcPts val="1890"/>
              </a:lnSpc>
              <a:buNone/>
            </a:pPr>
            <a:r>
              <a:rPr lang="en-US" sz="1400" i="1" dirty="0">
                <a:solidFill>
                  <a:srgbClr val="16222C"/>
                </a:solidFill>
                <a:latin typeface="IBM Plex Sans" pitchFamily="34" charset="0"/>
                <a:ea typeface="IBM Plex Sans" pitchFamily="34" charset="-122"/>
                <a:cs typeface="IBM Plex Sans" pitchFamily="34" charset="-120"/>
              </a:rPr>
              <a:t>“Show me why priority was granted or denied, and let me respond safely.”</a:t>
            </a:r>
            <a:endParaRPr lang="en-US" sz="1400" dirty="0"/>
          </a:p>
        </p:txBody>
      </p:sp>
      <p:sp>
        <p:nvSpPr>
          <p:cNvPr id="10" name="Text 8"/>
          <p:cNvSpPr/>
          <p:nvPr/>
        </p:nvSpPr>
        <p:spPr>
          <a:xfrm>
            <a:off x="1046480" y="3309615"/>
            <a:ext cx="1003300" cy="43688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F6B72"/>
                </a:solidFill>
                <a:latin typeface="IBM Plex Mono" pitchFamily="34" charset="0"/>
                <a:ea typeface="IBM Plex Mono" pitchFamily="34" charset="-122"/>
                <a:cs typeface="IBM Plex Mono" pitchFamily="34" charset="-120"/>
              </a:rPr>
              <a:t>NEED</a:t>
            </a:r>
            <a:endParaRPr lang="en-US" sz="1200" dirty="0"/>
          </a:p>
        </p:txBody>
      </p:sp>
      <p:sp>
        <p:nvSpPr>
          <p:cNvPr id="11" name="Text 9"/>
          <p:cNvSpPr/>
          <p:nvPr/>
        </p:nvSpPr>
        <p:spPr>
          <a:xfrm>
            <a:off x="2100580" y="3309615"/>
            <a:ext cx="3743782" cy="43688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16222C"/>
                </a:solidFill>
                <a:latin typeface="IBM Plex Sans" pitchFamily="34" charset="0"/>
                <a:ea typeface="IBM Plex Sans" pitchFamily="34" charset="-122"/>
                <a:cs typeface="IBM Plex Sans" pitchFamily="34" charset="-120"/>
              </a:rPr>
              <a:t>Positions, headways, confidence, reason codes, a joined audit trail.</a:t>
            </a:r>
            <a:endParaRPr lang="en-US" sz="1200" dirty="0"/>
          </a:p>
        </p:txBody>
      </p:sp>
      <p:sp>
        <p:nvSpPr>
          <p:cNvPr id="12" name="Text 10"/>
          <p:cNvSpPr/>
          <p:nvPr/>
        </p:nvSpPr>
        <p:spPr>
          <a:xfrm>
            <a:off x="1046480" y="3848100"/>
            <a:ext cx="100330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F6B72"/>
                </a:solidFill>
                <a:latin typeface="IBM Plex Mono" pitchFamily="34" charset="0"/>
                <a:ea typeface="IBM Plex Mono" pitchFamily="34" charset="-122"/>
                <a:cs typeface="IBM Plex Mono" pitchFamily="34" charset="-120"/>
              </a:rPr>
              <a:t>FEAR</a:t>
            </a:r>
            <a:endParaRPr lang="en-US" sz="1200" dirty="0"/>
          </a:p>
        </p:txBody>
      </p:sp>
      <p:sp>
        <p:nvSpPr>
          <p:cNvPr id="13" name="Text 11"/>
          <p:cNvSpPr/>
          <p:nvPr/>
        </p:nvSpPr>
        <p:spPr>
          <a:xfrm>
            <a:off x="2100580" y="3848100"/>
            <a:ext cx="3743782" cy="23876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16222C"/>
                </a:solidFill>
                <a:latin typeface="IBM Plex Sans" pitchFamily="34" charset="0"/>
                <a:ea typeface="IBM Plex Sans" pitchFamily="34" charset="-122"/>
                <a:cs typeface="IBM Plex Sans" pitchFamily="34" charset="-120"/>
              </a:rPr>
              <a:t>A black box refuses priority and leaves no history.</a:t>
            </a:r>
            <a:endParaRPr lang="en-US" sz="1200" dirty="0"/>
          </a:p>
        </p:txBody>
      </p:sp>
      <p:sp>
        <p:nvSpPr>
          <p:cNvPr id="14" name="Text 12"/>
          <p:cNvSpPr/>
          <p:nvPr/>
        </p:nvSpPr>
        <p:spPr>
          <a:xfrm>
            <a:off x="1046480" y="4188470"/>
            <a:ext cx="1003300" cy="43688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F6B72"/>
                </a:solidFill>
                <a:latin typeface="IBM Plex Mono" pitchFamily="34" charset="0"/>
                <a:ea typeface="IBM Plex Mono" pitchFamily="34" charset="-122"/>
                <a:cs typeface="IBM Plex Mono" pitchFamily="34" charset="-120"/>
              </a:rPr>
              <a:t>REJECTS</a:t>
            </a:r>
            <a:endParaRPr lang="en-US" sz="1200" dirty="0"/>
          </a:p>
        </p:txBody>
      </p:sp>
      <p:sp>
        <p:nvSpPr>
          <p:cNvPr id="15" name="Text 13"/>
          <p:cNvSpPr/>
          <p:nvPr/>
        </p:nvSpPr>
        <p:spPr>
          <a:xfrm>
            <a:off x="2100580" y="4188470"/>
            <a:ext cx="3743782" cy="43688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16222C"/>
                </a:solidFill>
                <a:latin typeface="IBM Plex Sans" pitchFamily="34" charset="0"/>
                <a:ea typeface="IBM Plex Sans" pitchFamily="34" charset="-122"/>
                <a:cs typeface="IBM Plex Sans" pitchFamily="34" charset="-120"/>
              </a:rPr>
              <a:t>Unsupported predictions; overrides outside the safety mask.</a:t>
            </a:r>
            <a:endParaRPr lang="en-US" sz="1200" dirty="0"/>
          </a:p>
        </p:txBody>
      </p:sp>
      <p:sp>
        <p:nvSpPr>
          <p:cNvPr id="16" name="Text 14"/>
          <p:cNvSpPr/>
          <p:nvPr/>
        </p:nvSpPr>
        <p:spPr>
          <a:xfrm>
            <a:off x="1046480" y="4726955"/>
            <a:ext cx="1003300" cy="43688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F6B72"/>
                </a:solidFill>
                <a:latin typeface="IBM Plex Mono" pitchFamily="34" charset="0"/>
                <a:ea typeface="IBM Plex Mono" pitchFamily="34" charset="-122"/>
                <a:cs typeface="IBM Plex Mono" pitchFamily="34" charset="-120"/>
              </a:rPr>
              <a:t>MEASURE</a:t>
            </a:r>
            <a:endParaRPr lang="en-US" sz="1200" dirty="0"/>
          </a:p>
        </p:txBody>
      </p:sp>
      <p:sp>
        <p:nvSpPr>
          <p:cNvPr id="17" name="Text 15"/>
          <p:cNvSpPr/>
          <p:nvPr/>
        </p:nvSpPr>
        <p:spPr>
          <a:xfrm>
            <a:off x="2100580" y="4726955"/>
            <a:ext cx="3743782" cy="43688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16222C"/>
                </a:solidFill>
                <a:latin typeface="IBM Plex Sans" pitchFamily="34" charset="0"/>
                <a:ea typeface="IBM Plex Sans" pitchFamily="34" charset="-122"/>
                <a:cs typeface="IBM Plex Sans" pitchFamily="34" charset="-120"/>
              </a:rPr>
              <a:t>Reason-code coverage · one explained yes and one explained no.</a:t>
            </a:r>
            <a:endParaRPr lang="en-US" sz="1200" dirty="0"/>
          </a:p>
        </p:txBody>
      </p:sp>
      <p:sp>
        <p:nvSpPr>
          <p:cNvPr id="18" name="Shape 16"/>
          <p:cNvSpPr/>
          <p:nvPr/>
        </p:nvSpPr>
        <p:spPr>
          <a:xfrm>
            <a:off x="6226175" y="1831975"/>
            <a:ext cx="5149850" cy="3735070"/>
          </a:xfrm>
          <a:prstGeom prst="roundRect">
            <a:avLst>
              <a:gd name="adj" fmla="val 2635"/>
            </a:avLst>
          </a:prstGeom>
          <a:solidFill>
            <a:srgbClr val="FBFAF6"/>
          </a:solidFill>
          <a:ln w="6350">
            <a:solidFill>
              <a:srgbClr val="DDD8CC"/>
            </a:solidFill>
            <a:prstDash val="solid"/>
          </a:ln>
        </p:spPr>
      </p:sp>
      <p:sp>
        <p:nvSpPr>
          <p:cNvPr id="19" name="Shape 17"/>
          <p:cNvSpPr/>
          <p:nvPr/>
        </p:nvSpPr>
        <p:spPr>
          <a:xfrm>
            <a:off x="6456680" y="2090415"/>
            <a:ext cx="457200" cy="457200"/>
          </a:xfrm>
          <a:prstGeom prst="roundRect">
            <a:avLst>
              <a:gd name="adj" fmla="val 50000"/>
            </a:avLst>
          </a:prstGeom>
          <a:solidFill>
            <a:srgbClr val="3D5566"/>
          </a:solidFill>
          <a:ln/>
        </p:spPr>
      </p:sp>
      <p:sp>
        <p:nvSpPr>
          <p:cNvPr id="20" name="Text 18"/>
          <p:cNvSpPr/>
          <p:nvPr/>
        </p:nvSpPr>
        <p:spPr>
          <a:xfrm>
            <a:off x="6607969" y="2159000"/>
            <a:ext cx="205343" cy="345440"/>
          </a:xfrm>
          <a:prstGeom prst="rect">
            <a:avLst/>
          </a:prstGeom>
          <a:noFill/>
          <a:ln/>
        </p:spPr>
        <p:txBody>
          <a:bodyPr wrap="square" lIns="0" tIns="0" rIns="0" bIns="0" rtlCol="0" anchor="t">
            <a:normAutofit/>
          </a:bodyPr>
          <a:lstStyle/>
          <a:p>
            <a:pPr algn="l" indent="0" marL="0">
              <a:lnSpc>
                <a:spcPts val="2520"/>
              </a:lnSpc>
              <a:buNone/>
            </a:pPr>
            <a:r>
              <a:rPr lang="en-US" sz="1800" b="1" dirty="0">
                <a:solidFill>
                  <a:srgbClr val="F4F1EA"/>
                </a:solidFill>
                <a:latin typeface="Space Grotesk" pitchFamily="34" charset="0"/>
                <a:ea typeface="Space Grotesk" pitchFamily="34" charset="-122"/>
                <a:cs typeface="Space Grotesk" pitchFamily="34" charset="-120"/>
              </a:rPr>
              <a:t>O</a:t>
            </a:r>
            <a:endParaRPr lang="en-US" sz="1800" dirty="0"/>
          </a:p>
        </p:txBody>
      </p:sp>
      <p:sp>
        <p:nvSpPr>
          <p:cNvPr id="21" name="Text 19"/>
          <p:cNvSpPr/>
          <p:nvPr/>
        </p:nvSpPr>
        <p:spPr>
          <a:xfrm>
            <a:off x="7066280" y="2062485"/>
            <a:ext cx="1445578" cy="299720"/>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6222C"/>
                </a:solidFill>
                <a:latin typeface="Space Grotesk" pitchFamily="34" charset="0"/>
                <a:ea typeface="Space Grotesk" pitchFamily="34" charset="-122"/>
                <a:cs typeface="Space Grotesk" pitchFamily="34" charset="-120"/>
              </a:rPr>
              <a:t>Omar, 55</a:t>
            </a:r>
            <a:endParaRPr lang="en-US" sz="1800" dirty="0"/>
          </a:p>
        </p:txBody>
      </p:sp>
      <p:sp>
        <p:nvSpPr>
          <p:cNvPr id="22" name="Text 20"/>
          <p:cNvSpPr/>
          <p:nvPr/>
        </p:nvSpPr>
        <p:spPr>
          <a:xfrm>
            <a:off x="7066280" y="2362200"/>
            <a:ext cx="1445578"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B73"/>
                </a:solidFill>
                <a:latin typeface="IBM Plex Sans" pitchFamily="34" charset="0"/>
                <a:ea typeface="IBM Plex Sans" pitchFamily="34" charset="-122"/>
                <a:cs typeface="IBM Plex Sans" pitchFamily="34" charset="-120"/>
              </a:rPr>
              <a:t>Network duty officer</a:t>
            </a:r>
            <a:endParaRPr lang="en-US" sz="1200" dirty="0"/>
          </a:p>
        </p:txBody>
      </p:sp>
      <p:sp>
        <p:nvSpPr>
          <p:cNvPr id="23" name="Text 21"/>
          <p:cNvSpPr/>
          <p:nvPr/>
        </p:nvSpPr>
        <p:spPr>
          <a:xfrm>
            <a:off x="6456680" y="2702570"/>
            <a:ext cx="4829505" cy="505460"/>
          </a:xfrm>
          <a:prstGeom prst="rect">
            <a:avLst/>
          </a:prstGeom>
          <a:noFill/>
          <a:ln/>
        </p:spPr>
        <p:txBody>
          <a:bodyPr wrap="square" lIns="0" tIns="0" rIns="0" bIns="0" rtlCol="0" anchor="t">
            <a:normAutofit/>
          </a:bodyPr>
          <a:lstStyle/>
          <a:p>
            <a:pPr algn="l" indent="0" marL="0">
              <a:lnSpc>
                <a:spcPts val="1890"/>
              </a:lnSpc>
              <a:buNone/>
            </a:pPr>
            <a:r>
              <a:rPr lang="en-US" sz="1400" i="1" dirty="0">
                <a:solidFill>
                  <a:srgbClr val="16222C"/>
                </a:solidFill>
                <a:latin typeface="IBM Plex Sans" pitchFamily="34" charset="0"/>
                <a:ea typeface="IBM Plex Sans" pitchFamily="34" charset="-122"/>
                <a:cs typeface="IBM Plex Sans" pitchFamily="34" charset="-120"/>
              </a:rPr>
              <a:t>“Tell me what is wrong, why you think so, and whether I can still trust the data.”</a:t>
            </a:r>
            <a:endParaRPr lang="en-US" sz="1400" dirty="0"/>
          </a:p>
        </p:txBody>
      </p:sp>
      <p:sp>
        <p:nvSpPr>
          <p:cNvPr id="24" name="Text 22"/>
          <p:cNvSpPr/>
          <p:nvPr/>
        </p:nvSpPr>
        <p:spPr>
          <a:xfrm>
            <a:off x="6456680" y="3309615"/>
            <a:ext cx="1003300" cy="43688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F6B72"/>
                </a:solidFill>
                <a:latin typeface="IBM Plex Mono" pitchFamily="34" charset="0"/>
                <a:ea typeface="IBM Plex Mono" pitchFamily="34" charset="-122"/>
                <a:cs typeface="IBM Plex Mono" pitchFamily="34" charset="-120"/>
              </a:rPr>
              <a:t>NEED</a:t>
            </a:r>
            <a:endParaRPr lang="en-US" sz="1200" dirty="0"/>
          </a:p>
        </p:txBody>
      </p:sp>
      <p:sp>
        <p:nvSpPr>
          <p:cNvPr id="25" name="Text 23"/>
          <p:cNvSpPr/>
          <p:nvPr/>
        </p:nvSpPr>
        <p:spPr>
          <a:xfrm>
            <a:off x="7510780" y="3309615"/>
            <a:ext cx="3743782" cy="43688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16222C"/>
                </a:solidFill>
                <a:latin typeface="IBM Plex Sans" pitchFamily="34" charset="0"/>
                <a:ea typeface="IBM Plex Sans" pitchFamily="34" charset="-122"/>
                <a:cs typeface="IBM Plex Sans" pitchFamily="34" charset="-120"/>
              </a:rPr>
              <a:t>Severity, observations, uncertainty, freshness, a data-health warning.</a:t>
            </a:r>
            <a:endParaRPr lang="en-US" sz="1200" dirty="0"/>
          </a:p>
        </p:txBody>
      </p:sp>
      <p:sp>
        <p:nvSpPr>
          <p:cNvPr id="26" name="Text 24"/>
          <p:cNvSpPr/>
          <p:nvPr/>
        </p:nvSpPr>
        <p:spPr>
          <a:xfrm>
            <a:off x="6456680" y="3848100"/>
            <a:ext cx="1003300" cy="43688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F6B72"/>
                </a:solidFill>
                <a:latin typeface="IBM Plex Mono" pitchFamily="34" charset="0"/>
                <a:ea typeface="IBM Plex Mono" pitchFamily="34" charset="-122"/>
                <a:cs typeface="IBM Plex Mono" pitchFamily="34" charset="-120"/>
              </a:rPr>
              <a:t>FEAR</a:t>
            </a:r>
            <a:endParaRPr lang="en-US" sz="1200" dirty="0"/>
          </a:p>
        </p:txBody>
      </p:sp>
      <p:sp>
        <p:nvSpPr>
          <p:cNvPr id="27" name="Text 25"/>
          <p:cNvSpPr/>
          <p:nvPr/>
        </p:nvSpPr>
        <p:spPr>
          <a:xfrm>
            <a:off x="7510780" y="3848100"/>
            <a:ext cx="3743782" cy="43688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16222C"/>
                </a:solidFill>
                <a:latin typeface="IBM Plex Sans" pitchFamily="34" charset="0"/>
                <a:ea typeface="IBM Plex Sans" pitchFamily="34" charset="-122"/>
                <a:cs typeface="IBM Plex Sans" pitchFamily="34" charset="-120"/>
              </a:rPr>
              <a:t>False alarms, or a frozen screen hiding the real condition.</a:t>
            </a:r>
            <a:endParaRPr lang="en-US" sz="1200" dirty="0"/>
          </a:p>
        </p:txBody>
      </p:sp>
      <p:sp>
        <p:nvSpPr>
          <p:cNvPr id="28" name="Text 26"/>
          <p:cNvSpPr/>
          <p:nvPr/>
        </p:nvSpPr>
        <p:spPr>
          <a:xfrm>
            <a:off x="6456680" y="4386585"/>
            <a:ext cx="1003300" cy="43688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F6B72"/>
                </a:solidFill>
                <a:latin typeface="IBM Plex Mono" pitchFamily="34" charset="0"/>
                <a:ea typeface="IBM Plex Mono" pitchFamily="34" charset="-122"/>
                <a:cs typeface="IBM Plex Mono" pitchFamily="34" charset="-120"/>
              </a:rPr>
              <a:t>REJECTS</a:t>
            </a:r>
            <a:endParaRPr lang="en-US" sz="1200" dirty="0"/>
          </a:p>
        </p:txBody>
      </p:sp>
      <p:sp>
        <p:nvSpPr>
          <p:cNvPr id="29" name="Text 27"/>
          <p:cNvSpPr/>
          <p:nvPr/>
        </p:nvSpPr>
        <p:spPr>
          <a:xfrm>
            <a:off x="7510780" y="4386585"/>
            <a:ext cx="3743782" cy="43688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16222C"/>
                </a:solidFill>
                <a:latin typeface="IBM Plex Sans" pitchFamily="34" charset="0"/>
                <a:ea typeface="IBM Plex Sans" pitchFamily="34" charset="-122"/>
                <a:cs typeface="IBM Plex Sans" pitchFamily="34" charset="-120"/>
              </a:rPr>
              <a:t>Alerts without evidence; an anomaly presented as a cause.</a:t>
            </a:r>
            <a:endParaRPr lang="en-US" sz="1200" dirty="0"/>
          </a:p>
        </p:txBody>
      </p:sp>
      <p:sp>
        <p:nvSpPr>
          <p:cNvPr id="30" name="Text 28"/>
          <p:cNvSpPr/>
          <p:nvPr/>
        </p:nvSpPr>
        <p:spPr>
          <a:xfrm>
            <a:off x="6456680" y="4925070"/>
            <a:ext cx="1003300" cy="43688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F6B72"/>
                </a:solidFill>
                <a:latin typeface="IBM Plex Mono" pitchFamily="34" charset="0"/>
                <a:ea typeface="IBM Plex Mono" pitchFamily="34" charset="-122"/>
                <a:cs typeface="IBM Plex Mono" pitchFamily="34" charset="-120"/>
              </a:rPr>
              <a:t>MEASURE</a:t>
            </a:r>
            <a:endParaRPr lang="en-US" sz="1200" dirty="0"/>
          </a:p>
        </p:txBody>
      </p:sp>
      <p:sp>
        <p:nvSpPr>
          <p:cNvPr id="31" name="Text 29"/>
          <p:cNvSpPr/>
          <p:nvPr/>
        </p:nvSpPr>
        <p:spPr>
          <a:xfrm>
            <a:off x="7510780" y="4925070"/>
            <a:ext cx="3743782" cy="43688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16222C"/>
                </a:solidFill>
                <a:latin typeface="IBM Plex Sans" pitchFamily="34" charset="0"/>
                <a:ea typeface="IBM Plex Sans" pitchFamily="34" charset="-122"/>
                <a:cs typeface="IBM Plex Sans" pitchFamily="34" charset="-120"/>
              </a:rPr>
              <a:t>Detection delay · false alarms · misses · stale data · recovery.</a:t>
            </a:r>
            <a:endParaRPr lang="en-US" sz="1200" dirty="0"/>
          </a:p>
        </p:txBody>
      </p:sp>
      <p:sp>
        <p:nvSpPr>
          <p:cNvPr id="32" name="Text 30"/>
          <p:cNvSpPr/>
          <p:nvPr/>
        </p:nvSpPr>
        <p:spPr>
          <a:xfrm>
            <a:off x="812800" y="6238255"/>
            <a:ext cx="6248467"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B73"/>
                </a:solidFill>
                <a:latin typeface="IBM Plex Sans" pitchFamily="34" charset="0"/>
                <a:ea typeface="IBM Plex Sans" pitchFamily="34" charset="-122"/>
                <a:cs typeface="IBM Plex Sans" pitchFamily="34" charset="-120"/>
              </a:rPr>
              <a:t>Design readings, not interviews. SCATS is an analogy, not a Tunis control room we visited.</a:t>
            </a:r>
            <a:endParaRPr lang="en-US" sz="1200" dirty="0"/>
          </a:p>
        </p:txBody>
      </p:sp>
      <p:sp>
        <p:nvSpPr>
          <p:cNvPr id="33" name="Text 31"/>
          <p:cNvSpPr/>
          <p:nvPr/>
        </p:nvSpPr>
        <p:spPr>
          <a:xfrm>
            <a:off x="11196320" y="6238255"/>
            <a:ext cx="23368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B73"/>
                </a:solidFill>
                <a:latin typeface="IBM Plex Sans" pitchFamily="34" charset="0"/>
                <a:ea typeface="IBM Plex Sans" pitchFamily="34" charset="-122"/>
                <a:cs typeface="IBM Plex Sans" pitchFamily="34" charset="-120"/>
              </a:rPr>
              <a:t>13</a:t>
            </a:r>
            <a:endParaRPr lang="en-US" sz="120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bg>
      <p:bgPr>
        <a:solidFill>
          <a:srgbClr val="F4F1EA"/>
        </a:solidFill>
      </p:bgPr>
    </p:bg>
    <p:spTree>
      <p:nvGrpSpPr>
        <p:cNvPr id="1" name=""/>
        <p:cNvGrpSpPr/>
        <p:nvPr/>
      </p:nvGrpSpPr>
      <p:grpSpPr>
        <a:xfrm>
          <a:off x="0" y="0"/>
          <a:ext cx="0" cy="0"/>
          <a:chOff x="0" y="0"/>
          <a:chExt cx="0" cy="0"/>
        </a:xfrm>
      </p:grpSpPr>
      <p:sp>
        <p:nvSpPr>
          <p:cNvPr id="2" name="Text 0"/>
          <p:cNvSpPr/>
          <p:nvPr/>
        </p:nvSpPr>
        <p:spPr>
          <a:xfrm>
            <a:off x="812800" y="812800"/>
            <a:ext cx="10883392" cy="179070"/>
          </a:xfrm>
          <a:prstGeom prst="rect">
            <a:avLst/>
          </a:prstGeom>
          <a:noFill/>
          <a:ln/>
        </p:spPr>
        <p:txBody>
          <a:bodyPr wrap="square" lIns="0" tIns="0" rIns="0" bIns="0" rtlCol="0" anchor="t">
            <a:normAutofit/>
          </a:bodyPr>
          <a:lstStyle/>
          <a:p>
            <a:pPr algn="l" indent="0" marL="0">
              <a:lnSpc>
                <a:spcPts val="1223"/>
              </a:lnSpc>
              <a:buNone/>
            </a:pPr>
            <a:r>
              <a:rPr lang="en-US" sz="874" spc="100" kern="0" dirty="0">
                <a:solidFill>
                  <a:srgbClr val="1F6B72"/>
                </a:solidFill>
                <a:latin typeface="IBM Plex Mono" pitchFamily="34" charset="0"/>
                <a:ea typeface="IBM Plex Mono" pitchFamily="34" charset="-122"/>
                <a:cs typeface="IBM Plex Mono" pitchFamily="34" charset="-120"/>
              </a:rPr>
              <a:t>SELECTED SOLUTION · DATA PROVENANCE</a:t>
            </a:r>
            <a:endParaRPr lang="en-US" sz="874" dirty="0"/>
          </a:p>
        </p:txBody>
      </p:sp>
      <p:sp>
        <p:nvSpPr>
          <p:cNvPr id="3" name="Text 1"/>
          <p:cNvSpPr/>
          <p:nvPr/>
        </p:nvSpPr>
        <p:spPr>
          <a:xfrm>
            <a:off x="812800" y="1068065"/>
            <a:ext cx="10883392" cy="347266"/>
          </a:xfrm>
          <a:prstGeom prst="rect">
            <a:avLst/>
          </a:prstGeom>
          <a:noFill/>
          <a:ln/>
        </p:spPr>
        <p:txBody>
          <a:bodyPr wrap="square" lIns="0" tIns="0" rIns="0" bIns="0" rtlCol="0" anchor="t">
            <a:normAutofit/>
          </a:bodyPr>
          <a:lstStyle/>
          <a:p>
            <a:pPr algn="l" indent="0" marL="0">
              <a:lnSpc>
                <a:spcPts val="2574"/>
              </a:lnSpc>
              <a:buNone/>
            </a:pPr>
            <a:r>
              <a:rPr lang="en-US" sz="2340" b="1" dirty="0">
                <a:solidFill>
                  <a:srgbClr val="16222C"/>
                </a:solidFill>
                <a:latin typeface="Space Grotesk" pitchFamily="34" charset="0"/>
                <a:ea typeface="Space Grotesk" pitchFamily="34" charset="-122"/>
                <a:cs typeface="Space Grotesk" pitchFamily="34" charset="-120"/>
              </a:rPr>
              <a:t>Provenance comes before any map</a:t>
            </a:r>
            <a:endParaRPr lang="en-US" sz="234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22960" y="1654091"/>
          <a:ext cx="10556240" cy="3008868"/>
        </p:xfrm>
        <a:graphic>
          <a:graphicData uri="http://schemas.openxmlformats.org/drawingml/2006/table">
            <a:tbl>
              <a:tblPr/>
              <a:tblGrid>
                <a:gridCol w="3518747"/>
                <a:gridCol w="3518747"/>
                <a:gridCol w="3518747"/>
              </a:tblGrid>
              <a:tr h="426164">
                <a:tc>
                  <a:txBody>
                    <a:bodyPr/>
                    <a:lstStyle/>
                    <a:p>
                      <a:pPr indent="0" marL="0">
                        <a:lnSpc>
                          <a:spcPts val="1778"/>
                        </a:lnSpc>
                        <a:buNone/>
                      </a:pPr>
                      <a:r>
                        <a:rPr lang="en-US" sz="1270" b="1" dirty="0">
                          <a:solidFill>
                            <a:srgbClr val="F4F1EA"/>
                          </a:solidFill>
                          <a:latin typeface="IBM Plex Sans" pitchFamily="34" charset="0"/>
                          <a:ea typeface="IBM Plex Sans" pitchFamily="34" charset="-122"/>
                          <a:cs typeface="IBM Plex Sans" pitchFamily="34" charset="-120"/>
                        </a:rPr>
                        <a:t>Feed</a:t>
                      </a:r>
                      <a:endParaRPr lang="en-US" sz="1270" dirty="0">
                        <a:latin typeface="IBM Plex Sans" charset="0"/>
                        <a:ea typeface="IBM Plex Sans" charset="0"/>
                        <a:cs typeface="IBM Plex Sans" charset="0"/>
                      </a:endParaRPr>
                    </a:p>
                  </a:txBody>
                  <a:tcPr marL="127000" marR="127000" marT="88900" marB="88900" anchor="t">
                    <a:lnL w="12700" cap="flat" cmpd="sng" algn="ctr">
                      <a:solidFill>
                        <a:srgbClr val="C3C0BB"/>
                      </a:solidFill>
                      <a:prstDash val="solid"/>
                      <a:round/>
                      <a:headEnd type="none" w="med" len="med"/>
                      <a:tailEnd type="none" w="med" len="med"/>
                    </a:lnL>
                    <a:lnR w="12700" cap="flat" cmpd="sng" algn="ctr">
                      <a:solidFill>
                        <a:srgbClr val="B5B2AD"/>
                      </a:solidFill>
                      <a:prstDash val="solid"/>
                      <a:round/>
                      <a:headEnd type="none" w="med" len="med"/>
                      <a:tailEnd type="none" w="med" len="med"/>
                    </a:lnR>
                    <a:lnT w="12700" cap="flat" cmpd="sng" algn="ctr">
                      <a:solidFill>
                        <a:srgbClr val="C3C0BB"/>
                      </a:solidFill>
                      <a:prstDash val="solid"/>
                      <a:round/>
                      <a:headEnd type="none" w="med" len="med"/>
                      <a:tailEnd type="none" w="med" len="med"/>
                    </a:lnT>
                    <a:lnB w="12700" cap="flat" cmpd="sng" algn="ctr">
                      <a:solidFill>
                        <a:srgbClr val="B5B2AD"/>
                      </a:solidFill>
                      <a:prstDash val="solid"/>
                      <a:round/>
                      <a:headEnd type="none" w="med" len="med"/>
                      <a:tailEnd type="none" w="med" len="med"/>
                    </a:lnB>
                    <a:solidFill>
                      <a:srgbClr val="E2DFD9"/>
                    </a:solidFill>
                  </a:tcPr>
                </a:tc>
                <a:tc>
                  <a:txBody>
                    <a:bodyPr/>
                    <a:lstStyle/>
                    <a:p>
                      <a:pPr indent="0" marL="0">
                        <a:lnSpc>
                          <a:spcPts val="1778"/>
                        </a:lnSpc>
                        <a:buNone/>
                      </a:pPr>
                      <a:r>
                        <a:rPr lang="en-US" sz="1270" b="1" dirty="0">
                          <a:solidFill>
                            <a:srgbClr val="F4F1EA"/>
                          </a:solidFill>
                          <a:latin typeface="IBM Plex Sans" pitchFamily="34" charset="0"/>
                          <a:ea typeface="IBM Plex Sans" pitchFamily="34" charset="-122"/>
                          <a:cs typeface="IBM Plex Sans" pitchFamily="34" charset="-120"/>
                        </a:rPr>
                        <a:t>Every row must carry</a:t>
                      </a:r>
                      <a:endParaRPr lang="en-US" sz="1270" dirty="0">
                        <a:latin typeface="IBM Plex Sans" charset="0"/>
                        <a:ea typeface="IBM Plex Sans" charset="0"/>
                        <a:cs typeface="IBM Plex Sans" charset="0"/>
                      </a:endParaRPr>
                    </a:p>
                  </a:txBody>
                  <a:tcPr marL="127000" marR="127000" marT="88900" marB="88900" anchor="t">
                    <a:lnL w="12700" cap="flat" cmpd="sng" algn="ctr">
                      <a:solidFill>
                        <a:srgbClr val="B5B2AD"/>
                      </a:solidFill>
                      <a:prstDash val="solid"/>
                      <a:round/>
                      <a:headEnd type="none" w="med" len="med"/>
                      <a:tailEnd type="none" w="med" len="med"/>
                    </a:lnL>
                    <a:lnR w="12700" cap="flat" cmpd="sng" algn="ctr">
                      <a:solidFill>
                        <a:srgbClr val="B5B2AD"/>
                      </a:solidFill>
                      <a:prstDash val="solid"/>
                      <a:round/>
                      <a:headEnd type="none" w="med" len="med"/>
                      <a:tailEnd type="none" w="med" len="med"/>
                    </a:lnR>
                    <a:lnT w="12700" cap="flat" cmpd="sng" algn="ctr">
                      <a:solidFill>
                        <a:srgbClr val="C3C0BB"/>
                      </a:solidFill>
                      <a:prstDash val="solid"/>
                      <a:round/>
                      <a:headEnd type="none" w="med" len="med"/>
                      <a:tailEnd type="none" w="med" len="med"/>
                    </a:lnT>
                    <a:lnB w="12700" cap="flat" cmpd="sng" algn="ctr">
                      <a:solidFill>
                        <a:srgbClr val="B5B2AD"/>
                      </a:solidFill>
                      <a:prstDash val="solid"/>
                      <a:round/>
                      <a:headEnd type="none" w="med" len="med"/>
                      <a:tailEnd type="none" w="med" len="med"/>
                    </a:lnB>
                    <a:solidFill>
                      <a:srgbClr val="E2DFD9"/>
                    </a:solidFill>
                  </a:tcPr>
                </a:tc>
                <a:tc>
                  <a:txBody>
                    <a:bodyPr/>
                    <a:lstStyle/>
                    <a:p>
                      <a:pPr indent="0" marL="0">
                        <a:lnSpc>
                          <a:spcPts val="1778"/>
                        </a:lnSpc>
                        <a:buNone/>
                      </a:pPr>
                      <a:r>
                        <a:rPr lang="en-US" sz="1270" b="1" dirty="0">
                          <a:solidFill>
                            <a:srgbClr val="F4F1EA"/>
                          </a:solidFill>
                          <a:latin typeface="IBM Plex Sans" pitchFamily="34" charset="0"/>
                          <a:ea typeface="IBM Plex Sans" pitchFamily="34" charset="-122"/>
                          <a:cs typeface="IBM Plex Sans" pitchFamily="34" charset="-120"/>
                        </a:rPr>
                        <a:t>If stale or missing</a:t>
                      </a:r>
                      <a:endParaRPr lang="en-US" sz="1270" dirty="0">
                        <a:latin typeface="IBM Plex Sans" charset="0"/>
                        <a:ea typeface="IBM Plex Sans" charset="0"/>
                        <a:cs typeface="IBM Plex Sans" charset="0"/>
                      </a:endParaRPr>
                    </a:p>
                  </a:txBody>
                  <a:tcPr marL="127000" marR="127000" marT="88900" marB="88900" anchor="t">
                    <a:lnL w="12700" cap="flat" cmpd="sng" algn="ctr">
                      <a:solidFill>
                        <a:srgbClr val="B5B2AD"/>
                      </a:solidFill>
                      <a:prstDash val="solid"/>
                      <a:round/>
                      <a:headEnd type="none" w="med" len="med"/>
                      <a:tailEnd type="none" w="med" len="med"/>
                    </a:lnL>
                    <a:lnR w="12700" cap="flat" cmpd="sng" algn="ctr">
                      <a:solidFill>
                        <a:srgbClr val="B5B2AD"/>
                      </a:solidFill>
                      <a:prstDash val="solid"/>
                      <a:round/>
                      <a:headEnd type="none" w="med" len="med"/>
                      <a:tailEnd type="none" w="med" len="med"/>
                    </a:lnR>
                    <a:lnT w="12700" cap="flat" cmpd="sng" algn="ctr">
                      <a:solidFill>
                        <a:srgbClr val="C3C0BB"/>
                      </a:solidFill>
                      <a:prstDash val="solid"/>
                      <a:round/>
                      <a:headEnd type="none" w="med" len="med"/>
                      <a:tailEnd type="none" w="med" len="med"/>
                    </a:lnT>
                    <a:lnB w="12700" cap="flat" cmpd="sng" algn="ctr">
                      <a:solidFill>
                        <a:srgbClr val="B5B2AD"/>
                      </a:solidFill>
                      <a:prstDash val="solid"/>
                      <a:round/>
                      <a:headEnd type="none" w="med" len="med"/>
                      <a:tailEnd type="none" w="med" len="med"/>
                    </a:lnB>
                    <a:solidFill>
                      <a:srgbClr val="E2DFD9"/>
                    </a:solidFill>
                  </a:tcPr>
                </a:tc>
              </a:tr>
              <a:tr h="426244">
                <a:tc>
                  <a:txBody>
                    <a:bodyPr/>
                    <a:lstStyle/>
                    <a:p>
                      <a:pPr indent="0" marL="0">
                        <a:lnSpc>
                          <a:spcPts val="1778"/>
                        </a:lnSpc>
                        <a:buNone/>
                      </a:pPr>
                      <a:r>
                        <a:rPr lang="en-US" sz="1270" dirty="0">
                          <a:solidFill>
                            <a:srgbClr val="16222C"/>
                          </a:solidFill>
                          <a:latin typeface="IBM Plex Sans" pitchFamily="34" charset="0"/>
                          <a:ea typeface="IBM Plex Sans" pitchFamily="34" charset="-122"/>
                          <a:cs typeface="IBM Plex Sans" pitchFamily="34" charset="-120"/>
                        </a:rPr>
                        <a:t>OpenStreetMap</a:t>
                      </a:r>
                      <a:endParaRPr lang="en-US" sz="1270" dirty="0">
                        <a:latin typeface="IBM Plex Sans" charset="0"/>
                        <a:ea typeface="IBM Plex Sans" charset="0"/>
                        <a:cs typeface="IBM Plex Sans" charset="0"/>
                      </a:endParaRPr>
                    </a:p>
                  </a:txBody>
                  <a:tcPr marL="127000" marR="127000" marT="88900" marB="88900" anchor="t">
                    <a:lnL w="12700" cap="flat" cmpd="sng" algn="ctr">
                      <a:solidFill>
                        <a:srgbClr val="C3C0BB"/>
                      </a:solidFill>
                      <a:prstDash val="solid"/>
                      <a:round/>
                      <a:headEnd type="none" w="med" len="med"/>
                      <a:tailEnd type="none" w="med" len="med"/>
                    </a:lnL>
                    <a:lnR w="12700" cap="flat" cmpd="sng" algn="ctr">
                      <a:solidFill>
                        <a:srgbClr val="C3C0BB"/>
                      </a:solidFill>
                      <a:prstDash val="solid"/>
                      <a:round/>
                      <a:headEnd type="none" w="med" len="med"/>
                      <a:tailEnd type="none" w="med" len="med"/>
                    </a:lnR>
                    <a:lnT w="12700" cap="flat" cmpd="sng" algn="ctr">
                      <a:solidFill>
                        <a:srgbClr val="B5B2AD"/>
                      </a:solidFill>
                      <a:prstDash val="solid"/>
                      <a:round/>
                      <a:headEnd type="none" w="med" len="med"/>
                      <a:tailEnd type="none" w="med" len="med"/>
                    </a:lnT>
                    <a:lnB w="12700" cap="flat" cmpd="sng" algn="ctr">
                      <a:solidFill>
                        <a:srgbClr val="C3C0BB"/>
                      </a:solidFill>
                      <a:prstDash val="solid"/>
                      <a:round/>
                      <a:headEnd type="none" w="med" len="med"/>
                      <a:tailEnd type="none" w="med" len="med"/>
                    </a:lnB>
                  </a:tcPr>
                </a:tc>
                <a:tc>
                  <a:txBody>
                    <a:bodyPr/>
                    <a:lstStyle/>
                    <a:p>
                      <a:pPr indent="0" marL="0">
                        <a:lnSpc>
                          <a:spcPts val="1778"/>
                        </a:lnSpc>
                        <a:buNone/>
                      </a:pPr>
                      <a:r>
                        <a:rPr lang="en-US" sz="1270" dirty="0">
                          <a:solidFill>
                            <a:srgbClr val="16222C"/>
                          </a:solidFill>
                          <a:latin typeface="IBM Plex Sans" pitchFamily="34" charset="0"/>
                          <a:ea typeface="IBM Plex Sans" pitchFamily="34" charset="-122"/>
                          <a:cs typeface="IBM Plex Sans" pitchFamily="34" charset="-120"/>
                        </a:rPr>
                        <a:t>Snapshot date, licence, edges covered</a:t>
                      </a:r>
                      <a:endParaRPr lang="en-US" sz="1270" dirty="0">
                        <a:latin typeface="IBM Plex Sans" charset="0"/>
                        <a:ea typeface="IBM Plex Sans" charset="0"/>
                        <a:cs typeface="IBM Plex Sans" charset="0"/>
                      </a:endParaRPr>
                    </a:p>
                  </a:txBody>
                  <a:tcPr marL="127000" marR="127000" marT="88900" marB="88900" anchor="t">
                    <a:lnL w="12700" cap="flat" cmpd="sng" algn="ctr">
                      <a:solidFill>
                        <a:srgbClr val="C3C0BB"/>
                      </a:solidFill>
                      <a:prstDash val="solid"/>
                      <a:round/>
                      <a:headEnd type="none" w="med" len="med"/>
                      <a:tailEnd type="none" w="med" len="med"/>
                    </a:lnL>
                    <a:lnR w="12700" cap="flat" cmpd="sng" algn="ctr">
                      <a:solidFill>
                        <a:srgbClr val="C3C0BB"/>
                      </a:solidFill>
                      <a:prstDash val="solid"/>
                      <a:round/>
                      <a:headEnd type="none" w="med" len="med"/>
                      <a:tailEnd type="none" w="med" len="med"/>
                    </a:lnR>
                    <a:lnT w="12700" cap="flat" cmpd="sng" algn="ctr">
                      <a:solidFill>
                        <a:srgbClr val="B5B2AD"/>
                      </a:solidFill>
                      <a:prstDash val="solid"/>
                      <a:round/>
                      <a:headEnd type="none" w="med" len="med"/>
                      <a:tailEnd type="none" w="med" len="med"/>
                    </a:lnT>
                    <a:lnB w="12700" cap="flat" cmpd="sng" algn="ctr">
                      <a:solidFill>
                        <a:srgbClr val="C3C0BB"/>
                      </a:solidFill>
                      <a:prstDash val="solid"/>
                      <a:round/>
                      <a:headEnd type="none" w="med" len="med"/>
                      <a:tailEnd type="none" w="med" len="med"/>
                    </a:lnB>
                  </a:tcPr>
                </a:tc>
                <a:tc>
                  <a:txBody>
                    <a:bodyPr/>
                    <a:lstStyle/>
                    <a:p>
                      <a:pPr indent="0" marL="0">
                        <a:lnSpc>
                          <a:spcPts val="1778"/>
                        </a:lnSpc>
                        <a:buNone/>
                      </a:pPr>
                      <a:r>
                        <a:rPr lang="en-US" sz="1270" dirty="0">
                          <a:solidFill>
                            <a:srgbClr val="16222C"/>
                          </a:solidFill>
                          <a:latin typeface="IBM Plex Sans" pitchFamily="34" charset="0"/>
                          <a:ea typeface="IBM Plex Sans" pitchFamily="34" charset="-122"/>
                          <a:cs typeface="IBM Plex Sans" pitchFamily="34" charset="-120"/>
                        </a:rPr>
                        <a:t>Show the date. Never call it today's speed.</a:t>
                      </a:r>
                      <a:endParaRPr lang="en-US" sz="1270" dirty="0">
                        <a:latin typeface="IBM Plex Sans" charset="0"/>
                        <a:ea typeface="IBM Plex Sans" charset="0"/>
                        <a:cs typeface="IBM Plex Sans" charset="0"/>
                      </a:endParaRPr>
                    </a:p>
                  </a:txBody>
                  <a:tcPr marL="127000" marR="127000" marT="88900" marB="88900" anchor="t">
                    <a:lnL w="12700" cap="flat" cmpd="sng" algn="ctr">
                      <a:solidFill>
                        <a:srgbClr val="C3C0BB"/>
                      </a:solidFill>
                      <a:prstDash val="solid"/>
                      <a:round/>
                      <a:headEnd type="none" w="med" len="med"/>
                      <a:tailEnd type="none" w="med" len="med"/>
                    </a:lnL>
                    <a:lnR w="12700" cap="flat" cmpd="sng" algn="ctr">
                      <a:solidFill>
                        <a:srgbClr val="C3C0BB"/>
                      </a:solidFill>
                      <a:prstDash val="solid"/>
                      <a:round/>
                      <a:headEnd type="none" w="med" len="med"/>
                      <a:tailEnd type="none" w="med" len="med"/>
                    </a:lnR>
                    <a:lnT w="12700" cap="flat" cmpd="sng" algn="ctr">
                      <a:solidFill>
                        <a:srgbClr val="B5B2AD"/>
                      </a:solidFill>
                      <a:prstDash val="solid"/>
                      <a:round/>
                      <a:headEnd type="none" w="med" len="med"/>
                      <a:tailEnd type="none" w="med" len="med"/>
                    </a:lnT>
                    <a:lnB w="12700" cap="flat" cmpd="sng" algn="ctr">
                      <a:solidFill>
                        <a:srgbClr val="C3C0BB"/>
                      </a:solidFill>
                      <a:prstDash val="solid"/>
                      <a:round/>
                      <a:headEnd type="none" w="med" len="med"/>
                      <a:tailEnd type="none" w="med" len="med"/>
                    </a:lnB>
                  </a:tcPr>
                </a:tc>
              </a:tr>
              <a:tr h="426244">
                <a:tc>
                  <a:txBody>
                    <a:bodyPr/>
                    <a:lstStyle/>
                    <a:p>
                      <a:pPr indent="0" marL="0">
                        <a:lnSpc>
                          <a:spcPts val="1778"/>
                        </a:lnSpc>
                        <a:buNone/>
                      </a:pPr>
                      <a:r>
                        <a:rPr lang="en-US" sz="1270" dirty="0">
                          <a:solidFill>
                            <a:srgbClr val="16222C"/>
                          </a:solidFill>
                          <a:latin typeface="IBM Plex Sans" pitchFamily="34" charset="0"/>
                          <a:ea typeface="IBM Plex Sans" pitchFamily="34" charset="-122"/>
                          <a:cs typeface="IBM Plex Sans" pitchFamily="34" charset="-120"/>
                        </a:rPr>
                        <a:t>Weather</a:t>
                      </a:r>
                      <a:endParaRPr lang="en-US" sz="1270" dirty="0">
                        <a:latin typeface="IBM Plex Sans" charset="0"/>
                        <a:ea typeface="IBM Plex Sans" charset="0"/>
                        <a:cs typeface="IBM Plex Sans" charset="0"/>
                      </a:endParaRPr>
                    </a:p>
                  </a:txBody>
                  <a:tcPr marL="127000" marR="127000" marT="88900" marB="88900" anchor="t">
                    <a:lnL w="12700" cap="flat" cmpd="sng" algn="ctr">
                      <a:solidFill>
                        <a:srgbClr val="C3C0BB"/>
                      </a:solidFill>
                      <a:prstDash val="solid"/>
                      <a:round/>
                      <a:headEnd type="none" w="med" len="med"/>
                      <a:tailEnd type="none" w="med" len="med"/>
                    </a:lnL>
                    <a:lnR w="12700" cap="flat" cmpd="sng" algn="ctr">
                      <a:solidFill>
                        <a:srgbClr val="C3C0BB"/>
                      </a:solidFill>
                      <a:prstDash val="solid"/>
                      <a:round/>
                      <a:headEnd type="none" w="med" len="med"/>
                      <a:tailEnd type="none" w="med" len="med"/>
                    </a:lnR>
                    <a:lnT w="12700" cap="flat" cmpd="sng" algn="ctr">
                      <a:solidFill>
                        <a:srgbClr val="C3C0BB"/>
                      </a:solidFill>
                      <a:prstDash val="solid"/>
                      <a:round/>
                      <a:headEnd type="none" w="med" len="med"/>
                      <a:tailEnd type="none" w="med" len="med"/>
                    </a:lnT>
                    <a:lnB w="12700" cap="flat" cmpd="sng" algn="ctr">
                      <a:solidFill>
                        <a:srgbClr val="C3C0BB"/>
                      </a:solidFill>
                      <a:prstDash val="solid"/>
                      <a:round/>
                      <a:headEnd type="none" w="med" len="med"/>
                      <a:tailEnd type="none" w="med" len="med"/>
                    </a:lnB>
                  </a:tcPr>
                </a:tc>
                <a:tc>
                  <a:txBody>
                    <a:bodyPr/>
                    <a:lstStyle/>
                    <a:p>
                      <a:pPr indent="0" marL="0">
                        <a:lnSpc>
                          <a:spcPts val="1778"/>
                        </a:lnSpc>
                        <a:buNone/>
                      </a:pPr>
                      <a:r>
                        <a:rPr lang="en-US" sz="1270" dirty="0">
                          <a:solidFill>
                            <a:srgbClr val="16222C"/>
                          </a:solidFill>
                          <a:latin typeface="IBM Plex Sans" pitchFamily="34" charset="0"/>
                          <a:ea typeface="IBM Plex Sans" pitchFamily="34" charset="-122"/>
                          <a:cs typeface="IBM Plex Sans" pitchFamily="34" charset="-120"/>
                        </a:rPr>
                        <a:t>Station, junction and hour</a:t>
                      </a:r>
                      <a:endParaRPr lang="en-US" sz="1270" dirty="0">
                        <a:latin typeface="IBM Plex Sans" charset="0"/>
                        <a:ea typeface="IBM Plex Sans" charset="0"/>
                        <a:cs typeface="IBM Plex Sans" charset="0"/>
                      </a:endParaRPr>
                    </a:p>
                  </a:txBody>
                  <a:tcPr marL="127000" marR="127000" marT="88900" marB="88900" anchor="t">
                    <a:lnL w="12700" cap="flat" cmpd="sng" algn="ctr">
                      <a:solidFill>
                        <a:srgbClr val="C3C0BB"/>
                      </a:solidFill>
                      <a:prstDash val="solid"/>
                      <a:round/>
                      <a:headEnd type="none" w="med" len="med"/>
                      <a:tailEnd type="none" w="med" len="med"/>
                    </a:lnL>
                    <a:lnR w="12700" cap="flat" cmpd="sng" algn="ctr">
                      <a:solidFill>
                        <a:srgbClr val="C3C0BB"/>
                      </a:solidFill>
                      <a:prstDash val="solid"/>
                      <a:round/>
                      <a:headEnd type="none" w="med" len="med"/>
                      <a:tailEnd type="none" w="med" len="med"/>
                    </a:lnR>
                    <a:lnT w="12700" cap="flat" cmpd="sng" algn="ctr">
                      <a:solidFill>
                        <a:srgbClr val="C3C0BB"/>
                      </a:solidFill>
                      <a:prstDash val="solid"/>
                      <a:round/>
                      <a:headEnd type="none" w="med" len="med"/>
                      <a:tailEnd type="none" w="med" len="med"/>
                    </a:lnT>
                    <a:lnB w="12700" cap="flat" cmpd="sng" algn="ctr">
                      <a:solidFill>
                        <a:srgbClr val="C3C0BB"/>
                      </a:solidFill>
                      <a:prstDash val="solid"/>
                      <a:round/>
                      <a:headEnd type="none" w="med" len="med"/>
                      <a:tailEnd type="none" w="med" len="med"/>
                    </a:lnB>
                  </a:tcPr>
                </a:tc>
                <a:tc>
                  <a:txBody>
                    <a:bodyPr/>
                    <a:lstStyle/>
                    <a:p>
                      <a:pPr indent="0" marL="0">
                        <a:lnSpc>
                          <a:spcPts val="1778"/>
                        </a:lnSpc>
                        <a:buNone/>
                      </a:pPr>
                      <a:r>
                        <a:rPr lang="en-US" sz="1270" dirty="0">
                          <a:solidFill>
                            <a:srgbClr val="16222C"/>
                          </a:solidFill>
                          <a:latin typeface="IBM Plex Sans" pitchFamily="34" charset="0"/>
                          <a:ea typeface="IBM Plex Sans" pitchFamily="34" charset="-122"/>
                          <a:cs typeface="IBM Plex Sans" pitchFamily="34" charset="-120"/>
                        </a:rPr>
                        <a:t>No join, no weather layer. Rain is not a cause.</a:t>
                      </a:r>
                      <a:endParaRPr lang="en-US" sz="1270" dirty="0">
                        <a:latin typeface="IBM Plex Sans" charset="0"/>
                        <a:ea typeface="IBM Plex Sans" charset="0"/>
                        <a:cs typeface="IBM Plex Sans" charset="0"/>
                      </a:endParaRPr>
                    </a:p>
                  </a:txBody>
                  <a:tcPr marL="127000" marR="127000" marT="88900" marB="88900" anchor="t">
                    <a:lnL w="12700" cap="flat" cmpd="sng" algn="ctr">
                      <a:solidFill>
                        <a:srgbClr val="C3C0BB"/>
                      </a:solidFill>
                      <a:prstDash val="solid"/>
                      <a:round/>
                      <a:headEnd type="none" w="med" len="med"/>
                      <a:tailEnd type="none" w="med" len="med"/>
                    </a:lnL>
                    <a:lnR w="12700" cap="flat" cmpd="sng" algn="ctr">
                      <a:solidFill>
                        <a:srgbClr val="C3C0BB"/>
                      </a:solidFill>
                      <a:prstDash val="solid"/>
                      <a:round/>
                      <a:headEnd type="none" w="med" len="med"/>
                      <a:tailEnd type="none" w="med" len="med"/>
                    </a:lnR>
                    <a:lnT w="12700" cap="flat" cmpd="sng" algn="ctr">
                      <a:solidFill>
                        <a:srgbClr val="C3C0BB"/>
                      </a:solidFill>
                      <a:prstDash val="solid"/>
                      <a:round/>
                      <a:headEnd type="none" w="med" len="med"/>
                      <a:tailEnd type="none" w="med" len="med"/>
                    </a:lnT>
                    <a:lnB w="12700" cap="flat" cmpd="sng" algn="ctr">
                      <a:solidFill>
                        <a:srgbClr val="C3C0BB"/>
                      </a:solidFill>
                      <a:prstDash val="solid"/>
                      <a:round/>
                      <a:headEnd type="none" w="med" len="med"/>
                      <a:tailEnd type="none" w="med" len="med"/>
                    </a:lnB>
                  </a:tcPr>
                </a:tc>
              </a:tr>
              <a:tr h="651986">
                <a:tc>
                  <a:txBody>
                    <a:bodyPr/>
                    <a:lstStyle/>
                    <a:p>
                      <a:pPr indent="0" marL="0">
                        <a:lnSpc>
                          <a:spcPts val="1778"/>
                        </a:lnSpc>
                        <a:buNone/>
                      </a:pPr>
                      <a:r>
                        <a:rPr lang="en-US" sz="1270" dirty="0">
                          <a:solidFill>
                            <a:srgbClr val="16222C"/>
                          </a:solidFill>
                          <a:latin typeface="IBM Plex Sans" pitchFamily="34" charset="0"/>
                          <a:ea typeface="IBM Plex Sans" pitchFamily="34" charset="-122"/>
                          <a:cs typeface="IBM Plex Sans" pitchFamily="34" charset="-120"/>
                        </a:rPr>
                        <a:t>Incident</a:t>
                      </a:r>
                      <a:endParaRPr lang="en-US" sz="1270" dirty="0">
                        <a:latin typeface="IBM Plex Sans" charset="0"/>
                        <a:ea typeface="IBM Plex Sans" charset="0"/>
                        <a:cs typeface="IBM Plex Sans" charset="0"/>
                      </a:endParaRPr>
                    </a:p>
                  </a:txBody>
                  <a:tcPr marL="127000" marR="127000" marT="88900" marB="88900" anchor="t">
                    <a:lnL w="12700" cap="flat" cmpd="sng" algn="ctr">
                      <a:solidFill>
                        <a:srgbClr val="C3C0BB"/>
                      </a:solidFill>
                      <a:prstDash val="solid"/>
                      <a:round/>
                      <a:headEnd type="none" w="med" len="med"/>
                      <a:tailEnd type="none" w="med" len="med"/>
                    </a:lnL>
                    <a:lnR w="12700" cap="flat" cmpd="sng" algn="ctr">
                      <a:solidFill>
                        <a:srgbClr val="C3C0BB"/>
                      </a:solidFill>
                      <a:prstDash val="solid"/>
                      <a:round/>
                      <a:headEnd type="none" w="med" len="med"/>
                      <a:tailEnd type="none" w="med" len="med"/>
                    </a:lnR>
                    <a:lnT w="12700" cap="flat" cmpd="sng" algn="ctr">
                      <a:solidFill>
                        <a:srgbClr val="C3C0BB"/>
                      </a:solidFill>
                      <a:prstDash val="solid"/>
                      <a:round/>
                      <a:headEnd type="none" w="med" len="med"/>
                      <a:tailEnd type="none" w="med" len="med"/>
                    </a:lnT>
                    <a:lnB w="12700" cap="flat" cmpd="sng" algn="ctr">
                      <a:solidFill>
                        <a:srgbClr val="C3C0BB"/>
                      </a:solidFill>
                      <a:prstDash val="solid"/>
                      <a:round/>
                      <a:headEnd type="none" w="med" len="med"/>
                      <a:tailEnd type="none" w="med" len="med"/>
                    </a:lnB>
                  </a:tcPr>
                </a:tc>
                <a:tc>
                  <a:txBody>
                    <a:bodyPr/>
                    <a:lstStyle/>
                    <a:p>
                      <a:pPr indent="0" marL="0">
                        <a:lnSpc>
                          <a:spcPts val="1778"/>
                        </a:lnSpc>
                        <a:buNone/>
                      </a:pPr>
                      <a:r>
                        <a:rPr lang="en-US" sz="1270" dirty="0">
                          <a:solidFill>
                            <a:srgbClr val="16222C"/>
                          </a:solidFill>
                          <a:latin typeface="IBM Plex Sans" pitchFamily="34" charset="0"/>
                          <a:ea typeface="IBM Plex Sans" pitchFamily="34" charset="-122"/>
                          <a:cs typeface="IBM Plex Sans" pitchFamily="34" charset="-120"/>
                        </a:rPr>
                        <a:t>Type, place, start, duration, severity, source, confidence</a:t>
                      </a:r>
                      <a:endParaRPr lang="en-US" sz="1270" dirty="0">
                        <a:latin typeface="IBM Plex Sans" charset="0"/>
                        <a:ea typeface="IBM Plex Sans" charset="0"/>
                        <a:cs typeface="IBM Plex Sans" charset="0"/>
                      </a:endParaRPr>
                    </a:p>
                  </a:txBody>
                  <a:tcPr marL="127000" marR="127000" marT="88900" marB="88900" anchor="t">
                    <a:lnL w="12700" cap="flat" cmpd="sng" algn="ctr">
                      <a:solidFill>
                        <a:srgbClr val="C3C0BB"/>
                      </a:solidFill>
                      <a:prstDash val="solid"/>
                      <a:round/>
                      <a:headEnd type="none" w="med" len="med"/>
                      <a:tailEnd type="none" w="med" len="med"/>
                    </a:lnL>
                    <a:lnR w="12700" cap="flat" cmpd="sng" algn="ctr">
                      <a:solidFill>
                        <a:srgbClr val="C3C0BB"/>
                      </a:solidFill>
                      <a:prstDash val="solid"/>
                      <a:round/>
                      <a:headEnd type="none" w="med" len="med"/>
                      <a:tailEnd type="none" w="med" len="med"/>
                    </a:lnR>
                    <a:lnT w="12700" cap="flat" cmpd="sng" algn="ctr">
                      <a:solidFill>
                        <a:srgbClr val="C3C0BB"/>
                      </a:solidFill>
                      <a:prstDash val="solid"/>
                      <a:round/>
                      <a:headEnd type="none" w="med" len="med"/>
                      <a:tailEnd type="none" w="med" len="med"/>
                    </a:lnT>
                    <a:lnB w="12700" cap="flat" cmpd="sng" algn="ctr">
                      <a:solidFill>
                        <a:srgbClr val="C3C0BB"/>
                      </a:solidFill>
                      <a:prstDash val="solid"/>
                      <a:round/>
                      <a:headEnd type="none" w="med" len="med"/>
                      <a:tailEnd type="none" w="med" len="med"/>
                    </a:lnB>
                  </a:tcPr>
                </a:tc>
                <a:tc>
                  <a:txBody>
                    <a:bodyPr/>
                    <a:lstStyle/>
                    <a:p>
                      <a:pPr indent="0" marL="0">
                        <a:lnSpc>
                          <a:spcPts val="1778"/>
                        </a:lnSpc>
                        <a:buNone/>
                      </a:pPr>
                      <a:r>
                        <a:rPr lang="en-US" sz="1270" dirty="0">
                          <a:solidFill>
                            <a:srgbClr val="16222C"/>
                          </a:solidFill>
                          <a:latin typeface="IBM Plex Sans" pitchFamily="34" charset="0"/>
                          <a:ea typeface="IBM Plex Sans" pitchFamily="34" charset="-122"/>
                          <a:cs typeface="IBM Plex Sans" pitchFamily="34" charset="-120"/>
                        </a:rPr>
                        <a:t>An old incident stays marked stale.</a:t>
                      </a:r>
                      <a:endParaRPr lang="en-US" sz="1270" dirty="0">
                        <a:latin typeface="IBM Plex Sans" charset="0"/>
                        <a:ea typeface="IBM Plex Sans" charset="0"/>
                        <a:cs typeface="IBM Plex Sans" charset="0"/>
                      </a:endParaRPr>
                    </a:p>
                  </a:txBody>
                  <a:tcPr marL="127000" marR="127000" marT="88900" marB="88900" anchor="t">
                    <a:lnL w="12700" cap="flat" cmpd="sng" algn="ctr">
                      <a:solidFill>
                        <a:srgbClr val="C3C0BB"/>
                      </a:solidFill>
                      <a:prstDash val="solid"/>
                      <a:round/>
                      <a:headEnd type="none" w="med" len="med"/>
                      <a:tailEnd type="none" w="med" len="med"/>
                    </a:lnL>
                    <a:lnR w="12700" cap="flat" cmpd="sng" algn="ctr">
                      <a:solidFill>
                        <a:srgbClr val="C3C0BB"/>
                      </a:solidFill>
                      <a:prstDash val="solid"/>
                      <a:round/>
                      <a:headEnd type="none" w="med" len="med"/>
                      <a:tailEnd type="none" w="med" len="med"/>
                    </a:lnR>
                    <a:lnT w="12700" cap="flat" cmpd="sng" algn="ctr">
                      <a:solidFill>
                        <a:srgbClr val="C3C0BB"/>
                      </a:solidFill>
                      <a:prstDash val="solid"/>
                      <a:round/>
                      <a:headEnd type="none" w="med" len="med"/>
                      <a:tailEnd type="none" w="med" len="med"/>
                    </a:lnT>
                    <a:lnB w="12700" cap="flat" cmpd="sng" algn="ctr">
                      <a:solidFill>
                        <a:srgbClr val="C3C0BB"/>
                      </a:solidFill>
                      <a:prstDash val="solid"/>
                      <a:round/>
                      <a:headEnd type="none" w="med" len="med"/>
                      <a:tailEnd type="none" w="med" len="med"/>
                    </a:lnB>
                  </a:tcPr>
                </a:tc>
              </a:tr>
              <a:tr h="426244">
                <a:tc>
                  <a:txBody>
                    <a:bodyPr/>
                    <a:lstStyle/>
                    <a:p>
                      <a:pPr indent="0" marL="0">
                        <a:lnSpc>
                          <a:spcPts val="1778"/>
                        </a:lnSpc>
                        <a:buNone/>
                      </a:pPr>
                      <a:r>
                        <a:rPr lang="en-US" sz="1270" dirty="0">
                          <a:solidFill>
                            <a:srgbClr val="16222C"/>
                          </a:solidFill>
                          <a:latin typeface="IBM Plex Sans" pitchFamily="34" charset="0"/>
                          <a:ea typeface="IBM Plex Sans" pitchFamily="34" charset="-122"/>
                          <a:cs typeface="IBM Plex Sans" pitchFamily="34" charset="-120"/>
                        </a:rPr>
                        <a:t>SUMO run</a:t>
                      </a:r>
                      <a:endParaRPr lang="en-US" sz="1270" dirty="0">
                        <a:latin typeface="IBM Plex Sans" charset="0"/>
                        <a:ea typeface="IBM Plex Sans" charset="0"/>
                        <a:cs typeface="IBM Plex Sans" charset="0"/>
                      </a:endParaRPr>
                    </a:p>
                  </a:txBody>
                  <a:tcPr marL="127000" marR="127000" marT="88900" marB="88900" anchor="t">
                    <a:lnL w="12700" cap="flat" cmpd="sng" algn="ctr">
                      <a:solidFill>
                        <a:srgbClr val="C3C0BB"/>
                      </a:solidFill>
                      <a:prstDash val="solid"/>
                      <a:round/>
                      <a:headEnd type="none" w="med" len="med"/>
                      <a:tailEnd type="none" w="med" len="med"/>
                    </a:lnL>
                    <a:lnR w="12700" cap="flat" cmpd="sng" algn="ctr">
                      <a:solidFill>
                        <a:srgbClr val="C3C0BB"/>
                      </a:solidFill>
                      <a:prstDash val="solid"/>
                      <a:round/>
                      <a:headEnd type="none" w="med" len="med"/>
                      <a:tailEnd type="none" w="med" len="med"/>
                    </a:lnR>
                    <a:lnT w="12700" cap="flat" cmpd="sng" algn="ctr">
                      <a:solidFill>
                        <a:srgbClr val="C3C0BB"/>
                      </a:solidFill>
                      <a:prstDash val="solid"/>
                      <a:round/>
                      <a:headEnd type="none" w="med" len="med"/>
                      <a:tailEnd type="none" w="med" len="med"/>
                    </a:lnT>
                    <a:lnB w="12700" cap="flat" cmpd="sng" algn="ctr">
                      <a:solidFill>
                        <a:srgbClr val="C3C0BB"/>
                      </a:solidFill>
                      <a:prstDash val="solid"/>
                      <a:round/>
                      <a:headEnd type="none" w="med" len="med"/>
                      <a:tailEnd type="none" w="med" len="med"/>
                    </a:lnB>
                  </a:tcPr>
                </a:tc>
                <a:tc>
                  <a:txBody>
                    <a:bodyPr/>
                    <a:lstStyle/>
                    <a:p>
                      <a:pPr indent="0" marL="0">
                        <a:lnSpc>
                          <a:spcPts val="1778"/>
                        </a:lnSpc>
                        <a:buNone/>
                      </a:pPr>
                      <a:r>
                        <a:rPr lang="en-US" sz="1270" dirty="0">
                          <a:solidFill>
                            <a:srgbClr val="16222C"/>
                          </a:solidFill>
                          <a:latin typeface="IBM Plex Sans" pitchFamily="34" charset="0"/>
                          <a:ea typeface="IBM Plex Sans" pitchFamily="34" charset="-122"/>
                          <a:cs typeface="IBM Plex Sans" pitchFamily="34" charset="-120"/>
                        </a:rPr>
                        <a:t>Run id and scenario hash</a:t>
                      </a:r>
                      <a:endParaRPr lang="en-US" sz="1270" dirty="0">
                        <a:latin typeface="IBM Plex Sans" charset="0"/>
                        <a:ea typeface="IBM Plex Sans" charset="0"/>
                        <a:cs typeface="IBM Plex Sans" charset="0"/>
                      </a:endParaRPr>
                    </a:p>
                  </a:txBody>
                  <a:tcPr marL="127000" marR="127000" marT="88900" marB="88900" anchor="t">
                    <a:lnL w="12700" cap="flat" cmpd="sng" algn="ctr">
                      <a:solidFill>
                        <a:srgbClr val="C3C0BB"/>
                      </a:solidFill>
                      <a:prstDash val="solid"/>
                      <a:round/>
                      <a:headEnd type="none" w="med" len="med"/>
                      <a:tailEnd type="none" w="med" len="med"/>
                    </a:lnL>
                    <a:lnR w="12700" cap="flat" cmpd="sng" algn="ctr">
                      <a:solidFill>
                        <a:srgbClr val="C3C0BB"/>
                      </a:solidFill>
                      <a:prstDash val="solid"/>
                      <a:round/>
                      <a:headEnd type="none" w="med" len="med"/>
                      <a:tailEnd type="none" w="med" len="med"/>
                    </a:lnR>
                    <a:lnT w="12700" cap="flat" cmpd="sng" algn="ctr">
                      <a:solidFill>
                        <a:srgbClr val="C3C0BB"/>
                      </a:solidFill>
                      <a:prstDash val="solid"/>
                      <a:round/>
                      <a:headEnd type="none" w="med" len="med"/>
                      <a:tailEnd type="none" w="med" len="med"/>
                    </a:lnT>
                    <a:lnB w="12700" cap="flat" cmpd="sng" algn="ctr">
                      <a:solidFill>
                        <a:srgbClr val="C3C0BB"/>
                      </a:solidFill>
                      <a:prstDash val="solid"/>
                      <a:round/>
                      <a:headEnd type="none" w="med" len="med"/>
                      <a:tailEnd type="none" w="med" len="med"/>
                    </a:lnB>
                  </a:tcPr>
                </a:tc>
                <a:tc>
                  <a:txBody>
                    <a:bodyPr/>
                    <a:lstStyle/>
                    <a:p>
                      <a:pPr indent="0" marL="0">
                        <a:lnSpc>
                          <a:spcPts val="1778"/>
                        </a:lnSpc>
                        <a:buNone/>
                      </a:pPr>
                      <a:r>
                        <a:rPr lang="en-US" sz="1270" dirty="0">
                          <a:solidFill>
                            <a:srgbClr val="16222C"/>
                          </a:solidFill>
                          <a:latin typeface="IBM Plex Sans" pitchFamily="34" charset="0"/>
                          <a:ea typeface="IBM Plex Sans" pitchFamily="34" charset="-122"/>
                          <a:cs typeface="IBM Plex Sans" pitchFamily="34" charset="-120"/>
                        </a:rPr>
                        <a:t>A saved run is not a live city.</a:t>
                      </a:r>
                      <a:endParaRPr lang="en-US" sz="1270" dirty="0">
                        <a:latin typeface="IBM Plex Sans" charset="0"/>
                        <a:ea typeface="IBM Plex Sans" charset="0"/>
                        <a:cs typeface="IBM Plex Sans" charset="0"/>
                      </a:endParaRPr>
                    </a:p>
                  </a:txBody>
                  <a:tcPr marL="127000" marR="127000" marT="88900" marB="88900" anchor="t">
                    <a:lnL w="12700" cap="flat" cmpd="sng" algn="ctr">
                      <a:solidFill>
                        <a:srgbClr val="C3C0BB"/>
                      </a:solidFill>
                      <a:prstDash val="solid"/>
                      <a:round/>
                      <a:headEnd type="none" w="med" len="med"/>
                      <a:tailEnd type="none" w="med" len="med"/>
                    </a:lnL>
                    <a:lnR w="12700" cap="flat" cmpd="sng" algn="ctr">
                      <a:solidFill>
                        <a:srgbClr val="C3C0BB"/>
                      </a:solidFill>
                      <a:prstDash val="solid"/>
                      <a:round/>
                      <a:headEnd type="none" w="med" len="med"/>
                      <a:tailEnd type="none" w="med" len="med"/>
                    </a:lnR>
                    <a:lnT w="12700" cap="flat" cmpd="sng" algn="ctr">
                      <a:solidFill>
                        <a:srgbClr val="C3C0BB"/>
                      </a:solidFill>
                      <a:prstDash val="solid"/>
                      <a:round/>
                      <a:headEnd type="none" w="med" len="med"/>
                      <a:tailEnd type="none" w="med" len="med"/>
                    </a:lnT>
                    <a:lnB w="12700" cap="flat" cmpd="sng" algn="ctr">
                      <a:solidFill>
                        <a:srgbClr val="C3C0BB"/>
                      </a:solidFill>
                      <a:prstDash val="solid"/>
                      <a:round/>
                      <a:headEnd type="none" w="med" len="med"/>
                      <a:tailEnd type="none" w="med" len="med"/>
                    </a:lnB>
                  </a:tcPr>
                </a:tc>
              </a:tr>
              <a:tr h="651986">
                <a:tc>
                  <a:txBody>
                    <a:bodyPr/>
                    <a:lstStyle/>
                    <a:p>
                      <a:pPr indent="0" marL="0">
                        <a:lnSpc>
                          <a:spcPts val="1778"/>
                        </a:lnSpc>
                        <a:buNone/>
                      </a:pPr>
                      <a:r>
                        <a:rPr lang="en-US" sz="1270" dirty="0">
                          <a:solidFill>
                            <a:srgbClr val="16222C"/>
                          </a:solidFill>
                          <a:latin typeface="IBM Plex Sans" pitchFamily="34" charset="0"/>
                          <a:ea typeface="IBM Plex Sans" pitchFamily="34" charset="-122"/>
                          <a:cs typeface="IBM Plex Sans" pitchFamily="34" charset="-120"/>
                        </a:rPr>
                        <a:t>Survey</a:t>
                      </a:r>
                      <a:endParaRPr lang="en-US" sz="1270" dirty="0">
                        <a:latin typeface="IBM Plex Sans" charset="0"/>
                        <a:ea typeface="IBM Plex Sans" charset="0"/>
                        <a:cs typeface="IBM Plex Sans" charset="0"/>
                      </a:endParaRPr>
                    </a:p>
                  </a:txBody>
                  <a:tcPr marL="127000" marR="127000" marT="88900" marB="88900" anchor="t">
                    <a:lnL w="12700" cap="flat" cmpd="sng" algn="ctr">
                      <a:solidFill>
                        <a:srgbClr val="C3C0BB"/>
                      </a:solidFill>
                      <a:prstDash val="solid"/>
                      <a:round/>
                      <a:headEnd type="none" w="med" len="med"/>
                      <a:tailEnd type="none" w="med" len="med"/>
                    </a:lnL>
                    <a:lnR w="12700" cap="flat" cmpd="sng" algn="ctr">
                      <a:solidFill>
                        <a:srgbClr val="C3C0BB"/>
                      </a:solidFill>
                      <a:prstDash val="solid"/>
                      <a:round/>
                      <a:headEnd type="none" w="med" len="med"/>
                      <a:tailEnd type="none" w="med" len="med"/>
                    </a:lnR>
                    <a:lnT w="12700" cap="flat" cmpd="sng" algn="ctr">
                      <a:solidFill>
                        <a:srgbClr val="C3C0BB"/>
                      </a:solidFill>
                      <a:prstDash val="solid"/>
                      <a:round/>
                      <a:headEnd type="none" w="med" len="med"/>
                      <a:tailEnd type="none" w="med" len="med"/>
                    </a:lnT>
                    <a:lnB w="12700" cap="flat" cmpd="sng" algn="ctr">
                      <a:solidFill>
                        <a:srgbClr val="C3C0BB"/>
                      </a:solidFill>
                      <a:prstDash val="solid"/>
                      <a:round/>
                      <a:headEnd type="none" w="med" len="med"/>
                      <a:tailEnd type="none" w="med" len="med"/>
                    </a:lnB>
                  </a:tcPr>
                </a:tc>
                <a:tc>
                  <a:txBody>
                    <a:bodyPr/>
                    <a:lstStyle/>
                    <a:p>
                      <a:pPr indent="0" marL="0">
                        <a:lnSpc>
                          <a:spcPts val="1778"/>
                        </a:lnSpc>
                        <a:buNone/>
                      </a:pPr>
                      <a:r>
                        <a:rPr lang="en-US" sz="1270" dirty="0">
                          <a:solidFill>
                            <a:srgbClr val="16222C"/>
                          </a:solidFill>
                          <a:latin typeface="IBM Plex Sans" pitchFamily="34" charset="0"/>
                          <a:ea typeface="IBM Plex Sans" pitchFamily="34" charset="-122"/>
                          <a:cs typeface="IBM Plex Sans" pitchFamily="34" charset="-120"/>
                        </a:rPr>
                        <a:t>Who was asked, how many, the date, the answers</a:t>
                      </a:r>
                      <a:endParaRPr lang="en-US" sz="1270" dirty="0">
                        <a:latin typeface="IBM Plex Sans" charset="0"/>
                        <a:ea typeface="IBM Plex Sans" charset="0"/>
                        <a:cs typeface="IBM Plex Sans" charset="0"/>
                      </a:endParaRPr>
                    </a:p>
                  </a:txBody>
                  <a:tcPr marL="127000" marR="127000" marT="88900" marB="88900" anchor="t">
                    <a:lnL w="12700" cap="flat" cmpd="sng" algn="ctr">
                      <a:solidFill>
                        <a:srgbClr val="C3C0BB"/>
                      </a:solidFill>
                      <a:prstDash val="solid"/>
                      <a:round/>
                      <a:headEnd type="none" w="med" len="med"/>
                      <a:tailEnd type="none" w="med" len="med"/>
                    </a:lnL>
                    <a:lnR w="12700" cap="flat" cmpd="sng" algn="ctr">
                      <a:solidFill>
                        <a:srgbClr val="C3C0BB"/>
                      </a:solidFill>
                      <a:prstDash val="solid"/>
                      <a:round/>
                      <a:headEnd type="none" w="med" len="med"/>
                      <a:tailEnd type="none" w="med" len="med"/>
                    </a:lnR>
                    <a:lnT w="12700" cap="flat" cmpd="sng" algn="ctr">
                      <a:solidFill>
                        <a:srgbClr val="C3C0BB"/>
                      </a:solidFill>
                      <a:prstDash val="solid"/>
                      <a:round/>
                      <a:headEnd type="none" w="med" len="med"/>
                      <a:tailEnd type="none" w="med" len="med"/>
                    </a:lnT>
                    <a:lnB w="12700" cap="flat" cmpd="sng" algn="ctr">
                      <a:solidFill>
                        <a:srgbClr val="C3C0BB"/>
                      </a:solidFill>
                      <a:prstDash val="solid"/>
                      <a:round/>
                      <a:headEnd type="none" w="med" len="med"/>
                      <a:tailEnd type="none" w="med" len="med"/>
                    </a:lnB>
                  </a:tcPr>
                </a:tc>
                <a:tc>
                  <a:txBody>
                    <a:bodyPr/>
                    <a:lstStyle/>
                    <a:p>
                      <a:pPr indent="0" marL="0">
                        <a:lnSpc>
                          <a:spcPts val="1778"/>
                        </a:lnSpc>
                        <a:buNone/>
                      </a:pPr>
                      <a:r>
                        <a:rPr lang="en-US" sz="1270" dirty="0">
                          <a:solidFill>
                            <a:srgbClr val="16222C"/>
                          </a:solidFill>
                          <a:latin typeface="IBM Plex Sans" pitchFamily="34" charset="0"/>
                          <a:ea typeface="IBM Plex Sans" pitchFamily="34" charset="-122"/>
                          <a:cs typeface="IBM Plex Sans" pitchFamily="34" charset="-120"/>
                        </a:rPr>
                        <a:t>No file, so the cell stays empty.</a:t>
                      </a:r>
                      <a:endParaRPr lang="en-US" sz="1270" dirty="0">
                        <a:latin typeface="IBM Plex Sans" charset="0"/>
                        <a:ea typeface="IBM Plex Sans" charset="0"/>
                        <a:cs typeface="IBM Plex Sans" charset="0"/>
                      </a:endParaRPr>
                    </a:p>
                  </a:txBody>
                  <a:tcPr marL="127000" marR="127000" marT="88900" marB="88900" anchor="t">
                    <a:lnL w="12700" cap="flat" cmpd="sng" algn="ctr">
                      <a:solidFill>
                        <a:srgbClr val="C3C0BB"/>
                      </a:solidFill>
                      <a:prstDash val="solid"/>
                      <a:round/>
                      <a:headEnd type="none" w="med" len="med"/>
                      <a:tailEnd type="none" w="med" len="med"/>
                    </a:lnL>
                    <a:lnR w="12700" cap="flat" cmpd="sng" algn="ctr">
                      <a:solidFill>
                        <a:srgbClr val="C3C0BB"/>
                      </a:solidFill>
                      <a:prstDash val="solid"/>
                      <a:round/>
                      <a:headEnd type="none" w="med" len="med"/>
                      <a:tailEnd type="none" w="med" len="med"/>
                    </a:lnR>
                    <a:lnT w="12700" cap="flat" cmpd="sng" algn="ctr">
                      <a:solidFill>
                        <a:srgbClr val="C3C0BB"/>
                      </a:solidFill>
                      <a:prstDash val="solid"/>
                      <a:round/>
                      <a:headEnd type="none" w="med" len="med"/>
                      <a:tailEnd type="none" w="med" len="med"/>
                    </a:lnT>
                    <a:lnB w="12700" cap="flat" cmpd="sng" algn="ctr">
                      <a:solidFill>
                        <a:srgbClr val="C3C0BB"/>
                      </a:solidFill>
                      <a:prstDash val="solid"/>
                      <a:round/>
                      <a:headEnd type="none" w="med" len="med"/>
                      <a:tailEnd type="none" w="med" len="med"/>
                    </a:lnB>
                  </a:tcPr>
                </a:tc>
              </a:tr>
            </a:tbl>
          </a:graphicData>
        </a:graphic>
      </p:graphicFrame>
      <p:sp>
        <p:nvSpPr>
          <p:cNvPr id="5" name="Shape 2"/>
          <p:cNvSpPr/>
          <p:nvPr/>
        </p:nvSpPr>
        <p:spPr>
          <a:xfrm>
            <a:off x="812800" y="4916959"/>
            <a:ext cx="10566400" cy="925036"/>
          </a:xfrm>
          <a:prstGeom prst="roundRect">
            <a:avLst>
              <a:gd name="adj" fmla="val 8238"/>
            </a:avLst>
          </a:prstGeom>
          <a:solidFill>
            <a:srgbClr val="16222C"/>
          </a:solidFill>
          <a:ln/>
        </p:spPr>
      </p:sp>
      <p:sp>
        <p:nvSpPr>
          <p:cNvPr id="6" name="Text 3"/>
          <p:cNvSpPr/>
          <p:nvPr/>
        </p:nvSpPr>
        <p:spPr>
          <a:xfrm>
            <a:off x="1041400" y="5094759"/>
            <a:ext cx="10412476" cy="181134"/>
          </a:xfrm>
          <a:prstGeom prst="rect">
            <a:avLst/>
          </a:prstGeom>
          <a:noFill/>
          <a:ln/>
        </p:spPr>
        <p:txBody>
          <a:bodyPr wrap="square" lIns="0" tIns="0" rIns="0" bIns="0" rtlCol="0" anchor="t">
            <a:normAutofit/>
          </a:bodyPr>
          <a:lstStyle/>
          <a:p>
            <a:pPr algn="l" indent="0" marL="0">
              <a:lnSpc>
                <a:spcPts val="1270"/>
              </a:lnSpc>
              <a:buNone/>
            </a:pPr>
            <a:r>
              <a:rPr lang="en-US" sz="907" dirty="0">
                <a:solidFill>
                  <a:srgbClr val="E8A33D"/>
                </a:solidFill>
                <a:latin typeface="IBM Plex Mono" pitchFamily="34" charset="0"/>
                <a:ea typeface="IBM Plex Mono" pitchFamily="34" charset="-122"/>
                <a:cs typeface="IBM Plex Mono" pitchFamily="34" charset="-120"/>
              </a:rPr>
              <a:t>ONE INCIDENT ENGINE</a:t>
            </a:r>
            <a:endParaRPr lang="en-US" sz="907" dirty="0"/>
          </a:p>
        </p:txBody>
      </p:sp>
      <p:sp>
        <p:nvSpPr>
          <p:cNvPr id="7" name="Text 4"/>
          <p:cNvSpPr/>
          <p:nvPr/>
        </p:nvSpPr>
        <p:spPr>
          <a:xfrm>
            <a:off x="1041400" y="5326707"/>
            <a:ext cx="10412476" cy="362903"/>
          </a:xfrm>
          <a:prstGeom prst="rect">
            <a:avLst/>
          </a:prstGeom>
          <a:noFill/>
          <a:ln/>
        </p:spPr>
        <p:txBody>
          <a:bodyPr wrap="square" lIns="0" tIns="0" rIns="0" bIns="0" rtlCol="0" anchor="t">
            <a:normAutofit/>
          </a:bodyPr>
          <a:lstStyle/>
          <a:p>
            <a:pPr algn="l" indent="0" marL="0">
              <a:lnSpc>
                <a:spcPts val="1337"/>
              </a:lnSpc>
              <a:buNone/>
            </a:pPr>
            <a:r>
              <a:rPr lang="en-US" sz="955" dirty="0">
                <a:solidFill>
                  <a:srgbClr val="F4F1EA"/>
                </a:solidFill>
                <a:latin typeface="IBM Plex Sans" pitchFamily="34" charset="0"/>
                <a:ea typeface="IBM Plex Sans" pitchFamily="34" charset="-122"/>
                <a:cs typeface="IBM Plex Sans" pitchFamily="34" charset="-120"/>
              </a:rPr>
              <a:t>Flood, weather, emergency, police, accident and combined are packs on one network, not extra AIs. Every pack carries type · location · start · duration · severity · edges · confidence · source.</a:t>
            </a:r>
            <a:endParaRPr lang="en-US" sz="955" dirty="0"/>
          </a:p>
        </p:txBody>
      </p:sp>
      <p:sp>
        <p:nvSpPr>
          <p:cNvPr id="8" name="Text 5"/>
          <p:cNvSpPr/>
          <p:nvPr/>
        </p:nvSpPr>
        <p:spPr>
          <a:xfrm>
            <a:off x="812800" y="6238255"/>
            <a:ext cx="6732055"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B73"/>
                </a:solidFill>
                <a:latin typeface="IBM Plex Sans" pitchFamily="34" charset="0"/>
                <a:ea typeface="IBM Plex Sans" pitchFamily="34" charset="-122"/>
                <a:cs typeface="IBM Plex Sans" pitchFamily="34" charset="-120"/>
              </a:rPr>
              <a:t>Literature motivates the need. SUMO holds a labelled assumption, never an invented Tunis digit.</a:t>
            </a:r>
            <a:endParaRPr lang="en-US" sz="1200" dirty="0"/>
          </a:p>
        </p:txBody>
      </p:sp>
      <p:sp>
        <p:nvSpPr>
          <p:cNvPr id="9" name="Text 6"/>
          <p:cNvSpPr/>
          <p:nvPr/>
        </p:nvSpPr>
        <p:spPr>
          <a:xfrm>
            <a:off x="11196320" y="6238255"/>
            <a:ext cx="23368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B73"/>
                </a:solidFill>
                <a:latin typeface="IBM Plex Sans" pitchFamily="34" charset="0"/>
                <a:ea typeface="IBM Plex Sans" pitchFamily="34" charset="-122"/>
                <a:cs typeface="IBM Plex Sans" pitchFamily="34" charset="-120"/>
              </a:rPr>
              <a:t>23</a:t>
            </a:r>
            <a:endParaRPr lang="en-US" sz="1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42</Slides>
  <Notes>42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42</vt:i4>
      </vt:variant>
    </vt:vector>
  </HeadingPairs>
  <TitlesOfParts>
    <vt:vector size="4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CoFlow-5 Synapse — Empathize &amp; Ideation</dc:title>
  <dc:subject>PptxGenJS Presentation</dc:subject>
  <dc:creator>PptxGenJS</dc:creator>
  <cp:lastModifiedBy>PptxGenJS</cp:lastModifiedBy>
  <cp:revision>1</cp:revision>
  <dcterms:created xsi:type="dcterms:W3CDTF">2026-09-28T22:05:39Z</dcterms:created>
  <dcterms:modified xsi:type="dcterms:W3CDTF">2026-09-28T22:05:39Z</dcterms:modified>
</cp:coreProperties>
</file>